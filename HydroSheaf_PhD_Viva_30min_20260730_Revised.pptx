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3b6b10c1ba4a3a" /><Relationship Type="http://schemas.openxmlformats.org/officeDocument/2006/relationships/extended-properties" Target="/docProps/app.xml" Id="R0beae7a366eb4e9a" /><Relationship Type="http://schemas.openxmlformats.org/officeDocument/2006/relationships/officeDocument" Target="/ppt/presentation.xml" Id="Re8872601ea4f450a" /></Relationships>
</file>

<file path=ppt/presentation.xml><?xml version="1.0" encoding="utf-8"?>
<p:presentation xmlns:p="http://schemas.openxmlformats.org/presentationml/2006/main">
  <p:sldMasterIdLst>
    <p:sldMasterId xmlns:r="http://schemas.openxmlformats.org/officeDocument/2006/relationships" id="2147483648" r:id="Rb5218e05d2444829"/>
  </p:sldMasterIdLst>
  <p:notesMasterIdLst>
    <p:notesMasterId xmlns:r="http://schemas.openxmlformats.org/officeDocument/2006/relationships" r:id="Rec721c8ce2ed41e6"/>
  </p:notesMasterIdLst>
  <p:sldIdLst>
    <p:sldId xmlns:r="http://schemas.openxmlformats.org/officeDocument/2006/relationships" id="256" r:id="R9382683c805b4f59"/>
    <p:sldId xmlns:r="http://schemas.openxmlformats.org/officeDocument/2006/relationships" id="257" r:id="R7592324a5eb7408e"/>
    <p:sldId xmlns:r="http://schemas.openxmlformats.org/officeDocument/2006/relationships" id="258" r:id="Rff6fa0b38cfb4938"/>
    <p:sldId xmlns:r="http://schemas.openxmlformats.org/officeDocument/2006/relationships" id="259" r:id="R45913b2f43cc4923"/>
    <p:sldId xmlns:r="http://schemas.openxmlformats.org/officeDocument/2006/relationships" id="260" r:id="R6036a8dbe34d4ca6"/>
    <p:sldId xmlns:r="http://schemas.openxmlformats.org/officeDocument/2006/relationships" id="261" r:id="R986cfdcfcff248a9"/>
    <p:sldId xmlns:r="http://schemas.openxmlformats.org/officeDocument/2006/relationships" id="262" r:id="R71a3ec8fa6b44e26"/>
    <p:sldId xmlns:r="http://schemas.openxmlformats.org/officeDocument/2006/relationships" id="263" r:id="R0d0382bac88e40cf"/>
    <p:sldId xmlns:r="http://schemas.openxmlformats.org/officeDocument/2006/relationships" id="264" r:id="R54fc7c62019f448c"/>
    <p:sldId xmlns:r="http://schemas.openxmlformats.org/officeDocument/2006/relationships" id="265" r:id="Rc7d4dedc09564c72"/>
    <p:sldId xmlns:r="http://schemas.openxmlformats.org/officeDocument/2006/relationships" id="266" r:id="Rf598efc69c66425f"/>
    <p:sldId xmlns:r="http://schemas.openxmlformats.org/officeDocument/2006/relationships" id="267" r:id="R5bcaaf9dafe04c5a"/>
    <p:sldId xmlns:r="http://schemas.openxmlformats.org/officeDocument/2006/relationships" id="268" r:id="R4cfdfcd90ff54c26"/>
    <p:sldId xmlns:r="http://schemas.openxmlformats.org/officeDocument/2006/relationships" id="269" r:id="Ra1601bce69064211"/>
    <p:sldId xmlns:r="http://schemas.openxmlformats.org/officeDocument/2006/relationships" id="270" r:id="R37fbb52630f5468d"/>
    <p:sldId xmlns:r="http://schemas.openxmlformats.org/officeDocument/2006/relationships" id="271" r:id="R0dee5a87a42143d9"/>
    <p:sldId xmlns:r="http://schemas.openxmlformats.org/officeDocument/2006/relationships" id="272" r:id="Reca6dcdcc67c4285"/>
    <p:sldId xmlns:r="http://schemas.openxmlformats.org/officeDocument/2006/relationships" id="273" r:id="Rb5565d7561d14784"/>
    <p:sldId xmlns:r="http://schemas.openxmlformats.org/officeDocument/2006/relationships" id="274" r:id="R20ec05be013c433f"/>
    <p:sldId xmlns:r="http://schemas.openxmlformats.org/officeDocument/2006/relationships" id="275" r:id="R0980396cbd9048ea"/>
    <p:sldId xmlns:r="http://schemas.openxmlformats.org/officeDocument/2006/relationships" id="276" r:id="R2455a53b1e5a4788"/>
    <p:sldId xmlns:r="http://schemas.openxmlformats.org/officeDocument/2006/relationships" id="277" r:id="R6dc9474c80534e27"/>
    <p:sldId xmlns:r="http://schemas.openxmlformats.org/officeDocument/2006/relationships" id="278" r:id="R266b052b4e9c4443"/>
    <p:sldId xmlns:r="http://schemas.openxmlformats.org/officeDocument/2006/relationships" id="279" r:id="R3510c8b4f99f4e8d"/>
    <p:sldId xmlns:r="http://schemas.openxmlformats.org/officeDocument/2006/relationships" id="280" r:id="R9063777a52a64e5c"/>
    <p:sldId xmlns:r="http://schemas.openxmlformats.org/officeDocument/2006/relationships" id="281" r:id="Ref9f596ae8cb46dd"/>
    <p:sldId xmlns:r="http://schemas.openxmlformats.org/officeDocument/2006/relationships" id="282" r:id="Rb4d68c33eed5416b"/>
    <p:sldId xmlns:r="http://schemas.openxmlformats.org/officeDocument/2006/relationships" id="283" r:id="R23f6f5dd242f40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a9a012158a41e3" /><Relationship Type="http://schemas.openxmlformats.org/officeDocument/2006/relationships/slideMaster" Target="/ppt/slideMasters/slideMaster1.xml" Id="Rb5218e05d2444829" /><Relationship Type="http://schemas.openxmlformats.org/officeDocument/2006/relationships/notesMaster" Target="/ppt/notesMasters/notesMaster1.xml" Id="Rec721c8ce2ed41e6" /><Relationship Type="http://schemas.openxmlformats.org/officeDocument/2006/relationships/presProps" Target="/ppt/presProps.xml" Id="R6dfb9ae3df3e4f26" /><Relationship Type="http://schemas.openxmlformats.org/officeDocument/2006/relationships/tableStyles" Target="/ppt/tableStyles.xml" Id="R54a30d54e6e74c16" /><Relationship Type="http://schemas.openxmlformats.org/officeDocument/2006/relationships/slide" Target="/ppt/slides/slide1.xml" Id="R9382683c805b4f59" /><Relationship Type="http://schemas.openxmlformats.org/officeDocument/2006/relationships/slide" Target="/ppt/slides/slide2.xml" Id="R7592324a5eb7408e" /><Relationship Type="http://schemas.openxmlformats.org/officeDocument/2006/relationships/slide" Target="/ppt/slides/slide3.xml" Id="Rff6fa0b38cfb4938" /><Relationship Type="http://schemas.openxmlformats.org/officeDocument/2006/relationships/slide" Target="/ppt/slides/slide4.xml" Id="R45913b2f43cc4923" /><Relationship Type="http://schemas.openxmlformats.org/officeDocument/2006/relationships/slide" Target="/ppt/slides/slide5.xml" Id="R6036a8dbe34d4ca6" /><Relationship Type="http://schemas.openxmlformats.org/officeDocument/2006/relationships/slide" Target="/ppt/slides/slide6.xml" Id="R986cfdcfcff248a9" /><Relationship Type="http://schemas.openxmlformats.org/officeDocument/2006/relationships/slide" Target="/ppt/slides/slide7.xml" Id="R71a3ec8fa6b44e26" /><Relationship Type="http://schemas.openxmlformats.org/officeDocument/2006/relationships/slide" Target="/ppt/slides/slide8.xml" Id="R0d0382bac88e40cf" /><Relationship Type="http://schemas.openxmlformats.org/officeDocument/2006/relationships/slide" Target="/ppt/slides/slide9.xml" Id="R54fc7c62019f448c" /><Relationship Type="http://schemas.openxmlformats.org/officeDocument/2006/relationships/slide" Target="/ppt/slides/slide10.xml" Id="Rc7d4dedc09564c72" /><Relationship Type="http://schemas.openxmlformats.org/officeDocument/2006/relationships/slide" Target="/ppt/slides/slide11.xml" Id="Rf598efc69c66425f" /><Relationship Type="http://schemas.openxmlformats.org/officeDocument/2006/relationships/slide" Target="/ppt/slides/slide12.xml" Id="R5bcaaf9dafe04c5a" /><Relationship Type="http://schemas.openxmlformats.org/officeDocument/2006/relationships/slide" Target="/ppt/slides/slide13.xml" Id="R4cfdfcd90ff54c26" /><Relationship Type="http://schemas.openxmlformats.org/officeDocument/2006/relationships/slide" Target="/ppt/slides/slide14.xml" Id="Ra1601bce69064211" /><Relationship Type="http://schemas.openxmlformats.org/officeDocument/2006/relationships/slide" Target="/ppt/slides/slide15.xml" Id="R37fbb52630f5468d" /><Relationship Type="http://schemas.openxmlformats.org/officeDocument/2006/relationships/slide" Target="/ppt/slides/slide16.xml" Id="R0dee5a87a42143d9" /><Relationship Type="http://schemas.openxmlformats.org/officeDocument/2006/relationships/slide" Target="/ppt/slides/slide17.xml" Id="Reca6dcdcc67c4285" /><Relationship Type="http://schemas.openxmlformats.org/officeDocument/2006/relationships/slide" Target="/ppt/slides/slide18.xml" Id="Rb5565d7561d14784" /><Relationship Type="http://schemas.openxmlformats.org/officeDocument/2006/relationships/slide" Target="/ppt/slides/slide19.xml" Id="R20ec05be013c433f" /><Relationship Type="http://schemas.openxmlformats.org/officeDocument/2006/relationships/slide" Target="/ppt/slides/slide20.xml" Id="R0980396cbd9048ea" /><Relationship Type="http://schemas.openxmlformats.org/officeDocument/2006/relationships/slide" Target="/ppt/slides/slide21.xml" Id="R2455a53b1e5a4788" /><Relationship Type="http://schemas.openxmlformats.org/officeDocument/2006/relationships/slide" Target="/ppt/slides/slide22.xml" Id="R6dc9474c80534e27" /><Relationship Type="http://schemas.openxmlformats.org/officeDocument/2006/relationships/slide" Target="/ppt/slides/slide23.xml" Id="R266b052b4e9c4443" /><Relationship Type="http://schemas.openxmlformats.org/officeDocument/2006/relationships/slide" Target="/ppt/slides/slide24.xml" Id="R3510c8b4f99f4e8d" /><Relationship Type="http://schemas.openxmlformats.org/officeDocument/2006/relationships/slide" Target="/ppt/slides/slide25.xml" Id="R9063777a52a64e5c" /><Relationship Type="http://schemas.openxmlformats.org/officeDocument/2006/relationships/slide" Target="/ppt/slides/slide26.xml" Id="Ref9f596ae8cb46dd" /><Relationship Type="http://schemas.openxmlformats.org/officeDocument/2006/relationships/slide" Target="/ppt/slides/slide27.xml" Id="Rb4d68c33eed5416b" /><Relationship Type="http://schemas.openxmlformats.org/officeDocument/2006/relationships/slide" Target="/ppt/slides/slide28.xml" Id="R23f6f5dd242f40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0c6222d4ed42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a99a19916844c4" /><Relationship Type="http://schemas.openxmlformats.org/officeDocument/2006/relationships/notesMaster" Target="/ppt/notesMasters/notesMaster1.xml" Id="R16a71da8c47a46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287c8f6a484fdd" /><Relationship Type="http://schemas.openxmlformats.org/officeDocument/2006/relationships/notesMaster" Target="/ppt/notesMasters/notesMaster1.xml" Id="R64b677ac23e14a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fde73a05504f5f" /><Relationship Type="http://schemas.openxmlformats.org/officeDocument/2006/relationships/notesMaster" Target="/ppt/notesMasters/notesMaster1.xml" Id="R4f2ce9015bc545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296aca72c0430a" /><Relationship Type="http://schemas.openxmlformats.org/officeDocument/2006/relationships/notesMaster" Target="/ppt/notesMasters/notesMaster1.xml" Id="R41e58dce3a284c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af582ed8594823" /><Relationship Type="http://schemas.openxmlformats.org/officeDocument/2006/relationships/notesMaster" Target="/ppt/notesMasters/notesMaster1.xml" Id="Rae27f946d1d74e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492edd795e4cb8" /><Relationship Type="http://schemas.openxmlformats.org/officeDocument/2006/relationships/notesMaster" Target="/ppt/notesMasters/notesMaster1.xml" Id="Rfab62fac8a0948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88e8b2f3bc4e3a" /><Relationship Type="http://schemas.openxmlformats.org/officeDocument/2006/relationships/notesMaster" Target="/ppt/notesMasters/notesMaster1.xml" Id="Rc210b7b87f5042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f2f07e584b45fa" /><Relationship Type="http://schemas.openxmlformats.org/officeDocument/2006/relationships/notesMaster" Target="/ppt/notesMasters/notesMaster1.xml" Id="Ra760911ab70b4f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c963ba0c9c46df" /><Relationship Type="http://schemas.openxmlformats.org/officeDocument/2006/relationships/notesMaster" Target="/ppt/notesMasters/notesMaster1.xml" Id="R3af496ccd97b4f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746dc59ec54fc1" /><Relationship Type="http://schemas.openxmlformats.org/officeDocument/2006/relationships/notesMaster" Target="/ppt/notesMasters/notesMaster1.xml" Id="Rbf3f88df975742a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2669c6987074224" /><Relationship Type="http://schemas.openxmlformats.org/officeDocument/2006/relationships/notesMaster" Target="/ppt/notesMasters/notesMaster1.xml" Id="Rf3e0a0abbc4340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74edc552ad470f" /><Relationship Type="http://schemas.openxmlformats.org/officeDocument/2006/relationships/notesMaster" Target="/ppt/notesMasters/notesMaster1.xml" Id="R12b30ce2980e4ad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c432c38c694d18" /><Relationship Type="http://schemas.openxmlformats.org/officeDocument/2006/relationships/notesMaster" Target="/ppt/notesMasters/notesMaster1.xml" Id="R92c323bb348044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b1fa40833e449a1" /><Relationship Type="http://schemas.openxmlformats.org/officeDocument/2006/relationships/notesMaster" Target="/ppt/notesMasters/notesMaster1.xml" Id="Reb7cea5f7eff443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ef6916b615d4ee3" /><Relationship Type="http://schemas.openxmlformats.org/officeDocument/2006/relationships/notesMaster" Target="/ppt/notesMasters/notesMaster1.xml" Id="Ra798c255fa82401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0b2aaf6bc614bdb" /><Relationship Type="http://schemas.openxmlformats.org/officeDocument/2006/relationships/notesMaster" Target="/ppt/notesMasters/notesMaster1.xml" Id="R6c28f1243ac74b2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cf5c4dcef0d4968" /><Relationship Type="http://schemas.openxmlformats.org/officeDocument/2006/relationships/notesMaster" Target="/ppt/notesMasters/notesMaster1.xml" Id="R4d538f49813d49d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026680deef142d0" /><Relationship Type="http://schemas.openxmlformats.org/officeDocument/2006/relationships/notesMaster" Target="/ppt/notesMasters/notesMaster1.xml" Id="R9a41e4412de542c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d3e6726a909418a" /><Relationship Type="http://schemas.openxmlformats.org/officeDocument/2006/relationships/notesMaster" Target="/ppt/notesMasters/notesMaster1.xml" Id="R5a48b89efa614e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806c7f3c3cd4fc2" /><Relationship Type="http://schemas.openxmlformats.org/officeDocument/2006/relationships/notesMaster" Target="/ppt/notesMasters/notesMaster1.xml" Id="Rf856048d508a496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e8c22e9c3c434a" /><Relationship Type="http://schemas.openxmlformats.org/officeDocument/2006/relationships/notesMaster" Target="/ppt/notesMasters/notesMaster1.xml" Id="R37192d6ae8c4438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328fca40c6b4851" /><Relationship Type="http://schemas.openxmlformats.org/officeDocument/2006/relationships/notesMaster" Target="/ppt/notesMasters/notesMaster1.xml" Id="R2b9719c4998b4c2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329104ca9e04e03" /><Relationship Type="http://schemas.openxmlformats.org/officeDocument/2006/relationships/notesMaster" Target="/ppt/notesMasters/notesMaster1.xml" Id="R9f07a4b3aeba40e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3d13a77cd2d4eeb" /><Relationship Type="http://schemas.openxmlformats.org/officeDocument/2006/relationships/notesMaster" Target="/ppt/notesMasters/notesMaster1.xml" Id="R7d0501282081448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9a089ea62d24847" /><Relationship Type="http://schemas.openxmlformats.org/officeDocument/2006/relationships/notesMaster" Target="/ppt/notesMasters/notesMaster1.xml" Id="R00f9c1b3dc5d486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a779dcdf6324124" /><Relationship Type="http://schemas.openxmlformats.org/officeDocument/2006/relationships/notesMaster" Target="/ppt/notesMasters/notesMaster1.xml" Id="Rc948fc1985474ff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32dd96af8d8478d" /><Relationship Type="http://schemas.openxmlformats.org/officeDocument/2006/relationships/notesMaster" Target="/ppt/notesMasters/notesMaster1.xml" Id="R5de485cacccb403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193c1ea55fb4fee" /><Relationship Type="http://schemas.openxmlformats.org/officeDocument/2006/relationships/notesMaster" Target="/ppt/notesMasters/notesMaster1.xml" Id="R95d0b3a6998647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0:00-0:35</a:t>
            </a:r>
          </a:p>
          <a:p xmlns:a="http://schemas.openxmlformats.org/drawingml/2006/main">
            <a:r>
              <a:t/>
            </a:r>
          </a:p>
          <a:p xmlns:a="http://schemas.openxmlformats.org/drawingml/2006/main">
            <a:r>
              <a:t>MEMORY ANCHOR: Couple the evidence without hiding uncertainty.</a:t>
            </a:r>
          </a:p>
          <a:p xmlns:a="http://schemas.openxmlformats.org/drawingml/2006/main">
            <a:r>
              <a:t/>
            </a:r>
          </a:p>
          <a:p xmlns:a="http://schemas.openxmlformats.org/drawingml/2006/main">
            <a:r>
              <a:t>SAY THIS:</a:t>
            </a:r>
          </a:p>
          <a:p xmlns:a="http://schemas.openxmlformats.org/drawingml/2006/main">
            <a:r>
              <a:t>Good morning, and thank you for the opportunity to present my doctoral research. This thesis develops and evaluates HydroSheaf, a framework for bringing groundwater-age evidence, directed connectivity and hydrogeochemical reactions into one uncertainty-aware analysis. The central idea is simple: integration is useful only when it exposes non-uniqueness rather than hiding it. I will therefore focus not only on what worked, but also on what failed, what was withdrawn, and what the available evidence cannot establish.</a:t>
            </a:r>
          </a:p>
          <a:p xmlns:a="http://schemas.openxmlformats.org/drawingml/2006/main">
            <a:r>
              <a:t/>
            </a:r>
          </a:p>
          <a:p xmlns:a="http://schemas.openxmlformats.org/drawingml/2006/main">
            <a:r>
              <a:t>TRANSITION:</a:t>
            </a:r>
          </a:p>
          <a:p xmlns:a="http://schemas.openxmlformats.org/drawingml/2006/main">
            <a:r>
              <a:t>I will begin with the scientific problem that made this work necessary.</a:t>
            </a:r>
          </a:p>
          <a:p xmlns:a="http://schemas.openxmlformats.org/drawingml/2006/main">
            <a:r>
              <a:t/>
            </a:r>
          </a:p>
          <a:p xmlns:a="http://schemas.openxmlformats.org/drawingml/2006/main">
            <a:r>
              <a:t>DELIVERY CUE: Stand still, look at the panel, and speak more slowly than feels natural. Pause after the central idea.</a:t>
            </a:r>
          </a:p>
          <a:p xmlns:a="http://schemas.openxmlformats.org/drawingml/2006/main">
            <a:r>
              <a:t/>
            </a:r>
          </a:p>
          <a:p xmlns:a="http://schemas.openxmlformats.org/drawingml/2006/main">
            <a:r>
              <a:t>AVOID SAYING: Do not begin by listing software modules or milestones. Do not claim universal superiority.</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0:35-1:55</a:t>
            </a:r>
          </a:p>
          <a:p xmlns:a="http://schemas.openxmlformats.org/drawingml/2006/main">
            <a:r>
              <a:t/>
            </a:r>
          </a:p>
          <a:p xmlns:a="http://schemas.openxmlformats.org/drawingml/2006/main">
            <a:r>
              <a:t>MEMORY ANCHOR: Coupled aquifer, sparse data, separate analyses, conflicting stories.</a:t>
            </a:r>
          </a:p>
          <a:p xmlns:a="http://schemas.openxmlformats.org/drawingml/2006/main">
            <a:r>
              <a:t/>
            </a:r>
          </a:p>
          <a:p xmlns:a="http://schemas.openxmlformats.org/drawingml/2006/main">
            <a:r>
              <a:t>SAY THIS:</a:t>
            </a:r>
          </a:p>
          <a:p xmlns:a="http://schemas.openxmlformats.org/drawingml/2006/main">
            <a:r>
              <a:t>The problem is that groundwater residence time, flow-path connectivity and chemical evolution are physically coupled, but they are commonly analysed as separate inverse problems. In data-limited aquifers, each problem is already non-unique. Several age distributions may fit the same tracer signal. Several directed networks may fit sparse hydraulic evidence. Several reaction pathways may reproduce the same chemistry. When these analyses are performed separately, uncertainty from one stage is often treated as fixed truth in the next. The result can be several individually plausible but mutually incompatible aquifer stories. Even worse, combining evidence can make uncertainty appear smaller while the interpretation becomes less accurate. This creates a clear methodological need: a framework that links the evidence streams, tests whether local relations are globally compatible, measures whether each added stream contributes real information, and reports when the problem remains non-identifiable.</a:t>
            </a:r>
          </a:p>
          <a:p xmlns:a="http://schemas.openxmlformats.org/drawingml/2006/main">
            <a:r>
              <a:t/>
            </a:r>
          </a:p>
          <a:p xmlns:a="http://schemas.openxmlformats.org/drawingml/2006/main">
            <a:r>
              <a:t>TRANSITION:</a:t>
            </a:r>
          </a:p>
          <a:p xmlns:a="http://schemas.openxmlformats.org/drawingml/2006/main">
            <a:r>
              <a:t>That problem becomes clearer when we examine how the three unknowns constrain one another.</a:t>
            </a:r>
          </a:p>
          <a:p xmlns:a="http://schemas.openxmlformats.org/drawingml/2006/main">
            <a:r>
              <a:t/>
            </a:r>
          </a:p>
          <a:p xmlns:a="http://schemas.openxmlformats.org/drawingml/2006/main">
            <a:r>
              <a:t>DELIVERY CUE: Use the four-part rhythm: coupled system, sparse evidence, separate workflows, conflicting stories. Emphasise 'mutually incompatible'.</a:t>
            </a:r>
          </a:p>
          <a:p xmlns:a="http://schemas.openxmlformats.org/drawingml/2006/main">
            <a:r>
              <a:t/>
            </a:r>
          </a:p>
          <a:p xmlns:a="http://schemas.openxmlformats.org/drawingml/2006/main">
            <a:r>
              <a:t>AVOID SAYING: Do not say that conventional methods are wrong. Say that analysing them separately leaves cross-domain consistency untested.</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G4\Documents\July_2026\NeutroProject\Groundwater\Hydrosheaf\M5\m5_inverse_reaction_benchmark\docs\m5_results_summary.md</a:t>
            </a:r>
          </a:p>
          <a:p xmlns:a="http://schemas.openxmlformats.org/drawingml/2006/main">
            <a:r>
              <a:t>- C:\Users\ThinkPad P1 G4\Documents\July_2026\NeutroProject\Groundwater\Hydrosheaf\M7\m7_nonuniqueness_benchmark\docs\m7_3_results.md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1:55-3:00</a:t>
            </a:r>
          </a:p>
          <a:p xmlns:a="http://schemas.openxmlformats.org/drawingml/2006/main">
            <a:r>
              <a:t/>
            </a:r>
          </a:p>
          <a:p xmlns:a="http://schemas.openxmlformats.org/drawingml/2006/main">
            <a:r>
              <a:t>MEMORY ANCHOR: Age, topology and chemistry constrain each other.</a:t>
            </a:r>
          </a:p>
          <a:p xmlns:a="http://schemas.openxmlformats.org/drawingml/2006/main">
            <a:r>
              <a:t/>
            </a:r>
          </a:p>
          <a:p xmlns:a="http://schemas.openxmlformats.org/drawingml/2006/main">
            <a:r>
              <a:t>SAY THIS:</a:t>
            </a:r>
          </a:p>
          <a:p xmlns:a="http://schemas.openxmlformats.org/drawingml/2006/main">
            <a:r>
              <a:t>These three unknowns cannot be interpreted independently. Age evidence constrains plausible travel direction and residence time. Topology determines which samples can reasonably be compared along a flow path. Chemistry constrains which reactions are plausible between connected locations. Conventional sequential workflows often estimate one domain first and then pass that estimate forward as if it were known. HydroSheaf instead treats the relations themselves as uncertain. It asks whether locally plausible age, hydraulic and chemical relations can be assembled into a globally compatible interpretation. If they cannot, the conflict should remain visible rather than being averaged away.</a:t>
            </a:r>
          </a:p>
          <a:p xmlns:a="http://schemas.openxmlformats.org/drawingml/2006/main">
            <a:r>
              <a:t/>
            </a:r>
          </a:p>
          <a:p xmlns:a="http://schemas.openxmlformats.org/drawingml/2006/main">
            <a:r>
              <a:t>TRANSITION:</a:t>
            </a:r>
          </a:p>
          <a:p xmlns:a="http://schemas.openxmlformats.org/drawingml/2006/main">
            <a:r>
              <a:t>This leads to one overall aim and four questions that can be tested directly.</a:t>
            </a:r>
          </a:p>
          <a:p xmlns:a="http://schemas.openxmlformats.org/drawingml/2006/main">
            <a:r>
              <a:t/>
            </a:r>
          </a:p>
          <a:p xmlns:a="http://schemas.openxmlformats.org/drawingml/2006/main">
            <a:r>
              <a:t>DELIVERY CUE: Point once from age to topology to chemistry, then return your hands to a neutral position.</a:t>
            </a:r>
          </a:p>
          <a:p xmlns:a="http://schemas.openxmlformats.org/drawingml/2006/main">
            <a:r>
              <a:t/>
            </a:r>
          </a:p>
          <a:p xmlns:a="http://schemas.openxmlformats.org/drawingml/2006/main">
            <a:r>
              <a:t>AVOID SAYING: Do not imply that the Ghana dataset contains all three evidence types. This slide describes the scientific system.</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3:00-4:00</a:t>
            </a:r>
          </a:p>
          <a:p xmlns:a="http://schemas.openxmlformats.org/drawingml/2006/main">
            <a:r>
              <a:t/>
            </a:r>
          </a:p>
          <a:p xmlns:a="http://schemas.openxmlformats.org/drawingml/2006/main">
            <a:r>
              <a:t>MEMORY ANCHOR: Recover, integrate, compare, and define the field boundary.</a:t>
            </a:r>
          </a:p>
          <a:p xmlns:a="http://schemas.openxmlformats.org/drawingml/2006/main">
            <a:r>
              <a:t/>
            </a:r>
          </a:p>
          <a:p xmlns:a="http://schemas.openxmlformats.org/drawingml/2006/main">
            <a:r>
              <a:t>SAY THIS:</a:t>
            </a:r>
          </a:p>
          <a:p xmlns:a="http://schemas.openxmlformats.org/drawingml/2006/main">
            <a:r>
              <a:t>The aim was to develop, benchmark and apply HydroSheaf for the joint diagnosis of residence-time distributions, directed flow-path connectivity and hydrogeochemical evolution. I organised that aim into four questions. First, can the component methods recover known or reference behaviour? Second, when does one evidence stream add information to another? Third, what does affine sheaf structure contribute beyond ordinary weighted graphs? Fourth, given the actual Ghana data, what conclusions are supportable and what remains unknowable? These questions move from component verification to integration, then to methodological novelty, and finally to field relevance.</a:t>
            </a:r>
          </a:p>
          <a:p xmlns:a="http://schemas.openxmlformats.org/drawingml/2006/main">
            <a:r>
              <a:t/>
            </a:r>
          </a:p>
          <a:p xmlns:a="http://schemas.openxmlformats.org/drawingml/2006/main">
            <a:r>
              <a:t>TRANSITION:</a:t>
            </a:r>
          </a:p>
          <a:p xmlns:a="http://schemas.openxmlformats.org/drawingml/2006/main">
            <a:r>
              <a:t>Before presenting the results, I need to separate the inherited scientific foundations from the thesis contribution.</a:t>
            </a:r>
          </a:p>
          <a:p xmlns:a="http://schemas.openxmlformats.org/drawingml/2006/main">
            <a:r>
              <a:t/>
            </a:r>
          </a:p>
          <a:p xmlns:a="http://schemas.openxmlformats.org/drawingml/2006/main">
            <a:r>
              <a:t>DELIVERY CUE: Do not read every box mechanically. State the four verbs: recover, integrate, compare, define the boundary.</a:t>
            </a:r>
          </a:p>
          <a:p xmlns:a="http://schemas.openxmlformats.org/drawingml/2006/main">
            <a:r>
              <a:t/>
            </a:r>
          </a:p>
          <a:p xmlns:a="http://schemas.openxmlformats.org/drawingml/2006/main">
            <a:r>
              <a:t>AVOID SAYING: Do not use internal labels such as M7.3 or M7.5 when speaking to the audience.</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4:00-5:00</a:t>
            </a:r>
          </a:p>
          <a:p xmlns:a="http://schemas.openxmlformats.org/drawingml/2006/main">
            <a:r>
              <a:t/>
            </a:r>
          </a:p>
          <a:p xmlns:a="http://schemas.openxmlformats.org/drawingml/2006/main">
            <a:r>
              <a:t>MEMORY ANCHOR: The novelty is coupling plus falsification, not inventing the ingredients.</a:t>
            </a:r>
          </a:p>
          <a:p xmlns:a="http://schemas.openxmlformats.org/drawingml/2006/main">
            <a:r>
              <a:t/>
            </a:r>
          </a:p>
          <a:p xmlns:a="http://schemas.openxmlformats.org/drawingml/2006/main">
            <a:r>
              <a:t>SAY THIS:</a:t>
            </a:r>
          </a:p>
          <a:p xmlns:a="http://schemas.openxmlformats.org/drawingml/2006/main">
            <a:r>
              <a:t>The individual ingredients are established. The thesis does not claim to invent tracer dating, directed graphs, sheaf theory, PHREEQC, MODFLOW or MODPATH. The contribution is the way these foundations are made operational together for groundwater inference. HydroSheaf provides an executable coupling, treats uncertainty and identifiability as outputs, uses adverse controls to detect false confidence, applies locked claim-decision rules, and diagnoses the evidential ceiling of field datasets. The novelty is therefore methodological and evaluative: it is a local-to-global integration and falsification workflow, not a claim that every individual method is new.</a:t>
            </a:r>
          </a:p>
          <a:p xmlns:a="http://schemas.openxmlformats.org/drawingml/2006/main">
            <a:r>
              <a:t/>
            </a:r>
          </a:p>
          <a:p xmlns:a="http://schemas.openxmlformats.org/drawingml/2006/main">
            <a:r>
              <a:t>TRANSITION:</a:t>
            </a:r>
          </a:p>
          <a:p xmlns:a="http://schemas.openxmlformats.org/drawingml/2006/main">
            <a:r>
              <a:t>The clearest way to see the additional representation is to compare a weighted graph with an affine sheaf.</a:t>
            </a:r>
          </a:p>
          <a:p xmlns:a="http://schemas.openxmlformats.org/drawingml/2006/main">
            <a:r>
              <a:t/>
            </a:r>
          </a:p>
          <a:p xmlns:a="http://schemas.openxmlformats.org/drawingml/2006/main">
            <a:r>
              <a:t>DELIVERY CUE: Say the first two sentences confidently. Examiners often test whether the novelty is being overstated.</a:t>
            </a:r>
          </a:p>
          <a:p xmlns:a="http://schemas.openxmlformats.org/drawingml/2006/main">
            <a:r>
              <a:t/>
            </a:r>
          </a:p>
          <a:p xmlns:a="http://schemas.openxmlformats.org/drawingml/2006/main">
            <a:r>
              <a:t>AVOID SAYING: Never say 'I invented sheaf theory' or 'HydroSheaf is the first graph model of groundwater'.</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5:00-6:20</a:t>
            </a:r>
          </a:p>
          <a:p xmlns:a="http://schemas.openxmlformats.org/drawingml/2006/main">
            <a:r>
              <a:t/>
            </a:r>
          </a:p>
          <a:p xmlns:a="http://schemas.openxmlformats.org/drawingml/2006/main">
            <a:r>
              <a:t>MEMORY ANCHOR: A weight scores a relation; an affine map transforms it and tests compatibility.</a:t>
            </a:r>
          </a:p>
          <a:p xmlns:a="http://schemas.openxmlformats.org/drawingml/2006/main">
            <a:r>
              <a:t/>
            </a:r>
          </a:p>
          <a:p xmlns:a="http://schemas.openxmlformats.org/drawingml/2006/main">
            <a:r>
              <a:t>SAY THIS:</a:t>
            </a:r>
          </a:p>
          <a:p xmlns:a="http://schemas.openxmlformats.org/drawingml/2006/main">
            <a:r>
              <a:t>An ordinary weighted graph describes which nodes are connected and assigns a scalar strength to each edge. That is useful, but it assumes that the quantities being compared share the same coordinate relation. In the scalar-affine representation benchmark, the sheaf used a static scalar affine relation: the state at one node was related to the other through an edge-specific gain and offset. This allows different edges to express different relations. The framework can then test whether those locally plausible relations compose into a global section, and it can localise incompatibility around cycles. The tested contribution is therefore scalar affine representation and conflict localisation. The broader software can represent multivariate stalks, but multivariate vector-stalk performance was not validated in this thesis.</a:t>
            </a:r>
          </a:p>
          <a:p xmlns:a="http://schemas.openxmlformats.org/drawingml/2006/main">
            <a:r>
              <a:t/>
            </a:r>
          </a:p>
          <a:p xmlns:a="http://schemas.openxmlformats.org/drawingml/2006/main">
            <a:r>
              <a:t>TRANSITION:</a:t>
            </a:r>
          </a:p>
          <a:p xmlns:a="http://schemas.openxmlformats.org/drawingml/2006/main">
            <a:r>
              <a:t>Because different experiments answer different questions, I matched every claim to an explicit evidence level.</a:t>
            </a:r>
          </a:p>
          <a:p xmlns:a="http://schemas.openxmlformats.org/drawingml/2006/main">
            <a:r>
              <a:t/>
            </a:r>
          </a:p>
          <a:p xmlns:a="http://schemas.openxmlformats.org/drawingml/2006/main">
            <a:r>
              <a:t>DELIVERY CUE: Write the equation in the air only once. Pause before the limitation about vector stalks.</a:t>
            </a:r>
          </a:p>
          <a:p xmlns:a="http://schemas.openxmlformats.org/drawingml/2006/main">
            <a:r>
              <a:t/>
            </a:r>
          </a:p>
          <a:p xmlns:a="http://schemas.openxmlformats.org/drawingml/2006/main">
            <a:r>
              <a:t>AVOID SAYING: Do not say that the benchmark validated full age-chemistry-head vectors. It tested scalar affine relations.</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G4\Documents\July_2026\NeutroProject\Groundwater\Hydrosheaf\hydrosheaf\sheaf\directed_section.py</a:t>
            </a:r>
          </a:p>
          <a:p xmlns:a="http://schemas.openxmlformats.org/drawingml/2006/main">
            <a:r>
              <a:t>- C:\Users\ThinkPad P1 G4\Documents\July_2026\NeutroProject\Groundwater\Hydrosheaf\M7\m7_nonuniqueness_benchmark\docs\m7_sheaf_vs_graph_results.md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6:20-7:40</a:t>
            </a:r>
          </a:p>
          <a:p xmlns:a="http://schemas.openxmlformats.org/drawingml/2006/main">
            <a:r>
              <a:t/>
            </a:r>
          </a:p>
          <a:p xmlns:a="http://schemas.openxmlformats.org/drawingml/2006/main">
            <a:r>
              <a:t>MEMORY ANCHOR: Different evidence levels support different claims.</a:t>
            </a:r>
          </a:p>
          <a:p xmlns:a="http://schemas.openxmlformats.org/drawingml/2006/main">
            <a:r>
              <a:t/>
            </a:r>
          </a:p>
          <a:p xmlns:a="http://schemas.openxmlformats.org/drawingml/2006/main">
            <a:r>
              <a:t>SAY THIS:</a:t>
            </a:r>
          </a:p>
          <a:p xmlns:a="http://schemas.openxmlformats.org/drawingml/2006/main">
            <a:r>
              <a:t>The validation strategy is staged. Unit and conversion checks establish that declared inputs are represented correctly. Reference emulation asks whether HydroSheaf can closely reproduce an established public workflow. Controlled known-truth benchmarks test recovery when the answer is planted externally. Field transfer asks what real observations can support when truth is unavailable. The missing highest level is a matched field dataset containing age tracers, repeated hydraulic observations, chemistry and independently measured connectivity. I also used locked tests. Development cases were used to select the method and decision rules. The held-out cases were then opened once for confirmatory evaluation. This prevents favourable test results from being created through repeated tuning.</a:t>
            </a:r>
          </a:p>
          <a:p xmlns:a="http://schemas.openxmlformats.org/drawingml/2006/main">
            <a:r>
              <a:t/>
            </a:r>
          </a:p>
          <a:p xmlns:a="http://schemas.openxmlformats.org/drawingml/2006/main">
            <a:r>
              <a:t>TRANSITION:</a:t>
            </a:r>
          </a:p>
          <a:p xmlns:a="http://schemas.openxmlformats.org/drawingml/2006/main">
            <a:r>
              <a:t>With that claim structure in place, I first checked whether the basic architecture worked under controlled conditions.</a:t>
            </a:r>
          </a:p>
          <a:p xmlns:a="http://schemas.openxmlformats.org/drawingml/2006/main">
            <a:r>
              <a:t/>
            </a:r>
          </a:p>
          <a:p xmlns:a="http://schemas.openxmlformats.org/drawingml/2006/main">
            <a:r>
              <a:t>DELIVERY CUE: Move down the evidence ladder slowly. Let the missing highest level remain visible for a moment.</a:t>
            </a:r>
          </a:p>
          <a:p xmlns:a="http://schemas.openxmlformats.org/drawingml/2006/main">
            <a:r>
              <a:t/>
            </a:r>
          </a:p>
          <a:p xmlns:a="http://schemas.openxmlformats.org/drawingml/2006/main">
            <a:r>
              <a:t>AVOID SAYING: Do not call the locked protocol externally preregistered. It was prospectively Git-locked.</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G4\Documents\July_2026\NeutroProject\Groundwater\Hydrosheaf\M7\m7_nonuniqueness_benchmark\manuscript\revision\FINAL_VERIFICATION_20260730.md</a:t>
            </a:r>
          </a:p>
          <a:p xmlns:a="http://schemas.openxmlformats.org/drawingml/2006/main">
            <a:r>
              <a:t>- C:\Users\ThinkPad P1 G4\Documents\July_2026\NeutroProject\Groundwater\Hydrosheaf\draftbychapter\PhDChapter1_refined.docx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7:40-8:35</a:t>
            </a:r>
          </a:p>
          <a:p xmlns:a="http://schemas.openxmlformats.org/drawingml/2006/main">
            <a:r>
              <a:t/>
            </a:r>
          </a:p>
          <a:p xmlns:a="http://schemas.openxmlformats.org/drawingml/2006/main">
            <a:r>
              <a:t>MEMORY ANCHOR: Verify capability before testing novelty.</a:t>
            </a:r>
          </a:p>
          <a:p xmlns:a="http://schemas.openxmlformats.org/drawingml/2006/main">
            <a:r>
              <a:t/>
            </a:r>
          </a:p>
          <a:p xmlns:a="http://schemas.openxmlformats.org/drawingml/2006/main">
            <a:r>
              <a:t>SAY THIS:</a:t>
            </a:r>
          </a:p>
          <a:p xmlns:a="http://schemas.openxmlformats.org/drawingml/2006/main">
            <a:r>
              <a:t>The controlled proof of concept used one hundred transport-reaction realisations. Median transport absolute error was 0.058 and median reaction error was 0.112. This established that the architecture could recover planted behaviour and convert MODPATH archives into reference graphs. A crucial distinction is that the perfect 174-edge MODPATH result verified archive conversion; it did not show perfect inference of an unknown topology. The early chemistry experiment used a PHREEQC-compatible proxy, while the later reaction benchmark provided the live-PHREEQC evidence.</a:t>
            </a:r>
          </a:p>
          <a:p xmlns:a="http://schemas.openxmlformats.org/drawingml/2006/main">
            <a:r>
              <a:t/>
            </a:r>
          </a:p>
          <a:p xmlns:a="http://schemas.openxmlformats.org/drawingml/2006/main">
            <a:r>
              <a:t>TRANSITION:</a:t>
            </a:r>
          </a:p>
          <a:p xmlns:a="http://schemas.openxmlformats.org/drawingml/2006/main">
            <a:r>
              <a:t>I then tested the groundwater-age component against reported public configurations.</a:t>
            </a:r>
          </a:p>
          <a:p xmlns:a="http://schemas.openxmlformats.org/drawingml/2006/main">
            <a:r>
              <a:t/>
            </a:r>
          </a:p>
          <a:p xmlns:a="http://schemas.openxmlformats.org/drawingml/2006/main">
            <a:r>
              <a:t>DELIVERY CUE: Keep this slide brief. The red guardrail is more important than the three numbers.</a:t>
            </a:r>
          </a:p>
          <a:p xmlns:a="http://schemas.openxmlformats.org/drawingml/2006/main">
            <a:r>
              <a:t/>
            </a:r>
          </a:p>
          <a:p xmlns:a="http://schemas.openxmlformats.org/drawingml/2006/main">
            <a:r>
              <a:t>AVOID SAYING: Do not describe the conversion F1 of 1.00 as perfect topology inference.</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G4\Documents\July_2026\NeutroProject\Groundwater\Hydrosheaf\M2\m2_benchmark\docs\m2_results_summary.md</a:t>
            </a:r>
          </a:p>
          <a:p xmlns:a="http://schemas.openxmlformats.org/drawingml/2006/main">
            <a:r>
              <a:t>- C:\Users\ThinkPad P1 G4\Documents\July_2026\NeutroProject\Groundwater\Hydrosheaf\M5\m5_inverse_reaction_benchmark\docs\m5_results_summary.md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8:35-10:25</a:t>
            </a:r>
          </a:p>
          <a:p xmlns:a="http://schemas.openxmlformats.org/drawingml/2006/main">
            <a:r>
              <a:t/>
            </a:r>
          </a:p>
          <a:p xmlns:a="http://schemas.openxmlformats.org/drawingml/2006/main">
            <a:r>
              <a:t>MEMORY ANCHOR: Close agreement, no robust graph gain, harmful graphs detected.</a:t>
            </a:r>
          </a:p>
          <a:p xmlns:a="http://schemas.openxmlformats.org/drawingml/2006/main">
            <a:r>
              <a:t/>
            </a:r>
          </a:p>
          <a:p xmlns:a="http://schemas.openxmlformats.org/drawingml/2006/main">
            <a:r>
              <a:t>SAY THIS:</a:t>
            </a:r>
          </a:p>
          <a:p xmlns:a="http://schemas.openxmlformats.org/drawingml/2006/main">
            <a:r>
              <a:t>The public age archive contained 1,272 harmonised rows, of which 329 passed the strict reportability guard. Against the reported USGS and TracerLPM configurations, HydroSheaf achieved a median absolute log-ten age discrepancy of 0.0279, an R-squared of 0.937, and 87.5 percent agreement within a factor of two. This is close reference agreement, not formal equivalence and not independent age truth. The important integration test was whether graph information added value. The weak hydraulic proxy changed RMSE by only minus 0.00135 and worsened factor-two agreement, so it failed the improvement rule. A wrong-direction graph worsened RMSE by 0.1008, and a random graph worsened it by 0.6550. HydroSheaf therefore did not beat TracerLPM. It reproduced reported outputs closely and showed that unsupported topology can create negative transfer.</a:t>
            </a:r>
          </a:p>
          <a:p xmlns:a="http://schemas.openxmlformats.org/drawingml/2006/main">
            <a:r>
              <a:t/>
            </a:r>
          </a:p>
          <a:p xmlns:a="http://schemas.openxmlformats.org/drawingml/2006/main">
            <a:r>
              <a:t>TRANSITION:</a:t>
            </a:r>
          </a:p>
          <a:p xmlns:a="http://schemas.openxmlformats.org/drawingml/2006/main">
            <a:r>
              <a:t>The next question was whether directed connectivity itself could be inferred from independent evidence.</a:t>
            </a:r>
          </a:p>
          <a:p xmlns:a="http://schemas.openxmlformats.org/drawingml/2006/main">
            <a:r>
              <a:t/>
            </a:r>
          </a:p>
          <a:p xmlns:a="http://schemas.openxmlformats.org/drawingml/2006/main">
            <a:r>
              <a:t>DELIVERY CUE: Say 'close agreement' twice. Slow down for the three graph comparisons.</a:t>
            </a:r>
          </a:p>
          <a:p xmlns:a="http://schemas.openxmlformats.org/drawingml/2006/main">
            <a:r>
              <a:t/>
            </a:r>
          </a:p>
          <a:p xmlns:a="http://schemas.openxmlformats.org/drawingml/2006/main">
            <a:r>
              <a:t>AVOID SAYING: Do not say 'reference-equivalent', 'parity proven', or 'true field age'.</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G4\Documents\July_2026\NeutroProject\Groundwater\Hydrosheaf\M3\m3_age_benchmark\M3_FINAL_ACCURACY_AUDIT.md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10:25-12:00</a:t>
            </a:r>
          </a:p>
          <a:p xmlns:a="http://schemas.openxmlformats.org/drawingml/2006/main">
            <a:r>
              <a:t/>
            </a:r>
          </a:p>
          <a:p xmlns:a="http://schemas.openxmlformats.org/drawingml/2006/main">
            <a:r>
              <a:t>MEMORY ANCHOR: Inference was useful but conditional and imperfect.</a:t>
            </a:r>
          </a:p>
          <a:p xmlns:a="http://schemas.openxmlformats.org/drawingml/2006/main">
            <a:r>
              <a:t/>
            </a:r>
          </a:p>
          <a:p xmlns:a="http://schemas.openxmlformats.org/drawingml/2006/main">
            <a:r>
              <a:t>SAY THIS:</a:t>
            </a:r>
          </a:p>
          <a:p xmlns:a="http://schemas.openxmlformats.org/drawingml/2006/main">
            <a:r>
              <a:t>For topology, MODPATH particle tracks supplied a model-conditioned reference network. The head-gradient inference achieved precision 0.49, recall 0.84 and F1 0.62, while negative controls were close to zero. This shows useful directional information, but false positives remained substantial and performance changed across evidence levels and spatial scales. It is essential to separate this from the perfect archive-conversion result. Conversion asks whether known paths are represented correctly. Inference asks whether an unknown graph can be reconstructed from indirect evidence. The supported conclusion is conditional topology skill against MODPATH-derived reference transitions, not independently measured field connectivity.</a:t>
            </a:r>
          </a:p>
          <a:p xmlns:a="http://schemas.openxmlformats.org/drawingml/2006/main">
            <a:r>
              <a:t/>
            </a:r>
          </a:p>
          <a:p xmlns:a="http://schemas.openxmlformats.org/drawingml/2006/main">
            <a:r>
              <a:t>TRANSITION:</a:t>
            </a:r>
          </a:p>
          <a:p xmlns:a="http://schemas.openxmlformats.org/drawingml/2006/main">
            <a:r>
              <a:t>Topology was not the only non-unique component; the reaction benchmark revealed an even more direct fit-versus-mechanism problem.</a:t>
            </a:r>
          </a:p>
          <a:p xmlns:a="http://schemas.openxmlformats.org/drawingml/2006/main">
            <a:r>
              <a:t/>
            </a:r>
          </a:p>
          <a:p xmlns:a="http://schemas.openxmlformats.org/drawingml/2006/main">
            <a:r>
              <a:t>DELIVERY CUE: Point to the particle paths, then to the three metrics. End by looking at the examiners, not the slide.</a:t>
            </a:r>
          </a:p>
          <a:p xmlns:a="http://schemas.openxmlformats.org/drawingml/2006/main">
            <a:r>
              <a:t/>
            </a:r>
          </a:p>
          <a:p xmlns:a="http://schemas.openxmlformats.org/drawingml/2006/main">
            <a:r>
              <a:t>AVOID SAYING: Do not call MODPATH model output field truth or claim full pathline-shape validation.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G4\Documents\July_2026\NeutroProject\Groundwater\Hydrosheaf\M4\m4_topology_benchmark\docs\02_figures.md</a:t>
            </a:r>
          </a:p>
          <a:p xmlns:a="http://schemas.openxmlformats.org/drawingml/2006/main">
            <a:r>
              <a:t>- C:\Users\ThinkPad P1 G4\Documents\July_2026\NeutroProject\Groundwater\Hydrosheaf\M4\m4_topology_benchmark\docs\m4_results_summary.md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12:00-14:00</a:t>
            </a:r>
          </a:p>
          <a:p xmlns:a="http://schemas.openxmlformats.org/drawingml/2006/main">
            <a:r>
              <a:t/>
            </a:r>
          </a:p>
          <a:p xmlns:a="http://schemas.openxmlformats.org/drawingml/2006/main">
            <a:r>
              <a:t>MEMORY ANCHOR: A low residual does not identify a unique mechanism.</a:t>
            </a:r>
          </a:p>
          <a:p xmlns:a="http://schemas.openxmlformats.org/drawingml/2006/main">
            <a:r>
              <a:t/>
            </a:r>
          </a:p>
          <a:p xmlns:a="http://schemas.openxmlformats.org/drawingml/2006/main">
            <a:r>
              <a:t>SAY THIS:</a:t>
            </a:r>
          </a:p>
          <a:p xmlns:a="http://schemas.openxmlformats.org/drawingml/2006/main">
            <a:r>
              <a:t>The reaction benchmark used 240 live-PHREEQC scenarios and 21,600 inverse fits. The key result is that concentration fit and mechanism recovery are not the same. Conventional inverse PHREEQC produced, on average, 185.78 feasible models and 6.79 minimal models per scenario. Fifty-five percent of the lowest-residual fits still had phase F1 below 0.80. The guarded HydroSheaf result gave exact-phase F1 of 0.563, equivalence-class F1 of 0.609 and a false-discovery rate of 0.361. These values are not perfect, but they support a more defensible reporting target. Instead of selecting one apparently best mineral pathway, the method reports reaction families or equivalence classes and preserves the alternatives that the chemistry cannot distinguish.</a:t>
            </a:r>
          </a:p>
          <a:p xmlns:a="http://schemas.openxmlformats.org/drawingml/2006/main">
            <a:r>
              <a:t/>
            </a:r>
          </a:p>
          <a:p xmlns:a="http://schemas.openxmlformats.org/drawingml/2006/main">
            <a:r>
              <a:t>TRANSITION:</a:t>
            </a:r>
          </a:p>
          <a:p xmlns:a="http://schemas.openxmlformats.org/drawingml/2006/main">
            <a:r>
              <a:t>That identifiability logic was then transferred to the Ghana field data.</a:t>
            </a:r>
          </a:p>
          <a:p xmlns:a="http://schemas.openxmlformats.org/drawingml/2006/main">
            <a:r>
              <a:t/>
            </a:r>
          </a:p>
          <a:p xmlns:a="http://schemas.openxmlformats.org/drawingml/2006/main">
            <a:r>
              <a:t>DELIVERY CUE: Pause after 'fit and mechanism recovery are not the same'. Let the multiplicity numbers do the work.</a:t>
            </a:r>
          </a:p>
          <a:p xmlns:a="http://schemas.openxmlformats.org/drawingml/2006/main">
            <a:r>
              <a:t/>
            </a:r>
          </a:p>
          <a:p xmlns:a="http://schemas.openxmlformats.org/drawingml/2006/main">
            <a:r>
              <a:t>AVOID SAYING: Do not claim exact mineral identification or unique reaction truth in Ghana.</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G4\Documents\July_2026\NeutroProject\Groundwater\Hydrosheaf\M5\m5_inverse_reaction_benchmark\docs\m5_results_summary.md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14:00-16:00</a:t>
            </a:r>
          </a:p>
          <a:p xmlns:a="http://schemas.openxmlformats.org/drawingml/2006/main">
            <a:r>
              <a:t/>
            </a:r>
          </a:p>
          <a:p xmlns:a="http://schemas.openxmlformats.org/drawingml/2006/main">
            <a:r>
              <a:t>MEMORY ANCHOR: Fit stayed stable while identifiability collapsed.</a:t>
            </a:r>
          </a:p>
          <a:p xmlns:a="http://schemas.openxmlformats.org/drawingml/2006/main">
            <a:r>
              <a:t/>
            </a:r>
          </a:p>
          <a:p xmlns:a="http://schemas.openxmlformats.org/drawingml/2006/main">
            <a:r>
              <a:t>SAY THIS:</a:t>
            </a:r>
          </a:p>
          <a:p xmlns:a="http://schemas.openxmlformats.org/drawingml/2006/main">
            <a:r>
              <a:t>Northern Ghana provided 320 records, of which 294 met the quantitative quality tier. The field question was not whether exact reactions could be validated, because independent reaction truth was unavailable. The question was which measurements controlled interpretive resolution. Under the predeclared evidence gate, removing strontium and silica moved approximately 52 percent of wells into the non-identifiable category. At the same time, the mean fit score remained around 68 to 71, bootstrap support remained high, and process labels changed in 35.6 percent of wells. A synthetic check supported the direction of this result, but the 52 percent value is an operational classification, not independently observed field truth. The scientific implication is important: a model can continue to fit the available observations while losing the information needed to distinguish processes.</a:t>
            </a:r>
          </a:p>
          <a:p xmlns:a="http://schemas.openxmlformats.org/drawingml/2006/main">
            <a:r>
              <a:t/>
            </a:r>
          </a:p>
          <a:p xmlns:a="http://schemas.openxmlformats.org/drawingml/2006/main">
            <a:r>
              <a:t>TRANSITION:</a:t>
            </a:r>
          </a:p>
          <a:p xmlns:a="http://schemas.openxmlformats.org/drawingml/2006/main">
            <a:r>
              <a:t>The integration benchmark then tested directly whether additional evidence improved the inference or merely increased confidence.</a:t>
            </a:r>
          </a:p>
          <a:p xmlns:a="http://schemas.openxmlformats.org/drawingml/2006/main">
            <a:r>
              <a:t/>
            </a:r>
          </a:p>
          <a:p xmlns:a="http://schemas.openxmlformats.org/drawingml/2006/main">
            <a:r>
              <a:t>DELIVERY CUE: Emphasise the contrast: 'fit stayed stable' versus 'identifiability collapsed'.</a:t>
            </a:r>
          </a:p>
          <a:p xmlns:a="http://schemas.openxmlformats.org/drawingml/2006/main">
            <a:r>
              <a:t/>
            </a:r>
          </a:p>
          <a:p xmlns:a="http://schemas.openxmlformats.org/drawingml/2006/main">
            <a:r>
              <a:t>AVOID SAYING: Do not describe the 52 percent as measured geological truth or exact Ghana reaction failure.</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G4\Documents\July_2026\NeutroProject\Groundwater\Hydrosheaf\M6\m6_field_transfer_benchmark\docs\m6_results_summary.md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16:00-17:50</a:t>
            </a:r>
          </a:p>
          <a:p xmlns:a="http://schemas.openxmlformats.org/drawingml/2006/main">
            <a:r>
              <a:t/>
            </a:r>
          </a:p>
          <a:p xmlns:a="http://schemas.openxmlformats.org/drawingml/2006/main">
            <a:r>
              <a:t>MEMORY ANCHOR: More data helped only when it supplied independent information.</a:t>
            </a:r>
          </a:p>
          <a:p xmlns:a="http://schemas.openxmlformats.org/drawingml/2006/main">
            <a:r>
              <a:t/>
            </a:r>
          </a:p>
          <a:p xmlns:a="http://schemas.openxmlformats.org/drawingml/2006/main">
            <a:r>
              <a:t>SAY THIS:</a:t>
            </a:r>
          </a:p>
          <a:p xmlns:a="http://schemas.openxmlformats.org/drawingml/2006/main">
            <a:r>
              <a:t>In the independent integration generator, I tested each evidence stream by adding it to the others. Chemistry produced the clear topology-ranking gain: plus 0.447 PR-AUC, and this survived family-wise multiplicity correction. Hydraulics had a smaller point estimate of plus 0.0091. Its ranking contrast was not multiplicity-significant, with adjusted p equal to 0.070, although its Brier-score and log-loss improvements survived. Adding age gave a point estimate of minus 0.0060 and also did not survive multiplicity correction. Therefore the evidence streams were not equally informative. Chemistry carried strong independent ranking information in this generator. Hydraulics contributed mainly through calibration. Age added no positive topology-ranking value beyond hydraulics and chemistry. The broader lesson is that added data are not automatically added information.</a:t>
            </a:r>
          </a:p>
          <a:p xmlns:a="http://schemas.openxmlformats.org/drawingml/2006/main">
            <a:r>
              <a:t/>
            </a:r>
          </a:p>
          <a:p xmlns:a="http://schemas.openxmlformats.org/drawingml/2006/main">
            <a:r>
              <a:t>TRANSITION:</a:t>
            </a:r>
          </a:p>
          <a:p xmlns:a="http://schemas.openxmlformats.org/drawingml/2006/main">
            <a:r>
              <a:t>The information flow also worked in the opposite direction: when topology was correct, it could condition age inference.</a:t>
            </a:r>
          </a:p>
          <a:p xmlns:a="http://schemas.openxmlformats.org/drawingml/2006/main">
            <a:r>
              <a:t/>
            </a:r>
          </a:p>
          <a:p xmlns:a="http://schemas.openxmlformats.org/drawingml/2006/main">
            <a:r>
              <a:t>DELIVERY CUE: Use the phrase 'after multiplicity correction'. Do not rush the difference between ranking and calibration.</a:t>
            </a:r>
          </a:p>
          <a:p xmlns:a="http://schemas.openxmlformats.org/drawingml/2006/main">
            <a:r>
              <a:t/>
            </a:r>
          </a:p>
          <a:p xmlns:a="http://schemas.openxmlformats.org/drawingml/2006/main">
            <a:r>
              <a:t>AVOID SAYING: Do not say that all three nominal confidence intervals had the same inferential status.</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G4\Documents\July_2026\NeutroProject\Groundwater\Hydrosheaf\M7\m7_nonuniqueness_benchmark\docs\m7_3_results.md</a:t>
            </a:r>
          </a:p>
          <a:p xmlns:a="http://schemas.openxmlformats.org/drawingml/2006/main">
            <a:r>
              <a:t>- C:\Users\ThinkPad P1 G4\Documents\July_2026\NeutroProject\Groundwater\Hydrosheaf\M7\m7_nonuniqueness_benchmark\manuscript\sections\03-results\section.md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17:50-19:10</a:t>
            </a:r>
          </a:p>
          <a:p xmlns:a="http://schemas.openxmlformats.org/drawingml/2006/main">
            <a:r>
              <a:t/>
            </a:r>
          </a:p>
          <a:p xmlns:a="http://schemas.openxmlformats.org/drawingml/2006/main">
            <a:r>
              <a:t>MEMORY ANCHOR: Correct topology helped slightly; reversed topology harmed.</a:t>
            </a:r>
          </a:p>
          <a:p xmlns:a="http://schemas.openxmlformats.org/drawingml/2006/main">
            <a:r>
              <a:t/>
            </a:r>
          </a:p>
          <a:p xmlns:a="http://schemas.openxmlformats.org/drawingml/2006/main">
            <a:r>
              <a:t>SAY THIS:</a:t>
            </a:r>
          </a:p>
          <a:p xmlns:a="http://schemas.openxmlformats.org/drawingml/2006/main">
            <a:r>
              <a:t>When correct topology was supplied to the age model, mean absolute error decreased by 0.0619 years with two tracers and by 0.1642 years with tritium alone. The uncertainty intervals also narrowed without a coverage penalty. These changes were statistically precise but practically small: approximately 2.24 and 3.46 percent of the respective baseline errors. The practical planning margins were added after review and were not prespecified. The result should therefore be described as a small conditional improvement, strongest under the weaker tracer panel. Reversing the topology increased error, reduced coverage and caused numerical instability in several tritium-only cases. Correct topology can reduce age non-uniqueness, but an unsupported graph can make age inference worse.</a:t>
            </a:r>
          </a:p>
          <a:p xmlns:a="http://schemas.openxmlformats.org/drawingml/2006/main">
            <a:r>
              <a:t/>
            </a:r>
          </a:p>
          <a:p xmlns:a="http://schemas.openxmlformats.org/drawingml/2006/main">
            <a:r>
              <a:t>TRANSITION:</a:t>
            </a:r>
          </a:p>
          <a:p xmlns:a="http://schemas.openxmlformats.org/drawingml/2006/main">
            <a:r>
              <a:t>I then isolated the central methodological question: what does the sheaf add beyond a competence-matched weighted graph?</a:t>
            </a:r>
          </a:p>
          <a:p xmlns:a="http://schemas.openxmlformats.org/drawingml/2006/main">
            <a:r>
              <a:t/>
            </a:r>
          </a:p>
          <a:p xmlns:a="http://schemas.openxmlformats.org/drawingml/2006/main">
            <a:r>
              <a:t>DELIVERY CUE: Say 'statistically precise but practically small' clearly. This demonstrates mature interpretation.</a:t>
            </a:r>
          </a:p>
          <a:p xmlns:a="http://schemas.openxmlformats.org/drawingml/2006/main">
            <a:r>
              <a:t/>
            </a:r>
          </a:p>
          <a:p xmlns:a="http://schemas.openxmlformats.org/drawingml/2006/main">
            <a:r>
              <a:t>AVOID SAYING: Do not present the age improvement as large or transformative.</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G4\Documents\July_2026\NeutroProject\Groundwater\Hydrosheaf\M7\m7_nonuniqueness_benchmark\docs\m7_3_results.md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19:10-21:30</a:t>
            </a:r>
          </a:p>
          <a:p xmlns:a="http://schemas.openxmlformats.org/drawingml/2006/main">
            <a:r>
              <a:t/>
            </a:r>
          </a:p>
          <a:p xmlns:a="http://schemas.openxmlformats.org/drawingml/2006/main">
            <a:r>
              <a:t>MEMORY ANCHOR: Map semantics and conflict localisation, not universal superiority.</a:t>
            </a:r>
          </a:p>
          <a:p xmlns:a="http://schemas.openxmlformats.org/drawingml/2006/main">
            <a:r>
              <a:t/>
            </a:r>
          </a:p>
          <a:p xmlns:a="http://schemas.openxmlformats.org/drawingml/2006/main">
            <a:r>
              <a:t>SAY THIS:</a:t>
            </a:r>
          </a:p>
          <a:p xmlns:a="http://schemas.openxmlformats.org/drawingml/2006/main">
            <a:r>
              <a:t>This is the central sheaf-versus-graph result. The affine sheaf improved PR-AUC by 0.0854 relative to an identity graph Laplacian. Native affine maps also beat permuted maps by 0.0909, showing that the learned map semantics mattered. The identity-limit cases matched exactly, so the sheaf properly reduced to the graph baseline when the restrictions were identity maps. However, the stronger edge-local weighted graph was a much more demanding comparator. Against it, the overall PR-AUC difference was only plus 0.0097 and the simultaneous confidence interval crossed zero. The complete superiority gate therefore failed. The supported contribution is narrower but real: edge-specific gain and offset relations, global compatibility testing, and improved localisation of planted cycle conflicts. HydroSheaf did not establish that a sheaf is universally more predictive than a strong weighted graph.</a:t>
            </a:r>
          </a:p>
          <a:p xmlns:a="http://schemas.openxmlformats.org/drawingml/2006/main">
            <a:r>
              <a:t/>
            </a:r>
          </a:p>
          <a:p xmlns:a="http://schemas.openxmlformats.org/drawingml/2006/main">
            <a:r>
              <a:t>TRANSITION:</a:t>
            </a:r>
          </a:p>
          <a:p xmlns:a="http://schemas.openxmlformats.org/drawingml/2006/main">
            <a:r>
              <a:t>I also tested whether a more robust local-plus-global estimator could turn that conditional advantage into general superiority.</a:t>
            </a:r>
          </a:p>
          <a:p xmlns:a="http://schemas.openxmlformats.org/drawingml/2006/main">
            <a:r>
              <a:t/>
            </a:r>
          </a:p>
          <a:p xmlns:a="http://schemas.openxmlformats.org/drawingml/2006/main">
            <a:r>
              <a:t>DELIVERY CUE: This is a high-stakes slide. State the positive evidence first, then volunteer the failed overall gate before anyone asks.</a:t>
            </a:r>
          </a:p>
          <a:p xmlns:a="http://schemas.openxmlformats.org/drawingml/2006/main">
            <a:r>
              <a:t/>
            </a:r>
          </a:p>
          <a:p xmlns:a="http://schemas.openxmlformats.org/drawingml/2006/main">
            <a:r>
              <a:t>AVOID SAYING: Do not hide the edge-local comparator or describe the affine sheaf as the overall winner.</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G4\Documents\July_2026\NeutroProject\Groundwater\Hydrosheaf\M7\m7_nonuniqueness_benchmark\docs\m7_sheaf_vs_graph_results.md</a:t>
            </a:r>
          </a:p>
          <a:p xmlns:a="http://schemas.openxmlformats.org/drawingml/2006/main">
            <a:r>
              <a:t>- C:\Users\ThinkPad P1 G4\Documents\July_2026\NeutroProject\Groundwater\Hydrosheaf\M7\m7_nonuniqueness_benchmark\M7_SHEAF_VS_GRAPH_CLAIM_DECISION.md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21:30-22:45</a:t>
            </a:r>
          </a:p>
          <a:p xmlns:a="http://schemas.openxmlformats.org/drawingml/2006/main">
            <a:r>
              <a:t/>
            </a:r>
          </a:p>
          <a:p xmlns:a="http://schemas.openxmlformats.org/drawingml/2006/main">
            <a:r>
              <a:t>MEMORY ANCHOR: Higher point estimate, corrected interval crosses zero, no general win.</a:t>
            </a:r>
          </a:p>
          <a:p xmlns:a="http://schemas.openxmlformats.org/drawingml/2006/main">
            <a:r>
              <a:t/>
            </a:r>
          </a:p>
          <a:p xmlns:a="http://schemas.openxmlformats.org/drawingml/2006/main">
            <a:r>
              <a:t>SAY THIS:</a:t>
            </a:r>
          </a:p>
          <a:p xmlns:a="http://schemas.openxmlformats.org/drawingml/2006/main">
            <a:r>
              <a:t>Development selected a local-first, global-fallback estimator, and it was evaluated once on 128 fresh locked cases. The PR-AUC point estimate was 0.0200 higher than the edge-local graph, but the family-wise simultaneous interval ranged from minus 0.0055 to plus 0.0454. Brier score and log loss were also inconclusive, so the complete superiority gate failed. The leave-one-edge-out robust global method actually worsened calibration. Native maps still beat permuted maps, and conflict localisation remained useful, but this experiment did not convert the sheaf into a universal winner. I therefore report it as an estimator diagnostic and a direction for future refinement.</a:t>
            </a:r>
          </a:p>
          <a:p xmlns:a="http://schemas.openxmlformats.org/drawingml/2006/main">
            <a:r>
              <a:t/>
            </a:r>
          </a:p>
          <a:p xmlns:a="http://schemas.openxmlformats.org/drawingml/2006/main">
            <a:r>
              <a:t>TRANSITION:</a:t>
            </a:r>
          </a:p>
          <a:p xmlns:a="http://schemas.openxmlformats.org/drawingml/2006/main">
            <a:r>
              <a:t>Taken together, the failures are not side notes; they define the scientific boundary of the thesis.</a:t>
            </a:r>
          </a:p>
          <a:p xmlns:a="http://schemas.openxmlformats.org/drawingml/2006/main">
            <a:r>
              <a:t/>
            </a:r>
          </a:p>
          <a:p xmlns:a="http://schemas.openxmlformats.org/drawingml/2006/main">
            <a:r>
              <a:t>DELIVERY CUE: Keep the explanation calm. A failed gate strengthens the credibility of the locked workflow.</a:t>
            </a:r>
          </a:p>
          <a:p xmlns:a="http://schemas.openxmlformats.org/drawingml/2006/main">
            <a:r>
              <a:t/>
            </a:r>
          </a:p>
          <a:p xmlns:a="http://schemas.openxmlformats.org/drawingml/2006/main">
            <a:r>
              <a:t>AVOID SAYING: Do not call this a proven robust-hybrid superiority result. Development selected local weight one.</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G4\Documents\July_2026\NeutroProject\Groundwater\Hydrosheaf\M7\m7_nonuniqueness_benchmark\manuscript\sections\03-results\section.md</a:t>
            </a:r>
          </a:p>
          <a:p xmlns:a="http://schemas.openxmlformats.org/drawingml/2006/main">
            <a:r>
              <a:t>- C:\Users\ThinkPad P1 G4\Documents\July_2026\NeutroProject\Groundwater\Hydrosheaf\M7\m7_nonuniqueness_benchmark\M7_ROBUST_HYBRID_CLAIM_DECISION.md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22:45-23:35</a:t>
            </a:r>
          </a:p>
          <a:p xmlns:a="http://schemas.openxmlformats.org/drawingml/2006/main">
            <a:r>
              <a:t/>
            </a:r>
          </a:p>
          <a:p xmlns:a="http://schemas.openxmlformats.org/drawingml/2006/main">
            <a:r>
              <a:t>MEMORY ANCHOR: The method was allowed to fail and the claims were withdrawn.</a:t>
            </a:r>
          </a:p>
          <a:p xmlns:a="http://schemas.openxmlformats.org/drawingml/2006/main">
            <a:r>
              <a:t/>
            </a:r>
          </a:p>
          <a:p xmlns:a="http://schemas.openxmlformats.org/drawingml/2006/main">
            <a:r>
              <a:t>SAY THIS:</a:t>
            </a:r>
          </a:p>
          <a:p xmlns:a="http://schemas.openxmlformats.org/drawingml/2006/main">
            <a:r>
              <a:t>Five negative findings define the boundary. The weak graph prior did not improve age inference. The old-water prior was withdrawn because its performance was poor. Carbonate families were not recovered under either tested indicator panel, although this does not prove that they are non-identifiable under every possible panel. The overall sheaf-versus-edge-local superiority gate failed. Finally, the active-learning implementation produced zero recommendations from zero scored edges, so active-learning excellence is not a thesis result. These are not hidden failures. They show that the workflow can reject unsupported claims.</a:t>
            </a:r>
          </a:p>
          <a:p xmlns:a="http://schemas.openxmlformats.org/drawingml/2006/main">
            <a:r>
              <a:t/>
            </a:r>
          </a:p>
          <a:p xmlns:a="http://schemas.openxmlformats.org/drawingml/2006/main">
            <a:r>
              <a:t>TRANSITION:</a:t>
            </a:r>
          </a:p>
          <a:p xmlns:a="http://schemas.openxmlformats.org/drawingml/2006/main">
            <a:r>
              <a:t>This allows the thesis conclusions to be stated as a clear ledger of what is supported and what is not.</a:t>
            </a:r>
          </a:p>
          <a:p xmlns:a="http://schemas.openxmlformats.org/drawingml/2006/main">
            <a:r>
              <a:t/>
            </a:r>
          </a:p>
          <a:p xmlns:a="http://schemas.openxmlformats.org/drawingml/2006/main">
            <a:r>
              <a:t>DELIVERY CUE: Use a factual tone. Do not apologise for negative results.</a:t>
            </a:r>
          </a:p>
          <a:p xmlns:a="http://schemas.openxmlformats.org/drawingml/2006/main">
            <a:r>
              <a:t/>
            </a:r>
          </a:p>
          <a:p xmlns:a="http://schemas.openxmlformats.org/drawingml/2006/main">
            <a:r>
              <a:t>AVOID SAYING: Do not call carbonate universally non-identifiable or active learning validated.</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G4\Documents\July_2026\NeutroProject\Groundwater\Hydrosheaf\M3\m3_age_benchmark\M3_FINAL_ACCURACY_AUDIT.md</a:t>
            </a:r>
          </a:p>
          <a:p xmlns:a="http://schemas.openxmlformats.org/drawingml/2006/main">
            <a:r>
              <a:t>- C:\Users\ThinkPad P1 G4\Documents\July_2026\NeutroProject\Groundwater\Hydrosheaf\M7\m7_nonuniqueness_benchmark\docs\m7_3_results.md</a:t>
            </a:r>
          </a:p>
          <a:p xmlns:a="http://schemas.openxmlformats.org/drawingml/2006/main">
            <a:r>
              <a:t>- C:\Users\ThinkPad P1 G4\Documents\July_2026\NeutroProject\Groundwater\Hydrosheaf\HYDROSHEAF_REMAINING_CAPABILITIES_DECISION_20260728.md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23:35-24:35</a:t>
            </a:r>
          </a:p>
          <a:p xmlns:a="http://schemas.openxmlformats.org/drawingml/2006/main">
            <a:r>
              <a:t/>
            </a:r>
          </a:p>
          <a:p xmlns:a="http://schemas.openxmlformats.org/drawingml/2006/main">
            <a:r>
              <a:t>MEMORY ANCHOR: Conditional support on the left; prohibited claims on the right.</a:t>
            </a:r>
          </a:p>
          <a:p xmlns:a="http://schemas.openxmlformats.org/drawingml/2006/main">
            <a:r>
              <a:t/>
            </a:r>
          </a:p>
          <a:p xmlns:a="http://schemas.openxmlformats.org/drawingml/2006/main">
            <a:r>
              <a:t>SAY THIS:</a:t>
            </a:r>
          </a:p>
          <a:p xmlns:a="http://schemas.openxmlformats.org/drawingml/2006/main">
            <a:r>
              <a:t>The thesis supports close agreement with reported age-model configurations, conditional topology and evidence value, reaction equivalence-class reporting, affine-map and conflict-localisation value, and a Ghana measurement-value diagnosis. It does not establish universal superiority over strong baselines, exact Ghana ages or paths or mineral truth, end-to-end field validation, validated vector-stalk, three-dimensional, temporal or vadose performance, or excellent active-learning performance. This boundary is central to the contribution. HydroSheaf is valuable because it makes these distinctions explicit and auditable.</a:t>
            </a:r>
          </a:p>
          <a:p xmlns:a="http://schemas.openxmlformats.org/drawingml/2006/main">
            <a:r>
              <a:t/>
            </a:r>
          </a:p>
          <a:p xmlns:a="http://schemas.openxmlformats.org/drawingml/2006/main">
            <a:r>
              <a:t>TRANSITION:</a:t>
            </a:r>
          </a:p>
          <a:p xmlns:a="http://schemas.openxmlformats.org/drawingml/2006/main">
            <a:r>
              <a:t>Within that boundary, the thesis makes four contributions to knowledge.</a:t>
            </a:r>
          </a:p>
          <a:p xmlns:a="http://schemas.openxmlformats.org/drawingml/2006/main">
            <a:r>
              <a:t/>
            </a:r>
          </a:p>
          <a:p xmlns:a="http://schemas.openxmlformats.org/drawingml/2006/main">
            <a:r>
              <a:t>DELIVERY CUE: Do not read every line. Summarise the left column, then the right column, then state why the boundary matters.</a:t>
            </a:r>
          </a:p>
          <a:p xmlns:a="http://schemas.openxmlformats.org/drawingml/2006/main">
            <a:r>
              <a:t/>
            </a:r>
          </a:p>
          <a:p xmlns:a="http://schemas.openxmlformats.org/drawingml/2006/main">
            <a:r>
              <a:t>AVOID SAYING: Do not weaken the right-hand limitations with phrases such as 'but probably'.</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 C:\Users\ThinkPad P1 G4\Documents\July_2026\NeutroProject\Groundwater\Hydrosheaf\M7\m7_nonuniqueness_benchmark\manuscript\revision\FINAL_VERIFICATION_20260730.md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24:35-25:35</a:t>
            </a:r>
          </a:p>
          <a:p xmlns:a="http://schemas.openxmlformats.org/drawingml/2006/main">
            <a:r>
              <a:t/>
            </a:r>
          </a:p>
          <a:p xmlns:a="http://schemas.openxmlformats.org/drawingml/2006/main">
            <a:r>
              <a:t>MEMORY ANCHOR: Representation, diagnostics, evidence logic, field design.</a:t>
            </a:r>
          </a:p>
          <a:p xmlns:a="http://schemas.openxmlformats.org/drawingml/2006/main">
            <a:r>
              <a:t/>
            </a:r>
          </a:p>
          <a:p xmlns:a="http://schemas.openxmlformats.org/drawingml/2006/main">
            <a:r>
              <a:t>SAY THIS:</a:t>
            </a:r>
          </a:p>
          <a:p xmlns:a="http://schemas.openxmlformats.org/drawingml/2006/main">
            <a:r>
              <a:t>The first contribution is a groundwater-specific graph and sheaf formalisation linking age, directed flow and reaction evidence. The second is diagnostic: identifiability, calibration and conflict localisation become primary outputs rather than afterthoughts. The third is an evidence logic based on locked tests, adverse controls and explicit claim-decision gates. The fourth is a field-design contribution: the framework identifies the evidence ceiling and reveals which additional measurements are most likely to improve interpretive resolution. Together, these contributions concern how groundwater interpretations are constructed, tested, limited and improved.</a:t>
            </a:r>
          </a:p>
          <a:p xmlns:a="http://schemas.openxmlformats.org/drawingml/2006/main">
            <a:r>
              <a:t/>
            </a:r>
          </a:p>
          <a:p xmlns:a="http://schemas.openxmlformats.org/drawingml/2006/main">
            <a:r>
              <a:t>TRANSITION:</a:t>
            </a:r>
          </a:p>
          <a:p xmlns:a="http://schemas.openxmlformats.org/drawingml/2006/main">
            <a:r>
              <a:t>I will close by returning to the problem of plausible but incompatible aquifer stories.</a:t>
            </a:r>
          </a:p>
          <a:p xmlns:a="http://schemas.openxmlformats.org/drawingml/2006/main">
            <a:r>
              <a:t/>
            </a:r>
          </a:p>
          <a:p xmlns:a="http://schemas.openxmlformats.org/drawingml/2006/main">
            <a:r>
              <a:t>DELIVERY CUE: Count the four contributions on your fingers discreetly. Keep the pace steady.</a:t>
            </a:r>
          </a:p>
          <a:p xmlns:a="http://schemas.openxmlformats.org/drawingml/2006/main">
            <a:r>
              <a:t/>
            </a:r>
          </a:p>
          <a:p xmlns:a="http://schemas.openxmlformats.org/drawingml/2006/main">
            <a:r>
              <a:t>AVOID SAYING: Do not describe software volume or number of modules as the primary scholarly contribution.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25:35-27:00</a:t>
            </a:r>
          </a:p>
          <a:p xmlns:a="http://schemas.openxmlformats.org/drawingml/2006/main">
            <a:r>
              <a:t/>
            </a:r>
          </a:p>
          <a:p xmlns:a="http://schemas.openxmlformats.org/drawingml/2006/main">
            <a:r>
              <a:t>MEMORY ANCHOR: HydroSheaf tests compatibility; the next step is independent matched truth.</a:t>
            </a:r>
          </a:p>
          <a:p xmlns:a="http://schemas.openxmlformats.org/drawingml/2006/main">
            <a:r>
              <a:t/>
            </a:r>
          </a:p>
          <a:p xmlns:a="http://schemas.openxmlformats.org/drawingml/2006/main">
            <a:r>
              <a:t>SAY THIS:</a:t>
            </a:r>
          </a:p>
          <a:p xmlns:a="http://schemas.openxmlformats.org/drawingml/2006/main">
            <a:r>
              <a:t>I began with the problem that separate analyses can produce plausible but incompatible groundwater stories. The thesis shows that HydroSheaf can bring those relations into one auditable framework. It can test whether the relations compose globally, quantify whether an added evidence stream contributes information, localise conflict, and reveal when apparently precise integration is confidently wrong. Its contribution is not universal superiority and it is not a fully validated Ghana aquifer model. The decisive next test is independent replication using a different generator family, or a matched field dataset containing environmental age tracers, repeated hydraulic observations, chemistry and independently measured connectivity. In summary, HydroSheaf provides a defensible way to integrate groundwater evidence while preserving the uncertainty and non-uniqueness that the data cannot resolve. Thank you.</a:t>
            </a:r>
          </a:p>
          <a:p xmlns:a="http://schemas.openxmlformats.org/drawingml/2006/main">
            <a:r>
              <a:t/>
            </a:r>
          </a:p>
          <a:p xmlns:a="http://schemas.openxmlformats.org/drawingml/2006/main">
            <a:r>
              <a:t>TRANSITION:</a:t>
            </a:r>
          </a:p>
          <a:p xmlns:a="http://schemas.openxmlformats.org/drawingml/2006/main">
            <a:r>
              <a:t>Stop. Look at the examiners. Invite questions.</a:t>
            </a:r>
          </a:p>
          <a:p xmlns:a="http://schemas.openxmlformats.org/drawingml/2006/main">
            <a:r>
              <a:t/>
            </a:r>
          </a:p>
          <a:p xmlns:a="http://schemas.openxmlformats.org/drawingml/2006/main">
            <a:r>
              <a:t>DELIVERY CUE: Slow down for the final three sentences. End cleanly and do not add an improvised apology.</a:t>
            </a:r>
          </a:p>
          <a:p xmlns:a="http://schemas.openxmlformats.org/drawingml/2006/main">
            <a:r>
              <a:t/>
            </a:r>
          </a:p>
          <a:p xmlns:a="http://schemas.openxmlformats.org/drawingml/2006/main">
            <a:r>
              <a:t>AVOID SAYING: Do not end by saying that more work is needed without first stating the achieved contribution.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G4\Documents\July_2026\NeutroProject\Groundwater\Hydrosheaf\M7\m7_nonuniqueness_benchmark\manuscript\sections\05-conclusion\section.md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Examiner backup - use only if asked</a:t>
            </a:r>
          </a:p>
          <a:p xmlns:a="http://schemas.openxmlformats.org/drawingml/2006/main">
            <a:r>
              <a:t/>
            </a:r>
          </a:p>
          <a:p xmlns:a="http://schemas.openxmlformats.org/drawingml/2006/main">
            <a:r>
              <a:t>EXAMINER QUESTION: What exactly does the sheaf add?</a:t>
            </a:r>
          </a:p>
          <a:p xmlns:a="http://schemas.openxmlformats.org/drawingml/2006/main">
            <a:r>
              <a:t/>
            </a:r>
          </a:p>
          <a:p xmlns:a="http://schemas.openxmlformats.org/drawingml/2006/main">
            <a:r>
              <a:t>ANSWER:</a:t>
            </a:r>
          </a:p>
          <a:p xmlns:a="http://schemas.openxmlformats.org/drawingml/2006/main">
            <a:r>
              <a:t>It adds edge-specific affine relations and a global compatibility test. In the locked benchmark, native affine maps beat identity and permuted-map controls, and conflict localisation improved in planted-cycle cases. However, it did not outperform the strongest edge-local weighted graph overall, so the contribution is representational and diagnostic rather than universal predictive superiority.</a:t>
            </a:r>
          </a:p>
          <a:p xmlns:a="http://schemas.openxmlformats.org/drawingml/2006/main">
            <a:r>
              <a:t/>
            </a:r>
          </a:p>
          <a:p xmlns:a="http://schemas.openxmlformats.org/drawingml/2006/main">
            <a:r>
              <a:t>DELIVERY CUE: Answer the question in the first sentence, then give the evidence and limitation.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G4\Documents\July_2026\NeutroProject\Groundwater\Hydrosheaf\M7\m7_nonuniqueness_benchmark\docs\m7_sheaf_vs_graph_results.md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Examiner backup - use only if asked</a:t>
            </a:r>
          </a:p>
          <a:p xmlns:a="http://schemas.openxmlformats.org/drawingml/2006/main">
            <a:r>
              <a:t/>
            </a:r>
          </a:p>
          <a:p xmlns:a="http://schemas.openxmlformats.org/drawingml/2006/main">
            <a:r>
              <a:t>EXAMINER QUESTION: Why did HydroSheaf not beat TracerLPM?</a:t>
            </a:r>
          </a:p>
          <a:p xmlns:a="http://schemas.openxmlformats.org/drawingml/2006/main">
            <a:r>
              <a:t/>
            </a:r>
          </a:p>
          <a:p xmlns:a="http://schemas.openxmlformats.org/drawingml/2006/main">
            <a:r>
              <a:t>ANSWER:</a:t>
            </a:r>
          </a:p>
          <a:p xmlns:a="http://schemas.openxmlformats.org/drawingml/2006/main">
            <a:r>
              <a:t>That benchmark tested close reproduction of reported USGS and TracerLPM configurations and whether topology added independent information. Close agreement was achieved on 329 reportable fits, but the available graph proxy did not improve the locked outcomes. HydroSheaf therefore does not replace TracerLPM; it shows when added topology is uninformative or harmful.</a:t>
            </a:r>
          </a:p>
          <a:p xmlns:a="http://schemas.openxmlformats.org/drawingml/2006/main">
            <a:r>
              <a:t/>
            </a:r>
          </a:p>
          <a:p xmlns:a="http://schemas.openxmlformats.org/drawingml/2006/main">
            <a:r>
              <a:t>DELIVERY CUE: Answer the question in the first sentence, then give the evidence and limitation.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G4\Documents\July_2026\NeutroProject\Groundwater\Hydrosheaf\M3\m3_age_benchmark\M3_FINAL_ACCURACY_AUDIT.md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Examiner backup - use only if asked</a:t>
            </a:r>
          </a:p>
          <a:p xmlns:a="http://schemas.openxmlformats.org/drawingml/2006/main">
            <a:r>
              <a:t/>
            </a:r>
          </a:p>
          <a:p xmlns:a="http://schemas.openxmlformats.org/drawingml/2006/main">
            <a:r>
              <a:t>EXAMINER QUESTION: What is a locked test?</a:t>
            </a:r>
          </a:p>
          <a:p xmlns:a="http://schemas.openxmlformats.org/drawingml/2006/main">
            <a:r>
              <a:t/>
            </a:r>
          </a:p>
          <a:p xmlns:a="http://schemas.openxmlformats.org/drawingml/2006/main">
            <a:r>
              <a:t>ANSWER:</a:t>
            </a:r>
          </a:p>
          <a:p xmlns:a="http://schemas.openxmlformats.org/drawingml/2006/main">
            <a:r>
              <a:t>Development cases are used to select the method, code, seeds, primary metrics and decision rules. These are frozen before the held-out cases are opened once. Practical planning margins were introduced after review and were diagnostics, not prespecified confirmatory criteria.</a:t>
            </a:r>
          </a:p>
          <a:p xmlns:a="http://schemas.openxmlformats.org/drawingml/2006/main">
            <a:r>
              <a:t/>
            </a:r>
          </a:p>
          <a:p xmlns:a="http://schemas.openxmlformats.org/drawingml/2006/main">
            <a:r>
              <a:t>DELIVERY CUE: Answer the question in the first sentence, then give the evidence and limitation.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G4\Documents\July_2026\NeutroProject\Groundwater\Hydrosheaf\M7\m7_nonuniqueness_benchmark\manuscript\revision\FINAL_VERIFICATION_20260730.md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Examiner backup - use only if asked</a:t>
            </a:r>
          </a:p>
          <a:p xmlns:a="http://schemas.openxmlformats.org/drawingml/2006/main">
            <a:r>
              <a:t/>
            </a:r>
          </a:p>
          <a:p xmlns:a="http://schemas.openxmlformats.org/drawingml/2006/main">
            <a:r>
              <a:t>EXAMINER QUESTION: How can the thesis be valid without one complete field dataset?</a:t>
            </a:r>
          </a:p>
          <a:p xmlns:a="http://schemas.openxmlformats.org/drawingml/2006/main">
            <a:r>
              <a:t/>
            </a:r>
          </a:p>
          <a:p xmlns:a="http://schemas.openxmlformats.org/drawingml/2006/main">
            <a:r>
              <a:t>ANSWER:</a:t>
            </a:r>
          </a:p>
          <a:p xmlns:a="http://schemas.openxmlformats.org/drawingml/2006/main">
            <a:r>
              <a:t>It cannot claim end-to-end field validation. The thesis triangulates component reference checks, controlled known-truth integration and claim-limited field transfer. These establish capability and supportability, while the missing matched field dataset remains the decisive next validation.</a:t>
            </a:r>
          </a:p>
          <a:p xmlns:a="http://schemas.openxmlformats.org/drawingml/2006/main">
            <a:r>
              <a:t/>
            </a:r>
          </a:p>
          <a:p xmlns:a="http://schemas.openxmlformats.org/drawingml/2006/main">
            <a:r>
              <a:t>DELIVERY CUE: Answer the question in the first sentence, then give the evidence and limitation.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 C:\Users\ThinkPad P1 G4\Documents\July_2026\NeutroProject\Groundwater\Hydrosheaf\M7\m7_nonuniqueness_benchmark\docs\m7_3_results.md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Examiner backup - use only if asked</a:t>
            </a:r>
          </a:p>
          <a:p xmlns:a="http://schemas.openxmlformats.org/drawingml/2006/main">
            <a:r>
              <a:t/>
            </a:r>
          </a:p>
          <a:p xmlns:a="http://schemas.openxmlformats.org/drawingml/2006/main">
            <a:r>
              <a:t>EXAMINER QUESTION: Can lower uncertainty still be wrong?</a:t>
            </a:r>
          </a:p>
          <a:p xmlns:a="http://schemas.openxmlformats.org/drawingml/2006/main">
            <a:r>
              <a:t/>
            </a:r>
          </a:p>
          <a:p xmlns:a="http://schemas.openxmlformats.org/drawingml/2006/main">
            <a:r>
              <a:t>ANSWER:</a:t>
            </a:r>
          </a:p>
          <a:p xmlns:a="http://schemas.openxmlformats.org/drawingml/2006/main">
            <a:r>
              <a:t>Yes. Permuted evidence reduced entropy while worsening ranking and calibration. This is why HydroSheaf evaluates discrimination and calibration alongside interval width or entropy. Greater confidence is not validation unless the predictions also become better.</a:t>
            </a:r>
          </a:p>
          <a:p xmlns:a="http://schemas.openxmlformats.org/drawingml/2006/main">
            <a:r>
              <a:t/>
            </a:r>
          </a:p>
          <a:p xmlns:a="http://schemas.openxmlformats.org/drawingml/2006/main">
            <a:r>
              <a:t>DELIVERY CUE: Answer the question in the first sentence, then give the evidence and limitation.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G4\Documents\July_2026\NeutroProject\Groundwater\Hydrosheaf\M7\m7_nonuniqueness_benchmark\docs\m7_3_results.md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Examiner backup - use only if asked</a:t>
            </a:r>
          </a:p>
          <a:p xmlns:a="http://schemas.openxmlformats.org/drawingml/2006/main">
            <a:r>
              <a:t/>
            </a:r>
          </a:p>
          <a:p xmlns:a="http://schemas.openxmlformats.org/drawingml/2006/main">
            <a:r>
              <a:t>EXAMINER QUESTION: Is the active-learning method excellent?</a:t>
            </a:r>
          </a:p>
          <a:p xmlns:a="http://schemas.openxmlformats.org/drawingml/2006/main">
            <a:r>
              <a:t/>
            </a:r>
          </a:p>
          <a:p xmlns:a="http://schemas.openxmlformats.org/drawingml/2006/main">
            <a:r>
              <a:t>ANSWER:</a:t>
            </a:r>
          </a:p>
          <a:p xmlns:a="http://schemas.openxmlformats.org/drawingml/2006/main">
            <a:r>
              <a:t>No claim-bearing evidence supports that conclusion. The current report contains zero recommendations from zero scored edges, and the transport-time interface lacks the required candidate-time Jacobians. Active learning remains an implemented capability that needs a prospective cost-aware locked benchmark.</a:t>
            </a:r>
          </a:p>
          <a:p xmlns:a="http://schemas.openxmlformats.org/drawingml/2006/main">
            <a:r>
              <a:t/>
            </a:r>
          </a:p>
          <a:p xmlns:a="http://schemas.openxmlformats.org/drawingml/2006/main">
            <a:r>
              <a:t>DELIVERY CUE: Answer the question in the first sentence, then give the evidence and limitation.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G4\Documents\July_2026\NeutroProject\Groundwater\Hydrosheaf\M4\m4_topology_benchmark\results\active_learning_report.md</a:t>
            </a:r>
          </a:p>
          <a:p xmlns:a="http://schemas.openxmlformats.org/drawingml/2006/main">
            <a:r>
              <a:t>- C:\Users\ThinkPad P1 G4\Documents\July_2026\NeutroProject\Groundwater\Hydrosheaf\HYDROSHEAF_REMAINING_CAPABILITIES_DECISION_20260728.md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Examiner backup - use only if asked</a:t>
            </a:r>
          </a:p>
          <a:p xmlns:a="http://schemas.openxmlformats.org/drawingml/2006/main">
            <a:r>
              <a:t/>
            </a:r>
          </a:p>
          <a:p xmlns:a="http://schemas.openxmlformats.org/drawingml/2006/main">
            <a:r>
              <a:t>EXAMINER QUESTION: Is the work fully reproducible?</a:t>
            </a:r>
          </a:p>
          <a:p xmlns:a="http://schemas.openxmlformats.org/drawingml/2006/main">
            <a:r>
              <a:t/>
            </a:r>
          </a:p>
          <a:p xmlns:a="http://schemas.openxmlformats.org/drawingml/2006/main">
            <a:r>
              <a:t>ANSWER:</a:t>
            </a:r>
          </a:p>
          <a:p xmlns:a="http://schemas.openxmlformats.org/drawingml/2006/main">
            <a:r>
              <a:t>Milestone-level provenance, locked-case separation and focused verification are available. The remaining release actions are a clean-checkout reproduction, a repository-wide green test state, a versioned public release and persistent identifiers. I therefore describe the work as locally auditable, not yet fully archived for independent reproduction.</a:t>
            </a:r>
          </a:p>
          <a:p xmlns:a="http://schemas.openxmlformats.org/drawingml/2006/main">
            <a:r>
              <a:t/>
            </a:r>
          </a:p>
          <a:p xmlns:a="http://schemas.openxmlformats.org/drawingml/2006/main">
            <a:r>
              <a:t>DELIVERY CUE: Answer the question in the first sentence, then give the evidence and limitation.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G4\Documents\July_2026\NeutroProject\Groundwater\Hydrosheaf\M7\m7_nonuniqueness_benchmark\manuscript\revision\FINAL_VERIFICATION_20260730.md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Examiner backup - use only if asked</a:t>
            </a:r>
          </a:p>
          <a:p xmlns:a="http://schemas.openxmlformats.org/drawingml/2006/main">
            <a:r>
              <a:t/>
            </a:r>
          </a:p>
          <a:p xmlns:a="http://schemas.openxmlformats.org/drawingml/2006/main">
            <a:r>
              <a:t>EXAMINER QUESTION: Why is this sufficient for a PhD?</a:t>
            </a:r>
          </a:p>
          <a:p xmlns:a="http://schemas.openxmlformats.org/drawingml/2006/main">
            <a:r>
              <a:t/>
            </a:r>
          </a:p>
          <a:p xmlns:a="http://schemas.openxmlformats.org/drawingml/2006/main">
            <a:r>
              <a:t>ANSWER:</a:t>
            </a:r>
          </a:p>
          <a:p xmlns:a="http://schemas.openxmlformats.org/drawingml/2006/main">
            <a:r>
              <a:t>The thesis contributes a formal integration framework, controlled evidence about when cross-domain information helps or harms, explicit falsification and claim-decision procedures, and a field evidence-ceiling diagnosis. The contribution is strengthened, not weakened, by the locked negative results because the method was allowed to reject its own hypotheses.</a:t>
            </a:r>
          </a:p>
          <a:p xmlns:a="http://schemas.openxmlformats.org/drawingml/2006/main">
            <a:r>
              <a:t/>
            </a:r>
          </a:p>
          <a:p xmlns:a="http://schemas.openxmlformats.org/drawingml/2006/main">
            <a:r>
              <a:t>DELIVERY CUE: Answer the question in the first sentence, then give the evidence and limitation.</a:t>
            </a:r>
          </a:p>
          <a:p xmlns:a="http://schemas.openxmlformats.org/drawingml/2006/main">
            <a:r>
              <a:t/>
            </a:r>
          </a:p>
          <a:p xmlns:a="http://schemas.openxmlformats.org/drawingml/2006/main">
            <a:r>
              <a:t>[Sources]</a:t>
            </a:r>
          </a:p>
          <a:p xmlns:a="http://schemas.openxmlformats.org/drawingml/2006/main">
            <a:r>
              <a:t>- C:\Users\ThinkPad P1 G4\Documents\July_2026\NeutroProject\Groundwater\Hydrosheaf\draftbychapter\PhDChapter1_refined.docx</a:t>
            </a:r>
          </a:p>
          <a:p xmlns:a="http://schemas.openxmlformats.org/drawingml/2006/main">
            <a:r>
              <a:t>- C:\Users\ThinkPad P1 G4\Documents\July_2026\NeutroProject\Groundwater\Hydrosheaf\M7\m7_nonuniqueness_benchmark\manuscript\revision\FINAL_VERIFICATION_20260730.md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dc59869f994b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22ccabed7f4bf8" /><Relationship Type="http://schemas.openxmlformats.org/officeDocument/2006/relationships/slideLayout" Target="/ppt/slideLayouts/slideLayout1.xml" Id="R615564b850204c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5564b850204c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1e68ebb69141b7" /><Relationship Type="http://schemas.openxmlformats.org/officeDocument/2006/relationships/notesSlide" Target="/ppt/notesSlides/notesSlide1.xml" Id="R4f6a77c5f02446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c3b16420db47fd" /><Relationship Type="http://schemas.openxmlformats.org/officeDocument/2006/relationships/notesSlide" Target="/ppt/notesSlides/notesSlide2.xml" Id="R4fac5fd5f1064d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3bb1e183e34251" /><Relationship Type="http://schemas.openxmlformats.org/officeDocument/2006/relationships/notesSlide" Target="/ppt/notesSlides/notesSlide3.xml" Id="R83d9840b4d8a42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e4684e59514714" /><Relationship Type="http://schemas.openxmlformats.org/officeDocument/2006/relationships/notesSlide" Target="/ppt/notesSlides/notesSlide4.xml" Id="R1276049506c24d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b1105de62f463b" /><Relationship Type="http://schemas.openxmlformats.org/officeDocument/2006/relationships/notesSlide" Target="/ppt/notesSlides/notesSlide5.xml" Id="R3e356797cb9e48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2b9ad798fce432c" /><Relationship Type="http://schemas.openxmlformats.org/officeDocument/2006/relationships/notesSlide" Target="/ppt/notesSlides/notesSlide6.xml" Id="R1de9e596225840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5f16ce35e444f85" /><Relationship Type="http://schemas.openxmlformats.org/officeDocument/2006/relationships/notesSlide" Target="/ppt/notesSlides/notesSlide7.xml" Id="Rdd9516aefa1b4c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80e62701bd84bbc" /><Relationship Type="http://schemas.openxmlformats.org/officeDocument/2006/relationships/notesSlide" Target="/ppt/notesSlides/notesSlide8.xml" Id="R497692b0e68447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2c331dc7ea645e0" /><Relationship Type="http://schemas.openxmlformats.org/officeDocument/2006/relationships/notesSlide" Target="/ppt/notesSlides/notesSlide9.xml" Id="R72b1f30274544b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b0ddc810a154583" /><Relationship Type="http://schemas.openxmlformats.org/officeDocument/2006/relationships/image" Target="/ppt/media/image.png" Id="R670c8ed6e9714640" /><Relationship Type="http://schemas.openxmlformats.org/officeDocument/2006/relationships/notesSlide" Target="/ppt/notesSlides/notesSlide10.xml" Id="Ra03f1016bd6b44d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f0084d8b404615" /><Relationship Type="http://schemas.openxmlformats.org/officeDocument/2006/relationships/image" Target="/ppt/media/image2.png" Id="R85ca5b09eec04f92" /><Relationship Type="http://schemas.openxmlformats.org/officeDocument/2006/relationships/notesSlide" Target="/ppt/notesSlides/notesSlide11.xml" Id="R2add6badd7fc40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99b1f96ca344748" /><Relationship Type="http://schemas.openxmlformats.org/officeDocument/2006/relationships/image" Target="/ppt/media/image3.png" Id="Rd2986e1e4f59410b" /><Relationship Type="http://schemas.openxmlformats.org/officeDocument/2006/relationships/notesSlide" Target="/ppt/notesSlides/notesSlide12.xml" Id="R4c1c45a4002b45a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1d9d3f8de184b7e" /><Relationship Type="http://schemas.openxmlformats.org/officeDocument/2006/relationships/image" Target="/ppt/media/image4.png" Id="Rdf9905fbab994585" /><Relationship Type="http://schemas.openxmlformats.org/officeDocument/2006/relationships/notesSlide" Target="/ppt/notesSlides/notesSlide13.xml" Id="R3023ee808379467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f1d1489cbc84a72" /><Relationship Type="http://schemas.openxmlformats.org/officeDocument/2006/relationships/image" Target="/ppt/media/image5.png" Id="Rdce6a49d5b024dae" /><Relationship Type="http://schemas.openxmlformats.org/officeDocument/2006/relationships/notesSlide" Target="/ppt/notesSlides/notesSlide14.xml" Id="Ra5586a3695d74c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574275993254fdc" /><Relationship Type="http://schemas.openxmlformats.org/officeDocument/2006/relationships/image" Target="/ppt/media/image6.png" Id="R7d2bca4704bc4557" /><Relationship Type="http://schemas.openxmlformats.org/officeDocument/2006/relationships/notesSlide" Target="/ppt/notesSlides/notesSlide15.xml" Id="R34e4088da2df4eb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e97fcb569fa4b11" /><Relationship Type="http://schemas.openxmlformats.org/officeDocument/2006/relationships/image" Target="/ppt/media/image7.png" Id="Rf615f776881544da" /><Relationship Type="http://schemas.openxmlformats.org/officeDocument/2006/relationships/notesSlide" Target="/ppt/notesSlides/notesSlide16.xml" Id="Rd31a4fcc3f724a6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8d7c4bd2ad24856" /><Relationship Type="http://schemas.openxmlformats.org/officeDocument/2006/relationships/notesSlide" Target="/ppt/notesSlides/notesSlide17.xml" Id="R33237dc8300e4ed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fc06f860ead48aa" /><Relationship Type="http://schemas.openxmlformats.org/officeDocument/2006/relationships/notesSlide" Target="/ppt/notesSlides/notesSlide18.xml" Id="R854cc55cea4b440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87496c828764c7c" /><Relationship Type="http://schemas.openxmlformats.org/officeDocument/2006/relationships/notesSlide" Target="/ppt/notesSlides/notesSlide19.xml" Id="R2cfe0a8493954a4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bed4d5750744cd0" /><Relationship Type="http://schemas.openxmlformats.org/officeDocument/2006/relationships/notesSlide" Target="/ppt/notesSlides/notesSlide20.xml" Id="R0d58a518cbeb49b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a14a685566f4e37" /><Relationship Type="http://schemas.openxmlformats.org/officeDocument/2006/relationships/notesSlide" Target="/ppt/notesSlides/notesSlide21.xml" Id="R7fcfd41b42a544d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559e334562d4cd9" /><Relationship Type="http://schemas.openxmlformats.org/officeDocument/2006/relationships/notesSlide" Target="/ppt/notesSlides/notesSlide22.xml" Id="R9024eef184094fc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db3bb7639d54cd6" /><Relationship Type="http://schemas.openxmlformats.org/officeDocument/2006/relationships/notesSlide" Target="/ppt/notesSlides/notesSlide23.xml" Id="R23da4c2b5f98434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668740fa3d84f41" /><Relationship Type="http://schemas.openxmlformats.org/officeDocument/2006/relationships/notesSlide" Target="/ppt/notesSlides/notesSlide24.xml" Id="R58d1349c7e574c1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434d05111584f54" /><Relationship Type="http://schemas.openxmlformats.org/officeDocument/2006/relationships/notesSlide" Target="/ppt/notesSlides/notesSlide25.xml" Id="Rdff816c8d7cd446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5d1ac3153734652" /><Relationship Type="http://schemas.openxmlformats.org/officeDocument/2006/relationships/notesSlide" Target="/ppt/notesSlides/notesSlide26.xml" Id="Rdf885b91aead402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4e2ced74d9f403e" /><Relationship Type="http://schemas.openxmlformats.org/officeDocument/2006/relationships/notesSlide" Target="/ppt/notesSlides/notesSlide27.xml" Id="Rc238f99659174a8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0a1c61dc3484619" /><Relationship Type="http://schemas.openxmlformats.org/officeDocument/2006/relationships/notesSlide" Target="/ppt/notesSlides/notesSlide28.xml" Id="R94da5c4877ae4e4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68F0062-21A7-434A-9BF4-52915C57D341}"/>
              </a:ext>
            </a:extLst>
          </p:cNvPr>
          <p:cNvSpPr>
            <a:spLocks xmlns:a="http://schemas.openxmlformats.org/drawingml/2006/main" noGrp="1"/>
          </p:cNvSpPr>
          <p:nvPr/>
        </p:nvSpPr>
        <p:spPr>
          <a:xfrm xmlns:a="http://schemas.openxmlformats.org/drawingml/2006/main">
            <a:off x="400050" y="33337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UNIVERSITY OF GHANA · SCHOOL OF NUCLEAR AND ALLIED SCIENCES</a:t>
            </a:r>
          </a:p>
        </p:txBody>
      </p:sp>
      <p:sp>
        <p:nvSpPr>
          <p:cNvPr id="2" name="">
            <a:extLst xmlns:a="http://schemas.openxmlformats.org/drawingml/2006/main">
              <a:ext uri="{FF2B5EF4-FFF2-40B4-BE49-F238E27FC236}">
                <a16:creationId xmlns:a16="http://schemas.microsoft.com/office/drawing/2014/main" id="{2DCAFAAB-EDFE-47AD-B8B1-DD8EC7336896}"/>
              </a:ext>
            </a:extLst>
          </p:cNvPr>
          <p:cNvSpPr>
            <a:spLocks xmlns:a="http://schemas.openxmlformats.org/drawingml/2006/main" noGrp="1"/>
          </p:cNvSpPr>
          <p:nvPr/>
        </p:nvSpPr>
        <p:spPr>
          <a:xfrm xmlns:a="http://schemas.openxmlformats.org/drawingml/2006/main">
            <a:off x="400050" y="14287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100" b="1">
                <a:solidFill>
                  <a:srgbClr val="111318"/>
                </a:solidFill>
                <a:latin typeface="Helvetica Neue"/>
                <a:ea typeface="Helvetica Neue"/>
                <a:cs typeface="Helvetica Neue"/>
              </a:defRPr>
            </a:pPr>
            <a:r>
              <a:rPr sz="5100" b="1">
                <a:solidFill>
                  <a:srgbClr val="111318"/>
                </a:solidFill>
                <a:latin typeface="Helvetica Neue"/>
                <a:ea typeface="Helvetica Neue"/>
                <a:cs typeface="Helvetica Neue"/>
              </a:rPr>
              <a:t>HydroSheaf</a:t>
            </a:r>
          </a:p>
        </p:txBody>
      </p:sp>
      <p:sp>
        <p:nvSpPr>
          <p:cNvPr id="3" name="">
            <a:extLst xmlns:a="http://schemas.openxmlformats.org/drawingml/2006/main">
              <a:ext uri="{FF2B5EF4-FFF2-40B4-BE49-F238E27FC236}">
                <a16:creationId xmlns:a16="http://schemas.microsoft.com/office/drawing/2014/main" id="{926163A7-E489-4956-AEC9-674D611F8962}"/>
              </a:ext>
            </a:extLst>
          </p:cNvPr>
          <p:cNvSpPr>
            <a:spLocks xmlns:a="http://schemas.openxmlformats.org/drawingml/2006/main" noGrp="1"/>
          </p:cNvSpPr>
          <p:nvPr/>
        </p:nvSpPr>
        <p:spPr>
          <a:xfrm xmlns:a="http://schemas.openxmlformats.org/drawingml/2006/main">
            <a:off x="400050" y="2381250"/>
            <a:ext cx="10668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153A63"/>
                </a:solidFill>
                <a:latin typeface="Helvetica Neue"/>
                <a:ea typeface="Helvetica Neue"/>
                <a:cs typeface="Helvetica Neue"/>
              </a:defRPr>
            </a:pPr>
            <a:r>
              <a:rPr sz="1800" b="0">
                <a:solidFill>
                  <a:srgbClr val="153A63"/>
                </a:solidFill>
                <a:latin typeface="Helvetica Neue"/>
                <a:ea typeface="Helvetica Neue"/>
                <a:cs typeface="Helvetica Neue"/>
              </a:rPr>
              <a:t>Graph-constrained environmental and nuclear tracer modelling with inverse hydrogeochemistry for diagnosing groundwater residence time and evolution in data-limited semi-arid aquifers: development and application of HydroSheaf</a:t>
            </a:r>
          </a:p>
        </p:txBody>
      </p:sp>
      <p:sp>
        <p:nvSpPr>
          <p:cNvPr id="4" name="">
            <a:extLst xmlns:a="http://schemas.openxmlformats.org/drawingml/2006/main">
              <a:ext uri="{FF2B5EF4-FFF2-40B4-BE49-F238E27FC236}">
                <a16:creationId xmlns:a16="http://schemas.microsoft.com/office/drawing/2014/main" id="{FB42EDDB-C186-4C1A-9548-E8AF79032840}"/>
              </a:ext>
            </a:extLst>
          </p:cNvPr>
          <p:cNvSpPr>
            <a:spLocks xmlns:a="http://schemas.openxmlformats.org/drawingml/2006/main" noGrp="1"/>
          </p:cNvSpPr>
          <p:nvPr/>
        </p:nvSpPr>
        <p:spPr>
          <a:xfrm xmlns:a="http://schemas.openxmlformats.org/drawingml/2006/main">
            <a:off x="400050" y="391477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4340C28-0BD1-4CBD-8F75-D3D37209E3FB}"/>
              </a:ext>
            </a:extLst>
          </p:cNvPr>
          <p:cNvSpPr>
            <a:spLocks xmlns:a="http://schemas.openxmlformats.org/drawingml/2006/main" noGrp="1"/>
          </p:cNvSpPr>
          <p:nvPr/>
        </p:nvSpPr>
        <p:spPr>
          <a:xfrm xmlns:a="http://schemas.openxmlformats.org/drawingml/2006/main">
            <a:off x="400050" y="4257675"/>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PhD viva defence · Dickson Abdul-Wahab · 11004418</a:t>
            </a:r>
          </a:p>
        </p:txBody>
      </p:sp>
      <p:sp>
        <p:nvSpPr>
          <p:cNvPr id="6" name="">
            <a:extLst xmlns:a="http://schemas.openxmlformats.org/drawingml/2006/main">
              <a:ext uri="{FF2B5EF4-FFF2-40B4-BE49-F238E27FC236}">
                <a16:creationId xmlns:a16="http://schemas.microsoft.com/office/drawing/2014/main" id="{E2D8FE27-952B-4F4F-9888-C45E5983E7D9}"/>
              </a:ext>
            </a:extLst>
          </p:cNvPr>
          <p:cNvSpPr>
            <a:spLocks xmlns:a="http://schemas.openxmlformats.org/drawingml/2006/main" noGrp="1"/>
          </p:cNvSpPr>
          <p:nvPr/>
        </p:nvSpPr>
        <p:spPr>
          <a:xfrm xmlns:a="http://schemas.openxmlformats.org/drawingml/2006/main">
            <a:off x="400050" y="47053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August 2026</a:t>
            </a:r>
          </a:p>
        </p:txBody>
      </p:sp>
      <p:sp>
        <p:nvSpPr>
          <p:cNvPr id="7" name="">
            <a:extLst xmlns:a="http://schemas.openxmlformats.org/drawingml/2006/main">
              <a:ext uri="{FF2B5EF4-FFF2-40B4-BE49-F238E27FC236}">
                <a16:creationId xmlns:a16="http://schemas.microsoft.com/office/drawing/2014/main" id="{F6A2848F-8E9B-4331-B9B2-707AF32C79E5}"/>
              </a:ext>
            </a:extLst>
          </p:cNvPr>
          <p:cNvSpPr>
            <a:spLocks xmlns:a="http://schemas.openxmlformats.org/drawingml/2006/main" noGrp="1"/>
          </p:cNvSpPr>
          <p:nvPr/>
        </p:nvSpPr>
        <p:spPr>
          <a:xfrm xmlns:a="http://schemas.openxmlformats.org/drawingml/2006/main">
            <a:off x="9382125" y="400050"/>
            <a:ext cx="2381250" cy="323850"/>
          </a:xfrm>
          <a:prstGeom xmlns:a="http://schemas.openxmlformats.org/drawingml/2006/main" prst="roundRect">
            <a:avLst>
              <a:gd name="adj" fmla="val 50000"/>
            </a:avLst>
          </a:prstGeom>
          <a:solidFill xmlns:a="http://schemas.openxmlformats.org/drawingml/2006/main">
            <a:srgbClr val="E9F4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5CD3C0A-51A7-4F3A-91CE-FFC42ED820A5}"/>
              </a:ext>
            </a:extLst>
          </p:cNvPr>
          <p:cNvSpPr>
            <a:spLocks xmlns:a="http://schemas.openxmlformats.org/drawingml/2006/main" noGrp="1"/>
          </p:cNvSpPr>
          <p:nvPr/>
        </p:nvSpPr>
        <p:spPr>
          <a:xfrm xmlns:a="http://schemas.openxmlformats.org/drawingml/2006/main">
            <a:off x="9477375" y="46672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30-MINUTE DEFENCE</a:t>
            </a:r>
          </a:p>
        </p:txBody>
      </p:sp>
      <p:sp>
        <p:nvSpPr>
          <p:cNvPr id="9" name="">
            <a:extLst xmlns:a="http://schemas.openxmlformats.org/drawingml/2006/main">
              <a:ext uri="{FF2B5EF4-FFF2-40B4-BE49-F238E27FC236}">
                <a16:creationId xmlns:a16="http://schemas.microsoft.com/office/drawing/2014/main" id="{62140DD6-18AD-4CBF-8139-6FAFA79EEB22}"/>
              </a:ext>
            </a:extLst>
          </p:cNvPr>
          <p:cNvSpPr>
            <a:spLocks xmlns:a="http://schemas.openxmlformats.org/drawingml/2006/main" noGrp="1"/>
          </p:cNvSpPr>
          <p:nvPr/>
        </p:nvSpPr>
        <p:spPr>
          <a:xfrm xmlns:a="http://schemas.openxmlformats.org/drawingml/2006/main">
            <a:off x="8001000" y="5286375"/>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One-sentence thesis</a:t>
            </a:r>
          </a:p>
        </p:txBody>
      </p:sp>
      <p:sp>
        <p:nvSpPr>
          <p:cNvPr id="10" name="">
            <a:extLst xmlns:a="http://schemas.openxmlformats.org/drawingml/2006/main">
              <a:ext uri="{FF2B5EF4-FFF2-40B4-BE49-F238E27FC236}">
                <a16:creationId xmlns:a16="http://schemas.microsoft.com/office/drawing/2014/main" id="{C8C11EDB-D84B-4A03-AE8E-A57B067A9DA9}"/>
              </a:ext>
            </a:extLst>
          </p:cNvPr>
          <p:cNvSpPr>
            <a:spLocks xmlns:a="http://schemas.openxmlformats.org/drawingml/2006/main" noGrp="1"/>
          </p:cNvSpPr>
          <p:nvPr/>
        </p:nvSpPr>
        <p:spPr>
          <a:xfrm xmlns:a="http://schemas.openxmlformats.org/drawingml/2006/main">
            <a:off x="8001000" y="5581650"/>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667"/>
          </a:bodyPr>
          <a:lstStyle xmlns:a="http://schemas.openxmlformats.org/drawingml/2006/main"/>
          <a:p xmlns:a="http://schemas.openxmlformats.org/drawingml/2006/main">
            <a:pPr algn="l">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Integration is scientifically useful only when it exposes—not hides—non-uniqueness.</a:t>
            </a:r>
          </a:p>
        </p:txBody>
      </p:sp>
    </p:spTree>
    <p:extLst>
      <p:ext uri="{BB962C8B-B14F-4D97-AF65-F5344CB8AC3E}">
        <p14:creationId xmlns:p14="http://schemas.microsoft.com/office/powerpoint/2010/main" val="15596506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1D69ABF-DECD-41AC-8580-A0673D326071}"/>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WHY THE WORK WAS NECESSARY</a:t>
            </a:r>
          </a:p>
        </p:txBody>
      </p:sp>
      <p:sp>
        <p:nvSpPr>
          <p:cNvPr id="2" name="">
            <a:extLst xmlns:a="http://schemas.openxmlformats.org/drawingml/2006/main">
              <a:ext uri="{FF2B5EF4-FFF2-40B4-BE49-F238E27FC236}">
                <a16:creationId xmlns:a16="http://schemas.microsoft.com/office/drawing/2014/main" id="{6D6E6F54-1068-45BC-8F74-12253F00D086}"/>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Problem statement: plausible results can still conflict</a:t>
            </a:r>
          </a:p>
        </p:txBody>
      </p:sp>
      <p:sp>
        <p:nvSpPr>
          <p:cNvPr id="3" name="">
            <a:extLst xmlns:a="http://schemas.openxmlformats.org/drawingml/2006/main">
              <a:ext uri="{FF2B5EF4-FFF2-40B4-BE49-F238E27FC236}">
                <a16:creationId xmlns:a16="http://schemas.microsoft.com/office/drawing/2014/main" id="{4A8D82AB-60E0-4AB3-92B3-D453254B1071}"/>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22A638D-07A4-43F4-9986-B3B856FEE753}"/>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Problem</a:t>
            </a:r>
          </a:p>
        </p:txBody>
      </p:sp>
      <p:sp>
        <p:nvSpPr>
          <p:cNvPr id="5" name="">
            <a:extLst xmlns:a="http://schemas.openxmlformats.org/drawingml/2006/main">
              <a:ext uri="{FF2B5EF4-FFF2-40B4-BE49-F238E27FC236}">
                <a16:creationId xmlns:a16="http://schemas.microsoft.com/office/drawing/2014/main" id="{AA46A105-0ADE-4EC0-994D-3F40F102029E}"/>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5D9B3A59-72F4-474D-A101-87CB81DAB718}"/>
              </a:ext>
            </a:extLst>
          </p:cNvPr>
          <p:cNvSpPr>
            <a:spLocks xmlns:a="http://schemas.openxmlformats.org/drawingml/2006/main" noGrp="1"/>
          </p:cNvSpPr>
          <p:nvPr/>
        </p:nvSpPr>
        <p:spPr>
          <a:xfrm xmlns:a="http://schemas.openxmlformats.org/drawingml/2006/main">
            <a:off x="400050" y="1581150"/>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COUPLED SYSTEM</a:t>
            </a:r>
          </a:p>
        </p:txBody>
      </p:sp>
      <p:sp>
        <p:nvSpPr>
          <p:cNvPr id="7" name="">
            <a:extLst xmlns:a="http://schemas.openxmlformats.org/drawingml/2006/main">
              <a:ext uri="{FF2B5EF4-FFF2-40B4-BE49-F238E27FC236}">
                <a16:creationId xmlns:a16="http://schemas.microsoft.com/office/drawing/2014/main" id="{43D29245-3C66-463B-B9AD-E59AB26DACAF}"/>
              </a:ext>
            </a:extLst>
          </p:cNvPr>
          <p:cNvSpPr>
            <a:spLocks xmlns:a="http://schemas.openxmlformats.org/drawingml/2006/main" noGrp="1"/>
          </p:cNvSpPr>
          <p:nvPr/>
        </p:nvSpPr>
        <p:spPr>
          <a:xfrm xmlns:a="http://schemas.openxmlformats.org/drawingml/2006/main">
            <a:off x="400050" y="1943100"/>
            <a:ext cx="5000625"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BCD819F-2E53-44FC-9D23-8099FE4C79CB}"/>
              </a:ext>
            </a:extLst>
          </p:cNvPr>
          <p:cNvSpPr>
            <a:spLocks xmlns:a="http://schemas.openxmlformats.org/drawingml/2006/main" noGrp="1"/>
          </p:cNvSpPr>
          <p:nvPr/>
        </p:nvSpPr>
        <p:spPr>
          <a:xfrm xmlns:a="http://schemas.openxmlformats.org/drawingml/2006/main">
            <a:off x="400050" y="2047875"/>
            <a:ext cx="5000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Age, connectivity and reactions describe the same aquifer</a:t>
            </a:r>
          </a:p>
        </p:txBody>
      </p:sp>
      <p:sp>
        <p:nvSpPr>
          <p:cNvPr id="9" name="">
            <a:extLst xmlns:a="http://schemas.openxmlformats.org/drawingml/2006/main">
              <a:ext uri="{FF2B5EF4-FFF2-40B4-BE49-F238E27FC236}">
                <a16:creationId xmlns:a16="http://schemas.microsoft.com/office/drawing/2014/main" id="{F9DC27F8-9CBD-4589-94D0-1A89B7E7D009}"/>
              </a:ext>
            </a:extLst>
          </p:cNvPr>
          <p:cNvSpPr>
            <a:spLocks xmlns:a="http://schemas.openxmlformats.org/drawingml/2006/main" noGrp="1"/>
          </p:cNvSpPr>
          <p:nvPr/>
        </p:nvSpPr>
        <p:spPr>
          <a:xfrm xmlns:a="http://schemas.openxmlformats.org/drawingml/2006/main">
            <a:off x="400050" y="2590800"/>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49A84"/>
                </a:solidFill>
                <a:latin typeface="Helvetica Neue"/>
                <a:ea typeface="Helvetica Neue"/>
                <a:cs typeface="Helvetica Neue"/>
              </a:defRPr>
            </a:pPr>
            <a:r>
              <a:rPr sz="1200" b="1">
                <a:solidFill>
                  <a:srgbClr val="149A84"/>
                </a:solidFill>
                <a:latin typeface="Helvetica Neue"/>
                <a:ea typeface="Helvetica Neue"/>
                <a:cs typeface="Helvetica Neue"/>
              </a:rPr>
              <a:t>SPARSE EVIDENCE</a:t>
            </a:r>
          </a:p>
        </p:txBody>
      </p:sp>
      <p:sp>
        <p:nvSpPr>
          <p:cNvPr id="10" name="">
            <a:extLst xmlns:a="http://schemas.openxmlformats.org/drawingml/2006/main">
              <a:ext uri="{FF2B5EF4-FFF2-40B4-BE49-F238E27FC236}">
                <a16:creationId xmlns:a16="http://schemas.microsoft.com/office/drawing/2014/main" id="{CEDEC1B1-B401-4846-A306-5667C170D18D}"/>
              </a:ext>
            </a:extLst>
          </p:cNvPr>
          <p:cNvSpPr>
            <a:spLocks xmlns:a="http://schemas.openxmlformats.org/drawingml/2006/main" noGrp="1"/>
          </p:cNvSpPr>
          <p:nvPr/>
        </p:nvSpPr>
        <p:spPr>
          <a:xfrm xmlns:a="http://schemas.openxmlformats.org/drawingml/2006/main">
            <a:off x="400050" y="2952750"/>
            <a:ext cx="5000625" cy="19050"/>
          </a:xfrm>
          <a:prstGeom xmlns:a="http://schemas.openxmlformats.org/drawingml/2006/main" prst="rect">
            <a:avLst/>
          </a:prstGeom>
          <a:solidFill xmlns:a="http://schemas.openxmlformats.org/drawingml/2006/main">
            <a:srgbClr val="149A8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A7EEAF4-9437-4C9F-A22C-62A8956A5919}"/>
              </a:ext>
            </a:extLst>
          </p:cNvPr>
          <p:cNvSpPr>
            <a:spLocks xmlns:a="http://schemas.openxmlformats.org/drawingml/2006/main" noGrp="1"/>
          </p:cNvSpPr>
          <p:nvPr/>
        </p:nvSpPr>
        <p:spPr>
          <a:xfrm xmlns:a="http://schemas.openxmlformats.org/drawingml/2006/main">
            <a:off x="400050" y="3057525"/>
            <a:ext cx="5000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Each inverse problem admits several plausible answers</a:t>
            </a:r>
          </a:p>
        </p:txBody>
      </p:sp>
      <p:sp>
        <p:nvSpPr>
          <p:cNvPr id="12" name="">
            <a:extLst xmlns:a="http://schemas.openxmlformats.org/drawingml/2006/main">
              <a:ext uri="{FF2B5EF4-FFF2-40B4-BE49-F238E27FC236}">
                <a16:creationId xmlns:a16="http://schemas.microsoft.com/office/drawing/2014/main" id="{CF87ED4A-B521-4C8A-9C59-77C36310A065}"/>
              </a:ext>
            </a:extLst>
          </p:cNvPr>
          <p:cNvSpPr>
            <a:spLocks xmlns:a="http://schemas.openxmlformats.org/drawingml/2006/main" noGrp="1"/>
          </p:cNvSpPr>
          <p:nvPr/>
        </p:nvSpPr>
        <p:spPr>
          <a:xfrm xmlns:a="http://schemas.openxmlformats.org/drawingml/2006/main">
            <a:off x="400050" y="3600450"/>
            <a:ext cx="1952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D97706"/>
                </a:solidFill>
                <a:latin typeface="Helvetica Neue"/>
                <a:ea typeface="Helvetica Neue"/>
                <a:cs typeface="Helvetica Neue"/>
              </a:defRPr>
            </a:pPr>
            <a:r>
              <a:rPr sz="1200" b="1">
                <a:solidFill>
                  <a:srgbClr val="D97706"/>
                </a:solidFill>
                <a:latin typeface="Helvetica Neue"/>
                <a:ea typeface="Helvetica Neue"/>
                <a:cs typeface="Helvetica Neue"/>
              </a:rPr>
              <a:t>SEPARATE WORKFLOWS</a:t>
            </a:r>
          </a:p>
        </p:txBody>
      </p:sp>
      <p:sp>
        <p:nvSpPr>
          <p:cNvPr id="13" name="">
            <a:extLst xmlns:a="http://schemas.openxmlformats.org/drawingml/2006/main">
              <a:ext uri="{FF2B5EF4-FFF2-40B4-BE49-F238E27FC236}">
                <a16:creationId xmlns:a16="http://schemas.microsoft.com/office/drawing/2014/main" id="{6B915020-42E6-4A21-A367-3E8332054F33}"/>
              </a:ext>
            </a:extLst>
          </p:cNvPr>
          <p:cNvSpPr>
            <a:spLocks xmlns:a="http://schemas.openxmlformats.org/drawingml/2006/main" noGrp="1"/>
          </p:cNvSpPr>
          <p:nvPr/>
        </p:nvSpPr>
        <p:spPr>
          <a:xfrm xmlns:a="http://schemas.openxmlformats.org/drawingml/2006/main">
            <a:off x="400050" y="3962400"/>
            <a:ext cx="5000625" cy="19050"/>
          </a:xfrm>
          <a:prstGeom xmlns:a="http://schemas.openxmlformats.org/drawingml/2006/main" prst="rect">
            <a:avLst/>
          </a:prstGeom>
          <a:solidFill xmlns:a="http://schemas.openxmlformats.org/drawingml/2006/main">
            <a:srgbClr val="D9770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0B53ACC-870E-4831-9F62-95FB0F08CCFF}"/>
              </a:ext>
            </a:extLst>
          </p:cNvPr>
          <p:cNvSpPr>
            <a:spLocks xmlns:a="http://schemas.openxmlformats.org/drawingml/2006/main" noGrp="1"/>
          </p:cNvSpPr>
          <p:nvPr/>
        </p:nvSpPr>
        <p:spPr>
          <a:xfrm xmlns:a="http://schemas.openxmlformats.org/drawingml/2006/main">
            <a:off x="400050" y="4067175"/>
            <a:ext cx="5000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Upstream uncertainty is often passed forward as fixed truth</a:t>
            </a:r>
          </a:p>
        </p:txBody>
      </p:sp>
      <p:sp>
        <p:nvSpPr>
          <p:cNvPr id="15" name="">
            <a:extLst xmlns:a="http://schemas.openxmlformats.org/drawingml/2006/main">
              <a:ext uri="{FF2B5EF4-FFF2-40B4-BE49-F238E27FC236}">
                <a16:creationId xmlns:a16="http://schemas.microsoft.com/office/drawing/2014/main" id="{A9F0B9FC-09D0-4CCD-9C34-271FDA0C9CE0}"/>
              </a:ext>
            </a:extLst>
          </p:cNvPr>
          <p:cNvSpPr>
            <a:spLocks xmlns:a="http://schemas.openxmlformats.org/drawingml/2006/main" noGrp="1"/>
          </p:cNvSpPr>
          <p:nvPr/>
        </p:nvSpPr>
        <p:spPr>
          <a:xfrm xmlns:a="http://schemas.openxmlformats.org/drawingml/2006/main">
            <a:off x="6000750" y="1581150"/>
            <a:ext cx="5410200" cy="2476500"/>
          </a:xfrm>
          <a:prstGeom xmlns:a="http://schemas.openxmlformats.org/drawingml/2006/main" prst="roundRect">
            <a:avLst>
              <a:gd name="adj" fmla="val 4615"/>
            </a:avLst>
          </a:prstGeom>
          <a:solidFill xmlns:a="http://schemas.openxmlformats.org/drawingml/2006/main">
            <a:srgbClr val="11131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1247B0E-1BD2-4592-8FB9-CEA781C53409}"/>
              </a:ext>
            </a:extLst>
          </p:cNvPr>
          <p:cNvSpPr>
            <a:spLocks xmlns:a="http://schemas.openxmlformats.org/drawingml/2006/main" noGrp="1"/>
          </p:cNvSpPr>
          <p:nvPr/>
        </p:nvSpPr>
        <p:spPr>
          <a:xfrm xmlns:a="http://schemas.openxmlformats.org/drawingml/2006/main">
            <a:off x="6343650" y="1847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6DCBF4"/>
                </a:solidFill>
                <a:latin typeface="Helvetica Neue"/>
                <a:ea typeface="Helvetica Neue"/>
                <a:cs typeface="Helvetica Neue"/>
              </a:defRPr>
            </a:pPr>
            <a:r>
              <a:rPr sz="1200" b="1">
                <a:solidFill>
                  <a:srgbClr val="6DCBF4"/>
                </a:solidFill>
                <a:latin typeface="Helvetica Neue"/>
                <a:ea typeface="Helvetica Neue"/>
                <a:cs typeface="Helvetica Neue"/>
              </a:rPr>
              <a:t>CONSEQUENCE</a:t>
            </a:r>
          </a:p>
        </p:txBody>
      </p:sp>
      <p:sp>
        <p:nvSpPr>
          <p:cNvPr id="17" name="">
            <a:extLst xmlns:a="http://schemas.openxmlformats.org/drawingml/2006/main">
              <a:ext uri="{FF2B5EF4-FFF2-40B4-BE49-F238E27FC236}">
                <a16:creationId xmlns:a16="http://schemas.microsoft.com/office/drawing/2014/main" id="{E780CBA8-7870-4315-996F-E4DFDBE9825A}"/>
              </a:ext>
            </a:extLst>
          </p:cNvPr>
          <p:cNvSpPr>
            <a:spLocks xmlns:a="http://schemas.openxmlformats.org/drawingml/2006/main" noGrp="1"/>
          </p:cNvSpPr>
          <p:nvPr/>
        </p:nvSpPr>
        <p:spPr>
          <a:xfrm xmlns:a="http://schemas.openxmlformats.org/drawingml/2006/main">
            <a:off x="6343650" y="2343150"/>
            <a:ext cx="4762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589"/>
          </a:bodyPr>
          <a:lstStyle xmlns:a="http://schemas.openxmlformats.org/drawingml/2006/main"/>
          <a:p xmlns:a="http://schemas.openxmlformats.org/drawingml/2006/main">
            <a:pPr algn="ct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Several individually plausible—but mutually incompatible—aquifer stories</a:t>
            </a:r>
          </a:p>
        </p:txBody>
      </p:sp>
      <p:sp>
        <p:nvSpPr>
          <p:cNvPr id="18" name="">
            <a:extLst xmlns:a="http://schemas.openxmlformats.org/drawingml/2006/main">
              <a:ext uri="{FF2B5EF4-FFF2-40B4-BE49-F238E27FC236}">
                <a16:creationId xmlns:a16="http://schemas.microsoft.com/office/drawing/2014/main" id="{2DDA571E-A9F9-4AF3-94ED-77FAD609CA03}"/>
              </a:ext>
            </a:extLst>
          </p:cNvPr>
          <p:cNvSpPr>
            <a:spLocks xmlns:a="http://schemas.openxmlformats.org/drawingml/2006/main" noGrp="1"/>
          </p:cNvSpPr>
          <p:nvPr/>
        </p:nvSpPr>
        <p:spPr>
          <a:xfrm xmlns:a="http://schemas.openxmlformats.org/drawingml/2006/main">
            <a:off x="6572250" y="3486150"/>
            <a:ext cx="430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6DCBF4"/>
                </a:solidFill>
                <a:latin typeface="Helvetica Neue"/>
                <a:ea typeface="Helvetica Neue"/>
                <a:cs typeface="Helvetica Neue"/>
              </a:defRPr>
            </a:pPr>
            <a:r>
              <a:rPr sz="1500" b="1">
                <a:solidFill>
                  <a:srgbClr val="6DCBF4"/>
                </a:solidFill>
                <a:latin typeface="Helvetica Neue"/>
                <a:ea typeface="Helvetica Neue"/>
                <a:cs typeface="Helvetica Neue"/>
              </a:rPr>
              <a:t>Confidence may increase while accuracy falls.</a:t>
            </a:r>
          </a:p>
        </p:txBody>
      </p:sp>
      <p:sp>
        <p:nvSpPr>
          <p:cNvPr id="19" name="">
            <a:extLst xmlns:a="http://schemas.openxmlformats.org/drawingml/2006/main">
              <a:ext uri="{FF2B5EF4-FFF2-40B4-BE49-F238E27FC236}">
                <a16:creationId xmlns:a16="http://schemas.microsoft.com/office/drawing/2014/main" id="{D83AA222-0338-48A9-8DF3-42D1D918B5B4}"/>
              </a:ext>
            </a:extLst>
          </p:cNvPr>
          <p:cNvSpPr>
            <a:spLocks xmlns:a="http://schemas.openxmlformats.org/drawingml/2006/main" noGrp="1"/>
          </p:cNvSpPr>
          <p:nvPr/>
        </p:nvSpPr>
        <p:spPr>
          <a:xfrm xmlns:a="http://schemas.openxmlformats.org/drawingml/2006/main">
            <a:off x="6000750" y="4343400"/>
            <a:ext cx="5410200" cy="1466850"/>
          </a:xfrm>
          <a:prstGeom xmlns:a="http://schemas.openxmlformats.org/drawingml/2006/main" prst="roundRect">
            <a:avLst>
              <a:gd name="adj" fmla="val 7792"/>
            </a:avLst>
          </a:prstGeom>
          <a:solidFill xmlns:a="http://schemas.openxmlformats.org/drawingml/2006/main">
            <a:srgbClr val="E9F4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D83EA7A-0364-4D97-9490-24337B558498}"/>
              </a:ext>
            </a:extLst>
          </p:cNvPr>
          <p:cNvSpPr>
            <a:spLocks xmlns:a="http://schemas.openxmlformats.org/drawingml/2006/main" noGrp="1"/>
          </p:cNvSpPr>
          <p:nvPr/>
        </p:nvSpPr>
        <p:spPr>
          <a:xfrm xmlns:a="http://schemas.openxmlformats.org/drawingml/2006/main">
            <a:off x="6286500" y="455295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WHAT WAS NEEDED</a:t>
            </a:r>
          </a:p>
        </p:txBody>
      </p:sp>
      <p:sp>
        <p:nvSpPr>
          <p:cNvPr id="21" name="">
            <a:extLst xmlns:a="http://schemas.openxmlformats.org/drawingml/2006/main">
              <a:ext uri="{FF2B5EF4-FFF2-40B4-BE49-F238E27FC236}">
                <a16:creationId xmlns:a16="http://schemas.microsoft.com/office/drawing/2014/main" id="{1DE8B9D0-CF75-46B6-B496-5CD3F65AA096}"/>
              </a:ext>
            </a:extLst>
          </p:cNvPr>
          <p:cNvSpPr>
            <a:spLocks xmlns:a="http://schemas.openxmlformats.org/drawingml/2006/main" noGrp="1"/>
          </p:cNvSpPr>
          <p:nvPr/>
        </p:nvSpPr>
        <p:spPr>
          <a:xfrm xmlns:a="http://schemas.openxmlformats.org/drawingml/2006/main">
            <a:off x="6286500" y="4953000"/>
            <a:ext cx="4838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126"/>
          </a:bodyPr>
          <a:lstStyle xmlns:a="http://schemas.openxmlformats.org/drawingml/2006/main"/>
          <a:p xmlns:a="http://schemas.openxmlformats.org/drawingml/2006/main">
            <a:pPr algn="ctr">
              <a:defRPr sz="1725" b="1">
                <a:solidFill>
                  <a:srgbClr val="153A63"/>
                </a:solidFill>
                <a:latin typeface="Helvetica Neue"/>
                <a:ea typeface="Helvetica Neue"/>
                <a:cs typeface="Helvetica Neue"/>
              </a:defRPr>
            </a:pPr>
            <a:r>
              <a:rPr sz="1725" b="1">
                <a:solidFill>
                  <a:srgbClr val="153A63"/>
                </a:solidFill>
                <a:latin typeface="Helvetica Neue"/>
                <a:ea typeface="Helvetica Neue"/>
                <a:cs typeface="Helvetica Neue"/>
              </a:rPr>
              <a:t>A framework that couples uncertain evidence, tests global compatibility, measures incremental information and reports non-identifiability.</a:t>
            </a:r>
          </a:p>
        </p:txBody>
      </p:sp>
    </p:spTree>
    <p:extLst>
      <p:ext uri="{BB962C8B-B14F-4D97-AF65-F5344CB8AC3E}">
        <p14:creationId xmlns:p14="http://schemas.microsoft.com/office/powerpoint/2010/main" val="16533135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90F0BC4-D938-4C38-8578-0DD41EF733CC}"/>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SCIENTIFIC GAP</a:t>
            </a:r>
          </a:p>
        </p:txBody>
      </p:sp>
      <p:sp>
        <p:nvSpPr>
          <p:cNvPr id="2" name="">
            <a:extLst xmlns:a="http://schemas.openxmlformats.org/drawingml/2006/main">
              <a:ext uri="{FF2B5EF4-FFF2-40B4-BE49-F238E27FC236}">
                <a16:creationId xmlns:a16="http://schemas.microsoft.com/office/drawing/2014/main" id="{515AAD84-7AB2-481F-8E9F-D7DDBD0CD2CA}"/>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The unknowns are coupled—but usually inferred separately</a:t>
            </a:r>
          </a:p>
        </p:txBody>
      </p:sp>
      <p:sp>
        <p:nvSpPr>
          <p:cNvPr id="3" name="">
            <a:extLst xmlns:a="http://schemas.openxmlformats.org/drawingml/2006/main">
              <a:ext uri="{FF2B5EF4-FFF2-40B4-BE49-F238E27FC236}">
                <a16:creationId xmlns:a16="http://schemas.microsoft.com/office/drawing/2014/main" id="{CD5F893D-CD39-4FF5-9481-FDC03813044F}"/>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61FC89B-0891-4D45-B6D3-75AF51D3884F}"/>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Problem</a:t>
            </a:r>
          </a:p>
        </p:txBody>
      </p:sp>
      <p:sp>
        <p:nvSpPr>
          <p:cNvPr id="5" name="">
            <a:extLst xmlns:a="http://schemas.openxmlformats.org/drawingml/2006/main">
              <a:ext uri="{FF2B5EF4-FFF2-40B4-BE49-F238E27FC236}">
                <a16:creationId xmlns:a16="http://schemas.microsoft.com/office/drawing/2014/main" id="{CD025C01-25C1-4D0B-B78A-BB55B48AC537}"/>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C956A218-A177-47F2-90CC-5027705F5FE2}"/>
              </a:ext>
            </a:extLst>
          </p:cNvPr>
          <p:cNvSpPr>
            <a:spLocks xmlns:a="http://schemas.openxmlformats.org/drawingml/2006/main" noGrp="1"/>
          </p:cNvSpPr>
          <p:nvPr/>
        </p:nvSpPr>
        <p:spPr>
          <a:xfrm xmlns:a="http://schemas.openxmlformats.org/drawingml/2006/main">
            <a:off x="857250" y="2000250"/>
            <a:ext cx="2857500" cy="2190750"/>
          </a:xfrm>
          <a:prstGeom xmlns:a="http://schemas.openxmlformats.org/drawingml/2006/main" prst="roundRect">
            <a:avLst>
              <a:gd name="adj" fmla="val 5217"/>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9E3B7F5-AB3D-4F36-BDED-C2FFEC93935A}"/>
              </a:ext>
            </a:extLst>
          </p:cNvPr>
          <p:cNvSpPr>
            <a:spLocks xmlns:a="http://schemas.openxmlformats.org/drawingml/2006/main" noGrp="1"/>
          </p:cNvSpPr>
          <p:nvPr/>
        </p:nvSpPr>
        <p:spPr>
          <a:xfrm xmlns:a="http://schemas.openxmlformats.org/drawingml/2006/main">
            <a:off x="1085850" y="224790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AGE</a:t>
            </a:r>
          </a:p>
        </p:txBody>
      </p:sp>
      <p:sp>
        <p:nvSpPr>
          <p:cNvPr id="8" name="">
            <a:extLst xmlns:a="http://schemas.openxmlformats.org/drawingml/2006/main">
              <a:ext uri="{FF2B5EF4-FFF2-40B4-BE49-F238E27FC236}">
                <a16:creationId xmlns:a16="http://schemas.microsoft.com/office/drawing/2014/main" id="{F6257AF9-492C-4BD1-870A-15A603717A02}"/>
              </a:ext>
            </a:extLst>
          </p:cNvPr>
          <p:cNvSpPr>
            <a:spLocks xmlns:a="http://schemas.openxmlformats.org/drawingml/2006/main" noGrp="1"/>
          </p:cNvSpPr>
          <p:nvPr/>
        </p:nvSpPr>
        <p:spPr>
          <a:xfrm xmlns:a="http://schemas.openxmlformats.org/drawingml/2006/main">
            <a:off x="1190625" y="2905125"/>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0">
                <a:solidFill>
                  <a:srgbClr val="111318"/>
                </a:solidFill>
                <a:latin typeface="Helvetica Neue"/>
                <a:ea typeface="Helvetica Neue"/>
                <a:cs typeface="Helvetica Neue"/>
              </a:defRPr>
            </a:pPr>
            <a:r>
              <a:rPr sz="1725" b="0">
                <a:solidFill>
                  <a:srgbClr val="111318"/>
                </a:solidFill>
                <a:latin typeface="Helvetica Neue"/>
                <a:ea typeface="Helvetica Neue"/>
                <a:cs typeface="Helvetica Neue"/>
              </a:rPr>
              <a:t>Tracer history and mixing</a:t>
            </a:r>
          </a:p>
        </p:txBody>
      </p:sp>
      <p:sp>
        <p:nvSpPr>
          <p:cNvPr id="9" name="">
            <a:extLst xmlns:a="http://schemas.openxmlformats.org/drawingml/2006/main">
              <a:ext uri="{FF2B5EF4-FFF2-40B4-BE49-F238E27FC236}">
                <a16:creationId xmlns:a16="http://schemas.microsoft.com/office/drawing/2014/main" id="{06DD4E4F-4EC5-4A5B-A68D-5858ED2843B9}"/>
              </a:ext>
            </a:extLst>
          </p:cNvPr>
          <p:cNvSpPr>
            <a:spLocks xmlns:a="http://schemas.openxmlformats.org/drawingml/2006/main" noGrp="1"/>
          </p:cNvSpPr>
          <p:nvPr/>
        </p:nvSpPr>
        <p:spPr>
          <a:xfrm xmlns:a="http://schemas.openxmlformats.org/drawingml/2006/main">
            <a:off x="4381500" y="2000250"/>
            <a:ext cx="2857500" cy="2190750"/>
          </a:xfrm>
          <a:prstGeom xmlns:a="http://schemas.openxmlformats.org/drawingml/2006/main" prst="roundRect">
            <a:avLst>
              <a:gd name="adj" fmla="val 5217"/>
            </a:avLst>
          </a:prstGeom>
          <a:solidFill xmlns:a="http://schemas.openxmlformats.org/drawingml/2006/main">
            <a:srgbClr val="F2F3F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9F37E29-39A5-4D29-AE34-042A9C82E99C}"/>
              </a:ext>
            </a:extLst>
          </p:cNvPr>
          <p:cNvSpPr>
            <a:spLocks xmlns:a="http://schemas.openxmlformats.org/drawingml/2006/main" noGrp="1"/>
          </p:cNvSpPr>
          <p:nvPr/>
        </p:nvSpPr>
        <p:spPr>
          <a:xfrm xmlns:a="http://schemas.openxmlformats.org/drawingml/2006/main">
            <a:off x="4610100" y="224790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49A84"/>
                </a:solidFill>
                <a:latin typeface="Helvetica Neue"/>
                <a:ea typeface="Helvetica Neue"/>
                <a:cs typeface="Helvetica Neue"/>
              </a:defRPr>
            </a:pPr>
            <a:r>
              <a:rPr sz="2100" b="1">
                <a:solidFill>
                  <a:srgbClr val="149A84"/>
                </a:solidFill>
                <a:latin typeface="Helvetica Neue"/>
                <a:ea typeface="Helvetica Neue"/>
                <a:cs typeface="Helvetica Neue"/>
              </a:rPr>
              <a:t>TOPOLOGY</a:t>
            </a:r>
          </a:p>
        </p:txBody>
      </p:sp>
      <p:sp>
        <p:nvSpPr>
          <p:cNvPr id="11" name="">
            <a:extLst xmlns:a="http://schemas.openxmlformats.org/drawingml/2006/main">
              <a:ext uri="{FF2B5EF4-FFF2-40B4-BE49-F238E27FC236}">
                <a16:creationId xmlns:a16="http://schemas.microsoft.com/office/drawing/2014/main" id="{FB3B2A0E-C4C5-4A4D-B101-6E149AD17CC7}"/>
              </a:ext>
            </a:extLst>
          </p:cNvPr>
          <p:cNvSpPr>
            <a:spLocks xmlns:a="http://schemas.openxmlformats.org/drawingml/2006/main" noGrp="1"/>
          </p:cNvSpPr>
          <p:nvPr/>
        </p:nvSpPr>
        <p:spPr>
          <a:xfrm xmlns:a="http://schemas.openxmlformats.org/drawingml/2006/main">
            <a:off x="4714875" y="2905125"/>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0">
                <a:solidFill>
                  <a:srgbClr val="111318"/>
                </a:solidFill>
                <a:latin typeface="Helvetica Neue"/>
                <a:ea typeface="Helvetica Neue"/>
                <a:cs typeface="Helvetica Neue"/>
              </a:defRPr>
            </a:pPr>
            <a:r>
              <a:rPr sz="1725" b="0">
                <a:solidFill>
                  <a:srgbClr val="111318"/>
                </a:solidFill>
                <a:latin typeface="Helvetica Neue"/>
                <a:ea typeface="Helvetica Neue"/>
                <a:cs typeface="Helvetica Neue"/>
              </a:rPr>
              <a:t>Directed flow paths</a:t>
            </a:r>
          </a:p>
        </p:txBody>
      </p:sp>
      <p:sp>
        <p:nvSpPr>
          <p:cNvPr id="12" name="">
            <a:extLst xmlns:a="http://schemas.openxmlformats.org/drawingml/2006/main">
              <a:ext uri="{FF2B5EF4-FFF2-40B4-BE49-F238E27FC236}">
                <a16:creationId xmlns:a16="http://schemas.microsoft.com/office/drawing/2014/main" id="{E692E149-7899-47FB-970A-076F119AA72D}"/>
              </a:ext>
            </a:extLst>
          </p:cNvPr>
          <p:cNvSpPr>
            <a:spLocks xmlns:a="http://schemas.openxmlformats.org/drawingml/2006/main" noGrp="1"/>
          </p:cNvSpPr>
          <p:nvPr/>
        </p:nvSpPr>
        <p:spPr>
          <a:xfrm xmlns:a="http://schemas.openxmlformats.org/drawingml/2006/main">
            <a:off x="7905750" y="2000250"/>
            <a:ext cx="2857500" cy="2190750"/>
          </a:xfrm>
          <a:prstGeom xmlns:a="http://schemas.openxmlformats.org/drawingml/2006/main" prst="roundRect">
            <a:avLst>
              <a:gd name="adj" fmla="val 5217"/>
            </a:avLst>
          </a:prstGeom>
          <a:solidFill xmlns:a="http://schemas.openxmlformats.org/drawingml/2006/main">
            <a:srgbClr val="F2F3F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48A8D50-4350-4801-8009-3284CFF5476D}"/>
              </a:ext>
            </a:extLst>
          </p:cNvPr>
          <p:cNvSpPr>
            <a:spLocks xmlns:a="http://schemas.openxmlformats.org/drawingml/2006/main" noGrp="1"/>
          </p:cNvSpPr>
          <p:nvPr/>
        </p:nvSpPr>
        <p:spPr>
          <a:xfrm xmlns:a="http://schemas.openxmlformats.org/drawingml/2006/main">
            <a:off x="8134350" y="224790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D97706"/>
                </a:solidFill>
                <a:latin typeface="Helvetica Neue"/>
                <a:ea typeface="Helvetica Neue"/>
                <a:cs typeface="Helvetica Neue"/>
              </a:defRPr>
            </a:pPr>
            <a:r>
              <a:rPr sz="2100" b="1">
                <a:solidFill>
                  <a:srgbClr val="D97706"/>
                </a:solidFill>
                <a:latin typeface="Helvetica Neue"/>
                <a:ea typeface="Helvetica Neue"/>
                <a:cs typeface="Helvetica Neue"/>
              </a:rPr>
              <a:t>CHEMISTRY</a:t>
            </a:r>
          </a:p>
        </p:txBody>
      </p:sp>
      <p:sp>
        <p:nvSpPr>
          <p:cNvPr id="14" name="">
            <a:extLst xmlns:a="http://schemas.openxmlformats.org/drawingml/2006/main">
              <a:ext uri="{FF2B5EF4-FFF2-40B4-BE49-F238E27FC236}">
                <a16:creationId xmlns:a16="http://schemas.microsoft.com/office/drawing/2014/main" id="{000C736D-488C-4710-9724-66907D077B2C}"/>
              </a:ext>
            </a:extLst>
          </p:cNvPr>
          <p:cNvSpPr>
            <a:spLocks xmlns:a="http://schemas.openxmlformats.org/drawingml/2006/main" noGrp="1"/>
          </p:cNvSpPr>
          <p:nvPr/>
        </p:nvSpPr>
        <p:spPr>
          <a:xfrm xmlns:a="http://schemas.openxmlformats.org/drawingml/2006/main">
            <a:off x="8239125" y="2905125"/>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0">
                <a:solidFill>
                  <a:srgbClr val="111318"/>
                </a:solidFill>
                <a:latin typeface="Helvetica Neue"/>
                <a:ea typeface="Helvetica Neue"/>
                <a:cs typeface="Helvetica Neue"/>
              </a:defRPr>
            </a:pPr>
            <a:r>
              <a:rPr sz="1725" b="0">
                <a:solidFill>
                  <a:srgbClr val="111318"/>
                </a:solidFill>
                <a:latin typeface="Helvetica Neue"/>
                <a:ea typeface="Helvetica Neue"/>
                <a:cs typeface="Helvetica Neue"/>
              </a:rPr>
              <a:t>Reaction families and extents</a:t>
            </a:r>
          </a:p>
        </p:txBody>
      </p:sp>
      <p:sp>
        <p:nvSpPr>
          <p:cNvPr id="15" name="">
            <a:extLst xmlns:a="http://schemas.openxmlformats.org/drawingml/2006/main">
              <a:ext uri="{FF2B5EF4-FFF2-40B4-BE49-F238E27FC236}">
                <a16:creationId xmlns:a16="http://schemas.microsoft.com/office/drawing/2014/main" id="{1F9BFA42-652C-4D7F-B55B-16E12085F714}"/>
              </a:ext>
            </a:extLst>
          </p:cNvPr>
          <p:cNvSpPr>
            <a:spLocks xmlns:a="http://schemas.openxmlformats.org/drawingml/2006/main" noGrp="1"/>
          </p:cNvSpPr>
          <p:nvPr/>
        </p:nvSpPr>
        <p:spPr>
          <a:xfrm xmlns:a="http://schemas.openxmlformats.org/drawingml/2006/main">
            <a:off x="3781425" y="27622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ctr">
              <a:defRPr sz="3300" b="1">
                <a:solidFill>
                  <a:srgbClr val="111318"/>
                </a:solidFill>
                <a:latin typeface="Helvetica Neue"/>
                <a:ea typeface="Helvetica Neue"/>
                <a:cs typeface="Helvetica Neue"/>
              </a:defRPr>
            </a:pPr>
            <a:r>
              <a:rPr sz="3300" b="1">
                <a:solidFill>
                  <a:srgbClr val="111318"/>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54F96225-E222-483B-835D-CDB56C80A0D7}"/>
              </a:ext>
            </a:extLst>
          </p:cNvPr>
          <p:cNvSpPr>
            <a:spLocks xmlns:a="http://schemas.openxmlformats.org/drawingml/2006/main" noGrp="1"/>
          </p:cNvSpPr>
          <p:nvPr/>
        </p:nvSpPr>
        <p:spPr>
          <a:xfrm xmlns:a="http://schemas.openxmlformats.org/drawingml/2006/main">
            <a:off x="7305675" y="27622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ctr">
              <a:defRPr sz="3300" b="1">
                <a:solidFill>
                  <a:srgbClr val="111318"/>
                </a:solidFill>
                <a:latin typeface="Helvetica Neue"/>
                <a:ea typeface="Helvetica Neue"/>
                <a:cs typeface="Helvetica Neue"/>
              </a:defRPr>
            </a:pPr>
            <a:r>
              <a:rPr sz="3300" b="1">
                <a:solidFill>
                  <a:srgbClr val="111318"/>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1BBBC2AE-6B77-40C4-BF7F-FFDD031EE00C}"/>
              </a:ext>
            </a:extLst>
          </p:cNvPr>
          <p:cNvSpPr>
            <a:spLocks xmlns:a="http://schemas.openxmlformats.org/drawingml/2006/main" noGrp="1"/>
          </p:cNvSpPr>
          <p:nvPr/>
        </p:nvSpPr>
        <p:spPr>
          <a:xfrm xmlns:a="http://schemas.openxmlformats.org/drawingml/2006/main">
            <a:off x="2047875" y="4686300"/>
            <a:ext cx="8096250" cy="876300"/>
          </a:xfrm>
          <a:prstGeom xmlns:a="http://schemas.openxmlformats.org/drawingml/2006/main" prst="roundRect">
            <a:avLst>
              <a:gd name="adj" fmla="val 13043"/>
            </a:avLst>
          </a:prstGeom>
          <a:solidFill xmlns:a="http://schemas.openxmlformats.org/drawingml/2006/main">
            <a:srgbClr val="E9F4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36872E9-AA2D-4249-804E-B189D34D8101}"/>
              </a:ext>
            </a:extLst>
          </p:cNvPr>
          <p:cNvSpPr>
            <a:spLocks xmlns:a="http://schemas.openxmlformats.org/drawingml/2006/main" noGrp="1"/>
          </p:cNvSpPr>
          <p:nvPr/>
        </p:nvSpPr>
        <p:spPr>
          <a:xfrm xmlns:a="http://schemas.openxmlformats.org/drawingml/2006/main">
            <a:off x="2428875" y="4905375"/>
            <a:ext cx="733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ctr">
              <a:defRPr sz="1875" b="1">
                <a:solidFill>
                  <a:srgbClr val="153A63"/>
                </a:solidFill>
                <a:latin typeface="Helvetica Neue"/>
                <a:ea typeface="Helvetica Neue"/>
                <a:cs typeface="Helvetica Neue"/>
              </a:defRPr>
            </a:pPr>
            <a:r>
              <a:rPr sz="1875" b="1">
                <a:solidFill>
                  <a:srgbClr val="153A63"/>
                </a:solidFill>
                <a:latin typeface="Helvetica Neue"/>
                <a:ea typeface="Helvetica Neue"/>
                <a:cs typeface="Helvetica Neue"/>
              </a:rPr>
              <a:t>HydroSheaf asks whether locally plausible relations compose into a globally compatible groundwater interpretation.</a:t>
            </a:r>
          </a:p>
        </p:txBody>
      </p:sp>
    </p:spTree>
    <p:extLst>
      <p:ext uri="{BB962C8B-B14F-4D97-AF65-F5344CB8AC3E}">
        <p14:creationId xmlns:p14="http://schemas.microsoft.com/office/powerpoint/2010/main" val="4412813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3E875FA-07AC-4575-B744-9C7D6DFFF872}"/>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AIM AND QUESTIONS</a:t>
            </a:r>
          </a:p>
        </p:txBody>
      </p:sp>
      <p:sp>
        <p:nvSpPr>
          <p:cNvPr id="2" name="">
            <a:extLst xmlns:a="http://schemas.openxmlformats.org/drawingml/2006/main">
              <a:ext uri="{FF2B5EF4-FFF2-40B4-BE49-F238E27FC236}">
                <a16:creationId xmlns:a16="http://schemas.microsoft.com/office/drawing/2014/main" id="{F9BD318A-1C4D-404F-9DCD-5CB3EFF1066B}"/>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One aim, four answerable questions</a:t>
            </a:r>
          </a:p>
        </p:txBody>
      </p:sp>
      <p:sp>
        <p:nvSpPr>
          <p:cNvPr id="3" name="">
            <a:extLst xmlns:a="http://schemas.openxmlformats.org/drawingml/2006/main">
              <a:ext uri="{FF2B5EF4-FFF2-40B4-BE49-F238E27FC236}">
                <a16:creationId xmlns:a16="http://schemas.microsoft.com/office/drawing/2014/main" id="{5567DFDC-4D13-419D-AC60-DF01FA35A237}"/>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72907B-4BB1-4A0A-B6BC-165597981EE1}"/>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Research design</a:t>
            </a:r>
          </a:p>
        </p:txBody>
      </p:sp>
      <p:sp>
        <p:nvSpPr>
          <p:cNvPr id="5" name="">
            <a:extLst xmlns:a="http://schemas.openxmlformats.org/drawingml/2006/main">
              <a:ext uri="{FF2B5EF4-FFF2-40B4-BE49-F238E27FC236}">
                <a16:creationId xmlns:a16="http://schemas.microsoft.com/office/drawing/2014/main" id="{AB6B331D-C9A6-4AFF-B671-51476912B146}"/>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A2373439-18E0-4EC3-9CC1-280EBED0E500}"/>
              </a:ext>
            </a:extLst>
          </p:cNvPr>
          <p:cNvSpPr>
            <a:spLocks xmlns:a="http://schemas.openxmlformats.org/drawingml/2006/main" noGrp="1"/>
          </p:cNvSpPr>
          <p:nvPr/>
        </p:nvSpPr>
        <p:spPr>
          <a:xfrm xmlns:a="http://schemas.openxmlformats.org/drawingml/2006/main">
            <a:off x="400050" y="1524000"/>
            <a:ext cx="11391900" cy="876300"/>
          </a:xfrm>
          <a:prstGeom xmlns:a="http://schemas.openxmlformats.org/drawingml/2006/main" prst="roundRect">
            <a:avLst>
              <a:gd name="adj" fmla="val 13043"/>
            </a:avLst>
          </a:prstGeom>
          <a:solidFill xmlns:a="http://schemas.openxmlformats.org/drawingml/2006/main">
            <a:srgbClr val="153A6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8D37E40-4ED4-4B9A-9845-7214649EF473}"/>
              </a:ext>
            </a:extLst>
          </p:cNvPr>
          <p:cNvSpPr>
            <a:spLocks xmlns:a="http://schemas.openxmlformats.org/drawingml/2006/main" noGrp="1"/>
          </p:cNvSpPr>
          <p:nvPr/>
        </p:nvSpPr>
        <p:spPr>
          <a:xfrm xmlns:a="http://schemas.openxmlformats.org/drawingml/2006/main">
            <a:off x="723900" y="1743075"/>
            <a:ext cx="10744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667"/>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Develop, benchmark and apply HydroSheaf to jointly diagnose residence-time distributions, directed flow paths and hydrogeochemical evolution.</a:t>
            </a:r>
          </a:p>
        </p:txBody>
      </p:sp>
      <p:sp>
        <p:nvSpPr>
          <p:cNvPr id="8" name="">
            <a:extLst xmlns:a="http://schemas.openxmlformats.org/drawingml/2006/main">
              <a:ext uri="{FF2B5EF4-FFF2-40B4-BE49-F238E27FC236}">
                <a16:creationId xmlns:a16="http://schemas.microsoft.com/office/drawing/2014/main" id="{7033A603-0C2B-44C5-9EA4-DFFC89D24E49}"/>
              </a:ext>
            </a:extLst>
          </p:cNvPr>
          <p:cNvSpPr>
            <a:spLocks xmlns:a="http://schemas.openxmlformats.org/drawingml/2006/main" noGrp="1"/>
          </p:cNvSpPr>
          <p:nvPr/>
        </p:nvSpPr>
        <p:spPr>
          <a:xfrm xmlns:a="http://schemas.openxmlformats.org/drawingml/2006/main">
            <a:off x="400050" y="2714625"/>
            <a:ext cx="5429250" cy="1143000"/>
          </a:xfrm>
          <a:prstGeom xmlns:a="http://schemas.openxmlformats.org/drawingml/2006/main" prst="roundRect">
            <a:avLst>
              <a:gd name="adj" fmla="val 10000"/>
            </a:avLst>
          </a:prstGeom>
          <a:solidFill xmlns:a="http://schemas.openxmlformats.org/drawingml/2006/main">
            <a:srgbClr val="F2F3F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53679EF-8B4D-4230-9952-272F15EA41EC}"/>
              </a:ext>
            </a:extLst>
          </p:cNvPr>
          <p:cNvSpPr>
            <a:spLocks xmlns:a="http://schemas.openxmlformats.org/drawingml/2006/main" noGrp="1"/>
          </p:cNvSpPr>
          <p:nvPr/>
        </p:nvSpPr>
        <p:spPr>
          <a:xfrm xmlns:a="http://schemas.openxmlformats.org/drawingml/2006/main">
            <a:off x="609600" y="2943225"/>
            <a:ext cx="647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01</a:t>
            </a:r>
          </a:p>
        </p:txBody>
      </p:sp>
      <p:sp>
        <p:nvSpPr>
          <p:cNvPr id="10" name="">
            <a:extLst xmlns:a="http://schemas.openxmlformats.org/drawingml/2006/main">
              <a:ext uri="{FF2B5EF4-FFF2-40B4-BE49-F238E27FC236}">
                <a16:creationId xmlns:a16="http://schemas.microsoft.com/office/drawing/2014/main" id="{FA948C12-1424-4664-BC28-92C44C8C1B70}"/>
              </a:ext>
            </a:extLst>
          </p:cNvPr>
          <p:cNvSpPr>
            <a:spLocks xmlns:a="http://schemas.openxmlformats.org/drawingml/2006/main" noGrp="1"/>
          </p:cNvSpPr>
          <p:nvPr/>
        </p:nvSpPr>
        <p:spPr>
          <a:xfrm xmlns:a="http://schemas.openxmlformats.org/drawingml/2006/main">
            <a:off x="1371600" y="2924175"/>
            <a:ext cx="4171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Can component methods recover known or reference behaviour?</a:t>
            </a:r>
          </a:p>
        </p:txBody>
      </p:sp>
      <p:sp>
        <p:nvSpPr>
          <p:cNvPr id="11" name="">
            <a:extLst xmlns:a="http://schemas.openxmlformats.org/drawingml/2006/main">
              <a:ext uri="{FF2B5EF4-FFF2-40B4-BE49-F238E27FC236}">
                <a16:creationId xmlns:a16="http://schemas.microsoft.com/office/drawing/2014/main" id="{8D658916-1446-4026-A1A7-DF0A5A27A8E7}"/>
              </a:ext>
            </a:extLst>
          </p:cNvPr>
          <p:cNvSpPr>
            <a:spLocks xmlns:a="http://schemas.openxmlformats.org/drawingml/2006/main" noGrp="1"/>
          </p:cNvSpPr>
          <p:nvPr/>
        </p:nvSpPr>
        <p:spPr>
          <a:xfrm xmlns:a="http://schemas.openxmlformats.org/drawingml/2006/main">
            <a:off x="6191250" y="2714625"/>
            <a:ext cx="5429250" cy="1143000"/>
          </a:xfrm>
          <a:prstGeom xmlns:a="http://schemas.openxmlformats.org/drawingml/2006/main" prst="roundRect">
            <a:avLst>
              <a:gd name="adj" fmla="val 10000"/>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97730E0-EBAC-4158-B514-D9D12D3DEA70}"/>
              </a:ext>
            </a:extLst>
          </p:cNvPr>
          <p:cNvSpPr>
            <a:spLocks xmlns:a="http://schemas.openxmlformats.org/drawingml/2006/main" noGrp="1"/>
          </p:cNvSpPr>
          <p:nvPr/>
        </p:nvSpPr>
        <p:spPr>
          <a:xfrm xmlns:a="http://schemas.openxmlformats.org/drawingml/2006/main">
            <a:off x="6400800" y="2943225"/>
            <a:ext cx="647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1B130CB7-0AC0-4E1A-89BA-9C866E8CB43F}"/>
              </a:ext>
            </a:extLst>
          </p:cNvPr>
          <p:cNvSpPr>
            <a:spLocks xmlns:a="http://schemas.openxmlformats.org/drawingml/2006/main" noGrp="1"/>
          </p:cNvSpPr>
          <p:nvPr/>
        </p:nvSpPr>
        <p:spPr>
          <a:xfrm xmlns:a="http://schemas.openxmlformats.org/drawingml/2006/main">
            <a:off x="7162800" y="2924175"/>
            <a:ext cx="4171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When does one evidence stream add information to another?</a:t>
            </a:r>
          </a:p>
        </p:txBody>
      </p:sp>
      <p:sp>
        <p:nvSpPr>
          <p:cNvPr id="14" name="">
            <a:extLst xmlns:a="http://schemas.openxmlformats.org/drawingml/2006/main">
              <a:ext uri="{FF2B5EF4-FFF2-40B4-BE49-F238E27FC236}">
                <a16:creationId xmlns:a16="http://schemas.microsoft.com/office/drawing/2014/main" id="{A895E5D7-DCB6-4343-907A-BDA110BBC2DA}"/>
              </a:ext>
            </a:extLst>
          </p:cNvPr>
          <p:cNvSpPr>
            <a:spLocks xmlns:a="http://schemas.openxmlformats.org/drawingml/2006/main" noGrp="1"/>
          </p:cNvSpPr>
          <p:nvPr/>
        </p:nvSpPr>
        <p:spPr>
          <a:xfrm xmlns:a="http://schemas.openxmlformats.org/drawingml/2006/main">
            <a:off x="400050" y="4124325"/>
            <a:ext cx="5429250" cy="1143000"/>
          </a:xfrm>
          <a:prstGeom xmlns:a="http://schemas.openxmlformats.org/drawingml/2006/main" prst="roundRect">
            <a:avLst>
              <a:gd name="adj" fmla="val 10000"/>
            </a:avLst>
          </a:prstGeom>
          <a:solidFill xmlns:a="http://schemas.openxmlformats.org/drawingml/2006/main">
            <a:srgbClr val="F2F3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5C93DA6-E1ED-496A-94BA-ECBEC8F3C38A}"/>
              </a:ext>
            </a:extLst>
          </p:cNvPr>
          <p:cNvSpPr>
            <a:spLocks xmlns:a="http://schemas.openxmlformats.org/drawingml/2006/main" noGrp="1"/>
          </p:cNvSpPr>
          <p:nvPr/>
        </p:nvSpPr>
        <p:spPr>
          <a:xfrm xmlns:a="http://schemas.openxmlformats.org/drawingml/2006/main">
            <a:off x="609600" y="4352925"/>
            <a:ext cx="647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B9438B4D-13EB-4DE5-BF40-6459E95CFF94}"/>
              </a:ext>
            </a:extLst>
          </p:cNvPr>
          <p:cNvSpPr>
            <a:spLocks xmlns:a="http://schemas.openxmlformats.org/drawingml/2006/main" noGrp="1"/>
          </p:cNvSpPr>
          <p:nvPr/>
        </p:nvSpPr>
        <p:spPr>
          <a:xfrm xmlns:a="http://schemas.openxmlformats.org/drawingml/2006/main">
            <a:off x="1371600" y="4333875"/>
            <a:ext cx="4171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What does affine sheaf structure add beyond weighted graphs?</a:t>
            </a:r>
          </a:p>
        </p:txBody>
      </p:sp>
      <p:sp>
        <p:nvSpPr>
          <p:cNvPr id="17" name="">
            <a:extLst xmlns:a="http://schemas.openxmlformats.org/drawingml/2006/main">
              <a:ext uri="{FF2B5EF4-FFF2-40B4-BE49-F238E27FC236}">
                <a16:creationId xmlns:a16="http://schemas.microsoft.com/office/drawing/2014/main" id="{09044B1E-1E49-4D35-8946-4A101FC5B72F}"/>
              </a:ext>
            </a:extLst>
          </p:cNvPr>
          <p:cNvSpPr>
            <a:spLocks xmlns:a="http://schemas.openxmlformats.org/drawingml/2006/main" noGrp="1"/>
          </p:cNvSpPr>
          <p:nvPr/>
        </p:nvSpPr>
        <p:spPr>
          <a:xfrm xmlns:a="http://schemas.openxmlformats.org/drawingml/2006/main">
            <a:off x="6191250" y="4124325"/>
            <a:ext cx="5429250" cy="1143000"/>
          </a:xfrm>
          <a:prstGeom xmlns:a="http://schemas.openxmlformats.org/drawingml/2006/main" prst="roundRect">
            <a:avLst>
              <a:gd name="adj" fmla="val 10000"/>
            </a:avLst>
          </a:prstGeom>
          <a:solidFill xmlns:a="http://schemas.openxmlformats.org/drawingml/2006/main">
            <a:srgbClr val="F2F3F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1A41E18-1D5A-4FB7-87A6-C63A42B686C1}"/>
              </a:ext>
            </a:extLst>
          </p:cNvPr>
          <p:cNvSpPr>
            <a:spLocks xmlns:a="http://schemas.openxmlformats.org/drawingml/2006/main" noGrp="1"/>
          </p:cNvSpPr>
          <p:nvPr/>
        </p:nvSpPr>
        <p:spPr>
          <a:xfrm xmlns:a="http://schemas.openxmlformats.org/drawingml/2006/main">
            <a:off x="6400800" y="4352925"/>
            <a:ext cx="647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04</a:t>
            </a:r>
          </a:p>
        </p:txBody>
      </p:sp>
      <p:sp>
        <p:nvSpPr>
          <p:cNvPr id="19" name="">
            <a:extLst xmlns:a="http://schemas.openxmlformats.org/drawingml/2006/main">
              <a:ext uri="{FF2B5EF4-FFF2-40B4-BE49-F238E27FC236}">
                <a16:creationId xmlns:a16="http://schemas.microsoft.com/office/drawing/2014/main" id="{B758F9FB-C3B6-4BA0-B7F0-CDDF9930FD85}"/>
              </a:ext>
            </a:extLst>
          </p:cNvPr>
          <p:cNvSpPr>
            <a:spLocks xmlns:a="http://schemas.openxmlformats.org/drawingml/2006/main" noGrp="1"/>
          </p:cNvSpPr>
          <p:nvPr/>
        </p:nvSpPr>
        <p:spPr>
          <a:xfrm xmlns:a="http://schemas.openxmlformats.org/drawingml/2006/main">
            <a:off x="7162800" y="4333875"/>
            <a:ext cx="4171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What can available Ghana data support—and what remains unknowable?</a:t>
            </a:r>
          </a:p>
        </p:txBody>
      </p:sp>
    </p:spTree>
    <p:extLst>
      <p:ext uri="{BB962C8B-B14F-4D97-AF65-F5344CB8AC3E}">
        <p14:creationId xmlns:p14="http://schemas.microsoft.com/office/powerpoint/2010/main" val="134380987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FE7E435-9D44-4342-97AC-4B1ACA3B8A99}"/>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WHAT IS NEW</a:t>
            </a:r>
          </a:p>
        </p:txBody>
      </p:sp>
      <p:sp>
        <p:nvSpPr>
          <p:cNvPr id="2" name="">
            <a:extLst xmlns:a="http://schemas.openxmlformats.org/drawingml/2006/main">
              <a:ext uri="{FF2B5EF4-FFF2-40B4-BE49-F238E27FC236}">
                <a16:creationId xmlns:a16="http://schemas.microsoft.com/office/drawing/2014/main" id="{812774A5-4B60-4DA3-A998-D60F0221E55D}"/>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The novelty is the coupling and the validation logic</a:t>
            </a:r>
          </a:p>
        </p:txBody>
      </p:sp>
      <p:sp>
        <p:nvSpPr>
          <p:cNvPr id="3" name="">
            <a:extLst xmlns:a="http://schemas.openxmlformats.org/drawingml/2006/main">
              <a:ext uri="{FF2B5EF4-FFF2-40B4-BE49-F238E27FC236}">
                <a16:creationId xmlns:a16="http://schemas.microsoft.com/office/drawing/2014/main" id="{4DD51741-2356-4930-AE18-52BEB09E0844}"/>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9FA1974-997E-4321-9FF5-3F34AD9F3FA9}"/>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Contribution</a:t>
            </a:r>
          </a:p>
        </p:txBody>
      </p:sp>
      <p:sp>
        <p:nvSpPr>
          <p:cNvPr id="5" name="">
            <a:extLst xmlns:a="http://schemas.openxmlformats.org/drawingml/2006/main">
              <a:ext uri="{FF2B5EF4-FFF2-40B4-BE49-F238E27FC236}">
                <a16:creationId xmlns:a16="http://schemas.microsoft.com/office/drawing/2014/main" id="{9E57DC96-05D8-4034-BB3F-111FF3037EAD}"/>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045426C7-4E2C-4152-85D8-0C69EA17D547}"/>
              </a:ext>
            </a:extLst>
          </p:cNvPr>
          <p:cNvSpPr>
            <a:spLocks xmlns:a="http://schemas.openxmlformats.org/drawingml/2006/main" noGrp="1"/>
          </p:cNvSpPr>
          <p:nvPr/>
        </p:nvSpPr>
        <p:spPr>
          <a:xfrm xmlns:a="http://schemas.openxmlformats.org/drawingml/2006/main">
            <a:off x="400050" y="16383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5D6470"/>
                </a:solidFill>
                <a:latin typeface="Helvetica Neue"/>
                <a:ea typeface="Helvetica Neue"/>
                <a:cs typeface="Helvetica Neue"/>
              </a:defRPr>
            </a:pPr>
            <a:r>
              <a:rPr sz="1800" b="1">
                <a:solidFill>
                  <a:srgbClr val="5D6470"/>
                </a:solidFill>
                <a:latin typeface="Helvetica Neue"/>
                <a:ea typeface="Helvetica Neue"/>
                <a:cs typeface="Helvetica Neue"/>
              </a:rPr>
              <a:t>Inherited foundations</a:t>
            </a:r>
          </a:p>
        </p:txBody>
      </p:sp>
      <p:sp>
        <p:nvSpPr>
          <p:cNvPr id="7" name="">
            <a:extLst xmlns:a="http://schemas.openxmlformats.org/drawingml/2006/main">
              <a:ext uri="{FF2B5EF4-FFF2-40B4-BE49-F238E27FC236}">
                <a16:creationId xmlns:a16="http://schemas.microsoft.com/office/drawing/2014/main" id="{6E3B2170-B313-46A7-B562-884DEB682014}"/>
              </a:ext>
            </a:extLst>
          </p:cNvPr>
          <p:cNvSpPr>
            <a:spLocks xmlns:a="http://schemas.openxmlformats.org/drawingml/2006/main" noGrp="1"/>
          </p:cNvSpPr>
          <p:nvPr/>
        </p:nvSpPr>
        <p:spPr>
          <a:xfrm xmlns:a="http://schemas.openxmlformats.org/drawingml/2006/main">
            <a:off x="400050" y="2095500"/>
            <a:ext cx="4762500" cy="495300"/>
          </a:xfrm>
          <a:prstGeom xmlns:a="http://schemas.openxmlformats.org/drawingml/2006/main" prst="roundRect">
            <a:avLst>
              <a:gd name="adj" fmla="val 23077"/>
            </a:avLst>
          </a:prstGeom>
          <a:solidFill xmlns:a="http://schemas.openxmlformats.org/drawingml/2006/main">
            <a:srgbClr val="F2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4EEE5EB-BFD5-4ACE-B26C-0C8CF4A863F0}"/>
              </a:ext>
            </a:extLst>
          </p:cNvPr>
          <p:cNvSpPr>
            <a:spLocks xmlns:a="http://schemas.openxmlformats.org/drawingml/2006/main" noGrp="1"/>
          </p:cNvSpPr>
          <p:nvPr/>
        </p:nvSpPr>
        <p:spPr>
          <a:xfrm xmlns:a="http://schemas.openxmlformats.org/drawingml/2006/main">
            <a:off x="590550" y="2228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Tracer dating and lumped-parameter models</a:t>
            </a:r>
          </a:p>
        </p:txBody>
      </p:sp>
      <p:sp>
        <p:nvSpPr>
          <p:cNvPr id="9" name="">
            <a:extLst xmlns:a="http://schemas.openxmlformats.org/drawingml/2006/main">
              <a:ext uri="{FF2B5EF4-FFF2-40B4-BE49-F238E27FC236}">
                <a16:creationId xmlns:a16="http://schemas.microsoft.com/office/drawing/2014/main" id="{270D6A6D-2A06-4248-9555-81D6F798D575}"/>
              </a:ext>
            </a:extLst>
          </p:cNvPr>
          <p:cNvSpPr>
            <a:spLocks xmlns:a="http://schemas.openxmlformats.org/drawingml/2006/main" noGrp="1"/>
          </p:cNvSpPr>
          <p:nvPr/>
        </p:nvSpPr>
        <p:spPr>
          <a:xfrm xmlns:a="http://schemas.openxmlformats.org/drawingml/2006/main">
            <a:off x="400050" y="2762250"/>
            <a:ext cx="4762500" cy="495300"/>
          </a:xfrm>
          <a:prstGeom xmlns:a="http://schemas.openxmlformats.org/drawingml/2006/main" prst="roundRect">
            <a:avLst>
              <a:gd name="adj" fmla="val 23077"/>
            </a:avLst>
          </a:prstGeom>
          <a:solidFill xmlns:a="http://schemas.openxmlformats.org/drawingml/2006/main">
            <a:srgbClr val="F2F3F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D18CC5A-8D6C-4F73-BE1F-EE014C5696F4}"/>
              </a:ext>
            </a:extLst>
          </p:cNvPr>
          <p:cNvSpPr>
            <a:spLocks xmlns:a="http://schemas.openxmlformats.org/drawingml/2006/main" noGrp="1"/>
          </p:cNvSpPr>
          <p:nvPr/>
        </p:nvSpPr>
        <p:spPr>
          <a:xfrm xmlns:a="http://schemas.openxmlformats.org/drawingml/2006/main">
            <a:off x="590550" y="28956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Directed weighted graphs</a:t>
            </a:r>
          </a:p>
        </p:txBody>
      </p:sp>
      <p:sp>
        <p:nvSpPr>
          <p:cNvPr id="11" name="">
            <a:extLst xmlns:a="http://schemas.openxmlformats.org/drawingml/2006/main">
              <a:ext uri="{FF2B5EF4-FFF2-40B4-BE49-F238E27FC236}">
                <a16:creationId xmlns:a16="http://schemas.microsoft.com/office/drawing/2014/main" id="{B6B679FC-70F8-4657-B4F8-5E631059C223}"/>
              </a:ext>
            </a:extLst>
          </p:cNvPr>
          <p:cNvSpPr>
            <a:spLocks xmlns:a="http://schemas.openxmlformats.org/drawingml/2006/main" noGrp="1"/>
          </p:cNvSpPr>
          <p:nvPr/>
        </p:nvSpPr>
        <p:spPr>
          <a:xfrm xmlns:a="http://schemas.openxmlformats.org/drawingml/2006/main">
            <a:off x="400050" y="3429000"/>
            <a:ext cx="4762500" cy="495300"/>
          </a:xfrm>
          <a:prstGeom xmlns:a="http://schemas.openxmlformats.org/drawingml/2006/main" prst="roundRect">
            <a:avLst>
              <a:gd name="adj" fmla="val 23077"/>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C64F26F-C512-4E94-8233-D7C655DD241D}"/>
              </a:ext>
            </a:extLst>
          </p:cNvPr>
          <p:cNvSpPr>
            <a:spLocks xmlns:a="http://schemas.openxmlformats.org/drawingml/2006/main" noGrp="1"/>
          </p:cNvSpPr>
          <p:nvPr/>
        </p:nvSpPr>
        <p:spPr>
          <a:xfrm xmlns:a="http://schemas.openxmlformats.org/drawingml/2006/main">
            <a:off x="590550" y="35623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Sheaf-theoretic compatibility</a:t>
            </a:r>
          </a:p>
        </p:txBody>
      </p:sp>
      <p:sp>
        <p:nvSpPr>
          <p:cNvPr id="13" name="">
            <a:extLst xmlns:a="http://schemas.openxmlformats.org/drawingml/2006/main">
              <a:ext uri="{FF2B5EF4-FFF2-40B4-BE49-F238E27FC236}">
                <a16:creationId xmlns:a16="http://schemas.microsoft.com/office/drawing/2014/main" id="{621F2DC8-A29C-43B0-B96D-5489D24680F5}"/>
              </a:ext>
            </a:extLst>
          </p:cNvPr>
          <p:cNvSpPr>
            <a:spLocks xmlns:a="http://schemas.openxmlformats.org/drawingml/2006/main" noGrp="1"/>
          </p:cNvSpPr>
          <p:nvPr/>
        </p:nvSpPr>
        <p:spPr>
          <a:xfrm xmlns:a="http://schemas.openxmlformats.org/drawingml/2006/main">
            <a:off x="400050" y="4095750"/>
            <a:ext cx="4762500" cy="495300"/>
          </a:xfrm>
          <a:prstGeom xmlns:a="http://schemas.openxmlformats.org/drawingml/2006/main" prst="roundRect">
            <a:avLst>
              <a:gd name="adj" fmla="val 23077"/>
            </a:avLst>
          </a:prstGeom>
          <a:solidFill xmlns:a="http://schemas.openxmlformats.org/drawingml/2006/main">
            <a:srgbClr val="F2F3F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7F336FB-060B-4BD4-94DC-948DEADEF767}"/>
              </a:ext>
            </a:extLst>
          </p:cNvPr>
          <p:cNvSpPr>
            <a:spLocks xmlns:a="http://schemas.openxmlformats.org/drawingml/2006/main" noGrp="1"/>
          </p:cNvSpPr>
          <p:nvPr/>
        </p:nvSpPr>
        <p:spPr>
          <a:xfrm xmlns:a="http://schemas.openxmlformats.org/drawingml/2006/main">
            <a:off x="590550" y="42291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PHREEQC inverse modelling</a:t>
            </a:r>
          </a:p>
        </p:txBody>
      </p:sp>
      <p:sp>
        <p:nvSpPr>
          <p:cNvPr id="15" name="">
            <a:extLst xmlns:a="http://schemas.openxmlformats.org/drawingml/2006/main">
              <a:ext uri="{FF2B5EF4-FFF2-40B4-BE49-F238E27FC236}">
                <a16:creationId xmlns:a16="http://schemas.microsoft.com/office/drawing/2014/main" id="{E3BFD198-B836-4B3A-B122-77515BB96463}"/>
              </a:ext>
            </a:extLst>
          </p:cNvPr>
          <p:cNvSpPr>
            <a:spLocks xmlns:a="http://schemas.openxmlformats.org/drawingml/2006/main" noGrp="1"/>
          </p:cNvSpPr>
          <p:nvPr/>
        </p:nvSpPr>
        <p:spPr>
          <a:xfrm xmlns:a="http://schemas.openxmlformats.org/drawingml/2006/main">
            <a:off x="400050" y="4762500"/>
            <a:ext cx="4762500" cy="495300"/>
          </a:xfrm>
          <a:prstGeom xmlns:a="http://schemas.openxmlformats.org/drawingml/2006/main" prst="roundRect">
            <a:avLst>
              <a:gd name="adj" fmla="val 23077"/>
            </a:avLst>
          </a:prstGeom>
          <a:solidFill xmlns:a="http://schemas.openxmlformats.org/drawingml/2006/main">
            <a:srgbClr val="F2F3F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3F1CA82-46C0-442E-96EB-6A4A46C07B95}"/>
              </a:ext>
            </a:extLst>
          </p:cNvPr>
          <p:cNvSpPr>
            <a:spLocks xmlns:a="http://schemas.openxmlformats.org/drawingml/2006/main" noGrp="1"/>
          </p:cNvSpPr>
          <p:nvPr/>
        </p:nvSpPr>
        <p:spPr>
          <a:xfrm xmlns:a="http://schemas.openxmlformats.org/drawingml/2006/main">
            <a:off x="590550" y="4895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MODFLOW / MODPATH reference transport</a:t>
            </a:r>
          </a:p>
        </p:txBody>
      </p:sp>
      <p:sp>
        <p:nvSpPr>
          <p:cNvPr id="17" name="">
            <a:extLst xmlns:a="http://schemas.openxmlformats.org/drawingml/2006/main">
              <a:ext uri="{FF2B5EF4-FFF2-40B4-BE49-F238E27FC236}">
                <a16:creationId xmlns:a16="http://schemas.microsoft.com/office/drawing/2014/main" id="{38A1B160-88F6-4B1F-AA62-E3F4F5F6FDF9}"/>
              </a:ext>
            </a:extLst>
          </p:cNvPr>
          <p:cNvSpPr>
            <a:spLocks xmlns:a="http://schemas.openxmlformats.org/drawingml/2006/main" noGrp="1"/>
          </p:cNvSpPr>
          <p:nvPr/>
        </p:nvSpPr>
        <p:spPr>
          <a:xfrm xmlns:a="http://schemas.openxmlformats.org/drawingml/2006/main">
            <a:off x="6429375" y="16383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Thesis contributions</a:t>
            </a:r>
          </a:p>
        </p:txBody>
      </p:sp>
      <p:sp>
        <p:nvSpPr>
          <p:cNvPr id="18" name="">
            <a:extLst xmlns:a="http://schemas.openxmlformats.org/drawingml/2006/main">
              <a:ext uri="{FF2B5EF4-FFF2-40B4-BE49-F238E27FC236}">
                <a16:creationId xmlns:a16="http://schemas.microsoft.com/office/drawing/2014/main" id="{D65EA13C-2310-4BC4-B7F7-B71525839DA2}"/>
              </a:ext>
            </a:extLst>
          </p:cNvPr>
          <p:cNvSpPr>
            <a:spLocks xmlns:a="http://schemas.openxmlformats.org/drawingml/2006/main" noGrp="1"/>
          </p:cNvSpPr>
          <p:nvPr/>
        </p:nvSpPr>
        <p:spPr>
          <a:xfrm xmlns:a="http://schemas.openxmlformats.org/drawingml/2006/main">
            <a:off x="6429375" y="2095500"/>
            <a:ext cx="4762500" cy="495300"/>
          </a:xfrm>
          <a:prstGeom xmlns:a="http://schemas.openxmlformats.org/drawingml/2006/main" prst="roundRect">
            <a:avLst>
              <a:gd name="adj" fmla="val 23077"/>
            </a:avLst>
          </a:prstGeom>
          <a:solidFill xmlns:a="http://schemas.openxmlformats.org/drawingml/2006/main">
            <a:srgbClr val="E9F4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AFB0942-106E-4D05-BFAD-2F5A3C2440B4}"/>
              </a:ext>
            </a:extLst>
          </p:cNvPr>
          <p:cNvSpPr>
            <a:spLocks xmlns:a="http://schemas.openxmlformats.org/drawingml/2006/main" noGrp="1"/>
          </p:cNvSpPr>
          <p:nvPr/>
        </p:nvSpPr>
        <p:spPr>
          <a:xfrm xmlns:a="http://schemas.openxmlformats.org/drawingml/2006/main">
            <a:off x="6619875" y="2228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53A63"/>
                </a:solidFill>
                <a:latin typeface="Helvetica Neue"/>
                <a:ea typeface="Helvetica Neue"/>
                <a:cs typeface="Helvetica Neue"/>
              </a:defRPr>
            </a:pPr>
            <a:r>
              <a:rPr sz="1350" b="1">
                <a:solidFill>
                  <a:srgbClr val="153A63"/>
                </a:solidFill>
                <a:latin typeface="Helvetica Neue"/>
                <a:ea typeface="Helvetica Neue"/>
                <a:cs typeface="Helvetica Neue"/>
              </a:rPr>
              <a:t>Groundwater-specific executable coupling</a:t>
            </a:r>
          </a:p>
        </p:txBody>
      </p:sp>
      <p:sp>
        <p:nvSpPr>
          <p:cNvPr id="20" name="">
            <a:extLst xmlns:a="http://schemas.openxmlformats.org/drawingml/2006/main">
              <a:ext uri="{FF2B5EF4-FFF2-40B4-BE49-F238E27FC236}">
                <a16:creationId xmlns:a16="http://schemas.microsoft.com/office/drawing/2014/main" id="{131FCA5C-2423-403F-BCCA-DAF3A065C4D5}"/>
              </a:ext>
            </a:extLst>
          </p:cNvPr>
          <p:cNvSpPr>
            <a:spLocks xmlns:a="http://schemas.openxmlformats.org/drawingml/2006/main" noGrp="1"/>
          </p:cNvSpPr>
          <p:nvPr/>
        </p:nvSpPr>
        <p:spPr>
          <a:xfrm xmlns:a="http://schemas.openxmlformats.org/drawingml/2006/main">
            <a:off x="6429375" y="2762250"/>
            <a:ext cx="4762500" cy="495300"/>
          </a:xfrm>
          <a:prstGeom xmlns:a="http://schemas.openxmlformats.org/drawingml/2006/main" prst="roundRect">
            <a:avLst>
              <a:gd name="adj" fmla="val 23077"/>
            </a:avLst>
          </a:prstGeom>
          <a:solidFill xmlns:a="http://schemas.openxmlformats.org/drawingml/2006/main">
            <a:srgbClr val="E9F4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6DAA696-0D4F-4DBF-8AC3-814E5A1966F7}"/>
              </a:ext>
            </a:extLst>
          </p:cNvPr>
          <p:cNvSpPr>
            <a:spLocks xmlns:a="http://schemas.openxmlformats.org/drawingml/2006/main" noGrp="1"/>
          </p:cNvSpPr>
          <p:nvPr/>
        </p:nvSpPr>
        <p:spPr>
          <a:xfrm xmlns:a="http://schemas.openxmlformats.org/drawingml/2006/main">
            <a:off x="6619875" y="28956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53A63"/>
                </a:solidFill>
                <a:latin typeface="Helvetica Neue"/>
                <a:ea typeface="Helvetica Neue"/>
                <a:cs typeface="Helvetica Neue"/>
              </a:defRPr>
            </a:pPr>
            <a:r>
              <a:rPr sz="1350" b="1">
                <a:solidFill>
                  <a:srgbClr val="153A63"/>
                </a:solidFill>
                <a:latin typeface="Helvetica Neue"/>
                <a:ea typeface="Helvetica Neue"/>
                <a:cs typeface="Helvetica Neue"/>
              </a:rPr>
              <a:t>Uncertainty and identifiability as outputs</a:t>
            </a:r>
          </a:p>
        </p:txBody>
      </p:sp>
      <p:sp>
        <p:nvSpPr>
          <p:cNvPr id="22" name="">
            <a:extLst xmlns:a="http://schemas.openxmlformats.org/drawingml/2006/main">
              <a:ext uri="{FF2B5EF4-FFF2-40B4-BE49-F238E27FC236}">
                <a16:creationId xmlns:a16="http://schemas.microsoft.com/office/drawing/2014/main" id="{2343DE84-0D66-4D00-84AD-9598ACCCA283}"/>
              </a:ext>
            </a:extLst>
          </p:cNvPr>
          <p:cNvSpPr>
            <a:spLocks xmlns:a="http://schemas.openxmlformats.org/drawingml/2006/main" noGrp="1"/>
          </p:cNvSpPr>
          <p:nvPr/>
        </p:nvSpPr>
        <p:spPr>
          <a:xfrm xmlns:a="http://schemas.openxmlformats.org/drawingml/2006/main">
            <a:off x="6429375" y="3429000"/>
            <a:ext cx="4762500" cy="495300"/>
          </a:xfrm>
          <a:prstGeom xmlns:a="http://schemas.openxmlformats.org/drawingml/2006/main" prst="roundRect">
            <a:avLst>
              <a:gd name="adj" fmla="val 23077"/>
            </a:avLst>
          </a:prstGeom>
          <a:solidFill xmlns:a="http://schemas.openxmlformats.org/drawingml/2006/main">
            <a:srgbClr val="E9F4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A0E59DF-A4B8-47F7-A0FF-FAE4AF0C01E7}"/>
              </a:ext>
            </a:extLst>
          </p:cNvPr>
          <p:cNvSpPr>
            <a:spLocks xmlns:a="http://schemas.openxmlformats.org/drawingml/2006/main" noGrp="1"/>
          </p:cNvSpPr>
          <p:nvPr/>
        </p:nvSpPr>
        <p:spPr>
          <a:xfrm xmlns:a="http://schemas.openxmlformats.org/drawingml/2006/main">
            <a:off x="6619875" y="35623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53A63"/>
                </a:solidFill>
                <a:latin typeface="Helvetica Neue"/>
                <a:ea typeface="Helvetica Neue"/>
                <a:cs typeface="Helvetica Neue"/>
              </a:defRPr>
            </a:pPr>
            <a:r>
              <a:rPr sz="1350" b="1">
                <a:solidFill>
                  <a:srgbClr val="153A63"/>
                </a:solidFill>
                <a:latin typeface="Helvetica Neue"/>
                <a:ea typeface="Helvetica Neue"/>
                <a:cs typeface="Helvetica Neue"/>
              </a:rPr>
              <a:t>Adverse controls for false confidence</a:t>
            </a:r>
          </a:p>
        </p:txBody>
      </p:sp>
      <p:sp>
        <p:nvSpPr>
          <p:cNvPr id="24" name="">
            <a:extLst xmlns:a="http://schemas.openxmlformats.org/drawingml/2006/main">
              <a:ext uri="{FF2B5EF4-FFF2-40B4-BE49-F238E27FC236}">
                <a16:creationId xmlns:a16="http://schemas.microsoft.com/office/drawing/2014/main" id="{4D05EE7A-B25F-43E4-BFE8-E07712B396F7}"/>
              </a:ext>
            </a:extLst>
          </p:cNvPr>
          <p:cNvSpPr>
            <a:spLocks xmlns:a="http://schemas.openxmlformats.org/drawingml/2006/main" noGrp="1"/>
          </p:cNvSpPr>
          <p:nvPr/>
        </p:nvSpPr>
        <p:spPr>
          <a:xfrm xmlns:a="http://schemas.openxmlformats.org/drawingml/2006/main">
            <a:off x="6429375" y="4095750"/>
            <a:ext cx="4762500" cy="495300"/>
          </a:xfrm>
          <a:prstGeom xmlns:a="http://schemas.openxmlformats.org/drawingml/2006/main" prst="roundRect">
            <a:avLst>
              <a:gd name="adj" fmla="val 23077"/>
            </a:avLst>
          </a:prstGeom>
          <a:solidFill xmlns:a="http://schemas.openxmlformats.org/drawingml/2006/main">
            <a:srgbClr val="E9F4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711DC08-7FBF-4961-B96A-F1FEBC3B514A}"/>
              </a:ext>
            </a:extLst>
          </p:cNvPr>
          <p:cNvSpPr>
            <a:spLocks xmlns:a="http://schemas.openxmlformats.org/drawingml/2006/main" noGrp="1"/>
          </p:cNvSpPr>
          <p:nvPr/>
        </p:nvSpPr>
        <p:spPr>
          <a:xfrm xmlns:a="http://schemas.openxmlformats.org/drawingml/2006/main">
            <a:off x="6619875" y="42291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53A63"/>
                </a:solidFill>
                <a:latin typeface="Helvetica Neue"/>
                <a:ea typeface="Helvetica Neue"/>
                <a:cs typeface="Helvetica Neue"/>
              </a:defRPr>
            </a:pPr>
            <a:r>
              <a:rPr sz="1350" b="1">
                <a:solidFill>
                  <a:srgbClr val="153A63"/>
                </a:solidFill>
                <a:latin typeface="Helvetica Neue"/>
                <a:ea typeface="Helvetica Neue"/>
                <a:cs typeface="Helvetica Neue"/>
              </a:rPr>
              <a:t>Locked claim-decision protocols</a:t>
            </a:r>
          </a:p>
        </p:txBody>
      </p:sp>
      <p:sp>
        <p:nvSpPr>
          <p:cNvPr id="26" name="">
            <a:extLst xmlns:a="http://schemas.openxmlformats.org/drawingml/2006/main">
              <a:ext uri="{FF2B5EF4-FFF2-40B4-BE49-F238E27FC236}">
                <a16:creationId xmlns:a16="http://schemas.microsoft.com/office/drawing/2014/main" id="{EF628199-682D-4DB5-86CF-C59348164357}"/>
              </a:ext>
            </a:extLst>
          </p:cNvPr>
          <p:cNvSpPr>
            <a:spLocks xmlns:a="http://schemas.openxmlformats.org/drawingml/2006/main" noGrp="1"/>
          </p:cNvSpPr>
          <p:nvPr/>
        </p:nvSpPr>
        <p:spPr>
          <a:xfrm xmlns:a="http://schemas.openxmlformats.org/drawingml/2006/main">
            <a:off x="6429375" y="4762500"/>
            <a:ext cx="4762500" cy="495300"/>
          </a:xfrm>
          <a:prstGeom xmlns:a="http://schemas.openxmlformats.org/drawingml/2006/main" prst="roundRect">
            <a:avLst>
              <a:gd name="adj" fmla="val 23077"/>
            </a:avLst>
          </a:prstGeom>
          <a:solidFill xmlns:a="http://schemas.openxmlformats.org/drawingml/2006/main">
            <a:srgbClr val="E9F4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DF614CD-2BBB-4D87-BAAF-F81722D7F087}"/>
              </a:ext>
            </a:extLst>
          </p:cNvPr>
          <p:cNvSpPr>
            <a:spLocks xmlns:a="http://schemas.openxmlformats.org/drawingml/2006/main" noGrp="1"/>
          </p:cNvSpPr>
          <p:nvPr/>
        </p:nvSpPr>
        <p:spPr>
          <a:xfrm xmlns:a="http://schemas.openxmlformats.org/drawingml/2006/main">
            <a:off x="6619875" y="4895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53A63"/>
                </a:solidFill>
                <a:latin typeface="Helvetica Neue"/>
                <a:ea typeface="Helvetica Neue"/>
                <a:cs typeface="Helvetica Neue"/>
              </a:defRPr>
            </a:pPr>
            <a:r>
              <a:rPr sz="1350" b="1">
                <a:solidFill>
                  <a:srgbClr val="153A63"/>
                </a:solidFill>
                <a:latin typeface="Helvetica Neue"/>
                <a:ea typeface="Helvetica Neue"/>
                <a:cs typeface="Helvetica Neue"/>
              </a:rPr>
              <a:t>Field evidence-ceiling diagnostics</a:t>
            </a:r>
          </a:p>
        </p:txBody>
      </p:sp>
    </p:spTree>
    <p:extLst>
      <p:ext uri="{BB962C8B-B14F-4D97-AF65-F5344CB8AC3E}">
        <p14:creationId xmlns:p14="http://schemas.microsoft.com/office/powerpoint/2010/main" val="384021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F7F45A7-0843-4543-9298-BA7BE0F31AB8}"/>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MECHANISM</a:t>
            </a:r>
          </a:p>
        </p:txBody>
      </p:sp>
      <p:sp>
        <p:nvSpPr>
          <p:cNvPr id="2" name="">
            <a:extLst xmlns:a="http://schemas.openxmlformats.org/drawingml/2006/main">
              <a:ext uri="{FF2B5EF4-FFF2-40B4-BE49-F238E27FC236}">
                <a16:creationId xmlns:a16="http://schemas.microsoft.com/office/drawing/2014/main" id="{68A8A408-5669-4D56-8FE5-FA2BD4059480}"/>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A sheaf represents how evidence changes across an edge</a:t>
            </a:r>
          </a:p>
        </p:txBody>
      </p:sp>
      <p:sp>
        <p:nvSpPr>
          <p:cNvPr id="3" name="">
            <a:extLst xmlns:a="http://schemas.openxmlformats.org/drawingml/2006/main">
              <a:ext uri="{FF2B5EF4-FFF2-40B4-BE49-F238E27FC236}">
                <a16:creationId xmlns:a16="http://schemas.microsoft.com/office/drawing/2014/main" id="{DF1AD75D-BEEA-4BF1-8B5B-53EA8B1473F5}"/>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61CB139-BD0B-433A-9561-09AC73CA71D6}"/>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Method</a:t>
            </a:r>
          </a:p>
        </p:txBody>
      </p:sp>
      <p:sp>
        <p:nvSpPr>
          <p:cNvPr id="5" name="">
            <a:extLst xmlns:a="http://schemas.openxmlformats.org/drawingml/2006/main">
              <a:ext uri="{FF2B5EF4-FFF2-40B4-BE49-F238E27FC236}">
                <a16:creationId xmlns:a16="http://schemas.microsoft.com/office/drawing/2014/main" id="{8EFD7C7C-1B75-4BBD-B098-A0D1256ACE6F}"/>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9A9E9516-7048-4E32-BE83-6F1ABDF7EB9D}"/>
              </a:ext>
            </a:extLst>
          </p:cNvPr>
          <p:cNvSpPr>
            <a:spLocks xmlns:a="http://schemas.openxmlformats.org/drawingml/2006/main" noGrp="1"/>
          </p:cNvSpPr>
          <p:nvPr/>
        </p:nvSpPr>
        <p:spPr>
          <a:xfrm xmlns:a="http://schemas.openxmlformats.org/drawingml/2006/main">
            <a:off x="400050" y="1581150"/>
            <a:ext cx="5048250" cy="4095750"/>
          </a:xfrm>
          <a:prstGeom xmlns:a="http://schemas.openxmlformats.org/drawingml/2006/main" prst="roundRect">
            <a:avLst>
              <a:gd name="adj" fmla="val 2791"/>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88A7C96-FEDC-463C-BE81-5B95C31F18EE}"/>
              </a:ext>
            </a:extLst>
          </p:cNvPr>
          <p:cNvSpPr>
            <a:spLocks xmlns:a="http://schemas.openxmlformats.org/drawingml/2006/main" noGrp="1"/>
          </p:cNvSpPr>
          <p:nvPr/>
        </p:nvSpPr>
        <p:spPr>
          <a:xfrm xmlns:a="http://schemas.openxmlformats.org/drawingml/2006/main">
            <a:off x="685800" y="18478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Weighted graph</a:t>
            </a:r>
          </a:p>
        </p:txBody>
      </p:sp>
      <p:sp>
        <p:nvSpPr>
          <p:cNvPr id="8" name="">
            <a:extLst xmlns:a="http://schemas.openxmlformats.org/drawingml/2006/main">
              <a:ext uri="{FF2B5EF4-FFF2-40B4-BE49-F238E27FC236}">
                <a16:creationId xmlns:a16="http://schemas.microsoft.com/office/drawing/2014/main" id="{94E9C9F3-C15C-4C27-A747-F6D53534FFD8}"/>
              </a:ext>
            </a:extLst>
          </p:cNvPr>
          <p:cNvSpPr>
            <a:spLocks xmlns:a="http://schemas.openxmlformats.org/drawingml/2006/main" noGrp="1"/>
          </p:cNvSpPr>
          <p:nvPr/>
        </p:nvSpPr>
        <p:spPr>
          <a:xfrm xmlns:a="http://schemas.openxmlformats.org/drawingml/2006/main">
            <a:off x="857250" y="2990850"/>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NODE A</a:t>
            </a:r>
          </a:p>
        </p:txBody>
      </p:sp>
      <p:sp>
        <p:nvSpPr>
          <p:cNvPr id="9" name="">
            <a:extLst xmlns:a="http://schemas.openxmlformats.org/drawingml/2006/main">
              <a:ext uri="{FF2B5EF4-FFF2-40B4-BE49-F238E27FC236}">
                <a16:creationId xmlns:a16="http://schemas.microsoft.com/office/drawing/2014/main" id="{2913BAB6-1CC6-4293-B460-266D77CD40F5}"/>
              </a:ext>
            </a:extLst>
          </p:cNvPr>
          <p:cNvSpPr>
            <a:spLocks xmlns:a="http://schemas.openxmlformats.org/drawingml/2006/main" noGrp="1"/>
          </p:cNvSpPr>
          <p:nvPr/>
        </p:nvSpPr>
        <p:spPr>
          <a:xfrm xmlns:a="http://schemas.openxmlformats.org/drawingml/2006/main">
            <a:off x="3667125" y="2990850"/>
            <a:ext cx="1381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NODE B</a:t>
            </a:r>
          </a:p>
        </p:txBody>
      </p:sp>
      <p:sp>
        <p:nvSpPr>
          <p:cNvPr id="10" name="">
            <a:extLst xmlns:a="http://schemas.openxmlformats.org/drawingml/2006/main">
              <a:ext uri="{FF2B5EF4-FFF2-40B4-BE49-F238E27FC236}">
                <a16:creationId xmlns:a16="http://schemas.microsoft.com/office/drawing/2014/main" id="{A3373706-E6BD-4B9C-8028-6FE1C8F67E41}"/>
              </a:ext>
            </a:extLst>
          </p:cNvPr>
          <p:cNvSpPr>
            <a:spLocks xmlns:a="http://schemas.openxmlformats.org/drawingml/2006/main" noGrp="1"/>
          </p:cNvSpPr>
          <p:nvPr/>
        </p:nvSpPr>
        <p:spPr>
          <a:xfrm xmlns:a="http://schemas.openxmlformats.org/drawingml/2006/main">
            <a:off x="876300" y="2609850"/>
            <a:ext cx="133350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C6634C77-98FA-40E5-9234-1253F94F8620}"/>
              </a:ext>
            </a:extLst>
          </p:cNvPr>
          <p:cNvSpPr>
            <a:spLocks xmlns:a="http://schemas.openxmlformats.org/drawingml/2006/main" noGrp="1"/>
          </p:cNvSpPr>
          <p:nvPr/>
        </p:nvSpPr>
        <p:spPr>
          <a:xfrm xmlns:a="http://schemas.openxmlformats.org/drawingml/2006/main">
            <a:off x="3686175" y="2609850"/>
            <a:ext cx="133350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C14F5DB0-CA3F-45F3-9A27-69BE0CD55271}"/>
              </a:ext>
            </a:extLst>
          </p:cNvPr>
          <p:cNvSpPr>
            <a:spLocks xmlns:a="http://schemas.openxmlformats.org/drawingml/2006/main" noGrp="1"/>
          </p:cNvSpPr>
          <p:nvPr/>
        </p:nvSpPr>
        <p:spPr>
          <a:xfrm xmlns:a="http://schemas.openxmlformats.org/drawingml/2006/main">
            <a:off x="2247900" y="30289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49A84"/>
                </a:solidFill>
                <a:latin typeface="Helvetica Neue"/>
                <a:ea typeface="Helvetica Neue"/>
                <a:cs typeface="Helvetica Neue"/>
              </a:defRPr>
            </a:pPr>
            <a:r>
              <a:rPr sz="1800" b="1">
                <a:solidFill>
                  <a:srgbClr val="149A84"/>
                </a:solidFill>
                <a:latin typeface="Helvetica Neue"/>
                <a:ea typeface="Helvetica Neue"/>
                <a:cs typeface="Helvetica Neue"/>
              </a:rPr>
              <a:t>——  w  ——</a:t>
            </a:r>
          </a:p>
        </p:txBody>
      </p:sp>
      <p:sp>
        <p:nvSpPr>
          <p:cNvPr id="13" name="">
            <a:extLst xmlns:a="http://schemas.openxmlformats.org/drawingml/2006/main">
              <a:ext uri="{FF2B5EF4-FFF2-40B4-BE49-F238E27FC236}">
                <a16:creationId xmlns:a16="http://schemas.microsoft.com/office/drawing/2014/main" id="{05B4EB5C-2EED-4509-990A-C8D6248099E0}"/>
              </a:ext>
            </a:extLst>
          </p:cNvPr>
          <p:cNvSpPr>
            <a:spLocks xmlns:a="http://schemas.openxmlformats.org/drawingml/2006/main" noGrp="1"/>
          </p:cNvSpPr>
          <p:nvPr/>
        </p:nvSpPr>
        <p:spPr>
          <a:xfrm xmlns:a="http://schemas.openxmlformats.org/drawingml/2006/main">
            <a:off x="800100" y="4333875"/>
            <a:ext cx="4238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318"/>
                </a:solidFill>
                <a:latin typeface="Helvetica Neue"/>
                <a:ea typeface="Helvetica Neue"/>
                <a:cs typeface="Helvetica Neue"/>
              </a:defRPr>
            </a:pPr>
            <a:r>
              <a:rPr sz="1650" b="0">
                <a:solidFill>
                  <a:srgbClr val="111318"/>
                </a:solidFill>
                <a:latin typeface="Helvetica Neue"/>
                <a:ea typeface="Helvetica Neue"/>
                <a:cs typeface="Helvetica Neue"/>
              </a:rPr>
              <a:t>One scalar edge weight says how strongly nodes are related.</a:t>
            </a:r>
          </a:p>
        </p:txBody>
      </p:sp>
      <p:sp>
        <p:nvSpPr>
          <p:cNvPr id="14" name="">
            <a:extLst xmlns:a="http://schemas.openxmlformats.org/drawingml/2006/main">
              <a:ext uri="{FF2B5EF4-FFF2-40B4-BE49-F238E27FC236}">
                <a16:creationId xmlns:a16="http://schemas.microsoft.com/office/drawing/2014/main" id="{329437F0-BFFF-418C-8643-4A50E056B554}"/>
              </a:ext>
            </a:extLst>
          </p:cNvPr>
          <p:cNvSpPr>
            <a:spLocks xmlns:a="http://schemas.openxmlformats.org/drawingml/2006/main" noGrp="1"/>
          </p:cNvSpPr>
          <p:nvPr/>
        </p:nvSpPr>
        <p:spPr>
          <a:xfrm xmlns:a="http://schemas.openxmlformats.org/drawingml/2006/main">
            <a:off x="5905500" y="1581150"/>
            <a:ext cx="5886450" cy="4095750"/>
          </a:xfrm>
          <a:prstGeom xmlns:a="http://schemas.openxmlformats.org/drawingml/2006/main" prst="roundRect">
            <a:avLst>
              <a:gd name="adj" fmla="val 2791"/>
            </a:avLst>
          </a:prstGeom>
          <a:solidFill xmlns:a="http://schemas.openxmlformats.org/drawingml/2006/main">
            <a:srgbClr val="E9F4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1AC243B-C877-4F44-A296-9557431B4E30}"/>
              </a:ext>
            </a:extLst>
          </p:cNvPr>
          <p:cNvSpPr>
            <a:spLocks xmlns:a="http://schemas.openxmlformats.org/drawingml/2006/main" noGrp="1"/>
          </p:cNvSpPr>
          <p:nvPr/>
        </p:nvSpPr>
        <p:spPr>
          <a:xfrm xmlns:a="http://schemas.openxmlformats.org/drawingml/2006/main">
            <a:off x="6191250" y="1847850"/>
            <a:ext cx="531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53A63"/>
                </a:solidFill>
                <a:latin typeface="Helvetica Neue"/>
                <a:ea typeface="Helvetica Neue"/>
                <a:cs typeface="Helvetica Neue"/>
              </a:defRPr>
            </a:pPr>
            <a:r>
              <a:rPr sz="1875" b="1">
                <a:solidFill>
                  <a:srgbClr val="153A63"/>
                </a:solidFill>
                <a:latin typeface="Helvetica Neue"/>
                <a:ea typeface="Helvetica Neue"/>
                <a:cs typeface="Helvetica Neue"/>
              </a:rPr>
              <a:t>Affine sheaf</a:t>
            </a:r>
          </a:p>
        </p:txBody>
      </p:sp>
      <p:sp>
        <p:nvSpPr>
          <p:cNvPr id="16" name="">
            <a:extLst xmlns:a="http://schemas.openxmlformats.org/drawingml/2006/main">
              <a:ext uri="{FF2B5EF4-FFF2-40B4-BE49-F238E27FC236}">
                <a16:creationId xmlns:a16="http://schemas.microsoft.com/office/drawing/2014/main" id="{915A41E9-A4AE-4389-AFF6-7987CC1EC0A3}"/>
              </a:ext>
            </a:extLst>
          </p:cNvPr>
          <p:cNvSpPr>
            <a:spLocks xmlns:a="http://schemas.openxmlformats.org/drawingml/2006/main" noGrp="1"/>
          </p:cNvSpPr>
          <p:nvPr/>
        </p:nvSpPr>
        <p:spPr>
          <a:xfrm xmlns:a="http://schemas.openxmlformats.org/drawingml/2006/main">
            <a:off x="6429375" y="2238375"/>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Scalar-affine benchmark evidence</a:t>
            </a:r>
          </a:p>
        </p:txBody>
      </p:sp>
      <p:sp>
        <p:nvSpPr>
          <p:cNvPr id="17" name="">
            <a:extLst xmlns:a="http://schemas.openxmlformats.org/drawingml/2006/main">
              <a:ext uri="{FF2B5EF4-FFF2-40B4-BE49-F238E27FC236}">
                <a16:creationId xmlns:a16="http://schemas.microsoft.com/office/drawing/2014/main" id="{52AD701F-6892-4506-B3AF-A6C18A80FADE}"/>
              </a:ext>
            </a:extLst>
          </p:cNvPr>
          <p:cNvSpPr>
            <a:spLocks xmlns:a="http://schemas.openxmlformats.org/drawingml/2006/main" noGrp="1"/>
          </p:cNvSpPr>
          <p:nvPr/>
        </p:nvSpPr>
        <p:spPr>
          <a:xfrm xmlns:a="http://schemas.openxmlformats.org/drawingml/2006/main">
            <a:off x="6429375" y="2695575"/>
            <a:ext cx="1476375"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3D8DFF"/>
            </a:solidFill>
            <a:prstDash val="solid"/>
          </a:ln>
        </p:spPr>
      </p:sp>
      <p:sp>
        <p:nvSpPr>
          <p:cNvPr id="18" name="">
            <a:extLst xmlns:a="http://schemas.openxmlformats.org/drawingml/2006/main">
              <a:ext uri="{FF2B5EF4-FFF2-40B4-BE49-F238E27FC236}">
                <a16:creationId xmlns:a16="http://schemas.microsoft.com/office/drawing/2014/main" id="{89684261-FB8C-4233-AC72-5890B3BE2D09}"/>
              </a:ext>
            </a:extLst>
          </p:cNvPr>
          <p:cNvSpPr>
            <a:spLocks xmlns:a="http://schemas.openxmlformats.org/drawingml/2006/main" noGrp="1"/>
          </p:cNvSpPr>
          <p:nvPr/>
        </p:nvSpPr>
        <p:spPr>
          <a:xfrm xmlns:a="http://schemas.openxmlformats.org/drawingml/2006/main">
            <a:off x="9744075" y="2695575"/>
            <a:ext cx="1476375"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3D8DFF"/>
            </a:solidFill>
            <a:prstDash val="solid"/>
          </a:ln>
        </p:spPr>
      </p:sp>
      <p:sp>
        <p:nvSpPr>
          <p:cNvPr id="19" name="">
            <a:extLst xmlns:a="http://schemas.openxmlformats.org/drawingml/2006/main">
              <a:ext uri="{FF2B5EF4-FFF2-40B4-BE49-F238E27FC236}">
                <a16:creationId xmlns:a16="http://schemas.microsoft.com/office/drawing/2014/main" id="{8AC4AF9F-5D21-4D7D-BD80-9C2CB61F53B5}"/>
              </a:ext>
            </a:extLst>
          </p:cNvPr>
          <p:cNvSpPr>
            <a:spLocks xmlns:a="http://schemas.openxmlformats.org/drawingml/2006/main" noGrp="1"/>
          </p:cNvSpPr>
          <p:nvPr/>
        </p:nvSpPr>
        <p:spPr>
          <a:xfrm xmlns:a="http://schemas.openxmlformats.org/drawingml/2006/main">
            <a:off x="6534150" y="2981325"/>
            <a:ext cx="1266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111318"/>
                </a:solidFill>
                <a:latin typeface="Helvetica Neue"/>
                <a:ea typeface="Helvetica Neue"/>
                <a:cs typeface="Helvetica Neue"/>
              </a:defRPr>
            </a:pPr>
            <a:r>
              <a:rPr sz="2175" b="1">
                <a:solidFill>
                  <a:srgbClr val="111318"/>
                </a:solidFill>
                <a:latin typeface="Helvetica Neue"/>
                <a:ea typeface="Helvetica Neue"/>
                <a:cs typeface="Helvetica Neue"/>
              </a:rPr>
              <a:t>xᵤ</a:t>
            </a:r>
          </a:p>
        </p:txBody>
      </p:sp>
      <p:sp>
        <p:nvSpPr>
          <p:cNvPr id="20" name="">
            <a:extLst xmlns:a="http://schemas.openxmlformats.org/drawingml/2006/main">
              <a:ext uri="{FF2B5EF4-FFF2-40B4-BE49-F238E27FC236}">
                <a16:creationId xmlns:a16="http://schemas.microsoft.com/office/drawing/2014/main" id="{B3A4815F-8B6D-4C66-96CD-D9E71F193DB2}"/>
              </a:ext>
            </a:extLst>
          </p:cNvPr>
          <p:cNvSpPr>
            <a:spLocks xmlns:a="http://schemas.openxmlformats.org/drawingml/2006/main" noGrp="1"/>
          </p:cNvSpPr>
          <p:nvPr/>
        </p:nvSpPr>
        <p:spPr>
          <a:xfrm xmlns:a="http://schemas.openxmlformats.org/drawingml/2006/main">
            <a:off x="9848850" y="2981325"/>
            <a:ext cx="1266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75" b="1">
                <a:solidFill>
                  <a:srgbClr val="111318"/>
                </a:solidFill>
                <a:latin typeface="Helvetica Neue"/>
                <a:ea typeface="Helvetica Neue"/>
                <a:cs typeface="Helvetica Neue"/>
              </a:defRPr>
            </a:pPr>
            <a:r>
              <a:rPr sz="2175" b="1">
                <a:solidFill>
                  <a:srgbClr val="111318"/>
                </a:solidFill>
                <a:latin typeface="Helvetica Neue"/>
                <a:ea typeface="Helvetica Neue"/>
                <a:cs typeface="Helvetica Neue"/>
              </a:rPr>
              <a:t>xᵥ</a:t>
            </a:r>
          </a:p>
        </p:txBody>
      </p:sp>
      <p:sp>
        <p:nvSpPr>
          <p:cNvPr id="21" name="">
            <a:extLst xmlns:a="http://schemas.openxmlformats.org/drawingml/2006/main">
              <a:ext uri="{FF2B5EF4-FFF2-40B4-BE49-F238E27FC236}">
                <a16:creationId xmlns:a16="http://schemas.microsoft.com/office/drawing/2014/main" id="{BEFA8868-B41A-44CA-A434-300C76B23307}"/>
              </a:ext>
            </a:extLst>
          </p:cNvPr>
          <p:cNvSpPr>
            <a:spLocks xmlns:a="http://schemas.openxmlformats.org/drawingml/2006/main" noGrp="1"/>
          </p:cNvSpPr>
          <p:nvPr/>
        </p:nvSpPr>
        <p:spPr>
          <a:xfrm xmlns:a="http://schemas.openxmlformats.org/drawingml/2006/main">
            <a:off x="7981950" y="3019425"/>
            <a:ext cx="169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3D8DFF"/>
                </a:solidFill>
                <a:latin typeface="Helvetica Neue"/>
                <a:ea typeface="Helvetica Neue"/>
                <a:cs typeface="Helvetica Neue"/>
              </a:defRPr>
            </a:pPr>
            <a:r>
              <a:rPr sz="1725" b="1">
                <a:solidFill>
                  <a:srgbClr val="3D8DFF"/>
                </a:solidFill>
                <a:latin typeface="Helvetica Neue"/>
                <a:ea typeface="Helvetica Neue"/>
                <a:cs typeface="Helvetica Neue"/>
              </a:rPr>
              <a:t>xᵥ ≈ αₑxᵤ + bₑ</a:t>
            </a:r>
          </a:p>
        </p:txBody>
      </p:sp>
      <p:sp>
        <p:nvSpPr>
          <p:cNvPr id="22" name="">
            <a:extLst xmlns:a="http://schemas.openxmlformats.org/drawingml/2006/main">
              <a:ext uri="{FF2B5EF4-FFF2-40B4-BE49-F238E27FC236}">
                <a16:creationId xmlns:a16="http://schemas.microsoft.com/office/drawing/2014/main" id="{1E262780-02ED-4BFC-8B4D-C0F00F8F9716}"/>
              </a:ext>
            </a:extLst>
          </p:cNvPr>
          <p:cNvSpPr>
            <a:spLocks xmlns:a="http://schemas.openxmlformats.org/drawingml/2006/main" noGrp="1"/>
          </p:cNvSpPr>
          <p:nvPr/>
        </p:nvSpPr>
        <p:spPr>
          <a:xfrm xmlns:a="http://schemas.openxmlformats.org/drawingml/2006/main">
            <a:off x="6429375" y="4095750"/>
            <a:ext cx="4838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53A63"/>
                </a:solidFill>
                <a:latin typeface="Helvetica Neue"/>
                <a:ea typeface="Helvetica Neue"/>
                <a:cs typeface="Helvetica Neue"/>
              </a:defRPr>
            </a:pPr>
            <a:r>
              <a:rPr sz="1650" b="1">
                <a:solidFill>
                  <a:srgbClr val="153A63"/>
                </a:solidFill>
                <a:latin typeface="Helvetica Neue"/>
                <a:ea typeface="Helvetica Neue"/>
                <a:cs typeface="Helvetica Neue"/>
              </a:rPr>
              <a:t>Edge-specific gain and offset; global inconsistency localises conflict.</a:t>
            </a:r>
          </a:p>
        </p:txBody>
      </p:sp>
      <p:sp>
        <p:nvSpPr>
          <p:cNvPr id="23" name="">
            <a:extLst xmlns:a="http://schemas.openxmlformats.org/drawingml/2006/main">
              <a:ext uri="{FF2B5EF4-FFF2-40B4-BE49-F238E27FC236}">
                <a16:creationId xmlns:a16="http://schemas.microsoft.com/office/drawing/2014/main" id="{6A385BB3-25DC-4288-9DE9-EBB3160391D3}"/>
              </a:ext>
            </a:extLst>
          </p:cNvPr>
          <p:cNvSpPr>
            <a:spLocks xmlns:a="http://schemas.openxmlformats.org/drawingml/2006/main" noGrp="1"/>
          </p:cNvSpPr>
          <p:nvPr/>
        </p:nvSpPr>
        <p:spPr>
          <a:xfrm xmlns:a="http://schemas.openxmlformats.org/drawingml/2006/main">
            <a:off x="6429375" y="4867275"/>
            <a:ext cx="4838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C53030"/>
                </a:solidFill>
                <a:latin typeface="Helvetica Neue"/>
                <a:ea typeface="Helvetica Neue"/>
                <a:cs typeface="Helvetica Neue"/>
              </a:defRPr>
            </a:pPr>
            <a:r>
              <a:rPr sz="1275" b="1">
                <a:solidFill>
                  <a:srgbClr val="C53030"/>
                </a:solidFill>
                <a:latin typeface="Helvetica Neue"/>
                <a:ea typeface="Helvetica Neue"/>
                <a:cs typeface="Helvetica Neue"/>
              </a:rPr>
              <a:t>Multivariate vector-stalk performance remains unvalidated.</a:t>
            </a:r>
          </a:p>
        </p:txBody>
      </p:sp>
    </p:spTree>
    <p:extLst>
      <p:ext uri="{BB962C8B-B14F-4D97-AF65-F5344CB8AC3E}">
        <p14:creationId xmlns:p14="http://schemas.microsoft.com/office/powerpoint/2010/main" val="2012843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93728CC-0B12-48AE-AF0F-C4E0EC7B79D8}"/>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LOCKED EVALUATION</a:t>
            </a:r>
          </a:p>
        </p:txBody>
      </p:sp>
      <p:sp>
        <p:nvSpPr>
          <p:cNvPr id="2" name="">
            <a:extLst xmlns:a="http://schemas.openxmlformats.org/drawingml/2006/main">
              <a:ext uri="{FF2B5EF4-FFF2-40B4-BE49-F238E27FC236}">
                <a16:creationId xmlns:a16="http://schemas.microsoft.com/office/drawing/2014/main" id="{805FBDF5-3F3E-4796-851B-B285F844F67C}"/>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Claims were matched to an evidence ladder</a:t>
            </a:r>
          </a:p>
        </p:txBody>
      </p:sp>
      <p:sp>
        <p:nvSpPr>
          <p:cNvPr id="3" name="">
            <a:extLst xmlns:a="http://schemas.openxmlformats.org/drawingml/2006/main">
              <a:ext uri="{FF2B5EF4-FFF2-40B4-BE49-F238E27FC236}">
                <a16:creationId xmlns:a16="http://schemas.microsoft.com/office/drawing/2014/main" id="{72257838-B4BC-42F1-A9C3-63AFD04952A8}"/>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D45FB75-A0B5-4D38-9D20-FF0626B2A5C5}"/>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Validation</a:t>
            </a:r>
          </a:p>
        </p:txBody>
      </p:sp>
      <p:sp>
        <p:nvSpPr>
          <p:cNvPr id="5" name="">
            <a:extLst xmlns:a="http://schemas.openxmlformats.org/drawingml/2006/main">
              <a:ext uri="{FF2B5EF4-FFF2-40B4-BE49-F238E27FC236}">
                <a16:creationId xmlns:a16="http://schemas.microsoft.com/office/drawing/2014/main" id="{16623268-71B1-40D0-9ECF-242375F45427}"/>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91FEBFBD-7F26-4184-B53D-630F0B83EF16}"/>
              </a:ext>
            </a:extLst>
          </p:cNvPr>
          <p:cNvSpPr>
            <a:spLocks xmlns:a="http://schemas.openxmlformats.org/drawingml/2006/main" noGrp="1"/>
          </p:cNvSpPr>
          <p:nvPr/>
        </p:nvSpPr>
        <p:spPr>
          <a:xfrm xmlns:a="http://schemas.openxmlformats.org/drawingml/2006/main">
            <a:off x="400050" y="146685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B19D377-46EE-42C0-BEAB-87EFF034D475}"/>
              </a:ext>
            </a:extLst>
          </p:cNvPr>
          <p:cNvSpPr>
            <a:spLocks xmlns:a="http://schemas.openxmlformats.org/drawingml/2006/main" noGrp="1"/>
          </p:cNvSpPr>
          <p:nvPr/>
        </p:nvSpPr>
        <p:spPr>
          <a:xfrm xmlns:a="http://schemas.openxmlformats.org/drawingml/2006/main">
            <a:off x="552450" y="16097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5D6470"/>
                </a:solidFill>
                <a:latin typeface="Helvetica Neue"/>
                <a:ea typeface="Helvetica Neue"/>
                <a:cs typeface="Helvetica Neue"/>
              </a:defRPr>
            </a:pPr>
            <a:r>
              <a:rPr sz="2025" b="1">
                <a:solidFill>
                  <a:srgbClr val="5D6470"/>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A8E471EE-D4A8-48CF-B4F0-228D977FD660}"/>
              </a:ext>
            </a:extLst>
          </p:cNvPr>
          <p:cNvSpPr>
            <a:spLocks xmlns:a="http://schemas.openxmlformats.org/drawingml/2006/main" noGrp="1"/>
          </p:cNvSpPr>
          <p:nvPr/>
        </p:nvSpPr>
        <p:spPr>
          <a:xfrm xmlns:a="http://schemas.openxmlformats.org/drawingml/2006/main">
            <a:off x="1209675" y="159067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Unit and conversion verification</a:t>
            </a:r>
          </a:p>
        </p:txBody>
      </p:sp>
      <p:sp>
        <p:nvSpPr>
          <p:cNvPr id="9" name="">
            <a:extLst xmlns:a="http://schemas.openxmlformats.org/drawingml/2006/main">
              <a:ext uri="{FF2B5EF4-FFF2-40B4-BE49-F238E27FC236}">
                <a16:creationId xmlns:a16="http://schemas.microsoft.com/office/drawing/2014/main" id="{C81A7591-2EB4-4E21-BF6A-0D455E4A0552}"/>
              </a:ext>
            </a:extLst>
          </p:cNvPr>
          <p:cNvSpPr>
            <a:spLocks xmlns:a="http://schemas.openxmlformats.org/drawingml/2006/main" noGrp="1"/>
          </p:cNvSpPr>
          <p:nvPr/>
        </p:nvSpPr>
        <p:spPr>
          <a:xfrm xmlns:a="http://schemas.openxmlformats.org/drawingml/2006/main">
            <a:off x="5095875" y="1609725"/>
            <a:ext cx="638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Does the implementation reproduce its declared input?</a:t>
            </a:r>
          </a:p>
        </p:txBody>
      </p:sp>
      <p:sp>
        <p:nvSpPr>
          <p:cNvPr id="10" name="">
            <a:extLst xmlns:a="http://schemas.openxmlformats.org/drawingml/2006/main">
              <a:ext uri="{FF2B5EF4-FFF2-40B4-BE49-F238E27FC236}">
                <a16:creationId xmlns:a16="http://schemas.microsoft.com/office/drawing/2014/main" id="{30032952-8940-4244-9795-63CCB09BE172}"/>
              </a:ext>
            </a:extLst>
          </p:cNvPr>
          <p:cNvSpPr>
            <a:spLocks xmlns:a="http://schemas.openxmlformats.org/drawingml/2006/main" noGrp="1"/>
          </p:cNvSpPr>
          <p:nvPr/>
        </p:nvSpPr>
        <p:spPr>
          <a:xfrm xmlns:a="http://schemas.openxmlformats.org/drawingml/2006/main">
            <a:off x="400050" y="234315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8EFF886-5858-46D3-9736-04EFF7AA2FEC}"/>
              </a:ext>
            </a:extLst>
          </p:cNvPr>
          <p:cNvSpPr>
            <a:spLocks xmlns:a="http://schemas.openxmlformats.org/drawingml/2006/main" noGrp="1"/>
          </p:cNvSpPr>
          <p:nvPr/>
        </p:nvSpPr>
        <p:spPr>
          <a:xfrm xmlns:a="http://schemas.openxmlformats.org/drawingml/2006/main">
            <a:off x="552450" y="24860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3D8DFF"/>
                </a:solidFill>
                <a:latin typeface="Helvetica Neue"/>
                <a:ea typeface="Helvetica Neue"/>
                <a:cs typeface="Helvetica Neue"/>
              </a:defRPr>
            </a:pPr>
            <a:r>
              <a:rPr sz="2025" b="1">
                <a:solidFill>
                  <a:srgbClr val="3D8DFF"/>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335E0C2D-BDC9-436F-9013-9B53103E53B2}"/>
              </a:ext>
            </a:extLst>
          </p:cNvPr>
          <p:cNvSpPr>
            <a:spLocks xmlns:a="http://schemas.openxmlformats.org/drawingml/2006/main" noGrp="1"/>
          </p:cNvSpPr>
          <p:nvPr/>
        </p:nvSpPr>
        <p:spPr>
          <a:xfrm xmlns:a="http://schemas.openxmlformats.org/drawingml/2006/main">
            <a:off x="1209675" y="246697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Reference emulation</a:t>
            </a:r>
          </a:p>
        </p:txBody>
      </p:sp>
      <p:sp>
        <p:nvSpPr>
          <p:cNvPr id="13" name="">
            <a:extLst xmlns:a="http://schemas.openxmlformats.org/drawingml/2006/main">
              <a:ext uri="{FF2B5EF4-FFF2-40B4-BE49-F238E27FC236}">
                <a16:creationId xmlns:a16="http://schemas.microsoft.com/office/drawing/2014/main" id="{F7C8B3B5-14BD-4BE1-927F-76CC1737124C}"/>
              </a:ext>
            </a:extLst>
          </p:cNvPr>
          <p:cNvSpPr>
            <a:spLocks xmlns:a="http://schemas.openxmlformats.org/drawingml/2006/main" noGrp="1"/>
          </p:cNvSpPr>
          <p:nvPr/>
        </p:nvSpPr>
        <p:spPr>
          <a:xfrm xmlns:a="http://schemas.openxmlformats.org/drawingml/2006/main">
            <a:off x="5095875" y="2486025"/>
            <a:ext cx="638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Does it agree with an established public workflow?</a:t>
            </a:r>
          </a:p>
        </p:txBody>
      </p:sp>
      <p:sp>
        <p:nvSpPr>
          <p:cNvPr id="14" name="">
            <a:extLst xmlns:a="http://schemas.openxmlformats.org/drawingml/2006/main">
              <a:ext uri="{FF2B5EF4-FFF2-40B4-BE49-F238E27FC236}">
                <a16:creationId xmlns:a16="http://schemas.microsoft.com/office/drawing/2014/main" id="{16436E81-E267-41E3-871F-B5742393B525}"/>
              </a:ext>
            </a:extLst>
          </p:cNvPr>
          <p:cNvSpPr>
            <a:spLocks xmlns:a="http://schemas.openxmlformats.org/drawingml/2006/main" noGrp="1"/>
          </p:cNvSpPr>
          <p:nvPr/>
        </p:nvSpPr>
        <p:spPr>
          <a:xfrm xmlns:a="http://schemas.openxmlformats.org/drawingml/2006/main">
            <a:off x="400050" y="321945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BBC2ED1-ED48-4EBB-9A06-01E17294CAA5}"/>
              </a:ext>
            </a:extLst>
          </p:cNvPr>
          <p:cNvSpPr>
            <a:spLocks xmlns:a="http://schemas.openxmlformats.org/drawingml/2006/main" noGrp="1"/>
          </p:cNvSpPr>
          <p:nvPr/>
        </p:nvSpPr>
        <p:spPr>
          <a:xfrm xmlns:a="http://schemas.openxmlformats.org/drawingml/2006/main">
            <a:off x="552450" y="33623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49A84"/>
                </a:solidFill>
                <a:latin typeface="Helvetica Neue"/>
                <a:ea typeface="Helvetica Neue"/>
                <a:cs typeface="Helvetica Neue"/>
              </a:defRPr>
            </a:pPr>
            <a:r>
              <a:rPr sz="2025" b="1">
                <a:solidFill>
                  <a:srgbClr val="149A84"/>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0495D002-524F-4A9B-A23B-BE41D2E5E430}"/>
              </a:ext>
            </a:extLst>
          </p:cNvPr>
          <p:cNvSpPr>
            <a:spLocks xmlns:a="http://schemas.openxmlformats.org/drawingml/2006/main" noGrp="1"/>
          </p:cNvSpPr>
          <p:nvPr/>
        </p:nvSpPr>
        <p:spPr>
          <a:xfrm xmlns:a="http://schemas.openxmlformats.org/drawingml/2006/main">
            <a:off x="1209675" y="334327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Controlled known-truth benchmarks</a:t>
            </a:r>
          </a:p>
        </p:txBody>
      </p:sp>
      <p:sp>
        <p:nvSpPr>
          <p:cNvPr id="17" name="">
            <a:extLst xmlns:a="http://schemas.openxmlformats.org/drawingml/2006/main">
              <a:ext uri="{FF2B5EF4-FFF2-40B4-BE49-F238E27FC236}">
                <a16:creationId xmlns:a16="http://schemas.microsoft.com/office/drawing/2014/main" id="{4A777C7C-4CB9-4AE2-9FCD-F0A10070481B}"/>
              </a:ext>
            </a:extLst>
          </p:cNvPr>
          <p:cNvSpPr>
            <a:spLocks xmlns:a="http://schemas.openxmlformats.org/drawingml/2006/main" noGrp="1"/>
          </p:cNvSpPr>
          <p:nvPr/>
        </p:nvSpPr>
        <p:spPr>
          <a:xfrm xmlns:a="http://schemas.openxmlformats.org/drawingml/2006/main">
            <a:off x="5095875" y="3362325"/>
            <a:ext cx="638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Can it recover planted topology, age and reactions?</a:t>
            </a:r>
          </a:p>
        </p:txBody>
      </p:sp>
      <p:sp>
        <p:nvSpPr>
          <p:cNvPr id="18" name="">
            <a:extLst xmlns:a="http://schemas.openxmlformats.org/drawingml/2006/main">
              <a:ext uri="{FF2B5EF4-FFF2-40B4-BE49-F238E27FC236}">
                <a16:creationId xmlns:a16="http://schemas.microsoft.com/office/drawing/2014/main" id="{1375C31E-C8CF-42AB-9D07-C5F409BFA725}"/>
              </a:ext>
            </a:extLst>
          </p:cNvPr>
          <p:cNvSpPr>
            <a:spLocks xmlns:a="http://schemas.openxmlformats.org/drawingml/2006/main" noGrp="1"/>
          </p:cNvSpPr>
          <p:nvPr/>
        </p:nvSpPr>
        <p:spPr>
          <a:xfrm xmlns:a="http://schemas.openxmlformats.org/drawingml/2006/main">
            <a:off x="400050" y="409575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3999D0B-8218-47BA-A87D-E8DE3481AF33}"/>
              </a:ext>
            </a:extLst>
          </p:cNvPr>
          <p:cNvSpPr>
            <a:spLocks xmlns:a="http://schemas.openxmlformats.org/drawingml/2006/main" noGrp="1"/>
          </p:cNvSpPr>
          <p:nvPr/>
        </p:nvSpPr>
        <p:spPr>
          <a:xfrm xmlns:a="http://schemas.openxmlformats.org/drawingml/2006/main">
            <a:off x="552450" y="42386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D97706"/>
                </a:solidFill>
                <a:latin typeface="Helvetica Neue"/>
                <a:ea typeface="Helvetica Neue"/>
                <a:cs typeface="Helvetica Neue"/>
              </a:defRPr>
            </a:pPr>
            <a:r>
              <a:rPr sz="2025" b="1">
                <a:solidFill>
                  <a:srgbClr val="D97706"/>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A5766BD1-E870-49DA-A153-038219719630}"/>
              </a:ext>
            </a:extLst>
          </p:cNvPr>
          <p:cNvSpPr>
            <a:spLocks xmlns:a="http://schemas.openxmlformats.org/drawingml/2006/main" noGrp="1"/>
          </p:cNvSpPr>
          <p:nvPr/>
        </p:nvSpPr>
        <p:spPr>
          <a:xfrm xmlns:a="http://schemas.openxmlformats.org/drawingml/2006/main">
            <a:off x="1209675" y="421957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Field transfer and supportability</a:t>
            </a:r>
          </a:p>
        </p:txBody>
      </p:sp>
      <p:sp>
        <p:nvSpPr>
          <p:cNvPr id="21" name="">
            <a:extLst xmlns:a="http://schemas.openxmlformats.org/drawingml/2006/main">
              <a:ext uri="{FF2B5EF4-FFF2-40B4-BE49-F238E27FC236}">
                <a16:creationId xmlns:a16="http://schemas.microsoft.com/office/drawing/2014/main" id="{930A71BD-C23F-4708-B5A3-6ADB9E4F0C0E}"/>
              </a:ext>
            </a:extLst>
          </p:cNvPr>
          <p:cNvSpPr>
            <a:spLocks xmlns:a="http://schemas.openxmlformats.org/drawingml/2006/main" noGrp="1"/>
          </p:cNvSpPr>
          <p:nvPr/>
        </p:nvSpPr>
        <p:spPr>
          <a:xfrm xmlns:a="http://schemas.openxmlformats.org/drawingml/2006/main">
            <a:off x="5095875" y="4238625"/>
            <a:ext cx="638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What do real data permit without known truth?</a:t>
            </a:r>
          </a:p>
        </p:txBody>
      </p:sp>
      <p:sp>
        <p:nvSpPr>
          <p:cNvPr id="22" name="">
            <a:extLst xmlns:a="http://schemas.openxmlformats.org/drawingml/2006/main">
              <a:ext uri="{FF2B5EF4-FFF2-40B4-BE49-F238E27FC236}">
                <a16:creationId xmlns:a16="http://schemas.microsoft.com/office/drawing/2014/main" id="{1F4AF222-AD70-4625-AF13-7DB57E610DEF}"/>
              </a:ext>
            </a:extLst>
          </p:cNvPr>
          <p:cNvSpPr>
            <a:spLocks xmlns:a="http://schemas.openxmlformats.org/drawingml/2006/main" noGrp="1"/>
          </p:cNvSpPr>
          <p:nvPr/>
        </p:nvSpPr>
        <p:spPr>
          <a:xfrm xmlns:a="http://schemas.openxmlformats.org/drawingml/2006/main">
            <a:off x="400050" y="4972050"/>
            <a:ext cx="11391900" cy="685800"/>
          </a:xfrm>
          <a:prstGeom xmlns:a="http://schemas.openxmlformats.org/drawingml/2006/main" prst="roundRect">
            <a:avLst>
              <a:gd name="adj" fmla="val 16667"/>
            </a:avLst>
          </a:prstGeom>
          <a:solidFill xmlns:a="http://schemas.openxmlformats.org/drawingml/2006/main">
            <a:srgbClr val="FDE8E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FEE5071-9F01-4672-9925-89928DE7F750}"/>
              </a:ext>
            </a:extLst>
          </p:cNvPr>
          <p:cNvSpPr>
            <a:spLocks xmlns:a="http://schemas.openxmlformats.org/drawingml/2006/main" noGrp="1"/>
          </p:cNvSpPr>
          <p:nvPr/>
        </p:nvSpPr>
        <p:spPr>
          <a:xfrm xmlns:a="http://schemas.openxmlformats.org/drawingml/2006/main">
            <a:off x="552450" y="51149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C53030"/>
                </a:solidFill>
                <a:latin typeface="Helvetica Neue"/>
                <a:ea typeface="Helvetica Neue"/>
                <a:cs typeface="Helvetica Neue"/>
              </a:defRPr>
            </a:pPr>
            <a:r>
              <a:rPr sz="2025" b="1">
                <a:solidFill>
                  <a:srgbClr val="C53030"/>
                </a:solidFill>
                <a:latin typeface="Helvetica Neue"/>
                <a:ea typeface="Helvetica Neue"/>
                <a:cs typeface="Helvetica Neue"/>
              </a:rPr>
              <a:t>5</a:t>
            </a:r>
          </a:p>
        </p:txBody>
      </p:sp>
      <p:sp>
        <p:nvSpPr>
          <p:cNvPr id="24" name="">
            <a:extLst xmlns:a="http://schemas.openxmlformats.org/drawingml/2006/main">
              <a:ext uri="{FF2B5EF4-FFF2-40B4-BE49-F238E27FC236}">
                <a16:creationId xmlns:a16="http://schemas.microsoft.com/office/drawing/2014/main" id="{BE2B30E8-E05D-48A1-A10F-6E1DE26E2FA6}"/>
              </a:ext>
            </a:extLst>
          </p:cNvPr>
          <p:cNvSpPr>
            <a:spLocks xmlns:a="http://schemas.openxmlformats.org/drawingml/2006/main" noGrp="1"/>
          </p:cNvSpPr>
          <p:nvPr/>
        </p:nvSpPr>
        <p:spPr>
          <a:xfrm xmlns:a="http://schemas.openxmlformats.org/drawingml/2006/main">
            <a:off x="1209675" y="509587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Matched end-to-end field truth</a:t>
            </a:r>
          </a:p>
        </p:txBody>
      </p:sp>
      <p:sp>
        <p:nvSpPr>
          <p:cNvPr id="25" name="">
            <a:extLst xmlns:a="http://schemas.openxmlformats.org/drawingml/2006/main">
              <a:ext uri="{FF2B5EF4-FFF2-40B4-BE49-F238E27FC236}">
                <a16:creationId xmlns:a16="http://schemas.microsoft.com/office/drawing/2014/main" id="{76105B7C-79BB-4D05-BE34-8A28B7F4CF5D}"/>
              </a:ext>
            </a:extLst>
          </p:cNvPr>
          <p:cNvSpPr>
            <a:spLocks xmlns:a="http://schemas.openxmlformats.org/drawingml/2006/main" noGrp="1"/>
          </p:cNvSpPr>
          <p:nvPr/>
        </p:nvSpPr>
        <p:spPr>
          <a:xfrm xmlns:a="http://schemas.openxmlformats.org/drawingml/2006/main">
            <a:off x="5095875" y="5114925"/>
            <a:ext cx="638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C53030"/>
                </a:solidFill>
                <a:latin typeface="Helvetica Neue"/>
                <a:ea typeface="Helvetica Neue"/>
                <a:cs typeface="Helvetica Neue"/>
              </a:defRPr>
            </a:pPr>
            <a:r>
              <a:rPr sz="1350" b="0">
                <a:solidFill>
                  <a:srgbClr val="C53030"/>
                </a:solidFill>
                <a:latin typeface="Helvetica Neue"/>
                <a:ea typeface="Helvetica Neue"/>
                <a:cs typeface="Helvetica Neue"/>
              </a:rPr>
              <a:t>Still missing: age + repeated heads + chemistry + connectivity</a:t>
            </a:r>
          </a:p>
        </p:txBody>
      </p:sp>
    </p:spTree>
    <p:extLst>
      <p:ext uri="{BB962C8B-B14F-4D97-AF65-F5344CB8AC3E}">
        <p14:creationId xmlns:p14="http://schemas.microsoft.com/office/powerpoint/2010/main" val="16567304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F085880-675A-4A53-8D8E-EC8203689A2C}"/>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COMPONENT VERIFICATION</a:t>
            </a:r>
          </a:p>
        </p:txBody>
      </p:sp>
      <p:sp>
        <p:nvSpPr>
          <p:cNvPr id="2" name="">
            <a:extLst xmlns:a="http://schemas.openxmlformats.org/drawingml/2006/main">
              <a:ext uri="{FF2B5EF4-FFF2-40B4-BE49-F238E27FC236}">
                <a16:creationId xmlns:a16="http://schemas.microsoft.com/office/drawing/2014/main" id="{3235844C-7A3C-49D6-90FC-1CD44FD58BD9}"/>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Foundations: recover capability before testing novelty</a:t>
            </a:r>
          </a:p>
        </p:txBody>
      </p:sp>
      <p:sp>
        <p:nvSpPr>
          <p:cNvPr id="3" name="">
            <a:extLst xmlns:a="http://schemas.openxmlformats.org/drawingml/2006/main">
              <a:ext uri="{FF2B5EF4-FFF2-40B4-BE49-F238E27FC236}">
                <a16:creationId xmlns:a16="http://schemas.microsoft.com/office/drawing/2014/main" id="{5BEFA3D2-BFBC-4F67-9F94-12C29FB3548B}"/>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8BB695B-2FDF-4487-9B67-01E8999D55BD}"/>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419064C6-9BD4-485A-8804-B736B51DCFCA}"/>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8DC98C87-542C-4898-B208-E8641C2894DE}"/>
              </a:ext>
            </a:extLst>
          </p:cNvPr>
          <p:cNvSpPr>
            <a:spLocks xmlns:a="http://schemas.openxmlformats.org/drawingml/2006/main" noGrp="1"/>
          </p:cNvSpPr>
          <p:nvPr/>
        </p:nvSpPr>
        <p:spPr>
          <a:xfrm xmlns:a="http://schemas.openxmlformats.org/drawingml/2006/main">
            <a:off x="400050" y="16192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FAF8D88-0389-4CF5-8E2E-0B7A25E9A0B1}"/>
              </a:ext>
            </a:extLst>
          </p:cNvPr>
          <p:cNvSpPr>
            <a:spLocks xmlns:a="http://schemas.openxmlformats.org/drawingml/2006/main" noGrp="1"/>
          </p:cNvSpPr>
          <p:nvPr/>
        </p:nvSpPr>
        <p:spPr>
          <a:xfrm xmlns:a="http://schemas.openxmlformats.org/drawingml/2006/main">
            <a:off x="400050" y="1619250"/>
            <a:ext cx="76200" cy="12573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3DFB870-FFB0-4044-B014-DEFE5A52AC6A}"/>
              </a:ext>
            </a:extLst>
          </p:cNvPr>
          <p:cNvSpPr>
            <a:spLocks xmlns:a="http://schemas.openxmlformats.org/drawingml/2006/main" noGrp="1"/>
          </p:cNvSpPr>
          <p:nvPr/>
        </p:nvSpPr>
        <p:spPr>
          <a:xfrm xmlns:a="http://schemas.openxmlformats.org/drawingml/2006/main">
            <a:off x="590550" y="1771650"/>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100</a:t>
            </a:r>
          </a:p>
        </p:txBody>
      </p:sp>
      <p:sp>
        <p:nvSpPr>
          <p:cNvPr id="9" name="">
            <a:extLst xmlns:a="http://schemas.openxmlformats.org/drawingml/2006/main">
              <a:ext uri="{FF2B5EF4-FFF2-40B4-BE49-F238E27FC236}">
                <a16:creationId xmlns:a16="http://schemas.microsoft.com/office/drawing/2014/main" id="{8ABD4548-F07E-484B-B2EA-AE1A85D344C2}"/>
              </a:ext>
            </a:extLst>
          </p:cNvPr>
          <p:cNvSpPr>
            <a:spLocks xmlns:a="http://schemas.openxmlformats.org/drawingml/2006/main" noGrp="1"/>
          </p:cNvSpPr>
          <p:nvPr/>
        </p:nvSpPr>
        <p:spPr>
          <a:xfrm xmlns:a="http://schemas.openxmlformats.org/drawingml/2006/main">
            <a:off x="590550" y="23050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controlled transport–reaction realisations</a:t>
            </a:r>
          </a:p>
        </p:txBody>
      </p:sp>
      <p:sp>
        <p:nvSpPr>
          <p:cNvPr id="10" name="">
            <a:extLst xmlns:a="http://schemas.openxmlformats.org/drawingml/2006/main">
              <a:ext uri="{FF2B5EF4-FFF2-40B4-BE49-F238E27FC236}">
                <a16:creationId xmlns:a16="http://schemas.microsoft.com/office/drawing/2014/main" id="{EC332F24-3DB3-44FC-880C-483B1BDC1C68}"/>
              </a:ext>
            </a:extLst>
          </p:cNvPr>
          <p:cNvSpPr>
            <a:spLocks xmlns:a="http://schemas.openxmlformats.org/drawingml/2006/main" noGrp="1"/>
          </p:cNvSpPr>
          <p:nvPr/>
        </p:nvSpPr>
        <p:spPr>
          <a:xfrm xmlns:a="http://schemas.openxmlformats.org/drawingml/2006/main">
            <a:off x="3943350" y="16192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21FAF59-4891-4D0E-964D-1B25EDD6D954}"/>
              </a:ext>
            </a:extLst>
          </p:cNvPr>
          <p:cNvSpPr>
            <a:spLocks xmlns:a="http://schemas.openxmlformats.org/drawingml/2006/main" noGrp="1"/>
          </p:cNvSpPr>
          <p:nvPr/>
        </p:nvSpPr>
        <p:spPr>
          <a:xfrm xmlns:a="http://schemas.openxmlformats.org/drawingml/2006/main">
            <a:off x="3943350" y="1619250"/>
            <a:ext cx="76200" cy="1257300"/>
          </a:xfrm>
          <a:prstGeom xmlns:a="http://schemas.openxmlformats.org/drawingml/2006/main" prst="rect">
            <a:avLst/>
          </a:prstGeom>
          <a:solidFill xmlns:a="http://schemas.openxmlformats.org/drawingml/2006/main">
            <a:srgbClr val="149A8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FAB1195-3EA9-4DBF-B561-242FDF6347C2}"/>
              </a:ext>
            </a:extLst>
          </p:cNvPr>
          <p:cNvSpPr>
            <a:spLocks xmlns:a="http://schemas.openxmlformats.org/drawingml/2006/main" noGrp="1"/>
          </p:cNvSpPr>
          <p:nvPr/>
        </p:nvSpPr>
        <p:spPr>
          <a:xfrm xmlns:a="http://schemas.openxmlformats.org/drawingml/2006/main">
            <a:off x="4133850" y="1771650"/>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149A84"/>
                </a:solidFill>
                <a:latin typeface="Helvetica Neue"/>
                <a:ea typeface="Helvetica Neue"/>
                <a:cs typeface="Helvetica Neue"/>
              </a:defRPr>
            </a:pPr>
            <a:r>
              <a:rPr sz="2625" b="1">
                <a:solidFill>
                  <a:srgbClr val="149A84"/>
                </a:solidFill>
                <a:latin typeface="Helvetica Neue"/>
                <a:ea typeface="Helvetica Neue"/>
                <a:cs typeface="Helvetica Neue"/>
              </a:rPr>
              <a:t>0.058</a:t>
            </a:r>
          </a:p>
        </p:txBody>
      </p:sp>
      <p:sp>
        <p:nvSpPr>
          <p:cNvPr id="13" name="">
            <a:extLst xmlns:a="http://schemas.openxmlformats.org/drawingml/2006/main">
              <a:ext uri="{FF2B5EF4-FFF2-40B4-BE49-F238E27FC236}">
                <a16:creationId xmlns:a16="http://schemas.microsoft.com/office/drawing/2014/main" id="{3B124BA3-B358-45DB-9699-4E7305EF4A36}"/>
              </a:ext>
            </a:extLst>
          </p:cNvPr>
          <p:cNvSpPr>
            <a:spLocks xmlns:a="http://schemas.openxmlformats.org/drawingml/2006/main" noGrp="1"/>
          </p:cNvSpPr>
          <p:nvPr/>
        </p:nvSpPr>
        <p:spPr>
          <a:xfrm xmlns:a="http://schemas.openxmlformats.org/drawingml/2006/main">
            <a:off x="4133850" y="23050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median transport absolute error</a:t>
            </a:r>
          </a:p>
        </p:txBody>
      </p:sp>
      <p:sp>
        <p:nvSpPr>
          <p:cNvPr id="14" name="">
            <a:extLst xmlns:a="http://schemas.openxmlformats.org/drawingml/2006/main">
              <a:ext uri="{FF2B5EF4-FFF2-40B4-BE49-F238E27FC236}">
                <a16:creationId xmlns:a16="http://schemas.microsoft.com/office/drawing/2014/main" id="{D33AED78-8C6C-4373-946B-B37351A803B4}"/>
              </a:ext>
            </a:extLst>
          </p:cNvPr>
          <p:cNvSpPr>
            <a:spLocks xmlns:a="http://schemas.openxmlformats.org/drawingml/2006/main" noGrp="1"/>
          </p:cNvSpPr>
          <p:nvPr/>
        </p:nvSpPr>
        <p:spPr>
          <a:xfrm xmlns:a="http://schemas.openxmlformats.org/drawingml/2006/main">
            <a:off x="7486650" y="16192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8C31D29-4D30-40BF-B463-75B44C7EDE51}"/>
              </a:ext>
            </a:extLst>
          </p:cNvPr>
          <p:cNvSpPr>
            <a:spLocks xmlns:a="http://schemas.openxmlformats.org/drawingml/2006/main" noGrp="1"/>
          </p:cNvSpPr>
          <p:nvPr/>
        </p:nvSpPr>
        <p:spPr>
          <a:xfrm xmlns:a="http://schemas.openxmlformats.org/drawingml/2006/main">
            <a:off x="7486650" y="1619250"/>
            <a:ext cx="76200" cy="1257300"/>
          </a:xfrm>
          <a:prstGeom xmlns:a="http://schemas.openxmlformats.org/drawingml/2006/main" prst="rect">
            <a:avLst/>
          </a:prstGeom>
          <a:solidFill xmlns:a="http://schemas.openxmlformats.org/drawingml/2006/main">
            <a:srgbClr val="D9770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FDEAD67-246A-4267-8695-31AB9BCA0D57}"/>
              </a:ext>
            </a:extLst>
          </p:cNvPr>
          <p:cNvSpPr>
            <a:spLocks xmlns:a="http://schemas.openxmlformats.org/drawingml/2006/main" noGrp="1"/>
          </p:cNvSpPr>
          <p:nvPr/>
        </p:nvSpPr>
        <p:spPr>
          <a:xfrm xmlns:a="http://schemas.openxmlformats.org/drawingml/2006/main">
            <a:off x="7677150" y="1771650"/>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D97706"/>
                </a:solidFill>
                <a:latin typeface="Helvetica Neue"/>
                <a:ea typeface="Helvetica Neue"/>
                <a:cs typeface="Helvetica Neue"/>
              </a:defRPr>
            </a:pPr>
            <a:r>
              <a:rPr sz="2625" b="1">
                <a:solidFill>
                  <a:srgbClr val="D97706"/>
                </a:solidFill>
                <a:latin typeface="Helvetica Neue"/>
                <a:ea typeface="Helvetica Neue"/>
                <a:cs typeface="Helvetica Neue"/>
              </a:rPr>
              <a:t>0.112</a:t>
            </a:r>
          </a:p>
        </p:txBody>
      </p:sp>
      <p:sp>
        <p:nvSpPr>
          <p:cNvPr id="17" name="">
            <a:extLst xmlns:a="http://schemas.openxmlformats.org/drawingml/2006/main">
              <a:ext uri="{FF2B5EF4-FFF2-40B4-BE49-F238E27FC236}">
                <a16:creationId xmlns:a16="http://schemas.microsoft.com/office/drawing/2014/main" id="{15F92A68-EDF7-40DC-A1BF-A4313BC0E62F}"/>
              </a:ext>
            </a:extLst>
          </p:cNvPr>
          <p:cNvSpPr>
            <a:spLocks xmlns:a="http://schemas.openxmlformats.org/drawingml/2006/main" noGrp="1"/>
          </p:cNvSpPr>
          <p:nvPr/>
        </p:nvSpPr>
        <p:spPr>
          <a:xfrm xmlns:a="http://schemas.openxmlformats.org/drawingml/2006/main">
            <a:off x="7677150" y="23050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median reaction error</a:t>
            </a:r>
          </a:p>
        </p:txBody>
      </p:sp>
      <p:sp>
        <p:nvSpPr>
          <p:cNvPr id="18" name="">
            <a:extLst xmlns:a="http://schemas.openxmlformats.org/drawingml/2006/main">
              <a:ext uri="{FF2B5EF4-FFF2-40B4-BE49-F238E27FC236}">
                <a16:creationId xmlns:a16="http://schemas.microsoft.com/office/drawing/2014/main" id="{3C197236-F49C-4DC8-9B43-106CA10A0FC9}"/>
              </a:ext>
            </a:extLst>
          </p:cNvPr>
          <p:cNvSpPr>
            <a:spLocks xmlns:a="http://schemas.openxmlformats.org/drawingml/2006/main" noGrp="1"/>
          </p:cNvSpPr>
          <p:nvPr/>
        </p:nvSpPr>
        <p:spPr>
          <a:xfrm xmlns:a="http://schemas.openxmlformats.org/drawingml/2006/main">
            <a:off x="400050" y="3276600"/>
            <a:ext cx="5238750" cy="2095500"/>
          </a:xfrm>
          <a:prstGeom xmlns:a="http://schemas.openxmlformats.org/drawingml/2006/main" prst="roundRect">
            <a:avLst>
              <a:gd name="adj" fmla="val 5455"/>
            </a:avLst>
          </a:prstGeom>
          <a:solidFill xmlns:a="http://schemas.openxmlformats.org/drawingml/2006/main">
            <a:srgbClr val="F2F3F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BB5A4A8-024D-4CF4-9178-2DCA3F4B91B0}"/>
              </a:ext>
            </a:extLst>
          </p:cNvPr>
          <p:cNvSpPr>
            <a:spLocks xmlns:a="http://schemas.openxmlformats.org/drawingml/2006/main" noGrp="1"/>
          </p:cNvSpPr>
          <p:nvPr/>
        </p:nvSpPr>
        <p:spPr>
          <a:xfrm xmlns:a="http://schemas.openxmlformats.org/drawingml/2006/main">
            <a:off x="685800" y="354330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What this establishes</a:t>
            </a:r>
          </a:p>
        </p:txBody>
      </p:sp>
      <p:sp>
        <p:nvSpPr>
          <p:cNvPr id="20" name="">
            <a:extLst xmlns:a="http://schemas.openxmlformats.org/drawingml/2006/main">
              <a:ext uri="{FF2B5EF4-FFF2-40B4-BE49-F238E27FC236}">
                <a16:creationId xmlns:a16="http://schemas.microsoft.com/office/drawing/2014/main" id="{6EB07A1B-E191-4484-A785-473CDBFE00EE}"/>
              </a:ext>
            </a:extLst>
          </p:cNvPr>
          <p:cNvSpPr>
            <a:spLocks xmlns:a="http://schemas.openxmlformats.org/drawingml/2006/main" noGrp="1"/>
          </p:cNvSpPr>
          <p:nvPr/>
        </p:nvSpPr>
        <p:spPr>
          <a:xfrm xmlns:a="http://schemas.openxmlformats.org/drawingml/2006/main">
            <a:off x="685800" y="4038600"/>
            <a:ext cx="45529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492"/>
          </a:bodyP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 controlled recovery is operational</a:t>
            </a:r>
          </a:p>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 MODPATH archives can be converted into reference graphs</a:t>
            </a:r>
          </a:p>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 PHREEQC-compatible proxy executed; live PHREEQC validated later</a:t>
            </a:r>
          </a:p>
        </p:txBody>
      </p:sp>
      <p:sp>
        <p:nvSpPr>
          <p:cNvPr id="21" name="">
            <a:extLst xmlns:a="http://schemas.openxmlformats.org/drawingml/2006/main">
              <a:ext uri="{FF2B5EF4-FFF2-40B4-BE49-F238E27FC236}">
                <a16:creationId xmlns:a16="http://schemas.microsoft.com/office/drawing/2014/main" id="{629C33E2-D6EB-4C95-8D54-38E667958122}"/>
              </a:ext>
            </a:extLst>
          </p:cNvPr>
          <p:cNvSpPr>
            <a:spLocks xmlns:a="http://schemas.openxmlformats.org/drawingml/2006/main" noGrp="1"/>
          </p:cNvSpPr>
          <p:nvPr/>
        </p:nvSpPr>
        <p:spPr>
          <a:xfrm xmlns:a="http://schemas.openxmlformats.org/drawingml/2006/main">
            <a:off x="5905500" y="3276600"/>
            <a:ext cx="5505450" cy="2095500"/>
          </a:xfrm>
          <a:prstGeom xmlns:a="http://schemas.openxmlformats.org/drawingml/2006/main" prst="roundRect">
            <a:avLst>
              <a:gd name="adj" fmla="val 5455"/>
            </a:avLst>
          </a:prstGeom>
          <a:solidFill xmlns:a="http://schemas.openxmlformats.org/drawingml/2006/main">
            <a:srgbClr val="FDE8E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4DF58BF-E795-4784-8A89-803C171545F8}"/>
              </a:ext>
            </a:extLst>
          </p:cNvPr>
          <p:cNvSpPr>
            <a:spLocks xmlns:a="http://schemas.openxmlformats.org/drawingml/2006/main" noGrp="1"/>
          </p:cNvSpPr>
          <p:nvPr/>
        </p:nvSpPr>
        <p:spPr>
          <a:xfrm xmlns:a="http://schemas.openxmlformats.org/drawingml/2006/main">
            <a:off x="6191250" y="3543300"/>
            <a:ext cx="493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C53030"/>
                </a:solidFill>
                <a:latin typeface="Helvetica Neue"/>
                <a:ea typeface="Helvetica Neue"/>
                <a:cs typeface="Helvetica Neue"/>
              </a:defRPr>
            </a:pPr>
            <a:r>
              <a:rPr sz="1725" b="1">
                <a:solidFill>
                  <a:srgbClr val="C53030"/>
                </a:solidFill>
                <a:latin typeface="Helvetica Neue"/>
                <a:ea typeface="Helvetica Neue"/>
                <a:cs typeface="Helvetica Neue"/>
              </a:rPr>
              <a:t>What this does not establish</a:t>
            </a:r>
          </a:p>
        </p:txBody>
      </p:sp>
      <p:sp>
        <p:nvSpPr>
          <p:cNvPr id="23" name="">
            <a:extLst xmlns:a="http://schemas.openxmlformats.org/drawingml/2006/main">
              <a:ext uri="{FF2B5EF4-FFF2-40B4-BE49-F238E27FC236}">
                <a16:creationId xmlns:a16="http://schemas.microsoft.com/office/drawing/2014/main" id="{2B8CFCF7-5D6C-4902-AF67-82ED7CB8A079}"/>
              </a:ext>
            </a:extLst>
          </p:cNvPr>
          <p:cNvSpPr>
            <a:spLocks xmlns:a="http://schemas.openxmlformats.org/drawingml/2006/main" noGrp="1"/>
          </p:cNvSpPr>
          <p:nvPr/>
        </p:nvSpPr>
        <p:spPr>
          <a:xfrm xmlns:a="http://schemas.openxmlformats.org/drawingml/2006/main">
            <a:off x="6191250" y="4038600"/>
            <a:ext cx="4857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C53030"/>
                </a:solidFill>
                <a:latin typeface="Helvetica Neue"/>
                <a:ea typeface="Helvetica Neue"/>
                <a:cs typeface="Helvetica Neue"/>
              </a:defRPr>
            </a:pPr>
            <a:r>
              <a:rPr sz="1650" b="1">
                <a:solidFill>
                  <a:srgbClr val="C53030"/>
                </a:solidFill>
                <a:latin typeface="Helvetica Neue"/>
                <a:ea typeface="Helvetica Neue"/>
                <a:cs typeface="Helvetica Neue"/>
              </a:rPr>
              <a:t>F1 = 1.00 for archive conversion is verification of conversion—not perfect inference of an unknown topology.</a:t>
            </a:r>
          </a:p>
        </p:txBody>
      </p:sp>
    </p:spTree>
    <p:extLst>
      <p:ext uri="{BB962C8B-B14F-4D97-AF65-F5344CB8AC3E}">
        <p14:creationId xmlns:p14="http://schemas.microsoft.com/office/powerpoint/2010/main" val="158665871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A9AF074C-B399-4F16-ACFB-62F3A7CDD35D}"/>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RESIDENCE TIME</a:t>
            </a:r>
          </a:p>
        </p:txBody>
      </p:sp>
      <p:sp>
        <p:nvSpPr>
          <p:cNvPr id="2" name="">
            <a:extLst xmlns:a="http://schemas.openxmlformats.org/drawingml/2006/main">
              <a:ext uri="{FF2B5EF4-FFF2-40B4-BE49-F238E27FC236}">
                <a16:creationId xmlns:a16="http://schemas.microsoft.com/office/drawing/2014/main" id="{4A65E603-FAC9-4BA0-B7B1-A7B89CBBEE3E}"/>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8947"/>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Age inference closely reproduced reported configurations—but weak topology added no value</a:t>
            </a:r>
          </a:p>
        </p:txBody>
      </p:sp>
      <p:sp>
        <p:nvSpPr>
          <p:cNvPr id="3" name="">
            <a:extLst xmlns:a="http://schemas.openxmlformats.org/drawingml/2006/main">
              <a:ext uri="{FF2B5EF4-FFF2-40B4-BE49-F238E27FC236}">
                <a16:creationId xmlns:a16="http://schemas.microsoft.com/office/drawing/2014/main" id="{5044D6CE-5B6D-416F-B9F6-E7AF5D2883FD}"/>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7D1D798-D315-4328-8AE0-A974A5A55F06}"/>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097ED7B9-A88E-491A-BEB8-D6DC708784F2}"/>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F58C4999-9F67-4D51-B658-AEAB655EF238}"/>
              </a:ext>
            </a:extLst>
          </p:cNvPr>
          <p:cNvSpPr>
            <a:spLocks xmlns:a="http://schemas.openxmlformats.org/drawingml/2006/main" noGrp="1"/>
          </p:cNvSpPr>
          <p:nvPr/>
        </p:nvSpPr>
        <p:spPr>
          <a:xfrm xmlns:a="http://schemas.openxmlformats.org/drawingml/2006/main">
            <a:off x="400050" y="1524000"/>
            <a:ext cx="23812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10D496D-2FE9-4959-BD22-CF2BC89FDA83}"/>
              </a:ext>
            </a:extLst>
          </p:cNvPr>
          <p:cNvSpPr>
            <a:spLocks xmlns:a="http://schemas.openxmlformats.org/drawingml/2006/main" noGrp="1"/>
          </p:cNvSpPr>
          <p:nvPr/>
        </p:nvSpPr>
        <p:spPr>
          <a:xfrm xmlns:a="http://schemas.openxmlformats.org/drawingml/2006/main">
            <a:off x="400050" y="1524000"/>
            <a:ext cx="76200" cy="12573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F35318F-BC94-4C94-86F7-277FB6088D67}"/>
              </a:ext>
            </a:extLst>
          </p:cNvPr>
          <p:cNvSpPr>
            <a:spLocks xmlns:a="http://schemas.openxmlformats.org/drawingml/2006/main" noGrp="1"/>
          </p:cNvSpPr>
          <p:nvPr/>
        </p:nvSpPr>
        <p:spPr>
          <a:xfrm xmlns:a="http://schemas.openxmlformats.org/drawingml/2006/main">
            <a:off x="590550" y="1676400"/>
            <a:ext cx="205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329</a:t>
            </a:r>
          </a:p>
        </p:txBody>
      </p:sp>
      <p:sp>
        <p:nvSpPr>
          <p:cNvPr id="9" name="">
            <a:extLst xmlns:a="http://schemas.openxmlformats.org/drawingml/2006/main">
              <a:ext uri="{FF2B5EF4-FFF2-40B4-BE49-F238E27FC236}">
                <a16:creationId xmlns:a16="http://schemas.microsoft.com/office/drawing/2014/main" id="{6659615A-2C30-49E5-A96F-6AC3560930AF}"/>
              </a:ext>
            </a:extLst>
          </p:cNvPr>
          <p:cNvSpPr>
            <a:spLocks xmlns:a="http://schemas.openxmlformats.org/drawingml/2006/main" noGrp="1"/>
          </p:cNvSpPr>
          <p:nvPr/>
        </p:nvSpPr>
        <p:spPr>
          <a:xfrm xmlns:a="http://schemas.openxmlformats.org/drawingml/2006/main">
            <a:off x="590550" y="2209800"/>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strict reportable fits</a:t>
            </a:r>
          </a:p>
        </p:txBody>
      </p:sp>
      <p:sp>
        <p:nvSpPr>
          <p:cNvPr id="10" name="">
            <a:extLst xmlns:a="http://schemas.openxmlformats.org/drawingml/2006/main">
              <a:ext uri="{FF2B5EF4-FFF2-40B4-BE49-F238E27FC236}">
                <a16:creationId xmlns:a16="http://schemas.microsoft.com/office/drawing/2014/main" id="{61EB6A37-BDE0-421D-97DA-C90BD835F8BE}"/>
              </a:ext>
            </a:extLst>
          </p:cNvPr>
          <p:cNvSpPr>
            <a:spLocks xmlns:a="http://schemas.openxmlformats.org/drawingml/2006/main" noGrp="1"/>
          </p:cNvSpPr>
          <p:nvPr/>
        </p:nvSpPr>
        <p:spPr>
          <a:xfrm xmlns:a="http://schemas.openxmlformats.org/drawingml/2006/main">
            <a:off x="2971800" y="1524000"/>
            <a:ext cx="23812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C2875AB-8FA3-4E77-ABDA-2D9D3B9D07AD}"/>
              </a:ext>
            </a:extLst>
          </p:cNvPr>
          <p:cNvSpPr>
            <a:spLocks xmlns:a="http://schemas.openxmlformats.org/drawingml/2006/main" noGrp="1"/>
          </p:cNvSpPr>
          <p:nvPr/>
        </p:nvSpPr>
        <p:spPr>
          <a:xfrm xmlns:a="http://schemas.openxmlformats.org/drawingml/2006/main">
            <a:off x="2971800" y="1524000"/>
            <a:ext cx="76200" cy="12573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45B83FF-C418-4B1E-A8A8-84D21FEC05AA}"/>
              </a:ext>
            </a:extLst>
          </p:cNvPr>
          <p:cNvSpPr>
            <a:spLocks xmlns:a="http://schemas.openxmlformats.org/drawingml/2006/main" noGrp="1"/>
          </p:cNvSpPr>
          <p:nvPr/>
        </p:nvSpPr>
        <p:spPr>
          <a:xfrm xmlns:a="http://schemas.openxmlformats.org/drawingml/2006/main">
            <a:off x="3162300" y="1676400"/>
            <a:ext cx="205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0.0279</a:t>
            </a:r>
          </a:p>
        </p:txBody>
      </p:sp>
      <p:sp>
        <p:nvSpPr>
          <p:cNvPr id="13" name="">
            <a:extLst xmlns:a="http://schemas.openxmlformats.org/drawingml/2006/main">
              <a:ext uri="{FF2B5EF4-FFF2-40B4-BE49-F238E27FC236}">
                <a16:creationId xmlns:a16="http://schemas.microsoft.com/office/drawing/2014/main" id="{94A3284F-7CBD-4A72-AB12-390EDDD459D0}"/>
              </a:ext>
            </a:extLst>
          </p:cNvPr>
          <p:cNvSpPr>
            <a:spLocks xmlns:a="http://schemas.openxmlformats.org/drawingml/2006/main" noGrp="1"/>
          </p:cNvSpPr>
          <p:nvPr/>
        </p:nvSpPr>
        <p:spPr>
          <a:xfrm xmlns:a="http://schemas.openxmlformats.org/drawingml/2006/main">
            <a:off x="3162300" y="2209800"/>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median |Δ log₁₀ age|</a:t>
            </a:r>
          </a:p>
        </p:txBody>
      </p:sp>
      <p:sp>
        <p:nvSpPr>
          <p:cNvPr id="14" name="">
            <a:extLst xmlns:a="http://schemas.openxmlformats.org/drawingml/2006/main">
              <a:ext uri="{FF2B5EF4-FFF2-40B4-BE49-F238E27FC236}">
                <a16:creationId xmlns:a16="http://schemas.microsoft.com/office/drawing/2014/main" id="{9F3E63B6-F250-4A54-99AA-ADE46025C623}"/>
              </a:ext>
            </a:extLst>
          </p:cNvPr>
          <p:cNvSpPr>
            <a:spLocks xmlns:a="http://schemas.openxmlformats.org/drawingml/2006/main" noGrp="1"/>
          </p:cNvSpPr>
          <p:nvPr/>
        </p:nvSpPr>
        <p:spPr>
          <a:xfrm xmlns:a="http://schemas.openxmlformats.org/drawingml/2006/main">
            <a:off x="5543550" y="1524000"/>
            <a:ext cx="23812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55E141B-C2CE-442C-966D-17CB0B280C9A}"/>
              </a:ext>
            </a:extLst>
          </p:cNvPr>
          <p:cNvSpPr>
            <a:spLocks xmlns:a="http://schemas.openxmlformats.org/drawingml/2006/main" noGrp="1"/>
          </p:cNvSpPr>
          <p:nvPr/>
        </p:nvSpPr>
        <p:spPr>
          <a:xfrm xmlns:a="http://schemas.openxmlformats.org/drawingml/2006/main">
            <a:off x="5543550" y="1524000"/>
            <a:ext cx="76200" cy="12573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5B2284C-1EC6-43FE-87FE-750E5316A558}"/>
              </a:ext>
            </a:extLst>
          </p:cNvPr>
          <p:cNvSpPr>
            <a:spLocks xmlns:a="http://schemas.openxmlformats.org/drawingml/2006/main" noGrp="1"/>
          </p:cNvSpPr>
          <p:nvPr/>
        </p:nvSpPr>
        <p:spPr>
          <a:xfrm xmlns:a="http://schemas.openxmlformats.org/drawingml/2006/main">
            <a:off x="5734050" y="1676400"/>
            <a:ext cx="205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0.937</a:t>
            </a:r>
          </a:p>
        </p:txBody>
      </p:sp>
      <p:sp>
        <p:nvSpPr>
          <p:cNvPr id="17" name="">
            <a:extLst xmlns:a="http://schemas.openxmlformats.org/drawingml/2006/main">
              <a:ext uri="{FF2B5EF4-FFF2-40B4-BE49-F238E27FC236}">
                <a16:creationId xmlns:a16="http://schemas.microsoft.com/office/drawing/2014/main" id="{E5D4C3D0-4D46-4217-8213-3BBC1EEA70C4}"/>
              </a:ext>
            </a:extLst>
          </p:cNvPr>
          <p:cNvSpPr>
            <a:spLocks xmlns:a="http://schemas.openxmlformats.org/drawingml/2006/main" noGrp="1"/>
          </p:cNvSpPr>
          <p:nvPr/>
        </p:nvSpPr>
        <p:spPr>
          <a:xfrm xmlns:a="http://schemas.openxmlformats.org/drawingml/2006/main">
            <a:off x="5734050" y="2209800"/>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R² against reported configuration</a:t>
            </a:r>
          </a:p>
        </p:txBody>
      </p:sp>
      <p:sp>
        <p:nvSpPr>
          <p:cNvPr id="18" name="">
            <a:extLst xmlns:a="http://schemas.openxmlformats.org/drawingml/2006/main">
              <a:ext uri="{FF2B5EF4-FFF2-40B4-BE49-F238E27FC236}">
                <a16:creationId xmlns:a16="http://schemas.microsoft.com/office/drawing/2014/main" id="{0150DB05-05C5-41B6-BDE3-C699023C1950}"/>
              </a:ext>
            </a:extLst>
          </p:cNvPr>
          <p:cNvSpPr>
            <a:spLocks xmlns:a="http://schemas.openxmlformats.org/drawingml/2006/main" noGrp="1"/>
          </p:cNvSpPr>
          <p:nvPr/>
        </p:nvSpPr>
        <p:spPr>
          <a:xfrm xmlns:a="http://schemas.openxmlformats.org/drawingml/2006/main">
            <a:off x="8115300" y="1524000"/>
            <a:ext cx="23812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B97B532-BB57-403F-BEA0-EA50FB6BD1BD}"/>
              </a:ext>
            </a:extLst>
          </p:cNvPr>
          <p:cNvSpPr>
            <a:spLocks xmlns:a="http://schemas.openxmlformats.org/drawingml/2006/main" noGrp="1"/>
          </p:cNvSpPr>
          <p:nvPr/>
        </p:nvSpPr>
        <p:spPr>
          <a:xfrm xmlns:a="http://schemas.openxmlformats.org/drawingml/2006/main">
            <a:off x="8115300" y="1524000"/>
            <a:ext cx="76200" cy="12573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31B213F-3BF3-428A-BC9D-BECA9B36A973}"/>
              </a:ext>
            </a:extLst>
          </p:cNvPr>
          <p:cNvSpPr>
            <a:spLocks xmlns:a="http://schemas.openxmlformats.org/drawingml/2006/main" noGrp="1"/>
          </p:cNvSpPr>
          <p:nvPr/>
        </p:nvSpPr>
        <p:spPr>
          <a:xfrm xmlns:a="http://schemas.openxmlformats.org/drawingml/2006/main">
            <a:off x="8305800" y="1676400"/>
            <a:ext cx="205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87.5%</a:t>
            </a:r>
          </a:p>
        </p:txBody>
      </p:sp>
      <p:sp>
        <p:nvSpPr>
          <p:cNvPr id="21" name="">
            <a:extLst xmlns:a="http://schemas.openxmlformats.org/drawingml/2006/main">
              <a:ext uri="{FF2B5EF4-FFF2-40B4-BE49-F238E27FC236}">
                <a16:creationId xmlns:a16="http://schemas.microsoft.com/office/drawing/2014/main" id="{4A7BAD0E-1C12-468F-9529-06000D281C34}"/>
              </a:ext>
            </a:extLst>
          </p:cNvPr>
          <p:cNvSpPr>
            <a:spLocks xmlns:a="http://schemas.openxmlformats.org/drawingml/2006/main" noGrp="1"/>
          </p:cNvSpPr>
          <p:nvPr/>
        </p:nvSpPr>
        <p:spPr>
          <a:xfrm xmlns:a="http://schemas.openxmlformats.org/drawingml/2006/main">
            <a:off x="8305800" y="2209800"/>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within factor two</a:t>
            </a:r>
          </a:p>
        </p:txBody>
      </p:sp>
      <p:sp>
        <p:nvSpPr>
          <p:cNvPr id="22" name="">
            <a:extLst xmlns:a="http://schemas.openxmlformats.org/drawingml/2006/main">
              <a:ext uri="{FF2B5EF4-FFF2-40B4-BE49-F238E27FC236}">
                <a16:creationId xmlns:a16="http://schemas.microsoft.com/office/drawing/2014/main" id="{80EDD2AA-1FD8-4428-B633-458BED235433}"/>
              </a:ext>
            </a:extLst>
          </p:cNvPr>
          <p:cNvSpPr>
            <a:spLocks xmlns:a="http://schemas.openxmlformats.org/drawingml/2006/main" noGrp="1"/>
          </p:cNvSpPr>
          <p:nvPr/>
        </p:nvSpPr>
        <p:spPr>
          <a:xfrm xmlns:a="http://schemas.openxmlformats.org/drawingml/2006/main">
            <a:off x="400050" y="3143250"/>
            <a:ext cx="11391900" cy="2171700"/>
          </a:xfrm>
          <a:prstGeom xmlns:a="http://schemas.openxmlformats.org/drawingml/2006/main" prst="roundRect">
            <a:avLst>
              <a:gd name="adj" fmla="val 5263"/>
            </a:avLst>
          </a:prstGeom>
          <a:solidFill xmlns:a="http://schemas.openxmlformats.org/drawingml/2006/main">
            <a:srgbClr val="F2F3F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B1B7ACC-3C9D-4689-B7BA-0ECAC7D1C04C}"/>
              </a:ext>
            </a:extLst>
          </p:cNvPr>
          <p:cNvSpPr>
            <a:spLocks xmlns:a="http://schemas.openxmlformats.org/drawingml/2006/main" noGrp="1"/>
          </p:cNvSpPr>
          <p:nvPr/>
        </p:nvSpPr>
        <p:spPr>
          <a:xfrm xmlns:a="http://schemas.openxmlformats.org/drawingml/2006/main">
            <a:off x="685800" y="3429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Topology stress test</a:t>
            </a:r>
          </a:p>
        </p:txBody>
      </p:sp>
      <p:sp>
        <p:nvSpPr>
          <p:cNvPr id="24" name="">
            <a:extLst xmlns:a="http://schemas.openxmlformats.org/drawingml/2006/main">
              <a:ext uri="{FF2B5EF4-FFF2-40B4-BE49-F238E27FC236}">
                <a16:creationId xmlns:a16="http://schemas.microsoft.com/office/drawing/2014/main" id="{9BE4046C-FC7A-44B7-9E6D-4EF4B73006B1}"/>
              </a:ext>
            </a:extLst>
          </p:cNvPr>
          <p:cNvSpPr>
            <a:spLocks xmlns:a="http://schemas.openxmlformats.org/drawingml/2006/main" noGrp="1"/>
          </p:cNvSpPr>
          <p:nvPr/>
        </p:nvSpPr>
        <p:spPr>
          <a:xfrm xmlns:a="http://schemas.openxmlformats.org/drawingml/2006/main">
            <a:off x="685800" y="3905250"/>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Weak hydraulic proxy</a:t>
            </a:r>
          </a:p>
        </p:txBody>
      </p:sp>
      <p:sp>
        <p:nvSpPr>
          <p:cNvPr id="25" name="">
            <a:extLst xmlns:a="http://schemas.openxmlformats.org/drawingml/2006/main">
              <a:ext uri="{FF2B5EF4-FFF2-40B4-BE49-F238E27FC236}">
                <a16:creationId xmlns:a16="http://schemas.microsoft.com/office/drawing/2014/main" id="{77F41FB4-20D9-41E6-9451-96FFC74F7B8C}"/>
              </a:ext>
            </a:extLst>
          </p:cNvPr>
          <p:cNvSpPr>
            <a:spLocks xmlns:a="http://schemas.openxmlformats.org/drawingml/2006/main" noGrp="1"/>
          </p:cNvSpPr>
          <p:nvPr/>
        </p:nvSpPr>
        <p:spPr>
          <a:xfrm xmlns:a="http://schemas.openxmlformats.org/drawingml/2006/main">
            <a:off x="3190875" y="390525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D97706"/>
                </a:solidFill>
                <a:latin typeface="Helvetica Neue"/>
                <a:ea typeface="Helvetica Neue"/>
                <a:cs typeface="Helvetica Neue"/>
              </a:defRPr>
            </a:pPr>
            <a:r>
              <a:rPr sz="1350" b="0">
                <a:solidFill>
                  <a:srgbClr val="D97706"/>
                </a:solidFill>
                <a:latin typeface="Helvetica Neue"/>
                <a:ea typeface="Helvetica Neue"/>
                <a:cs typeface="Helvetica Neue"/>
              </a:rPr>
              <a:t>−0.00135 RMSE</a:t>
            </a:r>
          </a:p>
        </p:txBody>
      </p:sp>
      <p:sp>
        <p:nvSpPr>
          <p:cNvPr id="26" name="">
            <a:extLst xmlns:a="http://schemas.openxmlformats.org/drawingml/2006/main">
              <a:ext uri="{FF2B5EF4-FFF2-40B4-BE49-F238E27FC236}">
                <a16:creationId xmlns:a16="http://schemas.microsoft.com/office/drawing/2014/main" id="{CA3BA66A-FB43-4612-AD9A-2DEAAA88EEBF}"/>
              </a:ext>
            </a:extLst>
          </p:cNvPr>
          <p:cNvSpPr>
            <a:spLocks xmlns:a="http://schemas.openxmlformats.org/drawingml/2006/main" noGrp="1"/>
          </p:cNvSpPr>
          <p:nvPr/>
        </p:nvSpPr>
        <p:spPr>
          <a:xfrm xmlns:a="http://schemas.openxmlformats.org/drawingml/2006/main">
            <a:off x="5095875" y="39052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factor-two agreement worsened</a:t>
            </a:r>
          </a:p>
        </p:txBody>
      </p:sp>
      <p:sp>
        <p:nvSpPr>
          <p:cNvPr id="27" name="">
            <a:extLst xmlns:a="http://schemas.openxmlformats.org/drawingml/2006/main">
              <a:ext uri="{FF2B5EF4-FFF2-40B4-BE49-F238E27FC236}">
                <a16:creationId xmlns:a16="http://schemas.microsoft.com/office/drawing/2014/main" id="{C619A182-B186-4CCA-A452-13AF96168B1B}"/>
              </a:ext>
            </a:extLst>
          </p:cNvPr>
          <p:cNvSpPr>
            <a:spLocks xmlns:a="http://schemas.openxmlformats.org/drawingml/2006/main" noGrp="1"/>
          </p:cNvSpPr>
          <p:nvPr/>
        </p:nvSpPr>
        <p:spPr>
          <a:xfrm xmlns:a="http://schemas.openxmlformats.org/drawingml/2006/main">
            <a:off x="9048750" y="3867150"/>
            <a:ext cx="2000250" cy="323850"/>
          </a:xfrm>
          <a:prstGeom xmlns:a="http://schemas.openxmlformats.org/drawingml/2006/main" prst="roundRect">
            <a:avLst>
              <a:gd name="adj" fmla="val 50000"/>
            </a:avLst>
          </a:prstGeom>
          <a:solidFill xmlns:a="http://schemas.openxmlformats.org/drawingml/2006/main">
            <a:srgbClr val="FFF3D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531ACEE-9DE5-435C-879C-F61F25E207FC}"/>
              </a:ext>
            </a:extLst>
          </p:cNvPr>
          <p:cNvSpPr>
            <a:spLocks xmlns:a="http://schemas.openxmlformats.org/drawingml/2006/main" noGrp="1"/>
          </p:cNvSpPr>
          <p:nvPr/>
        </p:nvSpPr>
        <p:spPr>
          <a:xfrm xmlns:a="http://schemas.openxmlformats.org/drawingml/2006/main">
            <a:off x="9144000" y="393382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NO ROBUST GAIN</a:t>
            </a:r>
          </a:p>
        </p:txBody>
      </p:sp>
      <p:sp>
        <p:nvSpPr>
          <p:cNvPr id="29" name="">
            <a:extLst xmlns:a="http://schemas.openxmlformats.org/drawingml/2006/main">
              <a:ext uri="{FF2B5EF4-FFF2-40B4-BE49-F238E27FC236}">
                <a16:creationId xmlns:a16="http://schemas.microsoft.com/office/drawing/2014/main" id="{308ABBE2-42AB-4770-855B-E366A4E5A148}"/>
              </a:ext>
            </a:extLst>
          </p:cNvPr>
          <p:cNvSpPr>
            <a:spLocks xmlns:a="http://schemas.openxmlformats.org/drawingml/2006/main" noGrp="1"/>
          </p:cNvSpPr>
          <p:nvPr/>
        </p:nvSpPr>
        <p:spPr>
          <a:xfrm xmlns:a="http://schemas.openxmlformats.org/drawingml/2006/main">
            <a:off x="685800" y="4362450"/>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Wrong direction</a:t>
            </a:r>
          </a:p>
        </p:txBody>
      </p:sp>
      <p:sp>
        <p:nvSpPr>
          <p:cNvPr id="30" name="">
            <a:extLst xmlns:a="http://schemas.openxmlformats.org/drawingml/2006/main">
              <a:ext uri="{FF2B5EF4-FFF2-40B4-BE49-F238E27FC236}">
                <a16:creationId xmlns:a16="http://schemas.microsoft.com/office/drawing/2014/main" id="{CD8A1BCB-ACFE-4621-A1A9-8045EE0B5BAC}"/>
              </a:ext>
            </a:extLst>
          </p:cNvPr>
          <p:cNvSpPr>
            <a:spLocks xmlns:a="http://schemas.openxmlformats.org/drawingml/2006/main" noGrp="1"/>
          </p:cNvSpPr>
          <p:nvPr/>
        </p:nvSpPr>
        <p:spPr>
          <a:xfrm xmlns:a="http://schemas.openxmlformats.org/drawingml/2006/main">
            <a:off x="3190875" y="436245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C53030"/>
                </a:solidFill>
                <a:latin typeface="Helvetica Neue"/>
                <a:ea typeface="Helvetica Neue"/>
                <a:cs typeface="Helvetica Neue"/>
              </a:defRPr>
            </a:pPr>
            <a:r>
              <a:rPr sz="1350" b="0">
                <a:solidFill>
                  <a:srgbClr val="C53030"/>
                </a:solidFill>
                <a:latin typeface="Helvetica Neue"/>
                <a:ea typeface="Helvetica Neue"/>
                <a:cs typeface="Helvetica Neue"/>
              </a:rPr>
              <a:t>+0.1008 RMSE</a:t>
            </a:r>
          </a:p>
        </p:txBody>
      </p:sp>
      <p:sp>
        <p:nvSpPr>
          <p:cNvPr id="31" name="">
            <a:extLst xmlns:a="http://schemas.openxmlformats.org/drawingml/2006/main">
              <a:ext uri="{FF2B5EF4-FFF2-40B4-BE49-F238E27FC236}">
                <a16:creationId xmlns:a16="http://schemas.microsoft.com/office/drawing/2014/main" id="{D20CF563-48C4-4F0D-A66D-15E24012581E}"/>
              </a:ext>
            </a:extLst>
          </p:cNvPr>
          <p:cNvSpPr>
            <a:spLocks xmlns:a="http://schemas.openxmlformats.org/drawingml/2006/main" noGrp="1"/>
          </p:cNvSpPr>
          <p:nvPr/>
        </p:nvSpPr>
        <p:spPr>
          <a:xfrm xmlns:a="http://schemas.openxmlformats.org/drawingml/2006/main">
            <a:off x="5095875" y="43624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clear negative transfer</a:t>
            </a:r>
          </a:p>
        </p:txBody>
      </p:sp>
      <p:sp>
        <p:nvSpPr>
          <p:cNvPr id="32" name="">
            <a:extLst xmlns:a="http://schemas.openxmlformats.org/drawingml/2006/main">
              <a:ext uri="{FF2B5EF4-FFF2-40B4-BE49-F238E27FC236}">
                <a16:creationId xmlns:a16="http://schemas.microsoft.com/office/drawing/2014/main" id="{C08B44E7-8BC3-47CB-9A9F-BC5E877F5E39}"/>
              </a:ext>
            </a:extLst>
          </p:cNvPr>
          <p:cNvSpPr>
            <a:spLocks xmlns:a="http://schemas.openxmlformats.org/drawingml/2006/main" noGrp="1"/>
          </p:cNvSpPr>
          <p:nvPr/>
        </p:nvSpPr>
        <p:spPr>
          <a:xfrm xmlns:a="http://schemas.openxmlformats.org/drawingml/2006/main">
            <a:off x="9048750" y="4324350"/>
            <a:ext cx="2000250" cy="323850"/>
          </a:xfrm>
          <a:prstGeom xmlns:a="http://schemas.openxmlformats.org/drawingml/2006/main" prst="roundRect">
            <a:avLst>
              <a:gd name="adj" fmla="val 50000"/>
            </a:avLst>
          </a:prstGeom>
          <a:solidFill xmlns:a="http://schemas.openxmlformats.org/drawingml/2006/main">
            <a:srgbClr val="FDE8E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9D83303-D2D5-4C47-8975-644FC86F0AAA}"/>
              </a:ext>
            </a:extLst>
          </p:cNvPr>
          <p:cNvSpPr>
            <a:spLocks xmlns:a="http://schemas.openxmlformats.org/drawingml/2006/main" noGrp="1"/>
          </p:cNvSpPr>
          <p:nvPr/>
        </p:nvSpPr>
        <p:spPr>
          <a:xfrm xmlns:a="http://schemas.openxmlformats.org/drawingml/2006/main">
            <a:off x="9144000" y="439102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HARMFUL</a:t>
            </a:r>
          </a:p>
        </p:txBody>
      </p:sp>
      <p:sp>
        <p:nvSpPr>
          <p:cNvPr id="34" name="">
            <a:extLst xmlns:a="http://schemas.openxmlformats.org/drawingml/2006/main">
              <a:ext uri="{FF2B5EF4-FFF2-40B4-BE49-F238E27FC236}">
                <a16:creationId xmlns:a16="http://schemas.microsoft.com/office/drawing/2014/main" id="{6F158EF4-5DF4-4BC1-A108-B595CDAC4D85}"/>
              </a:ext>
            </a:extLst>
          </p:cNvPr>
          <p:cNvSpPr>
            <a:spLocks xmlns:a="http://schemas.openxmlformats.org/drawingml/2006/main" noGrp="1"/>
          </p:cNvSpPr>
          <p:nvPr/>
        </p:nvSpPr>
        <p:spPr>
          <a:xfrm xmlns:a="http://schemas.openxmlformats.org/drawingml/2006/main">
            <a:off x="685800" y="4819650"/>
            <a:ext cx="2333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Random graph</a:t>
            </a:r>
          </a:p>
        </p:txBody>
      </p:sp>
      <p:sp>
        <p:nvSpPr>
          <p:cNvPr id="35" name="">
            <a:extLst xmlns:a="http://schemas.openxmlformats.org/drawingml/2006/main">
              <a:ext uri="{FF2B5EF4-FFF2-40B4-BE49-F238E27FC236}">
                <a16:creationId xmlns:a16="http://schemas.microsoft.com/office/drawing/2014/main" id="{45F1AEDA-3DFF-4ED7-BD59-222744C3A00B}"/>
              </a:ext>
            </a:extLst>
          </p:cNvPr>
          <p:cNvSpPr>
            <a:spLocks xmlns:a="http://schemas.openxmlformats.org/drawingml/2006/main" noGrp="1"/>
          </p:cNvSpPr>
          <p:nvPr/>
        </p:nvSpPr>
        <p:spPr>
          <a:xfrm xmlns:a="http://schemas.openxmlformats.org/drawingml/2006/main">
            <a:off x="3190875" y="481965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C53030"/>
                </a:solidFill>
                <a:latin typeface="Helvetica Neue"/>
                <a:ea typeface="Helvetica Neue"/>
                <a:cs typeface="Helvetica Neue"/>
              </a:defRPr>
            </a:pPr>
            <a:r>
              <a:rPr sz="1350" b="0">
                <a:solidFill>
                  <a:srgbClr val="C53030"/>
                </a:solidFill>
                <a:latin typeface="Helvetica Neue"/>
                <a:ea typeface="Helvetica Neue"/>
                <a:cs typeface="Helvetica Neue"/>
              </a:rPr>
              <a:t>+0.6550 RMSE</a:t>
            </a:r>
          </a:p>
        </p:txBody>
      </p:sp>
      <p:sp>
        <p:nvSpPr>
          <p:cNvPr id="36" name="">
            <a:extLst xmlns:a="http://schemas.openxmlformats.org/drawingml/2006/main">
              <a:ext uri="{FF2B5EF4-FFF2-40B4-BE49-F238E27FC236}">
                <a16:creationId xmlns:a16="http://schemas.microsoft.com/office/drawing/2014/main" id="{AECEFB51-242A-4C1E-9713-D81369527556}"/>
              </a:ext>
            </a:extLst>
          </p:cNvPr>
          <p:cNvSpPr>
            <a:spLocks xmlns:a="http://schemas.openxmlformats.org/drawingml/2006/main" noGrp="1"/>
          </p:cNvSpPr>
          <p:nvPr/>
        </p:nvSpPr>
        <p:spPr>
          <a:xfrm xmlns:a="http://schemas.openxmlformats.org/drawingml/2006/main">
            <a:off x="5095875" y="48196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severe negative transfer</a:t>
            </a:r>
          </a:p>
        </p:txBody>
      </p:sp>
      <p:sp>
        <p:nvSpPr>
          <p:cNvPr id="37" name="">
            <a:extLst xmlns:a="http://schemas.openxmlformats.org/drawingml/2006/main">
              <a:ext uri="{FF2B5EF4-FFF2-40B4-BE49-F238E27FC236}">
                <a16:creationId xmlns:a16="http://schemas.microsoft.com/office/drawing/2014/main" id="{250ADC69-E537-46CF-8EF1-F709C0284B55}"/>
              </a:ext>
            </a:extLst>
          </p:cNvPr>
          <p:cNvSpPr>
            <a:spLocks xmlns:a="http://schemas.openxmlformats.org/drawingml/2006/main" noGrp="1"/>
          </p:cNvSpPr>
          <p:nvPr/>
        </p:nvSpPr>
        <p:spPr>
          <a:xfrm xmlns:a="http://schemas.openxmlformats.org/drawingml/2006/main">
            <a:off x="9048750" y="4781550"/>
            <a:ext cx="2000250" cy="323850"/>
          </a:xfrm>
          <a:prstGeom xmlns:a="http://schemas.openxmlformats.org/drawingml/2006/main" prst="roundRect">
            <a:avLst>
              <a:gd name="adj" fmla="val 50000"/>
            </a:avLst>
          </a:prstGeom>
          <a:solidFill xmlns:a="http://schemas.openxmlformats.org/drawingml/2006/main">
            <a:srgbClr val="FDE8E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D181C7E-FC5A-4C71-8217-B98FD935A2AD}"/>
              </a:ext>
            </a:extLst>
          </p:cNvPr>
          <p:cNvSpPr>
            <a:spLocks xmlns:a="http://schemas.openxmlformats.org/drawingml/2006/main" noGrp="1"/>
          </p:cNvSpPr>
          <p:nvPr/>
        </p:nvSpPr>
        <p:spPr>
          <a:xfrm xmlns:a="http://schemas.openxmlformats.org/drawingml/2006/main">
            <a:off x="9144000" y="484822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HARMFUL</a:t>
            </a:r>
          </a:p>
        </p:txBody>
      </p:sp>
    </p:spTree>
    <p:extLst>
      <p:ext uri="{BB962C8B-B14F-4D97-AF65-F5344CB8AC3E}">
        <p14:creationId xmlns:p14="http://schemas.microsoft.com/office/powerpoint/2010/main" val="4467927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C6DE5FF-A222-4987-8F61-EFF560113E66}"/>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DIRECTED CONNECTIVITY</a:t>
            </a:r>
          </a:p>
        </p:txBody>
      </p:sp>
      <p:sp>
        <p:nvSpPr>
          <p:cNvPr id="2" name="">
            <a:extLst xmlns:a="http://schemas.openxmlformats.org/drawingml/2006/main">
              <a:ext uri="{FF2B5EF4-FFF2-40B4-BE49-F238E27FC236}">
                <a16:creationId xmlns:a16="http://schemas.microsoft.com/office/drawing/2014/main" id="{D28DF782-4871-4994-9BFF-730D323EE9AF}"/>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Topology skill was conditional, not perfect</a:t>
            </a:r>
          </a:p>
        </p:txBody>
      </p:sp>
      <p:sp>
        <p:nvSpPr>
          <p:cNvPr id="3" name="">
            <a:extLst xmlns:a="http://schemas.openxmlformats.org/drawingml/2006/main">
              <a:ext uri="{FF2B5EF4-FFF2-40B4-BE49-F238E27FC236}">
                <a16:creationId xmlns:a16="http://schemas.microsoft.com/office/drawing/2014/main" id="{BD9CDE81-9A1D-430A-B921-49E8DAA44457}"/>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43BDEF7-57F2-454A-99E4-C852AFC32A85}"/>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E44BBDF2-86EB-4037-A829-08D10EF1D619}"/>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10</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70c8ed6e9714640"/>
          <a:stretch xmlns:a="http://schemas.openxmlformats.org/drawingml/2006/main"/>
        </p:blipFill>
        <p:spPr>
          <a:xfrm xmlns:a="http://schemas.openxmlformats.org/drawingml/2006/main">
            <a:off x="2141643" y="1428750"/>
            <a:ext cx="3089064" cy="476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E7DDB04-E7B5-4BFF-80A5-4628C556933B}"/>
              </a:ext>
            </a:extLst>
          </p:cNvPr>
          <p:cNvSpPr>
            <a:spLocks xmlns:a="http://schemas.openxmlformats.org/drawingml/2006/main" noGrp="1"/>
          </p:cNvSpPr>
          <p:nvPr/>
        </p:nvSpPr>
        <p:spPr>
          <a:xfrm xmlns:a="http://schemas.openxmlformats.org/drawingml/2006/main">
            <a:off x="7334250" y="1543050"/>
            <a:ext cx="4095750" cy="1524000"/>
          </a:xfrm>
          <a:prstGeom xmlns:a="http://schemas.openxmlformats.org/drawingml/2006/main" prst="roundRect">
            <a:avLst>
              <a:gd name="adj" fmla="val 7500"/>
            </a:avLst>
          </a:prstGeom>
          <a:solidFill xmlns:a="http://schemas.openxmlformats.org/drawingml/2006/main">
            <a:srgbClr val="E7F7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BF7B059-09D0-4227-9FD5-D409433C4F0D}"/>
              </a:ext>
            </a:extLst>
          </p:cNvPr>
          <p:cNvSpPr>
            <a:spLocks xmlns:a="http://schemas.openxmlformats.org/drawingml/2006/main" noGrp="1"/>
          </p:cNvSpPr>
          <p:nvPr/>
        </p:nvSpPr>
        <p:spPr>
          <a:xfrm xmlns:a="http://schemas.openxmlformats.org/drawingml/2006/main">
            <a:off x="7620000" y="1762125"/>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49A84"/>
                </a:solidFill>
                <a:latin typeface="Helvetica Neue"/>
                <a:ea typeface="Helvetica Neue"/>
                <a:cs typeface="Helvetica Neue"/>
              </a:defRPr>
            </a:pPr>
            <a:r>
              <a:rPr sz="1725" b="1">
                <a:solidFill>
                  <a:srgbClr val="149A84"/>
                </a:solidFill>
                <a:latin typeface="Helvetica Neue"/>
                <a:ea typeface="Helvetica Neue"/>
                <a:cs typeface="Helvetica Neue"/>
              </a:rPr>
              <a:t>Head-gradient inference</a:t>
            </a:r>
          </a:p>
        </p:txBody>
      </p:sp>
      <p:sp>
        <p:nvSpPr>
          <p:cNvPr id="9" name="">
            <a:extLst xmlns:a="http://schemas.openxmlformats.org/drawingml/2006/main">
              <a:ext uri="{FF2B5EF4-FFF2-40B4-BE49-F238E27FC236}">
                <a16:creationId xmlns:a16="http://schemas.microsoft.com/office/drawing/2014/main" id="{95EE0336-DD3B-43DA-9236-97E0A25B85E9}"/>
              </a:ext>
            </a:extLst>
          </p:cNvPr>
          <p:cNvSpPr>
            <a:spLocks xmlns:a="http://schemas.openxmlformats.org/drawingml/2006/main" noGrp="1"/>
          </p:cNvSpPr>
          <p:nvPr/>
        </p:nvSpPr>
        <p:spPr>
          <a:xfrm xmlns:a="http://schemas.openxmlformats.org/drawingml/2006/main">
            <a:off x="7620000" y="2305050"/>
            <a:ext cx="352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318"/>
                </a:solidFill>
                <a:latin typeface="Helvetica Neue"/>
                <a:ea typeface="Helvetica Neue"/>
                <a:cs typeface="Helvetica Neue"/>
              </a:defRPr>
            </a:pPr>
            <a:r>
              <a:rPr sz="2025" b="1">
                <a:solidFill>
                  <a:srgbClr val="111318"/>
                </a:solidFill>
                <a:latin typeface="Helvetica Neue"/>
                <a:ea typeface="Helvetica Neue"/>
                <a:cs typeface="Helvetica Neue"/>
              </a:rPr>
              <a:t>P 0.49  ·  R 0.84  ·  F1 0.62</a:t>
            </a:r>
          </a:p>
        </p:txBody>
      </p:sp>
      <p:sp>
        <p:nvSpPr>
          <p:cNvPr id="10" name="">
            <a:extLst xmlns:a="http://schemas.openxmlformats.org/drawingml/2006/main">
              <a:ext uri="{FF2B5EF4-FFF2-40B4-BE49-F238E27FC236}">
                <a16:creationId xmlns:a16="http://schemas.microsoft.com/office/drawing/2014/main" id="{226DBDBC-CB53-44E6-9EC4-D8A6D2B38B0E}"/>
              </a:ext>
            </a:extLst>
          </p:cNvPr>
          <p:cNvSpPr>
            <a:spLocks xmlns:a="http://schemas.openxmlformats.org/drawingml/2006/main" noGrp="1"/>
          </p:cNvSpPr>
          <p:nvPr/>
        </p:nvSpPr>
        <p:spPr>
          <a:xfrm xmlns:a="http://schemas.openxmlformats.org/drawingml/2006/main">
            <a:off x="7334250" y="3257550"/>
            <a:ext cx="4095750" cy="1066800"/>
          </a:xfrm>
          <a:prstGeom xmlns:a="http://schemas.openxmlformats.org/drawingml/2006/main" prst="roundRect">
            <a:avLst>
              <a:gd name="adj" fmla="val 10714"/>
            </a:avLst>
          </a:prstGeom>
          <a:solidFill xmlns:a="http://schemas.openxmlformats.org/drawingml/2006/main">
            <a:srgbClr val="F2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79047A2-F09D-4951-BFAC-D48DA71CA32A}"/>
              </a:ext>
            </a:extLst>
          </p:cNvPr>
          <p:cNvSpPr>
            <a:spLocks xmlns:a="http://schemas.openxmlformats.org/drawingml/2006/main" noGrp="1"/>
          </p:cNvSpPr>
          <p:nvPr/>
        </p:nvSpPr>
        <p:spPr>
          <a:xfrm xmlns:a="http://schemas.openxmlformats.org/drawingml/2006/main">
            <a:off x="7620000" y="344805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Independent scenarios</a:t>
            </a:r>
          </a:p>
        </p:txBody>
      </p:sp>
      <p:sp>
        <p:nvSpPr>
          <p:cNvPr id="12" name="">
            <a:extLst xmlns:a="http://schemas.openxmlformats.org/drawingml/2006/main">
              <a:ext uri="{FF2B5EF4-FFF2-40B4-BE49-F238E27FC236}">
                <a16:creationId xmlns:a16="http://schemas.microsoft.com/office/drawing/2014/main" id="{AD1375E7-158A-4258-A61C-7C7D32FE8D61}"/>
              </a:ext>
            </a:extLst>
          </p:cNvPr>
          <p:cNvSpPr>
            <a:spLocks xmlns:a="http://schemas.openxmlformats.org/drawingml/2006/main" noGrp="1"/>
          </p:cNvSpPr>
          <p:nvPr/>
        </p:nvSpPr>
        <p:spPr>
          <a:xfrm xmlns:a="http://schemas.openxmlformats.org/drawingml/2006/main">
            <a:off x="7620000" y="384810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1 perfect · 3 with FP/FN · 2 scale mismatches</a:t>
            </a:r>
          </a:p>
        </p:txBody>
      </p:sp>
      <p:sp>
        <p:nvSpPr>
          <p:cNvPr id="13" name="">
            <a:extLst xmlns:a="http://schemas.openxmlformats.org/drawingml/2006/main">
              <a:ext uri="{FF2B5EF4-FFF2-40B4-BE49-F238E27FC236}">
                <a16:creationId xmlns:a16="http://schemas.microsoft.com/office/drawing/2014/main" id="{170DBFC9-35BB-4979-A796-5E13BB757D2B}"/>
              </a:ext>
            </a:extLst>
          </p:cNvPr>
          <p:cNvSpPr>
            <a:spLocks xmlns:a="http://schemas.openxmlformats.org/drawingml/2006/main" noGrp="1"/>
          </p:cNvSpPr>
          <p:nvPr/>
        </p:nvSpPr>
        <p:spPr>
          <a:xfrm xmlns:a="http://schemas.openxmlformats.org/drawingml/2006/main">
            <a:off x="7334250" y="4514850"/>
            <a:ext cx="4095750" cy="1066800"/>
          </a:xfrm>
          <a:prstGeom xmlns:a="http://schemas.openxmlformats.org/drawingml/2006/main" prst="roundRect">
            <a:avLst>
              <a:gd name="adj" fmla="val 10714"/>
            </a:avLst>
          </a:prstGeom>
          <a:solidFill xmlns:a="http://schemas.openxmlformats.org/drawingml/2006/main">
            <a:srgbClr val="FDE8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C9DAD31-0F2F-4D6C-9702-4A1630A3DE3E}"/>
              </a:ext>
            </a:extLst>
          </p:cNvPr>
          <p:cNvSpPr>
            <a:spLocks xmlns:a="http://schemas.openxmlformats.org/drawingml/2006/main" noGrp="1"/>
          </p:cNvSpPr>
          <p:nvPr/>
        </p:nvSpPr>
        <p:spPr>
          <a:xfrm xmlns:a="http://schemas.openxmlformats.org/drawingml/2006/main">
            <a:off x="7620000" y="470535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Guardrail</a:t>
            </a:r>
          </a:p>
        </p:txBody>
      </p:sp>
      <p:sp>
        <p:nvSpPr>
          <p:cNvPr id="15" name="">
            <a:extLst xmlns:a="http://schemas.openxmlformats.org/drawingml/2006/main">
              <a:ext uri="{FF2B5EF4-FFF2-40B4-BE49-F238E27FC236}">
                <a16:creationId xmlns:a16="http://schemas.microsoft.com/office/drawing/2014/main" id="{15F53E71-CF17-44E6-967E-875E3419AFD3}"/>
              </a:ext>
            </a:extLst>
          </p:cNvPr>
          <p:cNvSpPr>
            <a:spLocks xmlns:a="http://schemas.openxmlformats.org/drawingml/2006/main" noGrp="1"/>
          </p:cNvSpPr>
          <p:nvPr/>
        </p:nvSpPr>
        <p:spPr>
          <a:xfrm xmlns:a="http://schemas.openxmlformats.org/drawingml/2006/main">
            <a:off x="7620000" y="5105400"/>
            <a:ext cx="352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l">
              <a:defRPr sz="1350" b="1">
                <a:solidFill>
                  <a:srgbClr val="C53030"/>
                </a:solidFill>
                <a:latin typeface="Helvetica Neue"/>
                <a:ea typeface="Helvetica Neue"/>
                <a:cs typeface="Helvetica Neue"/>
              </a:defRPr>
            </a:pPr>
            <a:r>
              <a:rPr sz="1350" b="1">
                <a:solidFill>
                  <a:srgbClr val="C53030"/>
                </a:solidFill>
                <a:latin typeface="Helvetica Neue"/>
                <a:ea typeface="Helvetica Neue"/>
                <a:cs typeface="Helvetica Neue"/>
              </a:rPr>
              <a:t>Model-conditioned MODPATH topology ≠ field connectivity truth</a:t>
            </a:r>
          </a:p>
        </p:txBody>
      </p:sp>
    </p:spTree>
    <p:extLst>
      <p:ext uri="{BB962C8B-B14F-4D97-AF65-F5344CB8AC3E}">
        <p14:creationId xmlns:p14="http://schemas.microsoft.com/office/powerpoint/2010/main" val="497926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BAE1CA9-91F4-410B-B3E3-E67C977F9C32}"/>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INVERSE HYDROGEOCHEMISTRY</a:t>
            </a:r>
          </a:p>
        </p:txBody>
      </p:sp>
      <p:sp>
        <p:nvSpPr>
          <p:cNvPr id="2" name="">
            <a:extLst xmlns:a="http://schemas.openxmlformats.org/drawingml/2006/main">
              <a:ext uri="{FF2B5EF4-FFF2-40B4-BE49-F238E27FC236}">
                <a16:creationId xmlns:a16="http://schemas.microsoft.com/office/drawing/2014/main" id="{2F362C12-C82E-46E1-806A-F16B208FBB58}"/>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Low residuals did not identify unique reaction mechanisms</a:t>
            </a:r>
          </a:p>
        </p:txBody>
      </p:sp>
      <p:sp>
        <p:nvSpPr>
          <p:cNvPr id="3" name="">
            <a:extLst xmlns:a="http://schemas.openxmlformats.org/drawingml/2006/main">
              <a:ext uri="{FF2B5EF4-FFF2-40B4-BE49-F238E27FC236}">
                <a16:creationId xmlns:a16="http://schemas.microsoft.com/office/drawing/2014/main" id="{97D858BB-0DF7-4C71-8B80-542514F3766C}"/>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7F039BA-3278-4F3C-8739-A82B4189D6AB}"/>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2C99B29A-C6F1-4484-9ED7-BC3442931703}"/>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11</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5ca5b09eec04f92"/>
          <a:stretch xmlns:a="http://schemas.openxmlformats.org/drawingml/2006/main"/>
        </p:blipFill>
        <p:spPr>
          <a:xfrm xmlns:a="http://schemas.openxmlformats.org/drawingml/2006/main">
            <a:off x="839743" y="1381125"/>
            <a:ext cx="6454865" cy="4810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21DC624-487F-42CA-A482-F91FC1DC22FA}"/>
              </a:ext>
            </a:extLst>
          </p:cNvPr>
          <p:cNvSpPr>
            <a:spLocks xmlns:a="http://schemas.openxmlformats.org/drawingml/2006/main" noGrp="1"/>
          </p:cNvSpPr>
          <p:nvPr/>
        </p:nvSpPr>
        <p:spPr>
          <a:xfrm xmlns:a="http://schemas.openxmlformats.org/drawingml/2006/main">
            <a:off x="8048625" y="15430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DDC53F0-C808-4A83-9B38-54D71CCC5F4C}"/>
              </a:ext>
            </a:extLst>
          </p:cNvPr>
          <p:cNvSpPr>
            <a:spLocks xmlns:a="http://schemas.openxmlformats.org/drawingml/2006/main" noGrp="1"/>
          </p:cNvSpPr>
          <p:nvPr/>
        </p:nvSpPr>
        <p:spPr>
          <a:xfrm xmlns:a="http://schemas.openxmlformats.org/drawingml/2006/main">
            <a:off x="8048625" y="1543050"/>
            <a:ext cx="76200" cy="1257300"/>
          </a:xfrm>
          <a:prstGeom xmlns:a="http://schemas.openxmlformats.org/drawingml/2006/main" prst="rect">
            <a:avLst/>
          </a:prstGeom>
          <a:solidFill xmlns:a="http://schemas.openxmlformats.org/drawingml/2006/main">
            <a:srgbClr val="D9770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791C6FC-2B28-4D1C-BA77-2FCAD51F97C3}"/>
              </a:ext>
            </a:extLst>
          </p:cNvPr>
          <p:cNvSpPr>
            <a:spLocks xmlns:a="http://schemas.openxmlformats.org/drawingml/2006/main" noGrp="1"/>
          </p:cNvSpPr>
          <p:nvPr/>
        </p:nvSpPr>
        <p:spPr>
          <a:xfrm xmlns:a="http://schemas.openxmlformats.org/drawingml/2006/main">
            <a:off x="8239125" y="1695450"/>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D97706"/>
                </a:solidFill>
                <a:latin typeface="Helvetica Neue"/>
                <a:ea typeface="Helvetica Neue"/>
                <a:cs typeface="Helvetica Neue"/>
              </a:defRPr>
            </a:pPr>
            <a:r>
              <a:rPr sz="2625" b="1">
                <a:solidFill>
                  <a:srgbClr val="D97706"/>
                </a:solidFill>
                <a:latin typeface="Helvetica Neue"/>
                <a:ea typeface="Helvetica Neue"/>
                <a:cs typeface="Helvetica Neue"/>
              </a:rPr>
              <a:t>185.78</a:t>
            </a:r>
          </a:p>
        </p:txBody>
      </p:sp>
      <p:sp>
        <p:nvSpPr>
          <p:cNvPr id="10" name="">
            <a:extLst xmlns:a="http://schemas.openxmlformats.org/drawingml/2006/main">
              <a:ext uri="{FF2B5EF4-FFF2-40B4-BE49-F238E27FC236}">
                <a16:creationId xmlns:a16="http://schemas.microsoft.com/office/drawing/2014/main" id="{53A0309B-A5C4-43C6-956F-7CDB098FD3D3}"/>
              </a:ext>
            </a:extLst>
          </p:cNvPr>
          <p:cNvSpPr>
            <a:spLocks xmlns:a="http://schemas.openxmlformats.org/drawingml/2006/main" noGrp="1"/>
          </p:cNvSpPr>
          <p:nvPr/>
        </p:nvSpPr>
        <p:spPr>
          <a:xfrm xmlns:a="http://schemas.openxmlformats.org/drawingml/2006/main">
            <a:off x="8239125" y="22288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mean feasible PHREEQC models / scenario</a:t>
            </a:r>
          </a:p>
        </p:txBody>
      </p:sp>
      <p:sp>
        <p:nvSpPr>
          <p:cNvPr id="11" name="">
            <a:extLst xmlns:a="http://schemas.openxmlformats.org/drawingml/2006/main">
              <a:ext uri="{FF2B5EF4-FFF2-40B4-BE49-F238E27FC236}">
                <a16:creationId xmlns:a16="http://schemas.microsoft.com/office/drawing/2014/main" id="{87098384-CE3B-4F2D-96B3-4089422640FC}"/>
              </a:ext>
            </a:extLst>
          </p:cNvPr>
          <p:cNvSpPr>
            <a:spLocks xmlns:a="http://schemas.openxmlformats.org/drawingml/2006/main" noGrp="1"/>
          </p:cNvSpPr>
          <p:nvPr/>
        </p:nvSpPr>
        <p:spPr>
          <a:xfrm xmlns:a="http://schemas.openxmlformats.org/drawingml/2006/main">
            <a:off x="8048625" y="29908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74219B-01DB-4828-8C85-F56EF873C49E}"/>
              </a:ext>
            </a:extLst>
          </p:cNvPr>
          <p:cNvSpPr>
            <a:spLocks xmlns:a="http://schemas.openxmlformats.org/drawingml/2006/main" noGrp="1"/>
          </p:cNvSpPr>
          <p:nvPr/>
        </p:nvSpPr>
        <p:spPr>
          <a:xfrm xmlns:a="http://schemas.openxmlformats.org/drawingml/2006/main">
            <a:off x="8048625" y="2990850"/>
            <a:ext cx="76200" cy="1257300"/>
          </a:xfrm>
          <a:prstGeom xmlns:a="http://schemas.openxmlformats.org/drawingml/2006/main" prst="rect">
            <a:avLst/>
          </a:prstGeom>
          <a:solidFill xmlns:a="http://schemas.openxmlformats.org/drawingml/2006/main">
            <a:srgbClr val="D9770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406BE8D-6AF7-44C8-ADC2-04B3F3760D51}"/>
              </a:ext>
            </a:extLst>
          </p:cNvPr>
          <p:cNvSpPr>
            <a:spLocks xmlns:a="http://schemas.openxmlformats.org/drawingml/2006/main" noGrp="1"/>
          </p:cNvSpPr>
          <p:nvPr/>
        </p:nvSpPr>
        <p:spPr>
          <a:xfrm xmlns:a="http://schemas.openxmlformats.org/drawingml/2006/main">
            <a:off x="8239125" y="3143250"/>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D97706"/>
                </a:solidFill>
                <a:latin typeface="Helvetica Neue"/>
                <a:ea typeface="Helvetica Neue"/>
                <a:cs typeface="Helvetica Neue"/>
              </a:defRPr>
            </a:pPr>
            <a:r>
              <a:rPr sz="2625" b="1">
                <a:solidFill>
                  <a:srgbClr val="D97706"/>
                </a:solidFill>
                <a:latin typeface="Helvetica Neue"/>
                <a:ea typeface="Helvetica Neue"/>
                <a:cs typeface="Helvetica Neue"/>
              </a:rPr>
              <a:t>6.79</a:t>
            </a:r>
          </a:p>
        </p:txBody>
      </p:sp>
      <p:sp>
        <p:nvSpPr>
          <p:cNvPr id="14" name="">
            <a:extLst xmlns:a="http://schemas.openxmlformats.org/drawingml/2006/main">
              <a:ext uri="{FF2B5EF4-FFF2-40B4-BE49-F238E27FC236}">
                <a16:creationId xmlns:a16="http://schemas.microsoft.com/office/drawing/2014/main" id="{524661B4-4700-4459-9B05-1467F51FED0E}"/>
              </a:ext>
            </a:extLst>
          </p:cNvPr>
          <p:cNvSpPr>
            <a:spLocks xmlns:a="http://schemas.openxmlformats.org/drawingml/2006/main" noGrp="1"/>
          </p:cNvSpPr>
          <p:nvPr/>
        </p:nvSpPr>
        <p:spPr>
          <a:xfrm xmlns:a="http://schemas.openxmlformats.org/drawingml/2006/main">
            <a:off x="8239125" y="36766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mean minimal models / scenario</a:t>
            </a:r>
          </a:p>
        </p:txBody>
      </p:sp>
      <p:sp>
        <p:nvSpPr>
          <p:cNvPr id="15" name="">
            <a:extLst xmlns:a="http://schemas.openxmlformats.org/drawingml/2006/main">
              <a:ext uri="{FF2B5EF4-FFF2-40B4-BE49-F238E27FC236}">
                <a16:creationId xmlns:a16="http://schemas.microsoft.com/office/drawing/2014/main" id="{AF026388-D257-4BC2-A041-E218E0C77824}"/>
              </a:ext>
            </a:extLst>
          </p:cNvPr>
          <p:cNvSpPr>
            <a:spLocks xmlns:a="http://schemas.openxmlformats.org/drawingml/2006/main" noGrp="1"/>
          </p:cNvSpPr>
          <p:nvPr/>
        </p:nvSpPr>
        <p:spPr>
          <a:xfrm xmlns:a="http://schemas.openxmlformats.org/drawingml/2006/main">
            <a:off x="8048625" y="4438650"/>
            <a:ext cx="3333750" cy="1238250"/>
          </a:xfrm>
          <a:prstGeom xmlns:a="http://schemas.openxmlformats.org/drawingml/2006/main" prst="roundRect">
            <a:avLst>
              <a:gd name="adj" fmla="val 9231"/>
            </a:avLst>
          </a:prstGeom>
          <a:solidFill xmlns:a="http://schemas.openxmlformats.org/drawingml/2006/main">
            <a:srgbClr val="E9F4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8AEC7EF-37C3-4618-BABC-D8E2EE66D991}"/>
              </a:ext>
            </a:extLst>
          </p:cNvPr>
          <p:cNvSpPr>
            <a:spLocks xmlns:a="http://schemas.openxmlformats.org/drawingml/2006/main" noGrp="1"/>
          </p:cNvSpPr>
          <p:nvPr/>
        </p:nvSpPr>
        <p:spPr>
          <a:xfrm xmlns:a="http://schemas.openxmlformats.org/drawingml/2006/main">
            <a:off x="8267700" y="4629150"/>
            <a:ext cx="2905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53A63"/>
                </a:solidFill>
                <a:latin typeface="Helvetica Neue"/>
                <a:ea typeface="Helvetica Neue"/>
                <a:cs typeface="Helvetica Neue"/>
              </a:defRPr>
            </a:pPr>
            <a:r>
              <a:rPr sz="1500" b="1">
                <a:solidFill>
                  <a:srgbClr val="153A63"/>
                </a:solidFill>
                <a:latin typeface="Helvetica Neue"/>
                <a:ea typeface="Helvetica Neue"/>
                <a:cs typeface="Helvetica Neue"/>
              </a:rPr>
              <a:t>Primary guarded result</a:t>
            </a:r>
          </a:p>
        </p:txBody>
      </p:sp>
      <p:sp>
        <p:nvSpPr>
          <p:cNvPr id="17" name="">
            <a:extLst xmlns:a="http://schemas.openxmlformats.org/drawingml/2006/main">
              <a:ext uri="{FF2B5EF4-FFF2-40B4-BE49-F238E27FC236}">
                <a16:creationId xmlns:a16="http://schemas.microsoft.com/office/drawing/2014/main" id="{5DA34D23-6723-437C-8A1E-4EF2D4031169}"/>
              </a:ext>
            </a:extLst>
          </p:cNvPr>
          <p:cNvSpPr>
            <a:spLocks xmlns:a="http://schemas.openxmlformats.org/drawingml/2006/main" noGrp="1"/>
          </p:cNvSpPr>
          <p:nvPr/>
        </p:nvSpPr>
        <p:spPr>
          <a:xfrm xmlns:a="http://schemas.openxmlformats.org/drawingml/2006/main">
            <a:off x="8267700" y="5000625"/>
            <a:ext cx="2905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555"/>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Phase F1 0.563</a:t>
            </a:r>
          </a:p>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Equivalence-class F1 0.609</a:t>
            </a:r>
          </a:p>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FDR 0.361</a:t>
            </a:r>
          </a:p>
        </p:txBody>
      </p:sp>
    </p:spTree>
    <p:extLst>
      <p:ext uri="{BB962C8B-B14F-4D97-AF65-F5344CB8AC3E}">
        <p14:creationId xmlns:p14="http://schemas.microsoft.com/office/powerpoint/2010/main" val="9818862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CB13111-8580-4042-B077-2FE695F91DFD}"/>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FIELD SUPPORTABILITY</a:t>
            </a:r>
          </a:p>
        </p:txBody>
      </p:sp>
      <p:sp>
        <p:nvSpPr>
          <p:cNvPr id="2" name="">
            <a:extLst xmlns:a="http://schemas.openxmlformats.org/drawingml/2006/main">
              <a:ext uri="{FF2B5EF4-FFF2-40B4-BE49-F238E27FC236}">
                <a16:creationId xmlns:a16="http://schemas.microsoft.com/office/drawing/2014/main" id="{F4FC77C8-87F5-4C9A-874B-84DB2E555856}"/>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Ghana field transfer identified the evidence ceiling</a:t>
            </a:r>
          </a:p>
        </p:txBody>
      </p:sp>
      <p:sp>
        <p:nvSpPr>
          <p:cNvPr id="3" name="">
            <a:extLst xmlns:a="http://schemas.openxmlformats.org/drawingml/2006/main">
              <a:ext uri="{FF2B5EF4-FFF2-40B4-BE49-F238E27FC236}">
                <a16:creationId xmlns:a16="http://schemas.microsoft.com/office/drawing/2014/main" id="{A1921210-09B6-41EF-B9B3-98DD060818E2}"/>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71B5D26-8F90-4CC7-897C-4508C0D5E8E7}"/>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E19271D2-A081-4F11-806F-D87DD92CC89B}"/>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12</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2986e1e4f59410b"/>
          <a:stretch xmlns:a="http://schemas.openxmlformats.org/drawingml/2006/main"/>
        </p:blipFill>
        <p:spPr>
          <a:xfrm xmlns:a="http://schemas.openxmlformats.org/drawingml/2006/main">
            <a:off x="1469231" y="1381125"/>
            <a:ext cx="5291138" cy="4810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B9CE625-A1D7-4041-A3A4-F2E6BF4154EF}"/>
              </a:ext>
            </a:extLst>
          </p:cNvPr>
          <p:cNvSpPr>
            <a:spLocks xmlns:a="http://schemas.openxmlformats.org/drawingml/2006/main" noGrp="1"/>
          </p:cNvSpPr>
          <p:nvPr/>
        </p:nvSpPr>
        <p:spPr>
          <a:xfrm xmlns:a="http://schemas.openxmlformats.org/drawingml/2006/main">
            <a:off x="8096250" y="15430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841D63B-F6D2-4F54-851E-31C848D09B19}"/>
              </a:ext>
            </a:extLst>
          </p:cNvPr>
          <p:cNvSpPr>
            <a:spLocks xmlns:a="http://schemas.openxmlformats.org/drawingml/2006/main" noGrp="1"/>
          </p:cNvSpPr>
          <p:nvPr/>
        </p:nvSpPr>
        <p:spPr>
          <a:xfrm xmlns:a="http://schemas.openxmlformats.org/drawingml/2006/main">
            <a:off x="8096250" y="1543050"/>
            <a:ext cx="76200" cy="1257300"/>
          </a:xfrm>
          <a:prstGeom xmlns:a="http://schemas.openxmlformats.org/drawingml/2006/main" prst="rect">
            <a:avLst/>
          </a:prstGeom>
          <a:solidFill xmlns:a="http://schemas.openxmlformats.org/drawingml/2006/main">
            <a:srgbClr val="149A8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6FD04B2-F1CC-46A5-940B-B35F6BCCD534}"/>
              </a:ext>
            </a:extLst>
          </p:cNvPr>
          <p:cNvSpPr>
            <a:spLocks xmlns:a="http://schemas.openxmlformats.org/drawingml/2006/main" noGrp="1"/>
          </p:cNvSpPr>
          <p:nvPr/>
        </p:nvSpPr>
        <p:spPr>
          <a:xfrm xmlns:a="http://schemas.openxmlformats.org/drawingml/2006/main">
            <a:off x="8286750" y="1695450"/>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149A84"/>
                </a:solidFill>
                <a:latin typeface="Helvetica Neue"/>
                <a:ea typeface="Helvetica Neue"/>
                <a:cs typeface="Helvetica Neue"/>
              </a:defRPr>
            </a:pPr>
            <a:r>
              <a:rPr sz="2625" b="1">
                <a:solidFill>
                  <a:srgbClr val="149A84"/>
                </a:solidFill>
                <a:latin typeface="Helvetica Neue"/>
                <a:ea typeface="Helvetica Neue"/>
                <a:cs typeface="Helvetica Neue"/>
              </a:rPr>
              <a:t>294 / 320</a:t>
            </a:r>
          </a:p>
        </p:txBody>
      </p:sp>
      <p:sp>
        <p:nvSpPr>
          <p:cNvPr id="10" name="">
            <a:extLst xmlns:a="http://schemas.openxmlformats.org/drawingml/2006/main">
              <a:ext uri="{FF2B5EF4-FFF2-40B4-BE49-F238E27FC236}">
                <a16:creationId xmlns:a16="http://schemas.microsoft.com/office/drawing/2014/main" id="{EAAE649A-C641-42F7-9AEB-9E72DA132279}"/>
              </a:ext>
            </a:extLst>
          </p:cNvPr>
          <p:cNvSpPr>
            <a:spLocks xmlns:a="http://schemas.openxmlformats.org/drawingml/2006/main" noGrp="1"/>
          </p:cNvSpPr>
          <p:nvPr/>
        </p:nvSpPr>
        <p:spPr>
          <a:xfrm xmlns:a="http://schemas.openxmlformats.org/drawingml/2006/main">
            <a:off x="8286750" y="22288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Northern Ghana quantitative records</a:t>
            </a:r>
          </a:p>
        </p:txBody>
      </p:sp>
      <p:sp>
        <p:nvSpPr>
          <p:cNvPr id="11" name="">
            <a:extLst xmlns:a="http://schemas.openxmlformats.org/drawingml/2006/main">
              <a:ext uri="{FF2B5EF4-FFF2-40B4-BE49-F238E27FC236}">
                <a16:creationId xmlns:a16="http://schemas.microsoft.com/office/drawing/2014/main" id="{1CD5126C-B9E8-4F1F-9668-2B568B1127F6}"/>
              </a:ext>
            </a:extLst>
          </p:cNvPr>
          <p:cNvSpPr>
            <a:spLocks xmlns:a="http://schemas.openxmlformats.org/drawingml/2006/main" noGrp="1"/>
          </p:cNvSpPr>
          <p:nvPr/>
        </p:nvSpPr>
        <p:spPr>
          <a:xfrm xmlns:a="http://schemas.openxmlformats.org/drawingml/2006/main">
            <a:off x="8096250" y="29908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1FA2845-8785-48D3-AB81-8FF1095C93B2}"/>
              </a:ext>
            </a:extLst>
          </p:cNvPr>
          <p:cNvSpPr>
            <a:spLocks xmlns:a="http://schemas.openxmlformats.org/drawingml/2006/main" noGrp="1"/>
          </p:cNvSpPr>
          <p:nvPr/>
        </p:nvSpPr>
        <p:spPr>
          <a:xfrm xmlns:a="http://schemas.openxmlformats.org/drawingml/2006/main">
            <a:off x="8096250" y="2990850"/>
            <a:ext cx="76200" cy="1257300"/>
          </a:xfrm>
          <a:prstGeom xmlns:a="http://schemas.openxmlformats.org/drawingml/2006/main" prst="rect">
            <a:avLst/>
          </a:prstGeom>
          <a:solidFill xmlns:a="http://schemas.openxmlformats.org/drawingml/2006/main">
            <a:srgbClr val="C5303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F8D841A-962A-43ED-9F9C-249BD85F8F8A}"/>
              </a:ext>
            </a:extLst>
          </p:cNvPr>
          <p:cNvSpPr>
            <a:spLocks xmlns:a="http://schemas.openxmlformats.org/drawingml/2006/main" noGrp="1"/>
          </p:cNvSpPr>
          <p:nvPr/>
        </p:nvSpPr>
        <p:spPr>
          <a:xfrm xmlns:a="http://schemas.openxmlformats.org/drawingml/2006/main">
            <a:off x="8286750" y="3143250"/>
            <a:ext cx="300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C53030"/>
                </a:solidFill>
                <a:latin typeface="Helvetica Neue"/>
                <a:ea typeface="Helvetica Neue"/>
                <a:cs typeface="Helvetica Neue"/>
              </a:defRPr>
            </a:pPr>
            <a:r>
              <a:rPr sz="2625" b="1">
                <a:solidFill>
                  <a:srgbClr val="C53030"/>
                </a:solidFill>
                <a:latin typeface="Helvetica Neue"/>
                <a:ea typeface="Helvetica Neue"/>
                <a:cs typeface="Helvetica Neue"/>
              </a:rPr>
              <a:t>52%</a:t>
            </a:r>
          </a:p>
        </p:txBody>
      </p:sp>
      <p:sp>
        <p:nvSpPr>
          <p:cNvPr id="14" name="">
            <a:extLst xmlns:a="http://schemas.openxmlformats.org/drawingml/2006/main">
              <a:ext uri="{FF2B5EF4-FFF2-40B4-BE49-F238E27FC236}">
                <a16:creationId xmlns:a16="http://schemas.microsoft.com/office/drawing/2014/main" id="{F005A65D-8C9A-4964-80B7-CE54EB033D76}"/>
              </a:ext>
            </a:extLst>
          </p:cNvPr>
          <p:cNvSpPr>
            <a:spLocks xmlns:a="http://schemas.openxmlformats.org/drawingml/2006/main" noGrp="1"/>
          </p:cNvSpPr>
          <p:nvPr/>
        </p:nvSpPr>
        <p:spPr>
          <a:xfrm xmlns:a="http://schemas.openxmlformats.org/drawingml/2006/main">
            <a:off x="8286750" y="3676650"/>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wells lose identifiability without Sr/SiO₂</a:t>
            </a:r>
          </a:p>
        </p:txBody>
      </p:sp>
      <p:sp>
        <p:nvSpPr>
          <p:cNvPr id="15" name="">
            <a:extLst xmlns:a="http://schemas.openxmlformats.org/drawingml/2006/main">
              <a:ext uri="{FF2B5EF4-FFF2-40B4-BE49-F238E27FC236}">
                <a16:creationId xmlns:a16="http://schemas.microsoft.com/office/drawing/2014/main" id="{07490BE4-F7D9-49BA-BE7F-9C012698D7A9}"/>
              </a:ext>
            </a:extLst>
          </p:cNvPr>
          <p:cNvSpPr>
            <a:spLocks xmlns:a="http://schemas.openxmlformats.org/drawingml/2006/main" noGrp="1"/>
          </p:cNvSpPr>
          <p:nvPr/>
        </p:nvSpPr>
        <p:spPr>
          <a:xfrm xmlns:a="http://schemas.openxmlformats.org/drawingml/2006/main">
            <a:off x="8096250" y="4438650"/>
            <a:ext cx="33337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79AD718-80A7-455F-9A1D-1BFBCAC603E3}"/>
              </a:ext>
            </a:extLst>
          </p:cNvPr>
          <p:cNvSpPr>
            <a:spLocks xmlns:a="http://schemas.openxmlformats.org/drawingml/2006/main" noGrp="1"/>
          </p:cNvSpPr>
          <p:nvPr/>
        </p:nvSpPr>
        <p:spPr>
          <a:xfrm xmlns:a="http://schemas.openxmlformats.org/drawingml/2006/main">
            <a:off x="8334375" y="46482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The warning</a:t>
            </a:r>
          </a:p>
        </p:txBody>
      </p:sp>
      <p:sp>
        <p:nvSpPr>
          <p:cNvPr id="17" name="">
            <a:extLst xmlns:a="http://schemas.openxmlformats.org/drawingml/2006/main">
              <a:ext uri="{FF2B5EF4-FFF2-40B4-BE49-F238E27FC236}">
                <a16:creationId xmlns:a16="http://schemas.microsoft.com/office/drawing/2014/main" id="{46F825F4-22BC-40FE-B329-68F2247C8EB4}"/>
              </a:ext>
            </a:extLst>
          </p:cNvPr>
          <p:cNvSpPr>
            <a:spLocks xmlns:a="http://schemas.openxmlformats.org/drawingml/2006/main" noGrp="1"/>
          </p:cNvSpPr>
          <p:nvPr/>
        </p:nvSpPr>
        <p:spPr>
          <a:xfrm xmlns:a="http://schemas.openxmlformats.org/drawingml/2006/main">
            <a:off x="8334375" y="502920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227"/>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Mean fit score stayed ≈68–71 while process labels flipped in 35.6% of wells.</a:t>
            </a:r>
          </a:p>
        </p:txBody>
      </p:sp>
      <p:sp>
        <p:nvSpPr>
          <p:cNvPr id="18" name="">
            <a:extLst xmlns:a="http://schemas.openxmlformats.org/drawingml/2006/main">
              <a:ext uri="{FF2B5EF4-FFF2-40B4-BE49-F238E27FC236}">
                <a16:creationId xmlns:a16="http://schemas.microsoft.com/office/drawing/2014/main" id="{D8B22F9C-E03F-4F24-8847-CC0E88F651E8}"/>
              </a:ext>
            </a:extLst>
          </p:cNvPr>
          <p:cNvSpPr>
            <a:spLocks xmlns:a="http://schemas.openxmlformats.org/drawingml/2006/main" noGrp="1"/>
          </p:cNvSpPr>
          <p:nvPr/>
        </p:nvSpPr>
        <p:spPr>
          <a:xfrm xmlns:a="http://schemas.openxmlformats.org/drawingml/2006/main">
            <a:off x="8096250" y="5810250"/>
            <a:ext cx="3333750" cy="323850"/>
          </a:xfrm>
          <a:prstGeom xmlns:a="http://schemas.openxmlformats.org/drawingml/2006/main" prst="roundRect">
            <a:avLst>
              <a:gd name="adj" fmla="val 35294"/>
            </a:avLst>
          </a:prstGeom>
          <a:solidFill xmlns:a="http://schemas.openxmlformats.org/drawingml/2006/main">
            <a:srgbClr val="FFF3D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0F44B4A-EEEE-4205-A8AB-BFFBB130AF1F}"/>
              </a:ext>
            </a:extLst>
          </p:cNvPr>
          <p:cNvSpPr>
            <a:spLocks xmlns:a="http://schemas.openxmlformats.org/drawingml/2006/main" noGrp="1"/>
          </p:cNvSpPr>
          <p:nvPr/>
        </p:nvSpPr>
        <p:spPr>
          <a:xfrm xmlns:a="http://schemas.openxmlformats.org/drawingml/2006/main">
            <a:off x="8210550" y="5886450"/>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Predeclared evidence gate; not observed field truth</a:t>
            </a:r>
          </a:p>
        </p:txBody>
      </p:sp>
    </p:spTree>
    <p:extLst>
      <p:ext uri="{BB962C8B-B14F-4D97-AF65-F5344CB8AC3E}">
        <p14:creationId xmlns:p14="http://schemas.microsoft.com/office/powerpoint/2010/main" val="7157990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3E6D180-0C36-4C1F-AC13-DFF5E7786E47}"/>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CONDITIONAL INTEGRATION</a:t>
            </a:r>
          </a:p>
        </p:txBody>
      </p:sp>
      <p:sp>
        <p:nvSpPr>
          <p:cNvPr id="2" name="">
            <a:extLst xmlns:a="http://schemas.openxmlformats.org/drawingml/2006/main">
              <a:ext uri="{FF2B5EF4-FFF2-40B4-BE49-F238E27FC236}">
                <a16:creationId xmlns:a16="http://schemas.microsoft.com/office/drawing/2014/main" id="{FFC25552-742E-4115-B605-8AD3D142E54B}"/>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Only chemistry delivered a robust topology-ranking gain</a:t>
            </a:r>
          </a:p>
        </p:txBody>
      </p:sp>
      <p:sp>
        <p:nvSpPr>
          <p:cNvPr id="3" name="">
            <a:extLst xmlns:a="http://schemas.openxmlformats.org/drawingml/2006/main">
              <a:ext uri="{FF2B5EF4-FFF2-40B4-BE49-F238E27FC236}">
                <a16:creationId xmlns:a16="http://schemas.microsoft.com/office/drawing/2014/main" id="{94349BD2-A0BA-42CD-9CFB-DA1EA10323A6}"/>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82E78C8-3931-4177-B135-941BCC5D14E1}"/>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75CD72C2-EFA7-47C4-8650-026076FD8DFA}"/>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13</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f9905fbab994585"/>
          <a:stretch xmlns:a="http://schemas.openxmlformats.org/drawingml/2006/main"/>
        </p:blipFill>
        <p:spPr>
          <a:xfrm xmlns:a="http://schemas.openxmlformats.org/drawingml/2006/main">
            <a:off x="631202" y="1381125"/>
            <a:ext cx="7062446" cy="4810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058879E-3382-4EAE-B083-49CEDD6769A9}"/>
              </a:ext>
            </a:extLst>
          </p:cNvPr>
          <p:cNvSpPr>
            <a:spLocks xmlns:a="http://schemas.openxmlformats.org/drawingml/2006/main" noGrp="1"/>
          </p:cNvSpPr>
          <p:nvPr/>
        </p:nvSpPr>
        <p:spPr>
          <a:xfrm xmlns:a="http://schemas.openxmlformats.org/drawingml/2006/main">
            <a:off x="8191500" y="1428750"/>
            <a:ext cx="3219450" cy="1200150"/>
          </a:xfrm>
          <a:prstGeom xmlns:a="http://schemas.openxmlformats.org/drawingml/2006/main" prst="roundRect">
            <a:avLst>
              <a:gd name="adj" fmla="val 9524"/>
            </a:avLst>
          </a:prstGeom>
          <a:solidFill xmlns:a="http://schemas.openxmlformats.org/drawingml/2006/main">
            <a:srgbClr val="E7F7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27E93EF-210F-4C03-9E99-E951D3C5A773}"/>
              </a:ext>
            </a:extLst>
          </p:cNvPr>
          <p:cNvSpPr>
            <a:spLocks xmlns:a="http://schemas.openxmlformats.org/drawingml/2006/main" noGrp="1"/>
          </p:cNvSpPr>
          <p:nvPr/>
        </p:nvSpPr>
        <p:spPr>
          <a:xfrm xmlns:a="http://schemas.openxmlformats.org/drawingml/2006/main">
            <a:off x="8401050" y="1619250"/>
            <a:ext cx="2800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49A84"/>
                </a:solidFill>
                <a:latin typeface="Helvetica Neue"/>
                <a:ea typeface="Helvetica Neue"/>
                <a:cs typeface="Helvetica Neue"/>
              </a:defRPr>
            </a:pPr>
            <a:r>
              <a:rPr sz="1050" b="1">
                <a:solidFill>
                  <a:srgbClr val="149A84"/>
                </a:solidFill>
                <a:latin typeface="Helvetica Neue"/>
                <a:ea typeface="Helvetica Neue"/>
                <a:cs typeface="Helvetica Neue"/>
              </a:rPr>
              <a:t>CHEMISTRY ADDED · SURVIVES CORRECTION</a:t>
            </a:r>
          </a:p>
        </p:txBody>
      </p:sp>
      <p:sp>
        <p:nvSpPr>
          <p:cNvPr id="9" name="">
            <a:extLst xmlns:a="http://schemas.openxmlformats.org/drawingml/2006/main">
              <a:ext uri="{FF2B5EF4-FFF2-40B4-BE49-F238E27FC236}">
                <a16:creationId xmlns:a16="http://schemas.microsoft.com/office/drawing/2014/main" id="{973A3B58-8239-4BB5-B78C-164A2812465C}"/>
              </a:ext>
            </a:extLst>
          </p:cNvPr>
          <p:cNvSpPr>
            <a:spLocks xmlns:a="http://schemas.openxmlformats.org/drawingml/2006/main" noGrp="1"/>
          </p:cNvSpPr>
          <p:nvPr/>
        </p:nvSpPr>
        <p:spPr>
          <a:xfrm xmlns:a="http://schemas.openxmlformats.org/drawingml/2006/main">
            <a:off x="8401050" y="1971675"/>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954"/>
          </a:bodyPr>
          <a:lstStyle xmlns:a="http://schemas.openxmlformats.org/drawingml/2006/main"/>
          <a:p xmlns:a="http://schemas.openxmlformats.org/drawingml/2006/main">
            <a:pPr algn="l">
              <a:defRPr sz="2175" b="1">
                <a:solidFill>
                  <a:srgbClr val="111318"/>
                </a:solidFill>
                <a:latin typeface="Helvetica Neue"/>
                <a:ea typeface="Helvetica Neue"/>
                <a:cs typeface="Helvetica Neue"/>
              </a:defRPr>
            </a:pPr>
            <a:r>
              <a:rPr sz="2175" b="1">
                <a:solidFill>
                  <a:srgbClr val="111318"/>
                </a:solidFill>
                <a:latin typeface="Helvetica Neue"/>
                <a:ea typeface="Helvetica Neue"/>
                <a:cs typeface="Helvetica Neue"/>
              </a:rPr>
              <a:t>+0.447 PR-AUC</a:t>
            </a:r>
          </a:p>
        </p:txBody>
      </p:sp>
      <p:sp>
        <p:nvSpPr>
          <p:cNvPr id="10" name="">
            <a:extLst xmlns:a="http://schemas.openxmlformats.org/drawingml/2006/main">
              <a:ext uri="{FF2B5EF4-FFF2-40B4-BE49-F238E27FC236}">
                <a16:creationId xmlns:a16="http://schemas.microsoft.com/office/drawing/2014/main" id="{272A56F3-E57A-4609-885E-5387542968E7}"/>
              </a:ext>
            </a:extLst>
          </p:cNvPr>
          <p:cNvSpPr>
            <a:spLocks xmlns:a="http://schemas.openxmlformats.org/drawingml/2006/main" noGrp="1"/>
          </p:cNvSpPr>
          <p:nvPr/>
        </p:nvSpPr>
        <p:spPr>
          <a:xfrm xmlns:a="http://schemas.openxmlformats.org/drawingml/2006/main">
            <a:off x="8191500" y="2781300"/>
            <a:ext cx="3219450" cy="1200150"/>
          </a:xfrm>
          <a:prstGeom xmlns:a="http://schemas.openxmlformats.org/drawingml/2006/main" prst="roundRect">
            <a:avLst>
              <a:gd name="adj" fmla="val 9524"/>
            </a:avLst>
          </a:prstGeom>
          <a:solidFill xmlns:a="http://schemas.openxmlformats.org/drawingml/2006/main">
            <a:srgbClr val="E9F4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60F94C6-289B-47B6-8C1C-70E474BF2B7A}"/>
              </a:ext>
            </a:extLst>
          </p:cNvPr>
          <p:cNvSpPr>
            <a:spLocks xmlns:a="http://schemas.openxmlformats.org/drawingml/2006/main" noGrp="1"/>
          </p:cNvSpPr>
          <p:nvPr/>
        </p:nvSpPr>
        <p:spPr>
          <a:xfrm xmlns:a="http://schemas.openxmlformats.org/drawingml/2006/main">
            <a:off x="8401050" y="2971800"/>
            <a:ext cx="2800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HYDRAULICS ADDED</a:t>
            </a:r>
          </a:p>
        </p:txBody>
      </p:sp>
      <p:sp>
        <p:nvSpPr>
          <p:cNvPr id="12" name="">
            <a:extLst xmlns:a="http://schemas.openxmlformats.org/drawingml/2006/main">
              <a:ext uri="{FF2B5EF4-FFF2-40B4-BE49-F238E27FC236}">
                <a16:creationId xmlns:a16="http://schemas.microsoft.com/office/drawing/2014/main" id="{D9275F1B-CDA5-49EA-815B-1480E19EE123}"/>
              </a:ext>
            </a:extLst>
          </p:cNvPr>
          <p:cNvSpPr>
            <a:spLocks xmlns:a="http://schemas.openxmlformats.org/drawingml/2006/main" noGrp="1"/>
          </p:cNvSpPr>
          <p:nvPr/>
        </p:nvSpPr>
        <p:spPr>
          <a:xfrm xmlns:a="http://schemas.openxmlformats.org/drawingml/2006/main">
            <a:off x="8401050" y="3305175"/>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l">
              <a:defRPr sz="2025" b="1">
                <a:solidFill>
                  <a:srgbClr val="111318"/>
                </a:solidFill>
                <a:latin typeface="Helvetica Neue"/>
                <a:ea typeface="Helvetica Neue"/>
                <a:cs typeface="Helvetica Neue"/>
              </a:defRPr>
            </a:pPr>
            <a:r>
              <a:rPr sz="2025" b="1">
                <a:solidFill>
                  <a:srgbClr val="111318"/>
                </a:solidFill>
                <a:latin typeface="Helvetica Neue"/>
                <a:ea typeface="Helvetica Neue"/>
                <a:cs typeface="Helvetica Neue"/>
              </a:rPr>
              <a:t>+0.0091 PR-AUC</a:t>
            </a:r>
          </a:p>
        </p:txBody>
      </p:sp>
      <p:sp>
        <p:nvSpPr>
          <p:cNvPr id="13" name="">
            <a:extLst xmlns:a="http://schemas.openxmlformats.org/drawingml/2006/main">
              <a:ext uri="{FF2B5EF4-FFF2-40B4-BE49-F238E27FC236}">
                <a16:creationId xmlns:a16="http://schemas.microsoft.com/office/drawing/2014/main" id="{8BE7AD7E-3BD3-41F5-90EE-B07CABCDCE32}"/>
              </a:ext>
            </a:extLst>
          </p:cNvPr>
          <p:cNvSpPr>
            <a:spLocks xmlns:a="http://schemas.openxmlformats.org/drawingml/2006/main" noGrp="1"/>
          </p:cNvSpPr>
          <p:nvPr/>
        </p:nvSpPr>
        <p:spPr>
          <a:xfrm xmlns:a="http://schemas.openxmlformats.org/drawingml/2006/main">
            <a:off x="8401050" y="3657600"/>
            <a:ext cx="2800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5D6470"/>
                </a:solidFill>
                <a:latin typeface="Helvetica Neue"/>
                <a:ea typeface="Helvetica Neue"/>
                <a:cs typeface="Helvetica Neue"/>
              </a:defRPr>
            </a:pPr>
            <a:r>
              <a:rPr sz="1050" b="0">
                <a:solidFill>
                  <a:srgbClr val="5D6470"/>
                </a:solidFill>
                <a:latin typeface="Helvetica Neue"/>
                <a:ea typeface="Helvetica Neue"/>
                <a:cs typeface="Helvetica Neue"/>
              </a:rPr>
              <a:t>not multiplicity-significant (adjusted p = 0.070)</a:t>
            </a:r>
          </a:p>
        </p:txBody>
      </p:sp>
      <p:sp>
        <p:nvSpPr>
          <p:cNvPr id="14" name="">
            <a:extLst xmlns:a="http://schemas.openxmlformats.org/drawingml/2006/main">
              <a:ext uri="{FF2B5EF4-FFF2-40B4-BE49-F238E27FC236}">
                <a16:creationId xmlns:a16="http://schemas.microsoft.com/office/drawing/2014/main" id="{FB524D81-F65D-4CD8-BF56-9D642382BFBD}"/>
              </a:ext>
            </a:extLst>
          </p:cNvPr>
          <p:cNvSpPr>
            <a:spLocks xmlns:a="http://schemas.openxmlformats.org/drawingml/2006/main" noGrp="1"/>
          </p:cNvSpPr>
          <p:nvPr/>
        </p:nvSpPr>
        <p:spPr>
          <a:xfrm xmlns:a="http://schemas.openxmlformats.org/drawingml/2006/main">
            <a:off x="8191500" y="4133850"/>
            <a:ext cx="3219450" cy="1200150"/>
          </a:xfrm>
          <a:prstGeom xmlns:a="http://schemas.openxmlformats.org/drawingml/2006/main" prst="roundRect">
            <a:avLst>
              <a:gd name="adj" fmla="val 9524"/>
            </a:avLst>
          </a:prstGeom>
          <a:solidFill xmlns:a="http://schemas.openxmlformats.org/drawingml/2006/main">
            <a:srgbClr val="FDE8E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99D85F5-5FC2-45E0-865D-55319A61D05C}"/>
              </a:ext>
            </a:extLst>
          </p:cNvPr>
          <p:cNvSpPr>
            <a:spLocks xmlns:a="http://schemas.openxmlformats.org/drawingml/2006/main" noGrp="1"/>
          </p:cNvSpPr>
          <p:nvPr/>
        </p:nvSpPr>
        <p:spPr>
          <a:xfrm xmlns:a="http://schemas.openxmlformats.org/drawingml/2006/main">
            <a:off x="8401050" y="4324350"/>
            <a:ext cx="2800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C53030"/>
                </a:solidFill>
                <a:latin typeface="Helvetica Neue"/>
                <a:ea typeface="Helvetica Neue"/>
                <a:cs typeface="Helvetica Neue"/>
              </a:defRPr>
            </a:pPr>
            <a:r>
              <a:rPr sz="1125" b="1">
                <a:solidFill>
                  <a:srgbClr val="C53030"/>
                </a:solidFill>
                <a:latin typeface="Helvetica Neue"/>
                <a:ea typeface="Helvetica Neue"/>
                <a:cs typeface="Helvetica Neue"/>
              </a:rPr>
              <a:t>AGE ADDED</a:t>
            </a:r>
          </a:p>
        </p:txBody>
      </p:sp>
      <p:sp>
        <p:nvSpPr>
          <p:cNvPr id="16" name="">
            <a:extLst xmlns:a="http://schemas.openxmlformats.org/drawingml/2006/main">
              <a:ext uri="{FF2B5EF4-FFF2-40B4-BE49-F238E27FC236}">
                <a16:creationId xmlns:a16="http://schemas.microsoft.com/office/drawing/2014/main" id="{D245659C-19B4-4CFE-86A3-124CEF6AF8E5}"/>
              </a:ext>
            </a:extLst>
          </p:cNvPr>
          <p:cNvSpPr>
            <a:spLocks xmlns:a="http://schemas.openxmlformats.org/drawingml/2006/main" noGrp="1"/>
          </p:cNvSpPr>
          <p:nvPr/>
        </p:nvSpPr>
        <p:spPr>
          <a:xfrm xmlns:a="http://schemas.openxmlformats.org/drawingml/2006/main">
            <a:off x="8401050" y="4657725"/>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l">
              <a:defRPr sz="2025" b="1">
                <a:solidFill>
                  <a:srgbClr val="111318"/>
                </a:solidFill>
                <a:latin typeface="Helvetica Neue"/>
                <a:ea typeface="Helvetica Neue"/>
                <a:cs typeface="Helvetica Neue"/>
              </a:defRPr>
            </a:pPr>
            <a:r>
              <a:rPr sz="2025" b="1">
                <a:solidFill>
                  <a:srgbClr val="111318"/>
                </a:solidFill>
                <a:latin typeface="Helvetica Neue"/>
                <a:ea typeface="Helvetica Neue"/>
                <a:cs typeface="Helvetica Neue"/>
              </a:rPr>
              <a:t>−0.0060 PR-AUC</a:t>
            </a:r>
          </a:p>
        </p:txBody>
      </p:sp>
      <p:sp>
        <p:nvSpPr>
          <p:cNvPr id="17" name="">
            <a:extLst xmlns:a="http://schemas.openxmlformats.org/drawingml/2006/main">
              <a:ext uri="{FF2B5EF4-FFF2-40B4-BE49-F238E27FC236}">
                <a16:creationId xmlns:a16="http://schemas.microsoft.com/office/drawing/2014/main" id="{B68F9A37-D732-4C06-A329-4BCC40160856}"/>
              </a:ext>
            </a:extLst>
          </p:cNvPr>
          <p:cNvSpPr>
            <a:spLocks xmlns:a="http://schemas.openxmlformats.org/drawingml/2006/main" noGrp="1"/>
          </p:cNvSpPr>
          <p:nvPr/>
        </p:nvSpPr>
        <p:spPr>
          <a:xfrm xmlns:a="http://schemas.openxmlformats.org/drawingml/2006/main">
            <a:off x="8401050" y="5010150"/>
            <a:ext cx="2800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C53030"/>
                </a:solidFill>
                <a:latin typeface="Helvetica Neue"/>
                <a:ea typeface="Helvetica Neue"/>
                <a:cs typeface="Helvetica Neue"/>
              </a:defRPr>
            </a:pPr>
            <a:r>
              <a:rPr sz="1050" b="0">
                <a:solidFill>
                  <a:srgbClr val="C53030"/>
                </a:solidFill>
                <a:latin typeface="Helvetica Neue"/>
                <a:ea typeface="Helvetica Neue"/>
                <a:cs typeface="Helvetica Neue"/>
              </a:rPr>
              <a:t>not multiplicity-significant (adjusted p = 0.070)</a:t>
            </a:r>
          </a:p>
        </p:txBody>
      </p:sp>
      <p:sp>
        <p:nvSpPr>
          <p:cNvPr id="18" name="">
            <a:extLst xmlns:a="http://schemas.openxmlformats.org/drawingml/2006/main">
              <a:ext uri="{FF2B5EF4-FFF2-40B4-BE49-F238E27FC236}">
                <a16:creationId xmlns:a16="http://schemas.microsoft.com/office/drawing/2014/main" id="{D57471D3-DEC6-463F-935C-0ECE09757253}"/>
              </a:ext>
            </a:extLst>
          </p:cNvPr>
          <p:cNvSpPr>
            <a:spLocks xmlns:a="http://schemas.openxmlformats.org/drawingml/2006/main" noGrp="1"/>
          </p:cNvSpPr>
          <p:nvPr/>
        </p:nvSpPr>
        <p:spPr>
          <a:xfrm xmlns:a="http://schemas.openxmlformats.org/drawingml/2006/main">
            <a:off x="8191500" y="5562600"/>
            <a:ext cx="3219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53A63"/>
                </a:solidFill>
                <a:latin typeface="Helvetica Neue"/>
                <a:ea typeface="Helvetica Neue"/>
                <a:cs typeface="Helvetica Neue"/>
              </a:defRPr>
            </a:pPr>
            <a:r>
              <a:rPr sz="1500" b="1">
                <a:solidFill>
                  <a:srgbClr val="153A63"/>
                </a:solidFill>
                <a:latin typeface="Helvetica Neue"/>
                <a:ea typeface="Helvetica Neue"/>
                <a:cs typeface="Helvetica Neue"/>
              </a:rPr>
              <a:t>Added data ≠ added information</a:t>
            </a:r>
          </a:p>
        </p:txBody>
      </p:sp>
    </p:spTree>
    <p:extLst>
      <p:ext uri="{BB962C8B-B14F-4D97-AF65-F5344CB8AC3E}">
        <p14:creationId xmlns:p14="http://schemas.microsoft.com/office/powerpoint/2010/main" val="6094933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2744569-2BF8-4E91-8AC7-4965BF54D31D}"/>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DIRECTION OF INFORMATION</a:t>
            </a:r>
          </a:p>
        </p:txBody>
      </p:sp>
      <p:sp>
        <p:nvSpPr>
          <p:cNvPr id="2" name="">
            <a:extLst xmlns:a="http://schemas.openxmlformats.org/drawingml/2006/main">
              <a:ext uri="{FF2B5EF4-FFF2-40B4-BE49-F238E27FC236}">
                <a16:creationId xmlns:a16="http://schemas.microsoft.com/office/drawing/2014/main" id="{2EED51B8-10F0-4196-BE1E-407A682517A9}"/>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64"/>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Correct topology reduced age non-uniqueness—especially with weak tracers</a:t>
            </a:r>
          </a:p>
        </p:txBody>
      </p:sp>
      <p:sp>
        <p:nvSpPr>
          <p:cNvPr id="3" name="">
            <a:extLst xmlns:a="http://schemas.openxmlformats.org/drawingml/2006/main">
              <a:ext uri="{FF2B5EF4-FFF2-40B4-BE49-F238E27FC236}">
                <a16:creationId xmlns:a16="http://schemas.microsoft.com/office/drawing/2014/main" id="{662A66CA-8451-4DE7-A9F4-C2365F14AABD}"/>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51D6667-4831-4660-B947-85832A39EBFA}"/>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F3B436FC-7444-4527-8842-B31B0165DD21}"/>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14</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ce6a49d5b024dae"/>
          <a:stretch xmlns:a="http://schemas.openxmlformats.org/drawingml/2006/main"/>
        </p:blipFill>
        <p:spPr>
          <a:xfrm xmlns:a="http://schemas.openxmlformats.org/drawingml/2006/main">
            <a:off x="540151" y="1381125"/>
            <a:ext cx="7244548" cy="4810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E74F8E6-A00E-47F7-BAE7-3E0B0FAD16BB}"/>
              </a:ext>
            </a:extLst>
          </p:cNvPr>
          <p:cNvSpPr>
            <a:spLocks xmlns:a="http://schemas.openxmlformats.org/drawingml/2006/main" noGrp="1"/>
          </p:cNvSpPr>
          <p:nvPr/>
        </p:nvSpPr>
        <p:spPr>
          <a:xfrm xmlns:a="http://schemas.openxmlformats.org/drawingml/2006/main">
            <a:off x="8191500" y="1619250"/>
            <a:ext cx="32194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2DCBB7E-EB83-474C-A4B6-38F5E324ADD8}"/>
              </a:ext>
            </a:extLst>
          </p:cNvPr>
          <p:cNvSpPr>
            <a:spLocks xmlns:a="http://schemas.openxmlformats.org/drawingml/2006/main" noGrp="1"/>
          </p:cNvSpPr>
          <p:nvPr/>
        </p:nvSpPr>
        <p:spPr>
          <a:xfrm xmlns:a="http://schemas.openxmlformats.org/drawingml/2006/main">
            <a:off x="8191500" y="1619250"/>
            <a:ext cx="76200" cy="12573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F278083-5D49-4453-9019-1747CDBCAA6D}"/>
              </a:ext>
            </a:extLst>
          </p:cNvPr>
          <p:cNvSpPr>
            <a:spLocks xmlns:a="http://schemas.openxmlformats.org/drawingml/2006/main" noGrp="1"/>
          </p:cNvSpPr>
          <p:nvPr/>
        </p:nvSpPr>
        <p:spPr>
          <a:xfrm xmlns:a="http://schemas.openxmlformats.org/drawingml/2006/main">
            <a:off x="8382000" y="17716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−0.0619 y</a:t>
            </a:r>
          </a:p>
        </p:txBody>
      </p:sp>
      <p:sp>
        <p:nvSpPr>
          <p:cNvPr id="10" name="">
            <a:extLst xmlns:a="http://schemas.openxmlformats.org/drawingml/2006/main">
              <a:ext uri="{FF2B5EF4-FFF2-40B4-BE49-F238E27FC236}">
                <a16:creationId xmlns:a16="http://schemas.microsoft.com/office/drawing/2014/main" id="{4985C442-9EB7-4C64-B4FF-803F5B09699E}"/>
              </a:ext>
            </a:extLst>
          </p:cNvPr>
          <p:cNvSpPr>
            <a:spLocks xmlns:a="http://schemas.openxmlformats.org/drawingml/2006/main" noGrp="1"/>
          </p:cNvSpPr>
          <p:nvPr/>
        </p:nvSpPr>
        <p:spPr>
          <a:xfrm xmlns:a="http://schemas.openxmlformats.org/drawingml/2006/main">
            <a:off x="8382000" y="2305050"/>
            <a:ext cx="289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MAE: correct graph vs no graph, two tracers</a:t>
            </a:r>
          </a:p>
        </p:txBody>
      </p:sp>
      <p:sp>
        <p:nvSpPr>
          <p:cNvPr id="11" name="">
            <a:extLst xmlns:a="http://schemas.openxmlformats.org/drawingml/2006/main">
              <a:ext uri="{FF2B5EF4-FFF2-40B4-BE49-F238E27FC236}">
                <a16:creationId xmlns:a16="http://schemas.microsoft.com/office/drawing/2014/main" id="{D791EB2D-F9DB-45D4-8021-49BCED76BEB7}"/>
              </a:ext>
            </a:extLst>
          </p:cNvPr>
          <p:cNvSpPr>
            <a:spLocks xmlns:a="http://schemas.openxmlformats.org/drawingml/2006/main" noGrp="1"/>
          </p:cNvSpPr>
          <p:nvPr/>
        </p:nvSpPr>
        <p:spPr>
          <a:xfrm xmlns:a="http://schemas.openxmlformats.org/drawingml/2006/main">
            <a:off x="8191500" y="3067050"/>
            <a:ext cx="3219450" cy="1257300"/>
          </a:xfrm>
          <a:prstGeom xmlns:a="http://schemas.openxmlformats.org/drawingml/2006/main" prst="roundRect">
            <a:avLst>
              <a:gd name="adj" fmla="val 9091"/>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B30F78D-2C0A-4610-86B7-AD3B01A160E4}"/>
              </a:ext>
            </a:extLst>
          </p:cNvPr>
          <p:cNvSpPr>
            <a:spLocks xmlns:a="http://schemas.openxmlformats.org/drawingml/2006/main" noGrp="1"/>
          </p:cNvSpPr>
          <p:nvPr/>
        </p:nvSpPr>
        <p:spPr>
          <a:xfrm xmlns:a="http://schemas.openxmlformats.org/drawingml/2006/main">
            <a:off x="8191500" y="3067050"/>
            <a:ext cx="76200" cy="1257300"/>
          </a:xfrm>
          <a:prstGeom xmlns:a="http://schemas.openxmlformats.org/drawingml/2006/main" prst="rect">
            <a:avLst/>
          </a:prstGeom>
          <a:solidFill xmlns:a="http://schemas.openxmlformats.org/drawingml/2006/main">
            <a:srgbClr val="149A8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3651780-8A8A-4A94-9A85-7C0081BC23F4}"/>
              </a:ext>
            </a:extLst>
          </p:cNvPr>
          <p:cNvSpPr>
            <a:spLocks xmlns:a="http://schemas.openxmlformats.org/drawingml/2006/main" noGrp="1"/>
          </p:cNvSpPr>
          <p:nvPr/>
        </p:nvSpPr>
        <p:spPr>
          <a:xfrm xmlns:a="http://schemas.openxmlformats.org/drawingml/2006/main">
            <a:off x="8382000" y="3219450"/>
            <a:ext cx="289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149A84"/>
                </a:solidFill>
                <a:latin typeface="Helvetica Neue"/>
                <a:ea typeface="Helvetica Neue"/>
                <a:cs typeface="Helvetica Neue"/>
              </a:defRPr>
            </a:pPr>
            <a:r>
              <a:rPr sz="2625" b="1">
                <a:solidFill>
                  <a:srgbClr val="149A84"/>
                </a:solidFill>
                <a:latin typeface="Helvetica Neue"/>
                <a:ea typeface="Helvetica Neue"/>
                <a:cs typeface="Helvetica Neue"/>
              </a:rPr>
              <a:t>−0.1642 y</a:t>
            </a:r>
          </a:p>
        </p:txBody>
      </p:sp>
      <p:sp>
        <p:nvSpPr>
          <p:cNvPr id="14" name="">
            <a:extLst xmlns:a="http://schemas.openxmlformats.org/drawingml/2006/main">
              <a:ext uri="{FF2B5EF4-FFF2-40B4-BE49-F238E27FC236}">
                <a16:creationId xmlns:a16="http://schemas.microsoft.com/office/drawing/2014/main" id="{A95276D5-926E-413E-A53C-CED069F3E691}"/>
              </a:ext>
            </a:extLst>
          </p:cNvPr>
          <p:cNvSpPr>
            <a:spLocks xmlns:a="http://schemas.openxmlformats.org/drawingml/2006/main" noGrp="1"/>
          </p:cNvSpPr>
          <p:nvPr/>
        </p:nvSpPr>
        <p:spPr>
          <a:xfrm xmlns:a="http://schemas.openxmlformats.org/drawingml/2006/main">
            <a:off x="8382000" y="3752850"/>
            <a:ext cx="289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5D6470"/>
                </a:solidFill>
                <a:latin typeface="Helvetica Neue"/>
                <a:ea typeface="Helvetica Neue"/>
                <a:cs typeface="Helvetica Neue"/>
              </a:defRPr>
            </a:pPr>
            <a:r>
              <a:rPr sz="1275" b="0">
                <a:solidFill>
                  <a:srgbClr val="5D6470"/>
                </a:solidFill>
                <a:latin typeface="Helvetica Neue"/>
                <a:ea typeface="Helvetica Neue"/>
                <a:cs typeface="Helvetica Neue"/>
              </a:rPr>
              <a:t>MAE: correct graph vs no graph, ³H only</a:t>
            </a:r>
          </a:p>
        </p:txBody>
      </p:sp>
      <p:sp>
        <p:nvSpPr>
          <p:cNvPr id="15" name="">
            <a:extLst xmlns:a="http://schemas.openxmlformats.org/drawingml/2006/main">
              <a:ext uri="{FF2B5EF4-FFF2-40B4-BE49-F238E27FC236}">
                <a16:creationId xmlns:a16="http://schemas.microsoft.com/office/drawing/2014/main" id="{CC8C483F-D822-485C-888E-154C0798E146}"/>
              </a:ext>
            </a:extLst>
          </p:cNvPr>
          <p:cNvSpPr>
            <a:spLocks xmlns:a="http://schemas.openxmlformats.org/drawingml/2006/main" noGrp="1"/>
          </p:cNvSpPr>
          <p:nvPr/>
        </p:nvSpPr>
        <p:spPr>
          <a:xfrm xmlns:a="http://schemas.openxmlformats.org/drawingml/2006/main">
            <a:off x="8191500" y="4514850"/>
            <a:ext cx="3219450" cy="1143000"/>
          </a:xfrm>
          <a:prstGeom xmlns:a="http://schemas.openxmlformats.org/drawingml/2006/main" prst="roundRect">
            <a:avLst>
              <a:gd name="adj" fmla="val 10000"/>
            </a:avLst>
          </a:prstGeom>
          <a:solidFill xmlns:a="http://schemas.openxmlformats.org/drawingml/2006/main">
            <a:srgbClr val="FDE8E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6D32F65-008A-4D3C-9B4A-FA7DDC035D8B}"/>
              </a:ext>
            </a:extLst>
          </p:cNvPr>
          <p:cNvSpPr>
            <a:spLocks xmlns:a="http://schemas.openxmlformats.org/drawingml/2006/main" noGrp="1"/>
          </p:cNvSpPr>
          <p:nvPr/>
        </p:nvSpPr>
        <p:spPr>
          <a:xfrm xmlns:a="http://schemas.openxmlformats.org/drawingml/2006/main">
            <a:off x="8420100" y="47053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Wrong direction</a:t>
            </a:r>
          </a:p>
        </p:txBody>
      </p:sp>
      <p:sp>
        <p:nvSpPr>
          <p:cNvPr id="17" name="">
            <a:extLst xmlns:a="http://schemas.openxmlformats.org/drawingml/2006/main">
              <a:ext uri="{FF2B5EF4-FFF2-40B4-BE49-F238E27FC236}">
                <a16:creationId xmlns:a16="http://schemas.microsoft.com/office/drawing/2014/main" id="{6682B329-2993-4DF2-9D7C-5BE3CF2A364D}"/>
              </a:ext>
            </a:extLst>
          </p:cNvPr>
          <p:cNvSpPr>
            <a:spLocks xmlns:a="http://schemas.openxmlformats.org/drawingml/2006/main" noGrp="1"/>
          </p:cNvSpPr>
          <p:nvPr/>
        </p:nvSpPr>
        <p:spPr>
          <a:xfrm xmlns:a="http://schemas.openxmlformats.org/drawingml/2006/main">
            <a:off x="8420100" y="5086350"/>
            <a:ext cx="276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C53030"/>
                </a:solidFill>
                <a:latin typeface="Helvetica Neue"/>
                <a:ea typeface="Helvetica Neue"/>
                <a:cs typeface="Helvetica Neue"/>
              </a:defRPr>
            </a:pPr>
            <a:r>
              <a:rPr sz="1425" b="1">
                <a:solidFill>
                  <a:srgbClr val="C53030"/>
                </a:solidFill>
                <a:latin typeface="Helvetica Neue"/>
                <a:ea typeface="Helvetica Neue"/>
                <a:cs typeface="Helvetica Neue"/>
              </a:rPr>
              <a:t>Reversed topology increased error and created negative transfer.</a:t>
            </a:r>
          </a:p>
        </p:txBody>
      </p:sp>
      <p:sp>
        <p:nvSpPr>
          <p:cNvPr id="18" name="">
            <a:extLst xmlns:a="http://schemas.openxmlformats.org/drawingml/2006/main">
              <a:ext uri="{FF2B5EF4-FFF2-40B4-BE49-F238E27FC236}">
                <a16:creationId xmlns:a16="http://schemas.microsoft.com/office/drawing/2014/main" id="{B02C2753-F889-4A27-807D-BB1F8D37F843}"/>
              </a:ext>
            </a:extLst>
          </p:cNvPr>
          <p:cNvSpPr>
            <a:spLocks xmlns:a="http://schemas.openxmlformats.org/drawingml/2006/main" noGrp="1"/>
          </p:cNvSpPr>
          <p:nvPr/>
        </p:nvSpPr>
        <p:spPr>
          <a:xfrm xmlns:a="http://schemas.openxmlformats.org/drawingml/2006/main">
            <a:off x="8191500" y="5829300"/>
            <a:ext cx="3219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a:solidFill>
                  <a:srgbClr val="5D6470"/>
                </a:solidFill>
                <a:latin typeface="Helvetica Neue"/>
                <a:ea typeface="Helvetica Neue"/>
                <a:cs typeface="Helvetica Neue"/>
              </a:defRPr>
            </a:pPr>
            <a:r>
              <a:rPr sz="1125" b="1">
                <a:solidFill>
                  <a:srgbClr val="5D6470"/>
                </a:solidFill>
                <a:latin typeface="Helvetica Neue"/>
                <a:ea typeface="Helvetica Neue"/>
                <a:cs typeface="Helvetica Neue"/>
              </a:rPr>
              <a:t>Practical MAE change: 2.24% and 3.46% of baseline</a:t>
            </a:r>
          </a:p>
        </p:txBody>
      </p:sp>
    </p:spTree>
    <p:extLst>
      <p:ext uri="{BB962C8B-B14F-4D97-AF65-F5344CB8AC3E}">
        <p14:creationId xmlns:p14="http://schemas.microsoft.com/office/powerpoint/2010/main" val="15957326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F4AEFDC-E3A1-4971-9146-CBDB2A15ED1D}"/>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SHEAF VERSUS GRAPH</a:t>
            </a:r>
          </a:p>
        </p:txBody>
      </p:sp>
      <p:sp>
        <p:nvSpPr>
          <p:cNvPr id="2" name="">
            <a:extLst xmlns:a="http://schemas.openxmlformats.org/drawingml/2006/main">
              <a:ext uri="{FF2B5EF4-FFF2-40B4-BE49-F238E27FC236}">
                <a16:creationId xmlns:a16="http://schemas.microsoft.com/office/drawing/2014/main" id="{9D3F38BC-0C99-4E32-A234-BDF775F08F96}"/>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643"/>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The sheaf adds representation and conflict localisation—not universal superiority</a:t>
            </a:r>
          </a:p>
        </p:txBody>
      </p:sp>
      <p:sp>
        <p:nvSpPr>
          <p:cNvPr id="3" name="">
            <a:extLst xmlns:a="http://schemas.openxmlformats.org/drawingml/2006/main">
              <a:ext uri="{FF2B5EF4-FFF2-40B4-BE49-F238E27FC236}">
                <a16:creationId xmlns:a16="http://schemas.microsoft.com/office/drawing/2014/main" id="{E21A7FED-D751-4E76-877D-3E1ADB6B61B5}"/>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F2A30FE-BE6D-457F-A0B0-04AB0240EB85}"/>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4D559215-2502-4CBB-9588-57BE90C280E8}"/>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15</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d2bca4704bc4557"/>
          <a:stretch xmlns:a="http://schemas.openxmlformats.org/drawingml/2006/main"/>
        </p:blipFill>
        <p:spPr>
          <a:xfrm xmlns:a="http://schemas.openxmlformats.org/drawingml/2006/main">
            <a:off x="726842" y="1381125"/>
            <a:ext cx="6871166" cy="4810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8E6FF20-6C08-450F-96EF-A8C0368A74E0}"/>
              </a:ext>
            </a:extLst>
          </p:cNvPr>
          <p:cNvSpPr>
            <a:spLocks xmlns:a="http://schemas.openxmlformats.org/drawingml/2006/main" noGrp="1"/>
          </p:cNvSpPr>
          <p:nvPr/>
        </p:nvSpPr>
        <p:spPr>
          <a:xfrm xmlns:a="http://schemas.openxmlformats.org/drawingml/2006/main">
            <a:off x="8191500" y="1485900"/>
            <a:ext cx="3219450" cy="1143000"/>
          </a:xfrm>
          <a:prstGeom xmlns:a="http://schemas.openxmlformats.org/drawingml/2006/main" prst="roundRect">
            <a:avLst>
              <a:gd name="adj" fmla="val 10000"/>
            </a:avLst>
          </a:prstGeom>
          <a:solidFill xmlns:a="http://schemas.openxmlformats.org/drawingml/2006/main">
            <a:srgbClr val="E7F7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85B42B1-4AD9-4641-8334-A62C19589343}"/>
              </a:ext>
            </a:extLst>
          </p:cNvPr>
          <p:cNvSpPr>
            <a:spLocks xmlns:a="http://schemas.openxmlformats.org/drawingml/2006/main" noGrp="1"/>
          </p:cNvSpPr>
          <p:nvPr/>
        </p:nvSpPr>
        <p:spPr>
          <a:xfrm xmlns:a="http://schemas.openxmlformats.org/drawingml/2006/main">
            <a:off x="8420100" y="167640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49A84"/>
                </a:solidFill>
                <a:latin typeface="Helvetica Neue"/>
                <a:ea typeface="Helvetica Neue"/>
                <a:cs typeface="Helvetica Neue"/>
              </a:defRPr>
            </a:pPr>
            <a:r>
              <a:rPr sz="1125" b="1">
                <a:solidFill>
                  <a:srgbClr val="149A84"/>
                </a:solidFill>
                <a:latin typeface="Helvetica Neue"/>
                <a:ea typeface="Helvetica Neue"/>
                <a:cs typeface="Helvetica Neue"/>
              </a:rPr>
              <a:t>VS IDENTITY GRAPH</a:t>
            </a:r>
          </a:p>
        </p:txBody>
      </p:sp>
      <p:sp>
        <p:nvSpPr>
          <p:cNvPr id="9" name="">
            <a:extLst xmlns:a="http://schemas.openxmlformats.org/drawingml/2006/main">
              <a:ext uri="{FF2B5EF4-FFF2-40B4-BE49-F238E27FC236}">
                <a16:creationId xmlns:a16="http://schemas.microsoft.com/office/drawing/2014/main" id="{B3E9A564-3336-424B-9D29-2BB2F4487F7B}"/>
              </a:ext>
            </a:extLst>
          </p:cNvPr>
          <p:cNvSpPr>
            <a:spLocks xmlns:a="http://schemas.openxmlformats.org/drawingml/2006/main" noGrp="1"/>
          </p:cNvSpPr>
          <p:nvPr/>
        </p:nvSpPr>
        <p:spPr>
          <a:xfrm xmlns:a="http://schemas.openxmlformats.org/drawingml/2006/main">
            <a:off x="8420100" y="20383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+0.0854 PR-AUC</a:t>
            </a:r>
          </a:p>
        </p:txBody>
      </p:sp>
      <p:sp>
        <p:nvSpPr>
          <p:cNvPr id="10" name="">
            <a:extLst xmlns:a="http://schemas.openxmlformats.org/drawingml/2006/main">
              <a:ext uri="{FF2B5EF4-FFF2-40B4-BE49-F238E27FC236}">
                <a16:creationId xmlns:a16="http://schemas.microsoft.com/office/drawing/2014/main" id="{3C0DF605-169D-4558-B38B-404890BBDD65}"/>
              </a:ext>
            </a:extLst>
          </p:cNvPr>
          <p:cNvSpPr>
            <a:spLocks xmlns:a="http://schemas.openxmlformats.org/drawingml/2006/main" noGrp="1"/>
          </p:cNvSpPr>
          <p:nvPr/>
        </p:nvSpPr>
        <p:spPr>
          <a:xfrm xmlns:a="http://schemas.openxmlformats.org/drawingml/2006/main">
            <a:off x="8191500" y="2781300"/>
            <a:ext cx="3219450" cy="1143000"/>
          </a:xfrm>
          <a:prstGeom xmlns:a="http://schemas.openxmlformats.org/drawingml/2006/main" prst="roundRect">
            <a:avLst>
              <a:gd name="adj" fmla="val 10000"/>
            </a:avLst>
          </a:prstGeom>
          <a:solidFill xmlns:a="http://schemas.openxmlformats.org/drawingml/2006/main">
            <a:srgbClr val="E9F4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9DEB602-E2FC-471B-A32E-570331C80D32}"/>
              </a:ext>
            </a:extLst>
          </p:cNvPr>
          <p:cNvSpPr>
            <a:spLocks xmlns:a="http://schemas.openxmlformats.org/drawingml/2006/main" noGrp="1"/>
          </p:cNvSpPr>
          <p:nvPr/>
        </p:nvSpPr>
        <p:spPr>
          <a:xfrm xmlns:a="http://schemas.openxmlformats.org/drawingml/2006/main">
            <a:off x="8420100" y="297180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NATIVE VS PERMUTED MAPS</a:t>
            </a:r>
          </a:p>
        </p:txBody>
      </p:sp>
      <p:sp>
        <p:nvSpPr>
          <p:cNvPr id="12" name="">
            <a:extLst xmlns:a="http://schemas.openxmlformats.org/drawingml/2006/main">
              <a:ext uri="{FF2B5EF4-FFF2-40B4-BE49-F238E27FC236}">
                <a16:creationId xmlns:a16="http://schemas.microsoft.com/office/drawing/2014/main" id="{172DAD27-EEFB-4216-89E8-ACD1A150B993}"/>
              </a:ext>
            </a:extLst>
          </p:cNvPr>
          <p:cNvSpPr>
            <a:spLocks xmlns:a="http://schemas.openxmlformats.org/drawingml/2006/main" noGrp="1"/>
          </p:cNvSpPr>
          <p:nvPr/>
        </p:nvSpPr>
        <p:spPr>
          <a:xfrm xmlns:a="http://schemas.openxmlformats.org/drawingml/2006/main">
            <a:off x="8420100" y="33337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+0.0909 PR-AUC</a:t>
            </a:r>
          </a:p>
        </p:txBody>
      </p:sp>
      <p:sp>
        <p:nvSpPr>
          <p:cNvPr id="13" name="">
            <a:extLst xmlns:a="http://schemas.openxmlformats.org/drawingml/2006/main">
              <a:ext uri="{FF2B5EF4-FFF2-40B4-BE49-F238E27FC236}">
                <a16:creationId xmlns:a16="http://schemas.microsoft.com/office/drawing/2014/main" id="{5033B610-BB50-4673-AC59-BB692427B3C6}"/>
              </a:ext>
            </a:extLst>
          </p:cNvPr>
          <p:cNvSpPr>
            <a:spLocks xmlns:a="http://schemas.openxmlformats.org/drawingml/2006/main" noGrp="1"/>
          </p:cNvSpPr>
          <p:nvPr/>
        </p:nvSpPr>
        <p:spPr>
          <a:xfrm xmlns:a="http://schemas.openxmlformats.org/drawingml/2006/main">
            <a:off x="8191500" y="4076700"/>
            <a:ext cx="3219450" cy="1143000"/>
          </a:xfrm>
          <a:prstGeom xmlns:a="http://schemas.openxmlformats.org/drawingml/2006/main" prst="roundRect">
            <a:avLst>
              <a:gd name="adj" fmla="val 10000"/>
            </a:avLst>
          </a:prstGeom>
          <a:solidFill xmlns:a="http://schemas.openxmlformats.org/drawingml/2006/main">
            <a:srgbClr val="FDE8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996FC2A-3BDC-4609-BC8C-4F98D87F79D9}"/>
              </a:ext>
            </a:extLst>
          </p:cNvPr>
          <p:cNvSpPr>
            <a:spLocks xmlns:a="http://schemas.openxmlformats.org/drawingml/2006/main" noGrp="1"/>
          </p:cNvSpPr>
          <p:nvPr/>
        </p:nvSpPr>
        <p:spPr>
          <a:xfrm xmlns:a="http://schemas.openxmlformats.org/drawingml/2006/main">
            <a:off x="8420100" y="426720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C53030"/>
                </a:solidFill>
                <a:latin typeface="Helvetica Neue"/>
                <a:ea typeface="Helvetica Neue"/>
                <a:cs typeface="Helvetica Neue"/>
              </a:defRPr>
            </a:pPr>
            <a:r>
              <a:rPr sz="1125" b="1">
                <a:solidFill>
                  <a:srgbClr val="C53030"/>
                </a:solidFill>
                <a:latin typeface="Helvetica Neue"/>
                <a:ea typeface="Helvetica Neue"/>
                <a:cs typeface="Helvetica Neue"/>
              </a:rPr>
              <a:t>VS STRONG EDGE-LOCAL GRAPH</a:t>
            </a:r>
          </a:p>
        </p:txBody>
      </p:sp>
      <p:sp>
        <p:nvSpPr>
          <p:cNvPr id="15" name="">
            <a:extLst xmlns:a="http://schemas.openxmlformats.org/drawingml/2006/main">
              <a:ext uri="{FF2B5EF4-FFF2-40B4-BE49-F238E27FC236}">
                <a16:creationId xmlns:a16="http://schemas.microsoft.com/office/drawing/2014/main" id="{728333EE-295E-47A6-9E49-F0D315F014A9}"/>
              </a:ext>
            </a:extLst>
          </p:cNvPr>
          <p:cNvSpPr>
            <a:spLocks xmlns:a="http://schemas.openxmlformats.org/drawingml/2006/main" noGrp="1"/>
          </p:cNvSpPr>
          <p:nvPr/>
        </p:nvSpPr>
        <p:spPr>
          <a:xfrm xmlns:a="http://schemas.openxmlformats.org/drawingml/2006/main">
            <a:off x="8420100" y="46291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+0.0097 · CI crosses 0</a:t>
            </a:r>
          </a:p>
        </p:txBody>
      </p:sp>
      <p:sp>
        <p:nvSpPr>
          <p:cNvPr id="16" name="">
            <a:extLst xmlns:a="http://schemas.openxmlformats.org/drawingml/2006/main">
              <a:ext uri="{FF2B5EF4-FFF2-40B4-BE49-F238E27FC236}">
                <a16:creationId xmlns:a16="http://schemas.microsoft.com/office/drawing/2014/main" id="{5739C177-3293-4CBB-AC1F-12334B65D332}"/>
              </a:ext>
            </a:extLst>
          </p:cNvPr>
          <p:cNvSpPr>
            <a:spLocks xmlns:a="http://schemas.openxmlformats.org/drawingml/2006/main" noGrp="1"/>
          </p:cNvSpPr>
          <p:nvPr/>
        </p:nvSpPr>
        <p:spPr>
          <a:xfrm xmlns:a="http://schemas.openxmlformats.org/drawingml/2006/main">
            <a:off x="8191500" y="5467350"/>
            <a:ext cx="3219450" cy="323850"/>
          </a:xfrm>
          <a:prstGeom xmlns:a="http://schemas.openxmlformats.org/drawingml/2006/main" prst="roundRect">
            <a:avLst>
              <a:gd name="adj" fmla="val 50000"/>
            </a:avLst>
          </a:prstGeom>
          <a:solidFill xmlns:a="http://schemas.openxmlformats.org/drawingml/2006/main">
            <a:srgbClr val="FDE8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A4BBFB7-0B22-486A-98AB-89474C9F18AC}"/>
              </a:ext>
            </a:extLst>
          </p:cNvPr>
          <p:cNvSpPr>
            <a:spLocks xmlns:a="http://schemas.openxmlformats.org/drawingml/2006/main" noGrp="1"/>
          </p:cNvSpPr>
          <p:nvPr/>
        </p:nvSpPr>
        <p:spPr>
          <a:xfrm xmlns:a="http://schemas.openxmlformats.org/drawingml/2006/main">
            <a:off x="8286750" y="5534025"/>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GENERAL SUPERIORITY: NOT ESTABLISHED</a:t>
            </a:r>
          </a:p>
        </p:txBody>
      </p:sp>
    </p:spTree>
    <p:extLst>
      <p:ext uri="{BB962C8B-B14F-4D97-AF65-F5344CB8AC3E}">
        <p14:creationId xmlns:p14="http://schemas.microsoft.com/office/powerpoint/2010/main" val="124602849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253A8FC-8EDA-425A-8A5D-0F7DE64DAA02}"/>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ESTIMATOR DIAGNOSTIC</a:t>
            </a:r>
          </a:p>
        </p:txBody>
      </p:sp>
      <p:sp>
        <p:nvSpPr>
          <p:cNvPr id="2" name="">
            <a:extLst xmlns:a="http://schemas.openxmlformats.org/drawingml/2006/main">
              <a:ext uri="{FF2B5EF4-FFF2-40B4-BE49-F238E27FC236}">
                <a16:creationId xmlns:a16="http://schemas.microsoft.com/office/drawing/2014/main" id="{22A5498B-BC5E-47DE-81E9-3834F3556BC6}"/>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The local-first estimator did not earn general superiority</a:t>
            </a:r>
          </a:p>
        </p:txBody>
      </p:sp>
      <p:sp>
        <p:nvSpPr>
          <p:cNvPr id="3" name="">
            <a:extLst xmlns:a="http://schemas.openxmlformats.org/drawingml/2006/main">
              <a:ext uri="{FF2B5EF4-FFF2-40B4-BE49-F238E27FC236}">
                <a16:creationId xmlns:a16="http://schemas.microsoft.com/office/drawing/2014/main" id="{DC69BA39-1E6A-4753-B913-AC1ADF200782}"/>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8302709-4230-4735-8872-D604F6E036E8}"/>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Results</a:t>
            </a:r>
          </a:p>
        </p:txBody>
      </p:sp>
      <p:sp>
        <p:nvSpPr>
          <p:cNvPr id="5" name="">
            <a:extLst xmlns:a="http://schemas.openxmlformats.org/drawingml/2006/main">
              <a:ext uri="{FF2B5EF4-FFF2-40B4-BE49-F238E27FC236}">
                <a16:creationId xmlns:a16="http://schemas.microsoft.com/office/drawing/2014/main" id="{5A6A54F3-85EC-4958-B588-2CFE51564F88}"/>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16</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615f776881544da"/>
          <a:stretch xmlns:a="http://schemas.openxmlformats.org/drawingml/2006/main"/>
        </p:blipFill>
        <p:spPr>
          <a:xfrm xmlns:a="http://schemas.openxmlformats.org/drawingml/2006/main">
            <a:off x="400050" y="1443147"/>
            <a:ext cx="7524750" cy="468608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A981AB9-FD07-4D61-9CC7-88C4D8AC5B1F}"/>
              </a:ext>
            </a:extLst>
          </p:cNvPr>
          <p:cNvSpPr>
            <a:spLocks xmlns:a="http://schemas.openxmlformats.org/drawingml/2006/main" noGrp="1"/>
          </p:cNvSpPr>
          <p:nvPr/>
        </p:nvSpPr>
        <p:spPr>
          <a:xfrm xmlns:a="http://schemas.openxmlformats.org/drawingml/2006/main">
            <a:off x="8191500" y="1524000"/>
            <a:ext cx="3219450" cy="1428750"/>
          </a:xfrm>
          <a:prstGeom xmlns:a="http://schemas.openxmlformats.org/drawingml/2006/main" prst="roundRect">
            <a:avLst>
              <a:gd name="adj" fmla="val 8000"/>
            </a:avLst>
          </a:prstGeom>
          <a:solidFill xmlns:a="http://schemas.openxmlformats.org/drawingml/2006/main">
            <a:srgbClr val="E7F7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09CED90-96F7-4671-A280-BA10383400D2}"/>
              </a:ext>
            </a:extLst>
          </p:cNvPr>
          <p:cNvSpPr>
            <a:spLocks xmlns:a="http://schemas.openxmlformats.org/drawingml/2006/main" noGrp="1"/>
          </p:cNvSpPr>
          <p:nvPr/>
        </p:nvSpPr>
        <p:spPr>
          <a:xfrm xmlns:a="http://schemas.openxmlformats.org/drawingml/2006/main">
            <a:off x="8420100" y="1733550"/>
            <a:ext cx="276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49A84"/>
                </a:solidFill>
                <a:latin typeface="Helvetica Neue"/>
                <a:ea typeface="Helvetica Neue"/>
                <a:cs typeface="Helvetica Neue"/>
              </a:defRPr>
            </a:pPr>
            <a:r>
              <a:rPr sz="1125" b="1">
                <a:solidFill>
                  <a:srgbClr val="149A84"/>
                </a:solidFill>
                <a:latin typeface="Helvetica Neue"/>
                <a:ea typeface="Helvetica Neue"/>
                <a:cs typeface="Helvetica Neue"/>
              </a:rPr>
              <a:t>LOCKED TEST: 128 CASES</a:t>
            </a:r>
          </a:p>
        </p:txBody>
      </p:sp>
      <p:sp>
        <p:nvSpPr>
          <p:cNvPr id="9" name="">
            <a:extLst xmlns:a="http://schemas.openxmlformats.org/drawingml/2006/main">
              <a:ext uri="{FF2B5EF4-FFF2-40B4-BE49-F238E27FC236}">
                <a16:creationId xmlns:a16="http://schemas.microsoft.com/office/drawing/2014/main" id="{49893EBC-87DC-4F3D-957E-BC87FAF50BD9}"/>
              </a:ext>
            </a:extLst>
          </p:cNvPr>
          <p:cNvSpPr>
            <a:spLocks xmlns:a="http://schemas.openxmlformats.org/drawingml/2006/main" noGrp="1"/>
          </p:cNvSpPr>
          <p:nvPr/>
        </p:nvSpPr>
        <p:spPr>
          <a:xfrm xmlns:a="http://schemas.openxmlformats.org/drawingml/2006/main">
            <a:off x="8420100" y="21145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701"/>
          </a:bodyPr>
          <a:lstStyle xmlns:a="http://schemas.openxmlformats.org/drawingml/2006/main"/>
          <a:p xmlns:a="http://schemas.openxmlformats.org/drawingml/2006/main">
            <a:pPr algn="l">
              <a:defRPr sz="2175" b="1">
                <a:solidFill>
                  <a:srgbClr val="111318"/>
                </a:solidFill>
                <a:latin typeface="Helvetica Neue"/>
                <a:ea typeface="Helvetica Neue"/>
                <a:cs typeface="Helvetica Neue"/>
              </a:defRPr>
            </a:pPr>
            <a:r>
              <a:rPr sz="2175" b="1">
                <a:solidFill>
                  <a:srgbClr val="111318"/>
                </a:solidFill>
                <a:latin typeface="Helvetica Neue"/>
                <a:ea typeface="Helvetica Neue"/>
                <a:cs typeface="Helvetica Neue"/>
              </a:rPr>
              <a:t>+0.0200 PR-AUC</a:t>
            </a:r>
          </a:p>
        </p:txBody>
      </p:sp>
      <p:sp>
        <p:nvSpPr>
          <p:cNvPr id="10" name="">
            <a:extLst xmlns:a="http://schemas.openxmlformats.org/drawingml/2006/main">
              <a:ext uri="{FF2B5EF4-FFF2-40B4-BE49-F238E27FC236}">
                <a16:creationId xmlns:a16="http://schemas.microsoft.com/office/drawing/2014/main" id="{24D26AF2-E447-46AE-A00C-21E369039018}"/>
              </a:ext>
            </a:extLst>
          </p:cNvPr>
          <p:cNvSpPr>
            <a:spLocks xmlns:a="http://schemas.openxmlformats.org/drawingml/2006/main" noGrp="1"/>
          </p:cNvSpPr>
          <p:nvPr/>
        </p:nvSpPr>
        <p:spPr>
          <a:xfrm xmlns:a="http://schemas.openxmlformats.org/drawingml/2006/main">
            <a:off x="8420100" y="2533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5D6470"/>
                </a:solidFill>
                <a:latin typeface="Helvetica Neue"/>
                <a:ea typeface="Helvetica Neue"/>
                <a:cs typeface="Helvetica Neue"/>
              </a:defRPr>
            </a:pPr>
            <a:r>
              <a:rPr sz="1200" b="0">
                <a:solidFill>
                  <a:srgbClr val="5D6470"/>
                </a:solidFill>
                <a:latin typeface="Helvetica Neue"/>
                <a:ea typeface="Helvetica Neue"/>
                <a:cs typeface="Helvetica Neue"/>
              </a:rPr>
              <a:t>simultaneous CI [−0.0055, 0.0454]</a:t>
            </a:r>
          </a:p>
        </p:txBody>
      </p:sp>
      <p:sp>
        <p:nvSpPr>
          <p:cNvPr id="11" name="">
            <a:extLst xmlns:a="http://schemas.openxmlformats.org/drawingml/2006/main">
              <a:ext uri="{FF2B5EF4-FFF2-40B4-BE49-F238E27FC236}">
                <a16:creationId xmlns:a16="http://schemas.microsoft.com/office/drawing/2014/main" id="{AB347676-C57C-4023-B174-170A5FD73BC4}"/>
              </a:ext>
            </a:extLst>
          </p:cNvPr>
          <p:cNvSpPr>
            <a:spLocks xmlns:a="http://schemas.openxmlformats.org/drawingml/2006/main" noGrp="1"/>
          </p:cNvSpPr>
          <p:nvPr/>
        </p:nvSpPr>
        <p:spPr>
          <a:xfrm xmlns:a="http://schemas.openxmlformats.org/drawingml/2006/main">
            <a:off x="8191500" y="3143250"/>
            <a:ext cx="3219450" cy="1428750"/>
          </a:xfrm>
          <a:prstGeom xmlns:a="http://schemas.openxmlformats.org/drawingml/2006/main" prst="roundRect">
            <a:avLst>
              <a:gd name="adj" fmla="val 8000"/>
            </a:avLst>
          </a:prstGeom>
          <a:solidFill xmlns:a="http://schemas.openxmlformats.org/drawingml/2006/main">
            <a:srgbClr val="FDE8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8D1AB2E-59F2-4B68-9ECB-CF0523CEEFE1}"/>
              </a:ext>
            </a:extLst>
          </p:cNvPr>
          <p:cNvSpPr>
            <a:spLocks xmlns:a="http://schemas.openxmlformats.org/drawingml/2006/main" noGrp="1"/>
          </p:cNvSpPr>
          <p:nvPr/>
        </p:nvSpPr>
        <p:spPr>
          <a:xfrm xmlns:a="http://schemas.openxmlformats.org/drawingml/2006/main">
            <a:off x="8420100" y="3352800"/>
            <a:ext cx="276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C53030"/>
                </a:solidFill>
                <a:latin typeface="Helvetica Neue"/>
                <a:ea typeface="Helvetica Neue"/>
                <a:cs typeface="Helvetica Neue"/>
              </a:defRPr>
            </a:pPr>
            <a:r>
              <a:rPr sz="1125" b="1">
                <a:solidFill>
                  <a:srgbClr val="C53030"/>
                </a:solidFill>
                <a:latin typeface="Helvetica Neue"/>
                <a:ea typeface="Helvetica Neue"/>
                <a:cs typeface="Helvetica Neue"/>
              </a:rPr>
              <a:t>COMPLETE GATE</a:t>
            </a:r>
          </a:p>
        </p:txBody>
      </p:sp>
      <p:sp>
        <p:nvSpPr>
          <p:cNvPr id="13" name="">
            <a:extLst xmlns:a="http://schemas.openxmlformats.org/drawingml/2006/main">
              <a:ext uri="{FF2B5EF4-FFF2-40B4-BE49-F238E27FC236}">
                <a16:creationId xmlns:a16="http://schemas.microsoft.com/office/drawing/2014/main" id="{48A60DDB-BBDE-475A-979A-A1C7FDCD7F7E}"/>
              </a:ext>
            </a:extLst>
          </p:cNvPr>
          <p:cNvSpPr>
            <a:spLocks xmlns:a="http://schemas.openxmlformats.org/drawingml/2006/main" noGrp="1"/>
          </p:cNvSpPr>
          <p:nvPr/>
        </p:nvSpPr>
        <p:spPr>
          <a:xfrm xmlns:a="http://schemas.openxmlformats.org/drawingml/2006/main">
            <a:off x="8420100" y="373380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Brier: inconclusive</a:t>
            </a:r>
          </a:p>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Log loss: inconclusive</a:t>
            </a:r>
          </a:p>
        </p:txBody>
      </p:sp>
      <p:sp>
        <p:nvSpPr>
          <p:cNvPr id="14" name="">
            <a:extLst xmlns:a="http://schemas.openxmlformats.org/drawingml/2006/main">
              <a:ext uri="{FF2B5EF4-FFF2-40B4-BE49-F238E27FC236}">
                <a16:creationId xmlns:a16="http://schemas.microsoft.com/office/drawing/2014/main" id="{E178B65C-A109-4478-B923-E7B7A7C2B3CD}"/>
              </a:ext>
            </a:extLst>
          </p:cNvPr>
          <p:cNvSpPr>
            <a:spLocks xmlns:a="http://schemas.openxmlformats.org/drawingml/2006/main" noGrp="1"/>
          </p:cNvSpPr>
          <p:nvPr/>
        </p:nvSpPr>
        <p:spPr>
          <a:xfrm xmlns:a="http://schemas.openxmlformats.org/drawingml/2006/main">
            <a:off x="8191500" y="4953000"/>
            <a:ext cx="3219450" cy="323850"/>
          </a:xfrm>
          <a:prstGeom xmlns:a="http://schemas.openxmlformats.org/drawingml/2006/main" prst="roundRect">
            <a:avLst>
              <a:gd name="adj" fmla="val 50000"/>
            </a:avLst>
          </a:prstGeom>
          <a:solidFill xmlns:a="http://schemas.openxmlformats.org/drawingml/2006/main">
            <a:srgbClr val="FFF3D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38D995F-A28E-4682-9C33-8D9CBE47E04F}"/>
              </a:ext>
            </a:extLst>
          </p:cNvPr>
          <p:cNvSpPr>
            <a:spLocks xmlns:a="http://schemas.openxmlformats.org/drawingml/2006/main" noGrp="1"/>
          </p:cNvSpPr>
          <p:nvPr/>
        </p:nvSpPr>
        <p:spPr>
          <a:xfrm xmlns:a="http://schemas.openxmlformats.org/drawingml/2006/main">
            <a:off x="8286750" y="5019675"/>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CONDITIONAL METHOD · NOT UNIVERSAL WINNER</a:t>
            </a:r>
          </a:p>
        </p:txBody>
      </p:sp>
    </p:spTree>
    <p:extLst>
      <p:ext uri="{BB962C8B-B14F-4D97-AF65-F5344CB8AC3E}">
        <p14:creationId xmlns:p14="http://schemas.microsoft.com/office/powerpoint/2010/main" val="65809967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1FFDCF7-A969-4A7C-A1D5-C311CB5D69A1}"/>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WHAT DID NOT WORK</a:t>
            </a:r>
          </a:p>
        </p:txBody>
      </p:sp>
      <p:sp>
        <p:nvSpPr>
          <p:cNvPr id="2" name="">
            <a:extLst xmlns:a="http://schemas.openxmlformats.org/drawingml/2006/main">
              <a:ext uri="{FF2B5EF4-FFF2-40B4-BE49-F238E27FC236}">
                <a16:creationId xmlns:a16="http://schemas.microsoft.com/office/drawing/2014/main" id="{B268A15F-EF23-4EB3-B3AE-38160924D267}"/>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The failures define the scientific boundary</a:t>
            </a:r>
          </a:p>
        </p:txBody>
      </p:sp>
      <p:sp>
        <p:nvSpPr>
          <p:cNvPr id="3" name="">
            <a:extLst xmlns:a="http://schemas.openxmlformats.org/drawingml/2006/main">
              <a:ext uri="{FF2B5EF4-FFF2-40B4-BE49-F238E27FC236}">
                <a16:creationId xmlns:a16="http://schemas.microsoft.com/office/drawing/2014/main" id="{F897BA01-6B0F-48F7-B7B2-2CA17940AA70}"/>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F036D0E-37EA-44EC-81E0-31C92954D332}"/>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Synthesis</a:t>
            </a:r>
          </a:p>
        </p:txBody>
      </p:sp>
      <p:sp>
        <p:nvSpPr>
          <p:cNvPr id="5" name="">
            <a:extLst xmlns:a="http://schemas.openxmlformats.org/drawingml/2006/main">
              <a:ext uri="{FF2B5EF4-FFF2-40B4-BE49-F238E27FC236}">
                <a16:creationId xmlns:a16="http://schemas.microsoft.com/office/drawing/2014/main" id="{027FF338-705F-401A-B782-C3CABDE372D7}"/>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17</a:t>
            </a:r>
          </a:p>
        </p:txBody>
      </p:sp>
      <p:sp>
        <p:nvSpPr>
          <p:cNvPr id="6" name="">
            <a:extLst xmlns:a="http://schemas.openxmlformats.org/drawingml/2006/main">
              <a:ext uri="{FF2B5EF4-FFF2-40B4-BE49-F238E27FC236}">
                <a16:creationId xmlns:a16="http://schemas.microsoft.com/office/drawing/2014/main" id="{AD43DD97-98FB-46B3-A318-5A48A3D64CA5}"/>
              </a:ext>
            </a:extLst>
          </p:cNvPr>
          <p:cNvSpPr>
            <a:spLocks xmlns:a="http://schemas.openxmlformats.org/drawingml/2006/main" noGrp="1"/>
          </p:cNvSpPr>
          <p:nvPr/>
        </p:nvSpPr>
        <p:spPr>
          <a:xfrm xmlns:a="http://schemas.openxmlformats.org/drawingml/2006/main">
            <a:off x="400050" y="150495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4012E20-3ABB-4ADF-A1CE-FD147C641071}"/>
              </a:ext>
            </a:extLst>
          </p:cNvPr>
          <p:cNvSpPr>
            <a:spLocks xmlns:a="http://schemas.openxmlformats.org/drawingml/2006/main" noGrp="1"/>
          </p:cNvSpPr>
          <p:nvPr/>
        </p:nvSpPr>
        <p:spPr>
          <a:xfrm xmlns:a="http://schemas.openxmlformats.org/drawingml/2006/main">
            <a:off x="647700" y="16478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Weak graph prior for age</a:t>
            </a:r>
          </a:p>
        </p:txBody>
      </p:sp>
      <p:sp>
        <p:nvSpPr>
          <p:cNvPr id="8" name="">
            <a:extLst xmlns:a="http://schemas.openxmlformats.org/drawingml/2006/main">
              <a:ext uri="{FF2B5EF4-FFF2-40B4-BE49-F238E27FC236}">
                <a16:creationId xmlns:a16="http://schemas.microsoft.com/office/drawing/2014/main" id="{60E2C33C-F563-4D71-941A-0D600CE145C7}"/>
              </a:ext>
            </a:extLst>
          </p:cNvPr>
          <p:cNvSpPr>
            <a:spLocks xmlns:a="http://schemas.openxmlformats.org/drawingml/2006/main" noGrp="1"/>
          </p:cNvSpPr>
          <p:nvPr/>
        </p:nvSpPr>
        <p:spPr>
          <a:xfrm xmlns:a="http://schemas.openxmlformats.org/drawingml/2006/main">
            <a:off x="3714750" y="1666875"/>
            <a:ext cx="2047875" cy="323850"/>
          </a:xfrm>
          <a:prstGeom xmlns:a="http://schemas.openxmlformats.org/drawingml/2006/main" prst="roundRect">
            <a:avLst>
              <a:gd name="adj" fmla="val 50000"/>
            </a:avLst>
          </a:prstGeom>
          <a:solidFill xmlns:a="http://schemas.openxmlformats.org/drawingml/2006/main">
            <a:srgbClr val="FFF3D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6CDE530-47A0-46A5-8783-2B3E9BFA9A2B}"/>
              </a:ext>
            </a:extLst>
          </p:cNvPr>
          <p:cNvSpPr>
            <a:spLocks xmlns:a="http://schemas.openxmlformats.org/drawingml/2006/main" noGrp="1"/>
          </p:cNvSpPr>
          <p:nvPr/>
        </p:nvSpPr>
        <p:spPr>
          <a:xfrm xmlns:a="http://schemas.openxmlformats.org/drawingml/2006/main">
            <a:off x="3810000" y="1733550"/>
            <a:ext cx="1857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NO ROBUST GAIN</a:t>
            </a:r>
          </a:p>
        </p:txBody>
      </p:sp>
      <p:sp>
        <p:nvSpPr>
          <p:cNvPr id="10" name="">
            <a:extLst xmlns:a="http://schemas.openxmlformats.org/drawingml/2006/main">
              <a:ext uri="{FF2B5EF4-FFF2-40B4-BE49-F238E27FC236}">
                <a16:creationId xmlns:a16="http://schemas.microsoft.com/office/drawing/2014/main" id="{67B84850-5AB1-4D9B-AA71-B6B5BA9966CC}"/>
              </a:ext>
            </a:extLst>
          </p:cNvPr>
          <p:cNvSpPr>
            <a:spLocks xmlns:a="http://schemas.openxmlformats.org/drawingml/2006/main" noGrp="1"/>
          </p:cNvSpPr>
          <p:nvPr/>
        </p:nvSpPr>
        <p:spPr>
          <a:xfrm xmlns:a="http://schemas.openxmlformats.org/drawingml/2006/main">
            <a:off x="6048375" y="1647825"/>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Topology did not contain independent age information</a:t>
            </a:r>
          </a:p>
        </p:txBody>
      </p:sp>
      <p:sp>
        <p:nvSpPr>
          <p:cNvPr id="11" name="">
            <a:extLst xmlns:a="http://schemas.openxmlformats.org/drawingml/2006/main">
              <a:ext uri="{FF2B5EF4-FFF2-40B4-BE49-F238E27FC236}">
                <a16:creationId xmlns:a16="http://schemas.microsoft.com/office/drawing/2014/main" id="{524851AB-7387-4A7C-83F7-695E529A1DA3}"/>
              </a:ext>
            </a:extLst>
          </p:cNvPr>
          <p:cNvSpPr>
            <a:spLocks xmlns:a="http://schemas.openxmlformats.org/drawingml/2006/main" noGrp="1"/>
          </p:cNvSpPr>
          <p:nvPr/>
        </p:nvSpPr>
        <p:spPr>
          <a:xfrm xmlns:a="http://schemas.openxmlformats.org/drawingml/2006/main">
            <a:off x="400050" y="240030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6CE5A71-810C-43FE-BF60-3661D21D0CDA}"/>
              </a:ext>
            </a:extLst>
          </p:cNvPr>
          <p:cNvSpPr>
            <a:spLocks xmlns:a="http://schemas.openxmlformats.org/drawingml/2006/main" noGrp="1"/>
          </p:cNvSpPr>
          <p:nvPr/>
        </p:nvSpPr>
        <p:spPr>
          <a:xfrm xmlns:a="http://schemas.openxmlformats.org/drawingml/2006/main">
            <a:off x="647700" y="25431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Old-water prior</a:t>
            </a:r>
          </a:p>
        </p:txBody>
      </p:sp>
      <p:sp>
        <p:nvSpPr>
          <p:cNvPr id="13" name="">
            <a:extLst xmlns:a="http://schemas.openxmlformats.org/drawingml/2006/main">
              <a:ext uri="{FF2B5EF4-FFF2-40B4-BE49-F238E27FC236}">
                <a16:creationId xmlns:a16="http://schemas.microsoft.com/office/drawing/2014/main" id="{AA5312FF-D280-4EEE-B51D-13E106433EE0}"/>
              </a:ext>
            </a:extLst>
          </p:cNvPr>
          <p:cNvSpPr>
            <a:spLocks xmlns:a="http://schemas.openxmlformats.org/drawingml/2006/main" noGrp="1"/>
          </p:cNvSpPr>
          <p:nvPr/>
        </p:nvSpPr>
        <p:spPr>
          <a:xfrm xmlns:a="http://schemas.openxmlformats.org/drawingml/2006/main">
            <a:off x="3714750" y="2562225"/>
            <a:ext cx="2047875" cy="323850"/>
          </a:xfrm>
          <a:prstGeom xmlns:a="http://schemas.openxmlformats.org/drawingml/2006/main" prst="roundRect">
            <a:avLst>
              <a:gd name="adj" fmla="val 50000"/>
            </a:avLst>
          </a:prstGeom>
          <a:solidFill xmlns:a="http://schemas.openxmlformats.org/drawingml/2006/main">
            <a:srgbClr val="FDE8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2B267FB-B3E7-413F-9DF0-049FCD94E7D6}"/>
              </a:ext>
            </a:extLst>
          </p:cNvPr>
          <p:cNvSpPr>
            <a:spLocks xmlns:a="http://schemas.openxmlformats.org/drawingml/2006/main" noGrp="1"/>
          </p:cNvSpPr>
          <p:nvPr/>
        </p:nvSpPr>
        <p:spPr>
          <a:xfrm xmlns:a="http://schemas.openxmlformats.org/drawingml/2006/main">
            <a:off x="3810000" y="2628900"/>
            <a:ext cx="1857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WITHDRAWN</a:t>
            </a:r>
          </a:p>
        </p:txBody>
      </p:sp>
      <p:sp>
        <p:nvSpPr>
          <p:cNvPr id="15" name="">
            <a:extLst xmlns:a="http://schemas.openxmlformats.org/drawingml/2006/main">
              <a:ext uri="{FF2B5EF4-FFF2-40B4-BE49-F238E27FC236}">
                <a16:creationId xmlns:a16="http://schemas.microsoft.com/office/drawing/2014/main" id="{0373A574-3F13-4A31-AC8F-2A488F8B67A2}"/>
              </a:ext>
            </a:extLst>
          </p:cNvPr>
          <p:cNvSpPr>
            <a:spLocks xmlns:a="http://schemas.openxmlformats.org/drawingml/2006/main" noGrp="1"/>
          </p:cNvSpPr>
          <p:nvPr/>
        </p:nvSpPr>
        <p:spPr>
          <a:xfrm xmlns:a="http://schemas.openxmlformats.org/drawingml/2006/main">
            <a:off x="6048375" y="2543175"/>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RMSE 1.310; R² 0.004</a:t>
            </a:r>
          </a:p>
        </p:txBody>
      </p:sp>
      <p:sp>
        <p:nvSpPr>
          <p:cNvPr id="16" name="">
            <a:extLst xmlns:a="http://schemas.openxmlformats.org/drawingml/2006/main">
              <a:ext uri="{FF2B5EF4-FFF2-40B4-BE49-F238E27FC236}">
                <a16:creationId xmlns:a16="http://schemas.microsoft.com/office/drawing/2014/main" id="{D7A10276-F5F2-4E0C-A0DA-ABEE5C7678C7}"/>
              </a:ext>
            </a:extLst>
          </p:cNvPr>
          <p:cNvSpPr>
            <a:spLocks xmlns:a="http://schemas.openxmlformats.org/drawingml/2006/main" noGrp="1"/>
          </p:cNvSpPr>
          <p:nvPr/>
        </p:nvSpPr>
        <p:spPr>
          <a:xfrm xmlns:a="http://schemas.openxmlformats.org/drawingml/2006/main">
            <a:off x="400050" y="329565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5C4FE56-D135-4DE6-A649-AEE82300A5AD}"/>
              </a:ext>
            </a:extLst>
          </p:cNvPr>
          <p:cNvSpPr>
            <a:spLocks xmlns:a="http://schemas.openxmlformats.org/drawingml/2006/main" noGrp="1"/>
          </p:cNvSpPr>
          <p:nvPr/>
        </p:nvSpPr>
        <p:spPr>
          <a:xfrm xmlns:a="http://schemas.openxmlformats.org/drawingml/2006/main">
            <a:off x="647700" y="34385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Carbonate reaction families</a:t>
            </a:r>
          </a:p>
        </p:txBody>
      </p:sp>
      <p:sp>
        <p:nvSpPr>
          <p:cNvPr id="18" name="">
            <a:extLst xmlns:a="http://schemas.openxmlformats.org/drawingml/2006/main">
              <a:ext uri="{FF2B5EF4-FFF2-40B4-BE49-F238E27FC236}">
                <a16:creationId xmlns:a16="http://schemas.microsoft.com/office/drawing/2014/main" id="{EE369C83-6438-45DC-A3B8-AD669F54BD78}"/>
              </a:ext>
            </a:extLst>
          </p:cNvPr>
          <p:cNvSpPr>
            <a:spLocks xmlns:a="http://schemas.openxmlformats.org/drawingml/2006/main" noGrp="1"/>
          </p:cNvSpPr>
          <p:nvPr/>
        </p:nvSpPr>
        <p:spPr>
          <a:xfrm xmlns:a="http://schemas.openxmlformats.org/drawingml/2006/main">
            <a:off x="3714750" y="3457575"/>
            <a:ext cx="2047875" cy="323850"/>
          </a:xfrm>
          <a:prstGeom xmlns:a="http://schemas.openxmlformats.org/drawingml/2006/main" prst="roundRect">
            <a:avLst>
              <a:gd name="adj" fmla="val 50000"/>
            </a:avLst>
          </a:prstGeom>
          <a:solidFill xmlns:a="http://schemas.openxmlformats.org/drawingml/2006/main">
            <a:srgbClr val="FDE8E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05B39F3-A8DF-4FFF-8E76-EC448734FAAB}"/>
              </a:ext>
            </a:extLst>
          </p:cNvPr>
          <p:cNvSpPr>
            <a:spLocks xmlns:a="http://schemas.openxmlformats.org/drawingml/2006/main" noGrp="1"/>
          </p:cNvSpPr>
          <p:nvPr/>
        </p:nvSpPr>
        <p:spPr>
          <a:xfrm xmlns:a="http://schemas.openxmlformats.org/drawingml/2006/main">
            <a:off x="3810000" y="3524250"/>
            <a:ext cx="1857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NOT RECOVERED</a:t>
            </a:r>
          </a:p>
        </p:txBody>
      </p:sp>
      <p:sp>
        <p:nvSpPr>
          <p:cNvPr id="20" name="">
            <a:extLst xmlns:a="http://schemas.openxmlformats.org/drawingml/2006/main">
              <a:ext uri="{FF2B5EF4-FFF2-40B4-BE49-F238E27FC236}">
                <a16:creationId xmlns:a16="http://schemas.microsoft.com/office/drawing/2014/main" id="{4B125640-AF39-4299-9CC9-52D47F1F70DE}"/>
              </a:ext>
            </a:extLst>
          </p:cNvPr>
          <p:cNvSpPr>
            <a:spLocks xmlns:a="http://schemas.openxmlformats.org/drawingml/2006/main" noGrp="1"/>
          </p:cNvSpPr>
          <p:nvPr/>
        </p:nvSpPr>
        <p:spPr>
          <a:xfrm xmlns:a="http://schemas.openxmlformats.org/drawingml/2006/main">
            <a:off x="6048375" y="3438525"/>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0/36 scored edges per tested panel</a:t>
            </a:r>
          </a:p>
        </p:txBody>
      </p:sp>
      <p:sp>
        <p:nvSpPr>
          <p:cNvPr id="21" name="">
            <a:extLst xmlns:a="http://schemas.openxmlformats.org/drawingml/2006/main">
              <a:ext uri="{FF2B5EF4-FFF2-40B4-BE49-F238E27FC236}">
                <a16:creationId xmlns:a16="http://schemas.microsoft.com/office/drawing/2014/main" id="{ACB39B26-EBA9-4317-858F-753ED9F90088}"/>
              </a:ext>
            </a:extLst>
          </p:cNvPr>
          <p:cNvSpPr>
            <a:spLocks xmlns:a="http://schemas.openxmlformats.org/drawingml/2006/main" noGrp="1"/>
          </p:cNvSpPr>
          <p:nvPr/>
        </p:nvSpPr>
        <p:spPr>
          <a:xfrm xmlns:a="http://schemas.openxmlformats.org/drawingml/2006/main">
            <a:off x="400050" y="419100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6719F25-077D-4B32-BF6B-6D7842EDBC2C}"/>
              </a:ext>
            </a:extLst>
          </p:cNvPr>
          <p:cNvSpPr>
            <a:spLocks xmlns:a="http://schemas.openxmlformats.org/drawingml/2006/main" noGrp="1"/>
          </p:cNvSpPr>
          <p:nvPr/>
        </p:nvSpPr>
        <p:spPr>
          <a:xfrm xmlns:a="http://schemas.openxmlformats.org/drawingml/2006/main">
            <a:off x="647700" y="4333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Overall sheaf &gt; edge-local graph</a:t>
            </a:r>
          </a:p>
        </p:txBody>
      </p:sp>
      <p:sp>
        <p:nvSpPr>
          <p:cNvPr id="23" name="">
            <a:extLst xmlns:a="http://schemas.openxmlformats.org/drawingml/2006/main">
              <a:ext uri="{FF2B5EF4-FFF2-40B4-BE49-F238E27FC236}">
                <a16:creationId xmlns:a16="http://schemas.microsoft.com/office/drawing/2014/main" id="{AB78D2C8-12F5-4D1F-A861-4F25611C8901}"/>
              </a:ext>
            </a:extLst>
          </p:cNvPr>
          <p:cNvSpPr>
            <a:spLocks xmlns:a="http://schemas.openxmlformats.org/drawingml/2006/main" noGrp="1"/>
          </p:cNvSpPr>
          <p:nvPr/>
        </p:nvSpPr>
        <p:spPr>
          <a:xfrm xmlns:a="http://schemas.openxmlformats.org/drawingml/2006/main">
            <a:off x="3714750" y="4352925"/>
            <a:ext cx="2047875" cy="323850"/>
          </a:xfrm>
          <a:prstGeom xmlns:a="http://schemas.openxmlformats.org/drawingml/2006/main" prst="roundRect">
            <a:avLst>
              <a:gd name="adj" fmla="val 50000"/>
            </a:avLst>
          </a:prstGeom>
          <a:solidFill xmlns:a="http://schemas.openxmlformats.org/drawingml/2006/main">
            <a:srgbClr val="FFF3D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69D7071-9C2C-40DA-89F9-F9DFE431ED06}"/>
              </a:ext>
            </a:extLst>
          </p:cNvPr>
          <p:cNvSpPr>
            <a:spLocks xmlns:a="http://schemas.openxmlformats.org/drawingml/2006/main" noGrp="1"/>
          </p:cNvSpPr>
          <p:nvPr/>
        </p:nvSpPr>
        <p:spPr>
          <a:xfrm xmlns:a="http://schemas.openxmlformats.org/drawingml/2006/main">
            <a:off x="3810000" y="4419600"/>
            <a:ext cx="1857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GATE FAILED</a:t>
            </a:r>
          </a:p>
        </p:txBody>
      </p:sp>
      <p:sp>
        <p:nvSpPr>
          <p:cNvPr id="25" name="">
            <a:extLst xmlns:a="http://schemas.openxmlformats.org/drawingml/2006/main">
              <a:ext uri="{FF2B5EF4-FFF2-40B4-BE49-F238E27FC236}">
                <a16:creationId xmlns:a16="http://schemas.microsoft.com/office/drawing/2014/main" id="{06D59609-73BC-4A19-8918-54781A3477EA}"/>
              </a:ext>
            </a:extLst>
          </p:cNvPr>
          <p:cNvSpPr>
            <a:spLocks xmlns:a="http://schemas.openxmlformats.org/drawingml/2006/main" noGrp="1"/>
          </p:cNvSpPr>
          <p:nvPr/>
        </p:nvSpPr>
        <p:spPr>
          <a:xfrm xmlns:a="http://schemas.openxmlformats.org/drawingml/2006/main">
            <a:off x="6048375" y="4333875"/>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Ranking gain did not extend to calibration</a:t>
            </a:r>
          </a:p>
        </p:txBody>
      </p:sp>
      <p:sp>
        <p:nvSpPr>
          <p:cNvPr id="26" name="">
            <a:extLst xmlns:a="http://schemas.openxmlformats.org/drawingml/2006/main">
              <a:ext uri="{FF2B5EF4-FFF2-40B4-BE49-F238E27FC236}">
                <a16:creationId xmlns:a16="http://schemas.microsoft.com/office/drawing/2014/main" id="{2256C673-1916-4E12-ADEA-678E4AAFE77C}"/>
              </a:ext>
            </a:extLst>
          </p:cNvPr>
          <p:cNvSpPr>
            <a:spLocks xmlns:a="http://schemas.openxmlformats.org/drawingml/2006/main" noGrp="1"/>
          </p:cNvSpPr>
          <p:nvPr/>
        </p:nvSpPr>
        <p:spPr>
          <a:xfrm xmlns:a="http://schemas.openxmlformats.org/drawingml/2006/main">
            <a:off x="400050" y="5086350"/>
            <a:ext cx="11391900" cy="685800"/>
          </a:xfrm>
          <a:prstGeom xmlns:a="http://schemas.openxmlformats.org/drawingml/2006/main" prst="roundRect">
            <a:avLst>
              <a:gd name="adj" fmla="val 16667"/>
            </a:avLst>
          </a:prstGeom>
          <a:solidFill xmlns:a="http://schemas.openxmlformats.org/drawingml/2006/main">
            <a:srgbClr val="F2F3F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B708427-A33A-4D12-AD44-19CBA19BC084}"/>
              </a:ext>
            </a:extLst>
          </p:cNvPr>
          <p:cNvSpPr>
            <a:spLocks xmlns:a="http://schemas.openxmlformats.org/drawingml/2006/main" noGrp="1"/>
          </p:cNvSpPr>
          <p:nvPr/>
        </p:nvSpPr>
        <p:spPr>
          <a:xfrm xmlns:a="http://schemas.openxmlformats.org/drawingml/2006/main">
            <a:off x="647700" y="52292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Active learning</a:t>
            </a:r>
          </a:p>
        </p:txBody>
      </p:sp>
      <p:sp>
        <p:nvSpPr>
          <p:cNvPr id="28" name="">
            <a:extLst xmlns:a="http://schemas.openxmlformats.org/drawingml/2006/main">
              <a:ext uri="{FF2B5EF4-FFF2-40B4-BE49-F238E27FC236}">
                <a16:creationId xmlns:a16="http://schemas.microsoft.com/office/drawing/2014/main" id="{EF9376CC-EE89-414A-9F86-9F380527A432}"/>
              </a:ext>
            </a:extLst>
          </p:cNvPr>
          <p:cNvSpPr>
            <a:spLocks xmlns:a="http://schemas.openxmlformats.org/drawingml/2006/main" noGrp="1"/>
          </p:cNvSpPr>
          <p:nvPr/>
        </p:nvSpPr>
        <p:spPr>
          <a:xfrm xmlns:a="http://schemas.openxmlformats.org/drawingml/2006/main">
            <a:off x="3714750" y="5248275"/>
            <a:ext cx="2047875" cy="323850"/>
          </a:xfrm>
          <a:prstGeom xmlns:a="http://schemas.openxmlformats.org/drawingml/2006/main" prst="roundRect">
            <a:avLst>
              <a:gd name="adj" fmla="val 50000"/>
            </a:avLst>
          </a:prstGeom>
          <a:solidFill xmlns:a="http://schemas.openxmlformats.org/drawingml/2006/main">
            <a:srgbClr val="FDE8E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EBB74CE-906A-42A3-A32F-B079FF776BF5}"/>
              </a:ext>
            </a:extLst>
          </p:cNvPr>
          <p:cNvSpPr>
            <a:spLocks xmlns:a="http://schemas.openxmlformats.org/drawingml/2006/main" noGrp="1"/>
          </p:cNvSpPr>
          <p:nvPr/>
        </p:nvSpPr>
        <p:spPr>
          <a:xfrm xmlns:a="http://schemas.openxmlformats.org/drawingml/2006/main">
            <a:off x="3810000" y="5314950"/>
            <a:ext cx="1857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NOT VALIDATED</a:t>
            </a:r>
          </a:p>
        </p:txBody>
      </p:sp>
      <p:sp>
        <p:nvSpPr>
          <p:cNvPr id="30" name="">
            <a:extLst xmlns:a="http://schemas.openxmlformats.org/drawingml/2006/main">
              <a:ext uri="{FF2B5EF4-FFF2-40B4-BE49-F238E27FC236}">
                <a16:creationId xmlns:a16="http://schemas.microsoft.com/office/drawing/2014/main" id="{C9379174-E9A8-49C4-8F7C-932943B6C04C}"/>
              </a:ext>
            </a:extLst>
          </p:cNvPr>
          <p:cNvSpPr>
            <a:spLocks xmlns:a="http://schemas.openxmlformats.org/drawingml/2006/main" noGrp="1"/>
          </p:cNvSpPr>
          <p:nvPr/>
        </p:nvSpPr>
        <p:spPr>
          <a:xfrm xmlns:a="http://schemas.openxmlformats.org/drawingml/2006/main">
            <a:off x="6048375" y="5229225"/>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470"/>
                </a:solidFill>
                <a:latin typeface="Helvetica Neue"/>
                <a:ea typeface="Helvetica Neue"/>
                <a:cs typeface="Helvetica Neue"/>
              </a:defRPr>
            </a:pPr>
            <a:r>
              <a:rPr sz="1350" b="0">
                <a:solidFill>
                  <a:srgbClr val="5D6470"/>
                </a:solidFill>
                <a:latin typeface="Helvetica Neue"/>
                <a:ea typeface="Helvetica Neue"/>
                <a:cs typeface="Helvetica Neue"/>
              </a:rPr>
              <a:t>0 recommendations from 0 scored edges</a:t>
            </a:r>
          </a:p>
        </p:txBody>
      </p:sp>
    </p:spTree>
    <p:extLst>
      <p:ext uri="{BB962C8B-B14F-4D97-AF65-F5344CB8AC3E}">
        <p14:creationId xmlns:p14="http://schemas.microsoft.com/office/powerpoint/2010/main" val="116126917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97315696-CC08-4A8C-91E9-A8E8E85A1E08}"/>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CLAIM LEDGER</a:t>
            </a:r>
          </a:p>
        </p:txBody>
      </p:sp>
      <p:sp>
        <p:nvSpPr>
          <p:cNvPr id="2" name="">
            <a:extLst xmlns:a="http://schemas.openxmlformats.org/drawingml/2006/main">
              <a:ext uri="{FF2B5EF4-FFF2-40B4-BE49-F238E27FC236}">
                <a16:creationId xmlns:a16="http://schemas.microsoft.com/office/drawing/2014/main" id="{AF3C284B-61C4-4DCE-9C4C-19BB1D1F3DF6}"/>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What the thesis supports—and does not support</a:t>
            </a:r>
          </a:p>
        </p:txBody>
      </p:sp>
      <p:sp>
        <p:nvSpPr>
          <p:cNvPr id="3" name="">
            <a:extLst xmlns:a="http://schemas.openxmlformats.org/drawingml/2006/main">
              <a:ext uri="{FF2B5EF4-FFF2-40B4-BE49-F238E27FC236}">
                <a16:creationId xmlns:a16="http://schemas.microsoft.com/office/drawing/2014/main" id="{356BCBBF-6230-45F9-AE88-ADC89024CC4E}"/>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4BCDB74-AB42-4AA5-83B3-C187FDB30AE1}"/>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Synthesis</a:t>
            </a:r>
          </a:p>
        </p:txBody>
      </p:sp>
      <p:sp>
        <p:nvSpPr>
          <p:cNvPr id="5" name="">
            <a:extLst xmlns:a="http://schemas.openxmlformats.org/drawingml/2006/main">
              <a:ext uri="{FF2B5EF4-FFF2-40B4-BE49-F238E27FC236}">
                <a16:creationId xmlns:a16="http://schemas.microsoft.com/office/drawing/2014/main" id="{C8E80706-145B-416F-85F1-B06BAE90BB58}"/>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18</a:t>
            </a:r>
          </a:p>
        </p:txBody>
      </p:sp>
      <p:sp>
        <p:nvSpPr>
          <p:cNvPr id="6" name="">
            <a:extLst xmlns:a="http://schemas.openxmlformats.org/drawingml/2006/main">
              <a:ext uri="{FF2B5EF4-FFF2-40B4-BE49-F238E27FC236}">
                <a16:creationId xmlns:a16="http://schemas.microsoft.com/office/drawing/2014/main" id="{C9A51F5B-E747-4E07-B342-501FA9EA3B57}"/>
              </a:ext>
            </a:extLst>
          </p:cNvPr>
          <p:cNvSpPr>
            <a:spLocks xmlns:a="http://schemas.openxmlformats.org/drawingml/2006/main" noGrp="1"/>
          </p:cNvSpPr>
          <p:nvPr/>
        </p:nvSpPr>
        <p:spPr>
          <a:xfrm xmlns:a="http://schemas.openxmlformats.org/drawingml/2006/main">
            <a:off x="400050" y="15240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2F855A"/>
                </a:solidFill>
                <a:latin typeface="Helvetica Neue"/>
                <a:ea typeface="Helvetica Neue"/>
                <a:cs typeface="Helvetica Neue"/>
              </a:defRPr>
            </a:pPr>
            <a:r>
              <a:rPr sz="1725" b="1">
                <a:solidFill>
                  <a:srgbClr val="2F855A"/>
                </a:solidFill>
                <a:latin typeface="Helvetica Neue"/>
                <a:ea typeface="Helvetica Neue"/>
                <a:cs typeface="Helvetica Neue"/>
              </a:rPr>
              <a:t>SUPPORTED</a:t>
            </a:r>
          </a:p>
        </p:txBody>
      </p:sp>
      <p:sp>
        <p:nvSpPr>
          <p:cNvPr id="7" name="">
            <a:extLst xmlns:a="http://schemas.openxmlformats.org/drawingml/2006/main">
              <a:ext uri="{FF2B5EF4-FFF2-40B4-BE49-F238E27FC236}">
                <a16:creationId xmlns:a16="http://schemas.microsoft.com/office/drawing/2014/main" id="{F462140C-8066-4E51-979D-AF048FF2CA5E}"/>
              </a:ext>
            </a:extLst>
          </p:cNvPr>
          <p:cNvSpPr>
            <a:spLocks xmlns:a="http://schemas.openxmlformats.org/drawingml/2006/main" noGrp="1"/>
          </p:cNvSpPr>
          <p:nvPr/>
        </p:nvSpPr>
        <p:spPr>
          <a:xfrm xmlns:a="http://schemas.openxmlformats.org/drawingml/2006/main">
            <a:off x="400050" y="1943100"/>
            <a:ext cx="5238750" cy="457200"/>
          </a:xfrm>
          <a:prstGeom xmlns:a="http://schemas.openxmlformats.org/drawingml/2006/main" prst="roundRect">
            <a:avLst>
              <a:gd name="adj" fmla="val 25000"/>
            </a:avLst>
          </a:prstGeom>
          <a:solidFill xmlns:a="http://schemas.openxmlformats.org/drawingml/2006/main">
            <a:srgbClr val="E7F7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FD5F0E-EF99-4AE2-8B44-166D5A0BF3F3}"/>
              </a:ext>
            </a:extLst>
          </p:cNvPr>
          <p:cNvSpPr>
            <a:spLocks xmlns:a="http://schemas.openxmlformats.org/drawingml/2006/main" noGrp="1"/>
          </p:cNvSpPr>
          <p:nvPr/>
        </p:nvSpPr>
        <p:spPr>
          <a:xfrm xmlns:a="http://schemas.openxmlformats.org/drawingml/2006/main">
            <a:off x="552450" y="2047875"/>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8448DB7B-AB27-45FB-8BDA-73342D2FF0A8}"/>
              </a:ext>
            </a:extLst>
          </p:cNvPr>
          <p:cNvSpPr>
            <a:spLocks xmlns:a="http://schemas.openxmlformats.org/drawingml/2006/main" noGrp="1"/>
          </p:cNvSpPr>
          <p:nvPr/>
        </p:nvSpPr>
        <p:spPr>
          <a:xfrm xmlns:a="http://schemas.openxmlformats.org/drawingml/2006/main">
            <a:off x="933450" y="2057400"/>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Close agreement with reported age-model configurations</a:t>
            </a:r>
          </a:p>
        </p:txBody>
      </p:sp>
      <p:sp>
        <p:nvSpPr>
          <p:cNvPr id="10" name="">
            <a:extLst xmlns:a="http://schemas.openxmlformats.org/drawingml/2006/main">
              <a:ext uri="{FF2B5EF4-FFF2-40B4-BE49-F238E27FC236}">
                <a16:creationId xmlns:a16="http://schemas.microsoft.com/office/drawing/2014/main" id="{845DA799-FB90-4D42-B20E-8B57C2691531}"/>
              </a:ext>
            </a:extLst>
          </p:cNvPr>
          <p:cNvSpPr>
            <a:spLocks xmlns:a="http://schemas.openxmlformats.org/drawingml/2006/main" noGrp="1"/>
          </p:cNvSpPr>
          <p:nvPr/>
        </p:nvSpPr>
        <p:spPr>
          <a:xfrm xmlns:a="http://schemas.openxmlformats.org/drawingml/2006/main">
            <a:off x="400050" y="2562225"/>
            <a:ext cx="5238750" cy="457200"/>
          </a:xfrm>
          <a:prstGeom xmlns:a="http://schemas.openxmlformats.org/drawingml/2006/main" prst="roundRect">
            <a:avLst>
              <a:gd name="adj" fmla="val 25000"/>
            </a:avLst>
          </a:prstGeom>
          <a:solidFill xmlns:a="http://schemas.openxmlformats.org/drawingml/2006/main">
            <a:srgbClr val="E7F7F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49E4076-B3B6-44FF-BDDF-0BAF3269BC04}"/>
              </a:ext>
            </a:extLst>
          </p:cNvPr>
          <p:cNvSpPr>
            <a:spLocks xmlns:a="http://schemas.openxmlformats.org/drawingml/2006/main" noGrp="1"/>
          </p:cNvSpPr>
          <p:nvPr/>
        </p:nvSpPr>
        <p:spPr>
          <a:xfrm xmlns:a="http://schemas.openxmlformats.org/drawingml/2006/main">
            <a:off x="552450" y="26670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F7E7977D-1319-4E9B-B5C1-924DCCCD799D}"/>
              </a:ext>
            </a:extLst>
          </p:cNvPr>
          <p:cNvSpPr>
            <a:spLocks xmlns:a="http://schemas.openxmlformats.org/drawingml/2006/main" noGrp="1"/>
          </p:cNvSpPr>
          <p:nvPr/>
        </p:nvSpPr>
        <p:spPr>
          <a:xfrm xmlns:a="http://schemas.openxmlformats.org/drawingml/2006/main">
            <a:off x="933450" y="2676525"/>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Conditional topology and evidence value</a:t>
            </a:r>
          </a:p>
        </p:txBody>
      </p:sp>
      <p:sp>
        <p:nvSpPr>
          <p:cNvPr id="13" name="">
            <a:extLst xmlns:a="http://schemas.openxmlformats.org/drawingml/2006/main">
              <a:ext uri="{FF2B5EF4-FFF2-40B4-BE49-F238E27FC236}">
                <a16:creationId xmlns:a16="http://schemas.microsoft.com/office/drawing/2014/main" id="{792AE218-A11E-468E-B4AD-73CC42269215}"/>
              </a:ext>
            </a:extLst>
          </p:cNvPr>
          <p:cNvSpPr>
            <a:spLocks xmlns:a="http://schemas.openxmlformats.org/drawingml/2006/main" noGrp="1"/>
          </p:cNvSpPr>
          <p:nvPr/>
        </p:nvSpPr>
        <p:spPr>
          <a:xfrm xmlns:a="http://schemas.openxmlformats.org/drawingml/2006/main">
            <a:off x="400050" y="3181350"/>
            <a:ext cx="5238750" cy="457200"/>
          </a:xfrm>
          <a:prstGeom xmlns:a="http://schemas.openxmlformats.org/drawingml/2006/main" prst="roundRect">
            <a:avLst>
              <a:gd name="adj" fmla="val 25000"/>
            </a:avLst>
          </a:prstGeom>
          <a:solidFill xmlns:a="http://schemas.openxmlformats.org/drawingml/2006/main">
            <a:srgbClr val="E7F7F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0DA95BA-2D06-4C20-9C75-A9C415257865}"/>
              </a:ext>
            </a:extLst>
          </p:cNvPr>
          <p:cNvSpPr>
            <a:spLocks xmlns:a="http://schemas.openxmlformats.org/drawingml/2006/main" noGrp="1"/>
          </p:cNvSpPr>
          <p:nvPr/>
        </p:nvSpPr>
        <p:spPr>
          <a:xfrm xmlns:a="http://schemas.openxmlformats.org/drawingml/2006/main">
            <a:off x="552450" y="3286125"/>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a:t>
            </a:r>
          </a:p>
        </p:txBody>
      </p:sp>
      <p:sp>
        <p:nvSpPr>
          <p:cNvPr id="15" name="">
            <a:extLst xmlns:a="http://schemas.openxmlformats.org/drawingml/2006/main">
              <a:ext uri="{FF2B5EF4-FFF2-40B4-BE49-F238E27FC236}">
                <a16:creationId xmlns:a16="http://schemas.microsoft.com/office/drawing/2014/main" id="{E144F820-C72D-4878-84A2-18EB24F1D69E}"/>
              </a:ext>
            </a:extLst>
          </p:cNvPr>
          <p:cNvSpPr>
            <a:spLocks xmlns:a="http://schemas.openxmlformats.org/drawingml/2006/main" noGrp="1"/>
          </p:cNvSpPr>
          <p:nvPr/>
        </p:nvSpPr>
        <p:spPr>
          <a:xfrm xmlns:a="http://schemas.openxmlformats.org/drawingml/2006/main">
            <a:off x="933450" y="3295650"/>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Reaction equivalence-class reporting</a:t>
            </a:r>
          </a:p>
        </p:txBody>
      </p:sp>
      <p:sp>
        <p:nvSpPr>
          <p:cNvPr id="16" name="">
            <a:extLst xmlns:a="http://schemas.openxmlformats.org/drawingml/2006/main">
              <a:ext uri="{FF2B5EF4-FFF2-40B4-BE49-F238E27FC236}">
                <a16:creationId xmlns:a16="http://schemas.microsoft.com/office/drawing/2014/main" id="{691D9E80-BC68-49CA-902C-0FFFBEB494EC}"/>
              </a:ext>
            </a:extLst>
          </p:cNvPr>
          <p:cNvSpPr>
            <a:spLocks xmlns:a="http://schemas.openxmlformats.org/drawingml/2006/main" noGrp="1"/>
          </p:cNvSpPr>
          <p:nvPr/>
        </p:nvSpPr>
        <p:spPr>
          <a:xfrm xmlns:a="http://schemas.openxmlformats.org/drawingml/2006/main">
            <a:off x="400050" y="3800475"/>
            <a:ext cx="5238750" cy="457200"/>
          </a:xfrm>
          <a:prstGeom xmlns:a="http://schemas.openxmlformats.org/drawingml/2006/main" prst="roundRect">
            <a:avLst>
              <a:gd name="adj" fmla="val 25000"/>
            </a:avLst>
          </a:prstGeom>
          <a:solidFill xmlns:a="http://schemas.openxmlformats.org/drawingml/2006/main">
            <a:srgbClr val="E7F7F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1E67540-1BDF-4671-AE95-F7E90EC840D1}"/>
              </a:ext>
            </a:extLst>
          </p:cNvPr>
          <p:cNvSpPr>
            <a:spLocks xmlns:a="http://schemas.openxmlformats.org/drawingml/2006/main" noGrp="1"/>
          </p:cNvSpPr>
          <p:nvPr/>
        </p:nvSpPr>
        <p:spPr>
          <a:xfrm xmlns:a="http://schemas.openxmlformats.org/drawingml/2006/main">
            <a:off x="552450" y="39052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23201178-249B-4872-BE70-2B2F7F09503F}"/>
              </a:ext>
            </a:extLst>
          </p:cNvPr>
          <p:cNvSpPr>
            <a:spLocks xmlns:a="http://schemas.openxmlformats.org/drawingml/2006/main" noGrp="1"/>
          </p:cNvSpPr>
          <p:nvPr/>
        </p:nvSpPr>
        <p:spPr>
          <a:xfrm xmlns:a="http://schemas.openxmlformats.org/drawingml/2006/main">
            <a:off x="933450" y="3914775"/>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Affine-map and conflict-localisation value</a:t>
            </a:r>
          </a:p>
        </p:txBody>
      </p:sp>
      <p:sp>
        <p:nvSpPr>
          <p:cNvPr id="19" name="">
            <a:extLst xmlns:a="http://schemas.openxmlformats.org/drawingml/2006/main">
              <a:ext uri="{FF2B5EF4-FFF2-40B4-BE49-F238E27FC236}">
                <a16:creationId xmlns:a16="http://schemas.microsoft.com/office/drawing/2014/main" id="{B119E752-2CEB-4C87-9FC8-C9E86BA9A784}"/>
              </a:ext>
            </a:extLst>
          </p:cNvPr>
          <p:cNvSpPr>
            <a:spLocks xmlns:a="http://schemas.openxmlformats.org/drawingml/2006/main" noGrp="1"/>
          </p:cNvSpPr>
          <p:nvPr/>
        </p:nvSpPr>
        <p:spPr>
          <a:xfrm xmlns:a="http://schemas.openxmlformats.org/drawingml/2006/main">
            <a:off x="400050" y="4419600"/>
            <a:ext cx="5238750" cy="457200"/>
          </a:xfrm>
          <a:prstGeom xmlns:a="http://schemas.openxmlformats.org/drawingml/2006/main" prst="roundRect">
            <a:avLst>
              <a:gd name="adj" fmla="val 25000"/>
            </a:avLst>
          </a:prstGeom>
          <a:solidFill xmlns:a="http://schemas.openxmlformats.org/drawingml/2006/main">
            <a:srgbClr val="E7F7F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6B44EC8-F546-462A-B0AF-251285227A65}"/>
              </a:ext>
            </a:extLst>
          </p:cNvPr>
          <p:cNvSpPr>
            <a:spLocks xmlns:a="http://schemas.openxmlformats.org/drawingml/2006/main" noGrp="1"/>
          </p:cNvSpPr>
          <p:nvPr/>
        </p:nvSpPr>
        <p:spPr>
          <a:xfrm xmlns:a="http://schemas.openxmlformats.org/drawingml/2006/main">
            <a:off x="552450" y="4524375"/>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F855A"/>
                </a:solidFill>
                <a:latin typeface="Helvetica Neue"/>
                <a:ea typeface="Helvetica Neue"/>
                <a:cs typeface="Helvetica Neue"/>
              </a:defRPr>
            </a:pPr>
            <a:r>
              <a:rPr sz="1500" b="1">
                <a:solidFill>
                  <a:srgbClr val="2F855A"/>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0B7D61DE-DBF7-448F-92D5-CEF08C007B17}"/>
              </a:ext>
            </a:extLst>
          </p:cNvPr>
          <p:cNvSpPr>
            <a:spLocks xmlns:a="http://schemas.openxmlformats.org/drawingml/2006/main" noGrp="1"/>
          </p:cNvSpPr>
          <p:nvPr/>
        </p:nvSpPr>
        <p:spPr>
          <a:xfrm xmlns:a="http://schemas.openxmlformats.org/drawingml/2006/main">
            <a:off x="933450" y="4533900"/>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Ghana measurement-value diagnosis</a:t>
            </a:r>
          </a:p>
        </p:txBody>
      </p:sp>
      <p:sp>
        <p:nvSpPr>
          <p:cNvPr id="22" name="">
            <a:extLst xmlns:a="http://schemas.openxmlformats.org/drawingml/2006/main">
              <a:ext uri="{FF2B5EF4-FFF2-40B4-BE49-F238E27FC236}">
                <a16:creationId xmlns:a16="http://schemas.microsoft.com/office/drawing/2014/main" id="{0235C713-21B5-4CA8-B08B-1C6AC1B0E790}"/>
              </a:ext>
            </a:extLst>
          </p:cNvPr>
          <p:cNvSpPr>
            <a:spLocks xmlns:a="http://schemas.openxmlformats.org/drawingml/2006/main" noGrp="1"/>
          </p:cNvSpPr>
          <p:nvPr/>
        </p:nvSpPr>
        <p:spPr>
          <a:xfrm xmlns:a="http://schemas.openxmlformats.org/drawingml/2006/main">
            <a:off x="6191250" y="1524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C53030"/>
                </a:solidFill>
                <a:latin typeface="Helvetica Neue"/>
                <a:ea typeface="Helvetica Neue"/>
                <a:cs typeface="Helvetica Neue"/>
              </a:defRPr>
            </a:pPr>
            <a:r>
              <a:rPr sz="1725" b="1">
                <a:solidFill>
                  <a:srgbClr val="C53030"/>
                </a:solidFill>
                <a:latin typeface="Helvetica Neue"/>
                <a:ea typeface="Helvetica Neue"/>
                <a:cs typeface="Helvetica Neue"/>
              </a:rPr>
              <a:t>NOT ESTABLISHED</a:t>
            </a:r>
          </a:p>
        </p:txBody>
      </p:sp>
      <p:sp>
        <p:nvSpPr>
          <p:cNvPr id="23" name="">
            <a:extLst xmlns:a="http://schemas.openxmlformats.org/drawingml/2006/main">
              <a:ext uri="{FF2B5EF4-FFF2-40B4-BE49-F238E27FC236}">
                <a16:creationId xmlns:a16="http://schemas.microsoft.com/office/drawing/2014/main" id="{C74E0967-05B1-4B0C-BC28-F09496AC8CFD}"/>
              </a:ext>
            </a:extLst>
          </p:cNvPr>
          <p:cNvSpPr>
            <a:spLocks xmlns:a="http://schemas.openxmlformats.org/drawingml/2006/main" noGrp="1"/>
          </p:cNvSpPr>
          <p:nvPr/>
        </p:nvSpPr>
        <p:spPr>
          <a:xfrm xmlns:a="http://schemas.openxmlformats.org/drawingml/2006/main">
            <a:off x="6191250" y="1943100"/>
            <a:ext cx="5219700" cy="457200"/>
          </a:xfrm>
          <a:prstGeom xmlns:a="http://schemas.openxmlformats.org/drawingml/2006/main" prst="roundRect">
            <a:avLst>
              <a:gd name="adj" fmla="val 25000"/>
            </a:avLst>
          </a:prstGeom>
          <a:solidFill xmlns:a="http://schemas.openxmlformats.org/drawingml/2006/main">
            <a:srgbClr val="FDE8E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55A0E98-3A85-46B0-9465-AF0B61608F0A}"/>
              </a:ext>
            </a:extLst>
          </p:cNvPr>
          <p:cNvSpPr>
            <a:spLocks xmlns:a="http://schemas.openxmlformats.org/drawingml/2006/main" noGrp="1"/>
          </p:cNvSpPr>
          <p:nvPr/>
        </p:nvSpPr>
        <p:spPr>
          <a:xfrm xmlns:a="http://schemas.openxmlformats.org/drawingml/2006/main">
            <a:off x="6343650" y="2047875"/>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a:t>
            </a:r>
          </a:p>
        </p:txBody>
      </p:sp>
      <p:sp>
        <p:nvSpPr>
          <p:cNvPr id="25" name="">
            <a:extLst xmlns:a="http://schemas.openxmlformats.org/drawingml/2006/main">
              <a:ext uri="{FF2B5EF4-FFF2-40B4-BE49-F238E27FC236}">
                <a16:creationId xmlns:a16="http://schemas.microsoft.com/office/drawing/2014/main" id="{5320EDFA-F04F-44C8-9D92-2B84915C9D54}"/>
              </a:ext>
            </a:extLst>
          </p:cNvPr>
          <p:cNvSpPr>
            <a:spLocks xmlns:a="http://schemas.openxmlformats.org/drawingml/2006/main" noGrp="1"/>
          </p:cNvSpPr>
          <p:nvPr/>
        </p:nvSpPr>
        <p:spPr>
          <a:xfrm xmlns:a="http://schemas.openxmlformats.org/drawingml/2006/main">
            <a:off x="6724650" y="2057400"/>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Universal superiority over strong baselines</a:t>
            </a:r>
          </a:p>
        </p:txBody>
      </p:sp>
      <p:sp>
        <p:nvSpPr>
          <p:cNvPr id="26" name="">
            <a:extLst xmlns:a="http://schemas.openxmlformats.org/drawingml/2006/main">
              <a:ext uri="{FF2B5EF4-FFF2-40B4-BE49-F238E27FC236}">
                <a16:creationId xmlns:a16="http://schemas.microsoft.com/office/drawing/2014/main" id="{85603C04-95E3-437F-BAD9-500F3040D8C6}"/>
              </a:ext>
            </a:extLst>
          </p:cNvPr>
          <p:cNvSpPr>
            <a:spLocks xmlns:a="http://schemas.openxmlformats.org/drawingml/2006/main" noGrp="1"/>
          </p:cNvSpPr>
          <p:nvPr/>
        </p:nvSpPr>
        <p:spPr>
          <a:xfrm xmlns:a="http://schemas.openxmlformats.org/drawingml/2006/main">
            <a:off x="6191250" y="2562225"/>
            <a:ext cx="5219700" cy="457200"/>
          </a:xfrm>
          <a:prstGeom xmlns:a="http://schemas.openxmlformats.org/drawingml/2006/main" prst="roundRect">
            <a:avLst>
              <a:gd name="adj" fmla="val 25000"/>
            </a:avLst>
          </a:prstGeom>
          <a:solidFill xmlns:a="http://schemas.openxmlformats.org/drawingml/2006/main">
            <a:srgbClr val="FDE8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BCA58E4-5434-43D2-AD4B-9AF6BE5A9AFB}"/>
              </a:ext>
            </a:extLst>
          </p:cNvPr>
          <p:cNvSpPr>
            <a:spLocks xmlns:a="http://schemas.openxmlformats.org/drawingml/2006/main" noGrp="1"/>
          </p:cNvSpPr>
          <p:nvPr/>
        </p:nvSpPr>
        <p:spPr>
          <a:xfrm xmlns:a="http://schemas.openxmlformats.org/drawingml/2006/main">
            <a:off x="6343650" y="26670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a:t>
            </a:r>
          </a:p>
        </p:txBody>
      </p:sp>
      <p:sp>
        <p:nvSpPr>
          <p:cNvPr id="28" name="">
            <a:extLst xmlns:a="http://schemas.openxmlformats.org/drawingml/2006/main">
              <a:ext uri="{FF2B5EF4-FFF2-40B4-BE49-F238E27FC236}">
                <a16:creationId xmlns:a16="http://schemas.microsoft.com/office/drawing/2014/main" id="{6A377CED-F5AC-473E-8C05-FC9087C9C3E5}"/>
              </a:ext>
            </a:extLst>
          </p:cNvPr>
          <p:cNvSpPr>
            <a:spLocks xmlns:a="http://schemas.openxmlformats.org/drawingml/2006/main" noGrp="1"/>
          </p:cNvSpPr>
          <p:nvPr/>
        </p:nvSpPr>
        <p:spPr>
          <a:xfrm xmlns:a="http://schemas.openxmlformats.org/drawingml/2006/main">
            <a:off x="6724650" y="2676525"/>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Exact Ghana ages, paths or mineral truth</a:t>
            </a:r>
          </a:p>
        </p:txBody>
      </p:sp>
      <p:sp>
        <p:nvSpPr>
          <p:cNvPr id="29" name="">
            <a:extLst xmlns:a="http://schemas.openxmlformats.org/drawingml/2006/main">
              <a:ext uri="{FF2B5EF4-FFF2-40B4-BE49-F238E27FC236}">
                <a16:creationId xmlns:a16="http://schemas.microsoft.com/office/drawing/2014/main" id="{A588EE2B-6FF4-40E0-A073-692B28347032}"/>
              </a:ext>
            </a:extLst>
          </p:cNvPr>
          <p:cNvSpPr>
            <a:spLocks xmlns:a="http://schemas.openxmlformats.org/drawingml/2006/main" noGrp="1"/>
          </p:cNvSpPr>
          <p:nvPr/>
        </p:nvSpPr>
        <p:spPr>
          <a:xfrm xmlns:a="http://schemas.openxmlformats.org/drawingml/2006/main">
            <a:off x="6191250" y="3181350"/>
            <a:ext cx="5219700" cy="457200"/>
          </a:xfrm>
          <a:prstGeom xmlns:a="http://schemas.openxmlformats.org/drawingml/2006/main" prst="roundRect">
            <a:avLst>
              <a:gd name="adj" fmla="val 25000"/>
            </a:avLst>
          </a:prstGeom>
          <a:solidFill xmlns:a="http://schemas.openxmlformats.org/drawingml/2006/main">
            <a:srgbClr val="FDE8E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B0E91E1-4963-461D-8CE4-8FA980F84DEA}"/>
              </a:ext>
            </a:extLst>
          </p:cNvPr>
          <p:cNvSpPr>
            <a:spLocks xmlns:a="http://schemas.openxmlformats.org/drawingml/2006/main" noGrp="1"/>
          </p:cNvSpPr>
          <p:nvPr/>
        </p:nvSpPr>
        <p:spPr>
          <a:xfrm xmlns:a="http://schemas.openxmlformats.org/drawingml/2006/main">
            <a:off x="6343650" y="3286125"/>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a:t>
            </a:r>
          </a:p>
        </p:txBody>
      </p:sp>
      <p:sp>
        <p:nvSpPr>
          <p:cNvPr id="31" name="">
            <a:extLst xmlns:a="http://schemas.openxmlformats.org/drawingml/2006/main">
              <a:ext uri="{FF2B5EF4-FFF2-40B4-BE49-F238E27FC236}">
                <a16:creationId xmlns:a16="http://schemas.microsoft.com/office/drawing/2014/main" id="{259FC651-93FB-4774-8C5B-9839AA2CE49E}"/>
              </a:ext>
            </a:extLst>
          </p:cNvPr>
          <p:cNvSpPr>
            <a:spLocks xmlns:a="http://schemas.openxmlformats.org/drawingml/2006/main" noGrp="1"/>
          </p:cNvSpPr>
          <p:nvPr/>
        </p:nvSpPr>
        <p:spPr>
          <a:xfrm xmlns:a="http://schemas.openxmlformats.org/drawingml/2006/main">
            <a:off x="6724650" y="3295650"/>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End-to-end field validation</a:t>
            </a:r>
          </a:p>
        </p:txBody>
      </p:sp>
      <p:sp>
        <p:nvSpPr>
          <p:cNvPr id="32" name="">
            <a:extLst xmlns:a="http://schemas.openxmlformats.org/drawingml/2006/main">
              <a:ext uri="{FF2B5EF4-FFF2-40B4-BE49-F238E27FC236}">
                <a16:creationId xmlns:a16="http://schemas.microsoft.com/office/drawing/2014/main" id="{B5DAF5EB-3D70-4936-B5B1-C3DB08D25AA8}"/>
              </a:ext>
            </a:extLst>
          </p:cNvPr>
          <p:cNvSpPr>
            <a:spLocks xmlns:a="http://schemas.openxmlformats.org/drawingml/2006/main" noGrp="1"/>
          </p:cNvSpPr>
          <p:nvPr/>
        </p:nvSpPr>
        <p:spPr>
          <a:xfrm xmlns:a="http://schemas.openxmlformats.org/drawingml/2006/main">
            <a:off x="6191250" y="3800475"/>
            <a:ext cx="5219700" cy="457200"/>
          </a:xfrm>
          <a:prstGeom xmlns:a="http://schemas.openxmlformats.org/drawingml/2006/main" prst="roundRect">
            <a:avLst>
              <a:gd name="adj" fmla="val 25000"/>
            </a:avLst>
          </a:prstGeom>
          <a:solidFill xmlns:a="http://schemas.openxmlformats.org/drawingml/2006/main">
            <a:srgbClr val="FDE8E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5FE493B-C16D-4217-9FFA-EDA98A0BA255}"/>
              </a:ext>
            </a:extLst>
          </p:cNvPr>
          <p:cNvSpPr>
            <a:spLocks xmlns:a="http://schemas.openxmlformats.org/drawingml/2006/main" noGrp="1"/>
          </p:cNvSpPr>
          <p:nvPr/>
        </p:nvSpPr>
        <p:spPr>
          <a:xfrm xmlns:a="http://schemas.openxmlformats.org/drawingml/2006/main">
            <a:off x="6343650" y="39052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a:t>
            </a:r>
          </a:p>
        </p:txBody>
      </p:sp>
      <p:sp>
        <p:nvSpPr>
          <p:cNvPr id="34" name="">
            <a:extLst xmlns:a="http://schemas.openxmlformats.org/drawingml/2006/main">
              <a:ext uri="{FF2B5EF4-FFF2-40B4-BE49-F238E27FC236}">
                <a16:creationId xmlns:a16="http://schemas.microsoft.com/office/drawing/2014/main" id="{FC841430-0A83-47AF-9A01-554D0AEA43AE}"/>
              </a:ext>
            </a:extLst>
          </p:cNvPr>
          <p:cNvSpPr>
            <a:spLocks xmlns:a="http://schemas.openxmlformats.org/drawingml/2006/main" noGrp="1"/>
          </p:cNvSpPr>
          <p:nvPr/>
        </p:nvSpPr>
        <p:spPr>
          <a:xfrm xmlns:a="http://schemas.openxmlformats.org/drawingml/2006/main">
            <a:off x="6724650" y="3914775"/>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Validated vector-stalk / 3-D / temporal / vadose claims</a:t>
            </a:r>
          </a:p>
        </p:txBody>
      </p:sp>
      <p:sp>
        <p:nvSpPr>
          <p:cNvPr id="35" name="">
            <a:extLst xmlns:a="http://schemas.openxmlformats.org/drawingml/2006/main">
              <a:ext uri="{FF2B5EF4-FFF2-40B4-BE49-F238E27FC236}">
                <a16:creationId xmlns:a16="http://schemas.microsoft.com/office/drawing/2014/main" id="{B100B69E-4658-40A9-BFE6-B171A6878187}"/>
              </a:ext>
            </a:extLst>
          </p:cNvPr>
          <p:cNvSpPr>
            <a:spLocks xmlns:a="http://schemas.openxmlformats.org/drawingml/2006/main" noGrp="1"/>
          </p:cNvSpPr>
          <p:nvPr/>
        </p:nvSpPr>
        <p:spPr>
          <a:xfrm xmlns:a="http://schemas.openxmlformats.org/drawingml/2006/main">
            <a:off x="6191250" y="4419600"/>
            <a:ext cx="5219700" cy="457200"/>
          </a:xfrm>
          <a:prstGeom xmlns:a="http://schemas.openxmlformats.org/drawingml/2006/main" prst="roundRect">
            <a:avLst>
              <a:gd name="adj" fmla="val 25000"/>
            </a:avLst>
          </a:prstGeom>
          <a:solidFill xmlns:a="http://schemas.openxmlformats.org/drawingml/2006/main">
            <a:srgbClr val="FDE8E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8EB9B14-BFF2-480E-95FC-283D6B074931}"/>
              </a:ext>
            </a:extLst>
          </p:cNvPr>
          <p:cNvSpPr>
            <a:spLocks xmlns:a="http://schemas.openxmlformats.org/drawingml/2006/main" noGrp="1"/>
          </p:cNvSpPr>
          <p:nvPr/>
        </p:nvSpPr>
        <p:spPr>
          <a:xfrm xmlns:a="http://schemas.openxmlformats.org/drawingml/2006/main">
            <a:off x="6343650" y="4524375"/>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C53030"/>
                </a:solidFill>
                <a:latin typeface="Helvetica Neue"/>
                <a:ea typeface="Helvetica Neue"/>
                <a:cs typeface="Helvetica Neue"/>
              </a:defRPr>
            </a:pPr>
            <a:r>
              <a:rPr sz="1500" b="1">
                <a:solidFill>
                  <a:srgbClr val="C53030"/>
                </a:solidFill>
                <a:latin typeface="Helvetica Neue"/>
                <a:ea typeface="Helvetica Neue"/>
                <a:cs typeface="Helvetica Neue"/>
              </a:rPr>
              <a:t>×</a:t>
            </a:r>
          </a:p>
        </p:txBody>
      </p:sp>
      <p:sp>
        <p:nvSpPr>
          <p:cNvPr id="37" name="">
            <a:extLst xmlns:a="http://schemas.openxmlformats.org/drawingml/2006/main">
              <a:ext uri="{FF2B5EF4-FFF2-40B4-BE49-F238E27FC236}">
                <a16:creationId xmlns:a16="http://schemas.microsoft.com/office/drawing/2014/main" id="{201D5C4A-8F96-451F-BA57-40CA58E3F4CF}"/>
              </a:ext>
            </a:extLst>
          </p:cNvPr>
          <p:cNvSpPr>
            <a:spLocks xmlns:a="http://schemas.openxmlformats.org/drawingml/2006/main" noGrp="1"/>
          </p:cNvSpPr>
          <p:nvPr/>
        </p:nvSpPr>
        <p:spPr>
          <a:xfrm xmlns:a="http://schemas.openxmlformats.org/drawingml/2006/main">
            <a:off x="6724650" y="4533900"/>
            <a:ext cx="4429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Excellent active-learning performance</a:t>
            </a:r>
          </a:p>
        </p:txBody>
      </p:sp>
    </p:spTree>
    <p:extLst>
      <p:ext uri="{BB962C8B-B14F-4D97-AF65-F5344CB8AC3E}">
        <p14:creationId xmlns:p14="http://schemas.microsoft.com/office/powerpoint/2010/main" val="95937195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EF59587-B39E-4212-85FA-AAFA0A274A1E}"/>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ANSWER TO THE THESIS</a:t>
            </a:r>
          </a:p>
        </p:txBody>
      </p:sp>
      <p:sp>
        <p:nvSpPr>
          <p:cNvPr id="2" name="">
            <a:extLst xmlns:a="http://schemas.openxmlformats.org/drawingml/2006/main">
              <a:ext uri="{FF2B5EF4-FFF2-40B4-BE49-F238E27FC236}">
                <a16:creationId xmlns:a16="http://schemas.microsoft.com/office/drawing/2014/main" id="{8C638CAD-9DC0-4CD8-9E85-D241FD42F0BB}"/>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Four contributions to knowledge</a:t>
            </a:r>
          </a:p>
        </p:txBody>
      </p:sp>
      <p:sp>
        <p:nvSpPr>
          <p:cNvPr id="3" name="">
            <a:extLst xmlns:a="http://schemas.openxmlformats.org/drawingml/2006/main">
              <a:ext uri="{FF2B5EF4-FFF2-40B4-BE49-F238E27FC236}">
                <a16:creationId xmlns:a16="http://schemas.microsoft.com/office/drawing/2014/main" id="{9C180129-A825-45EE-A1E2-3B2E1A456FC5}"/>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8EA33BB-90CA-428E-8955-97E935C34CB8}"/>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Contribution</a:t>
            </a:r>
          </a:p>
        </p:txBody>
      </p:sp>
      <p:sp>
        <p:nvSpPr>
          <p:cNvPr id="5" name="">
            <a:extLst xmlns:a="http://schemas.openxmlformats.org/drawingml/2006/main">
              <a:ext uri="{FF2B5EF4-FFF2-40B4-BE49-F238E27FC236}">
                <a16:creationId xmlns:a16="http://schemas.microsoft.com/office/drawing/2014/main" id="{4F8EE7D6-9B83-41EF-A425-4A9C7CD7A0B2}"/>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19</a:t>
            </a:r>
          </a:p>
        </p:txBody>
      </p:sp>
      <p:sp>
        <p:nvSpPr>
          <p:cNvPr id="6" name="">
            <a:extLst xmlns:a="http://schemas.openxmlformats.org/drawingml/2006/main">
              <a:ext uri="{FF2B5EF4-FFF2-40B4-BE49-F238E27FC236}">
                <a16:creationId xmlns:a16="http://schemas.microsoft.com/office/drawing/2014/main" id="{B26B9033-EB70-4748-85DB-00EE215E07EE}"/>
              </a:ext>
            </a:extLst>
          </p:cNvPr>
          <p:cNvSpPr>
            <a:spLocks xmlns:a="http://schemas.openxmlformats.org/drawingml/2006/main" noGrp="1"/>
          </p:cNvSpPr>
          <p:nvPr/>
        </p:nvSpPr>
        <p:spPr>
          <a:xfrm xmlns:a="http://schemas.openxmlformats.org/drawingml/2006/main">
            <a:off x="400050" y="1581150"/>
            <a:ext cx="5429250" cy="1695450"/>
          </a:xfrm>
          <a:prstGeom xmlns:a="http://schemas.openxmlformats.org/drawingml/2006/main" prst="roundRect">
            <a:avLst>
              <a:gd name="adj" fmla="val 6742"/>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9FFAC4F-0681-4040-9E94-B601E1F9AE42}"/>
              </a:ext>
            </a:extLst>
          </p:cNvPr>
          <p:cNvSpPr>
            <a:spLocks xmlns:a="http://schemas.openxmlformats.org/drawingml/2006/main" noGrp="1"/>
          </p:cNvSpPr>
          <p:nvPr/>
        </p:nvSpPr>
        <p:spPr>
          <a:xfrm xmlns:a="http://schemas.openxmlformats.org/drawingml/2006/main">
            <a:off x="609600" y="177165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DC60EE8E-0339-4699-900F-F5BFAC01F5EC}"/>
              </a:ext>
            </a:extLst>
          </p:cNvPr>
          <p:cNvSpPr>
            <a:spLocks xmlns:a="http://schemas.openxmlformats.org/drawingml/2006/main" noGrp="1"/>
          </p:cNvSpPr>
          <p:nvPr/>
        </p:nvSpPr>
        <p:spPr>
          <a:xfrm xmlns:a="http://schemas.openxmlformats.org/drawingml/2006/main">
            <a:off x="1400175" y="1819275"/>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D6470"/>
                </a:solidFill>
                <a:latin typeface="Helvetica Neue"/>
                <a:ea typeface="Helvetica Neue"/>
                <a:cs typeface="Helvetica Neue"/>
              </a:defRPr>
            </a:pPr>
            <a:r>
              <a:rPr sz="1200" b="1">
                <a:solidFill>
                  <a:srgbClr val="5D6470"/>
                </a:solidFill>
                <a:latin typeface="Helvetica Neue"/>
                <a:ea typeface="Helvetica Neue"/>
                <a:cs typeface="Helvetica Neue"/>
              </a:rPr>
              <a:t>FORMALISATION</a:t>
            </a:r>
          </a:p>
        </p:txBody>
      </p:sp>
      <p:sp>
        <p:nvSpPr>
          <p:cNvPr id="9" name="">
            <a:extLst xmlns:a="http://schemas.openxmlformats.org/drawingml/2006/main">
              <a:ext uri="{FF2B5EF4-FFF2-40B4-BE49-F238E27FC236}">
                <a16:creationId xmlns:a16="http://schemas.microsoft.com/office/drawing/2014/main" id="{8B9DE90B-181C-4367-8AF9-B4A36CB3FAD2}"/>
              </a:ext>
            </a:extLst>
          </p:cNvPr>
          <p:cNvSpPr>
            <a:spLocks xmlns:a="http://schemas.openxmlformats.org/drawingml/2006/main" noGrp="1"/>
          </p:cNvSpPr>
          <p:nvPr/>
        </p:nvSpPr>
        <p:spPr>
          <a:xfrm xmlns:a="http://schemas.openxmlformats.org/drawingml/2006/main">
            <a:off x="1400175" y="2247900"/>
            <a:ext cx="4000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A groundwater-specific graph/sheaf representation linking age, flow and reactions</a:t>
            </a:r>
          </a:p>
        </p:txBody>
      </p:sp>
      <p:sp>
        <p:nvSpPr>
          <p:cNvPr id="10" name="">
            <a:extLst xmlns:a="http://schemas.openxmlformats.org/drawingml/2006/main">
              <a:ext uri="{FF2B5EF4-FFF2-40B4-BE49-F238E27FC236}">
                <a16:creationId xmlns:a16="http://schemas.microsoft.com/office/drawing/2014/main" id="{7E8EDD2F-4ED4-438E-ABB9-07C8324BECA0}"/>
              </a:ext>
            </a:extLst>
          </p:cNvPr>
          <p:cNvSpPr>
            <a:spLocks xmlns:a="http://schemas.openxmlformats.org/drawingml/2006/main" noGrp="1"/>
          </p:cNvSpPr>
          <p:nvPr/>
        </p:nvSpPr>
        <p:spPr>
          <a:xfrm xmlns:a="http://schemas.openxmlformats.org/drawingml/2006/main">
            <a:off x="6191250" y="1581150"/>
            <a:ext cx="5429250" cy="1695450"/>
          </a:xfrm>
          <a:prstGeom xmlns:a="http://schemas.openxmlformats.org/drawingml/2006/main" prst="roundRect">
            <a:avLst>
              <a:gd name="adj" fmla="val 6742"/>
            </a:avLst>
          </a:prstGeom>
          <a:solidFill xmlns:a="http://schemas.openxmlformats.org/drawingml/2006/main">
            <a:srgbClr val="F2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A97710A-09AE-407F-8FAC-67908E3A17DD}"/>
              </a:ext>
            </a:extLst>
          </p:cNvPr>
          <p:cNvSpPr>
            <a:spLocks xmlns:a="http://schemas.openxmlformats.org/drawingml/2006/main" noGrp="1"/>
          </p:cNvSpPr>
          <p:nvPr/>
        </p:nvSpPr>
        <p:spPr>
          <a:xfrm xmlns:a="http://schemas.openxmlformats.org/drawingml/2006/main">
            <a:off x="6400800" y="177165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02</a:t>
            </a:r>
          </a:p>
        </p:txBody>
      </p:sp>
      <p:sp>
        <p:nvSpPr>
          <p:cNvPr id="12" name="">
            <a:extLst xmlns:a="http://schemas.openxmlformats.org/drawingml/2006/main">
              <a:ext uri="{FF2B5EF4-FFF2-40B4-BE49-F238E27FC236}">
                <a16:creationId xmlns:a16="http://schemas.microsoft.com/office/drawing/2014/main" id="{961CDEBE-6001-4919-BFEF-7EFF1CF56E2E}"/>
              </a:ext>
            </a:extLst>
          </p:cNvPr>
          <p:cNvSpPr>
            <a:spLocks xmlns:a="http://schemas.openxmlformats.org/drawingml/2006/main" noGrp="1"/>
          </p:cNvSpPr>
          <p:nvPr/>
        </p:nvSpPr>
        <p:spPr>
          <a:xfrm xmlns:a="http://schemas.openxmlformats.org/drawingml/2006/main">
            <a:off x="7191375" y="1819275"/>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D6470"/>
                </a:solidFill>
                <a:latin typeface="Helvetica Neue"/>
                <a:ea typeface="Helvetica Neue"/>
                <a:cs typeface="Helvetica Neue"/>
              </a:defRPr>
            </a:pPr>
            <a:r>
              <a:rPr sz="1200" b="1">
                <a:solidFill>
                  <a:srgbClr val="5D6470"/>
                </a:solidFill>
                <a:latin typeface="Helvetica Neue"/>
                <a:ea typeface="Helvetica Neue"/>
                <a:cs typeface="Helvetica Neue"/>
              </a:rPr>
              <a:t>DIAGNOSTICS</a:t>
            </a:r>
          </a:p>
        </p:txBody>
      </p:sp>
      <p:sp>
        <p:nvSpPr>
          <p:cNvPr id="13" name="">
            <a:extLst xmlns:a="http://schemas.openxmlformats.org/drawingml/2006/main">
              <a:ext uri="{FF2B5EF4-FFF2-40B4-BE49-F238E27FC236}">
                <a16:creationId xmlns:a16="http://schemas.microsoft.com/office/drawing/2014/main" id="{537A98E6-C8CF-410C-A2A3-70E55D7D2E56}"/>
              </a:ext>
            </a:extLst>
          </p:cNvPr>
          <p:cNvSpPr>
            <a:spLocks xmlns:a="http://schemas.openxmlformats.org/drawingml/2006/main" noGrp="1"/>
          </p:cNvSpPr>
          <p:nvPr/>
        </p:nvSpPr>
        <p:spPr>
          <a:xfrm xmlns:a="http://schemas.openxmlformats.org/drawingml/2006/main">
            <a:off x="7191375" y="2247900"/>
            <a:ext cx="4000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Identifiability, calibration and conflict localisation as primary outputs</a:t>
            </a:r>
          </a:p>
        </p:txBody>
      </p:sp>
      <p:sp>
        <p:nvSpPr>
          <p:cNvPr id="14" name="">
            <a:extLst xmlns:a="http://schemas.openxmlformats.org/drawingml/2006/main">
              <a:ext uri="{FF2B5EF4-FFF2-40B4-BE49-F238E27FC236}">
                <a16:creationId xmlns:a16="http://schemas.microsoft.com/office/drawing/2014/main" id="{8717F220-4DFA-4544-AD0D-F79768B5BD4B}"/>
              </a:ext>
            </a:extLst>
          </p:cNvPr>
          <p:cNvSpPr>
            <a:spLocks xmlns:a="http://schemas.openxmlformats.org/drawingml/2006/main" noGrp="1"/>
          </p:cNvSpPr>
          <p:nvPr/>
        </p:nvSpPr>
        <p:spPr>
          <a:xfrm xmlns:a="http://schemas.openxmlformats.org/drawingml/2006/main">
            <a:off x="400050" y="3600450"/>
            <a:ext cx="5429250" cy="1695450"/>
          </a:xfrm>
          <a:prstGeom xmlns:a="http://schemas.openxmlformats.org/drawingml/2006/main" prst="roundRect">
            <a:avLst>
              <a:gd name="adj" fmla="val 6742"/>
            </a:avLst>
          </a:prstGeom>
          <a:solidFill xmlns:a="http://schemas.openxmlformats.org/drawingml/2006/main">
            <a:srgbClr val="F2F3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521ADD8-8944-41DE-A84F-E3BCC9D2AA32}"/>
              </a:ext>
            </a:extLst>
          </p:cNvPr>
          <p:cNvSpPr>
            <a:spLocks xmlns:a="http://schemas.openxmlformats.org/drawingml/2006/main" noGrp="1"/>
          </p:cNvSpPr>
          <p:nvPr/>
        </p:nvSpPr>
        <p:spPr>
          <a:xfrm xmlns:a="http://schemas.openxmlformats.org/drawingml/2006/main">
            <a:off x="609600" y="379095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AACAD0D5-8EAF-42DB-B489-2963D8B8D900}"/>
              </a:ext>
            </a:extLst>
          </p:cNvPr>
          <p:cNvSpPr>
            <a:spLocks xmlns:a="http://schemas.openxmlformats.org/drawingml/2006/main" noGrp="1"/>
          </p:cNvSpPr>
          <p:nvPr/>
        </p:nvSpPr>
        <p:spPr>
          <a:xfrm xmlns:a="http://schemas.openxmlformats.org/drawingml/2006/main">
            <a:off x="1400175" y="3838575"/>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D6470"/>
                </a:solidFill>
                <a:latin typeface="Helvetica Neue"/>
                <a:ea typeface="Helvetica Neue"/>
                <a:cs typeface="Helvetica Neue"/>
              </a:defRPr>
            </a:pPr>
            <a:r>
              <a:rPr sz="1200" b="1">
                <a:solidFill>
                  <a:srgbClr val="5D6470"/>
                </a:solidFill>
                <a:latin typeface="Helvetica Neue"/>
                <a:ea typeface="Helvetica Neue"/>
                <a:cs typeface="Helvetica Neue"/>
              </a:rPr>
              <a:t>EVIDENCE LOGIC</a:t>
            </a:r>
          </a:p>
        </p:txBody>
      </p:sp>
      <p:sp>
        <p:nvSpPr>
          <p:cNvPr id="17" name="">
            <a:extLst xmlns:a="http://schemas.openxmlformats.org/drawingml/2006/main">
              <a:ext uri="{FF2B5EF4-FFF2-40B4-BE49-F238E27FC236}">
                <a16:creationId xmlns:a16="http://schemas.microsoft.com/office/drawing/2014/main" id="{EBFBAA23-5EF6-4B23-A5E7-2A494C75BEA0}"/>
              </a:ext>
            </a:extLst>
          </p:cNvPr>
          <p:cNvSpPr>
            <a:spLocks xmlns:a="http://schemas.openxmlformats.org/drawingml/2006/main" noGrp="1"/>
          </p:cNvSpPr>
          <p:nvPr/>
        </p:nvSpPr>
        <p:spPr>
          <a:xfrm xmlns:a="http://schemas.openxmlformats.org/drawingml/2006/main">
            <a:off x="1400175" y="4267200"/>
            <a:ext cx="4000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Locked tests, adverse controls and explicit claim-decision gates</a:t>
            </a:r>
          </a:p>
        </p:txBody>
      </p:sp>
      <p:sp>
        <p:nvSpPr>
          <p:cNvPr id="18" name="">
            <a:extLst xmlns:a="http://schemas.openxmlformats.org/drawingml/2006/main">
              <a:ext uri="{FF2B5EF4-FFF2-40B4-BE49-F238E27FC236}">
                <a16:creationId xmlns:a16="http://schemas.microsoft.com/office/drawing/2014/main" id="{4173879C-6CFB-4987-883E-85E51F416490}"/>
              </a:ext>
            </a:extLst>
          </p:cNvPr>
          <p:cNvSpPr>
            <a:spLocks xmlns:a="http://schemas.openxmlformats.org/drawingml/2006/main" noGrp="1"/>
          </p:cNvSpPr>
          <p:nvPr/>
        </p:nvSpPr>
        <p:spPr>
          <a:xfrm xmlns:a="http://schemas.openxmlformats.org/drawingml/2006/main">
            <a:off x="6191250" y="3600450"/>
            <a:ext cx="5429250" cy="1695450"/>
          </a:xfrm>
          <a:prstGeom xmlns:a="http://schemas.openxmlformats.org/drawingml/2006/main" prst="roundRect">
            <a:avLst>
              <a:gd name="adj" fmla="val 6742"/>
            </a:avLst>
          </a:prstGeom>
          <a:solidFill xmlns:a="http://schemas.openxmlformats.org/drawingml/2006/main">
            <a:srgbClr val="E7F7F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993A911-8A60-4C58-B507-C7A0EBFE62BF}"/>
              </a:ext>
            </a:extLst>
          </p:cNvPr>
          <p:cNvSpPr>
            <a:spLocks xmlns:a="http://schemas.openxmlformats.org/drawingml/2006/main" noGrp="1"/>
          </p:cNvSpPr>
          <p:nvPr/>
        </p:nvSpPr>
        <p:spPr>
          <a:xfrm xmlns:a="http://schemas.openxmlformats.org/drawingml/2006/main">
            <a:off x="6400800" y="3790950"/>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149A84"/>
                </a:solidFill>
                <a:latin typeface="Helvetica Neue"/>
                <a:ea typeface="Helvetica Neue"/>
                <a:cs typeface="Helvetica Neue"/>
              </a:defRPr>
            </a:pPr>
            <a:r>
              <a:rPr sz="2400" b="1">
                <a:solidFill>
                  <a:srgbClr val="149A84"/>
                </a:solidFill>
                <a:latin typeface="Helvetica Neue"/>
                <a:ea typeface="Helvetica Neue"/>
                <a:cs typeface="Helvetica Neue"/>
              </a:rPr>
              <a:t>04</a:t>
            </a:r>
          </a:p>
        </p:txBody>
      </p:sp>
      <p:sp>
        <p:nvSpPr>
          <p:cNvPr id="20" name="">
            <a:extLst xmlns:a="http://schemas.openxmlformats.org/drawingml/2006/main">
              <a:ext uri="{FF2B5EF4-FFF2-40B4-BE49-F238E27FC236}">
                <a16:creationId xmlns:a16="http://schemas.microsoft.com/office/drawing/2014/main" id="{4C979C4B-1E7D-4E3D-8515-272BC16C2F9D}"/>
              </a:ext>
            </a:extLst>
          </p:cNvPr>
          <p:cNvSpPr>
            <a:spLocks xmlns:a="http://schemas.openxmlformats.org/drawingml/2006/main" noGrp="1"/>
          </p:cNvSpPr>
          <p:nvPr/>
        </p:nvSpPr>
        <p:spPr>
          <a:xfrm xmlns:a="http://schemas.openxmlformats.org/drawingml/2006/main">
            <a:off x="7191375" y="3838575"/>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5D6470"/>
                </a:solidFill>
                <a:latin typeface="Helvetica Neue"/>
                <a:ea typeface="Helvetica Neue"/>
                <a:cs typeface="Helvetica Neue"/>
              </a:defRPr>
            </a:pPr>
            <a:r>
              <a:rPr sz="1200" b="1">
                <a:solidFill>
                  <a:srgbClr val="5D6470"/>
                </a:solidFill>
                <a:latin typeface="Helvetica Neue"/>
                <a:ea typeface="Helvetica Neue"/>
                <a:cs typeface="Helvetica Neue"/>
              </a:rPr>
              <a:t>FIELD DESIGN</a:t>
            </a:r>
          </a:p>
        </p:txBody>
      </p:sp>
      <p:sp>
        <p:nvSpPr>
          <p:cNvPr id="21" name="">
            <a:extLst xmlns:a="http://schemas.openxmlformats.org/drawingml/2006/main">
              <a:ext uri="{FF2B5EF4-FFF2-40B4-BE49-F238E27FC236}">
                <a16:creationId xmlns:a16="http://schemas.microsoft.com/office/drawing/2014/main" id="{17227E08-90C0-44D2-8C28-171F67DA74C4}"/>
              </a:ext>
            </a:extLst>
          </p:cNvPr>
          <p:cNvSpPr>
            <a:spLocks xmlns:a="http://schemas.openxmlformats.org/drawingml/2006/main" noGrp="1"/>
          </p:cNvSpPr>
          <p:nvPr/>
        </p:nvSpPr>
        <p:spPr>
          <a:xfrm xmlns:a="http://schemas.openxmlformats.org/drawingml/2006/main">
            <a:off x="7191375" y="4267200"/>
            <a:ext cx="4000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Evidence-ceiling and measurement-value diagnosis for data-limited aquifers</a:t>
            </a:r>
          </a:p>
        </p:txBody>
      </p:sp>
    </p:spTree>
    <p:extLst>
      <p:ext uri="{BB962C8B-B14F-4D97-AF65-F5344CB8AC3E}">
        <p14:creationId xmlns:p14="http://schemas.microsoft.com/office/powerpoint/2010/main" val="732147119"/>
      </p:ext>
    </p:extLst>
  </p:cSld>
</p:sld>
</file>

<file path=ppt/slides/slide20.xml><?xml version="1.0" encoding="utf-8"?>
<p:sld xmlns:p="http://schemas.openxmlformats.org/presentationml/2006/main">
  <p:cSld>
    <p:bg>
      <p:bgPr>
        <a:solidFill xmlns:a="http://schemas.openxmlformats.org/drawingml/2006/main">
          <a:srgbClr val="11131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EE9620-30E9-4397-9FD0-93E945E9BC7C}"/>
              </a:ext>
            </a:extLst>
          </p:cNvPr>
          <p:cNvSpPr>
            <a:spLocks xmlns:a="http://schemas.openxmlformats.org/drawingml/2006/main" noGrp="1"/>
          </p:cNvSpPr>
          <p:nvPr/>
        </p:nvSpPr>
        <p:spPr>
          <a:xfrm xmlns:a="http://schemas.openxmlformats.org/drawingml/2006/main">
            <a:off x="400050" y="3619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6DCBF4"/>
                </a:solidFill>
                <a:latin typeface="Helvetica Neue"/>
                <a:ea typeface="Helvetica Neue"/>
                <a:cs typeface="Helvetica Neue"/>
              </a:defRPr>
            </a:pPr>
            <a:r>
              <a:rPr sz="1125" b="1">
                <a:solidFill>
                  <a:srgbClr val="6DCBF4"/>
                </a:solidFill>
                <a:latin typeface="Helvetica Neue"/>
                <a:ea typeface="Helvetica Neue"/>
                <a:cs typeface="Helvetica Neue"/>
              </a:rPr>
              <a:t>THE DEFENSIBLE CONCLUSION</a:t>
            </a:r>
          </a:p>
        </p:txBody>
      </p:sp>
      <p:sp>
        <p:nvSpPr>
          <p:cNvPr id="2" name="">
            <a:extLst xmlns:a="http://schemas.openxmlformats.org/drawingml/2006/main">
              <a:ext uri="{FF2B5EF4-FFF2-40B4-BE49-F238E27FC236}">
                <a16:creationId xmlns:a16="http://schemas.microsoft.com/office/drawing/2014/main" id="{8DF2B8D6-86CA-45DB-BDD4-7DFA762510BB}"/>
              </a:ext>
            </a:extLst>
          </p:cNvPr>
          <p:cNvSpPr>
            <a:spLocks xmlns:a="http://schemas.openxmlformats.org/drawingml/2006/main" noGrp="1"/>
          </p:cNvSpPr>
          <p:nvPr/>
        </p:nvSpPr>
        <p:spPr>
          <a:xfrm xmlns:a="http://schemas.openxmlformats.org/drawingml/2006/main">
            <a:off x="400050" y="1428750"/>
            <a:ext cx="10572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HydroSheaf does not promise one correct aquifer story.</a:t>
            </a:r>
          </a:p>
        </p:txBody>
      </p:sp>
      <p:sp>
        <p:nvSpPr>
          <p:cNvPr id="3" name="">
            <a:extLst xmlns:a="http://schemas.openxmlformats.org/drawingml/2006/main">
              <a:ext uri="{FF2B5EF4-FFF2-40B4-BE49-F238E27FC236}">
                <a16:creationId xmlns:a16="http://schemas.microsoft.com/office/drawing/2014/main" id="{2FE548DD-1E8A-4875-A2E3-CE0010164993}"/>
              </a:ext>
            </a:extLst>
          </p:cNvPr>
          <p:cNvSpPr>
            <a:spLocks xmlns:a="http://schemas.openxmlformats.org/drawingml/2006/main" noGrp="1"/>
          </p:cNvSpPr>
          <p:nvPr/>
        </p:nvSpPr>
        <p:spPr>
          <a:xfrm xmlns:a="http://schemas.openxmlformats.org/drawingml/2006/main">
            <a:off x="400050" y="2438400"/>
            <a:ext cx="10287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6DCBF4"/>
                </a:solidFill>
                <a:latin typeface="Helvetica Neue"/>
                <a:ea typeface="Helvetica Neue"/>
                <a:cs typeface="Helvetica Neue"/>
              </a:defRPr>
            </a:pPr>
            <a:r>
              <a:rPr sz="2625" b="1">
                <a:solidFill>
                  <a:srgbClr val="6DCBF4"/>
                </a:solidFill>
                <a:latin typeface="Helvetica Neue"/>
                <a:ea typeface="Helvetica Neue"/>
                <a:cs typeface="Helvetica Neue"/>
              </a:rPr>
              <a:t>It tests whether cross-domain relations compose globally, quantifies when they add information, and exposes when plausible integration becomes confidently wrong.</a:t>
            </a:r>
          </a:p>
        </p:txBody>
      </p:sp>
      <p:sp>
        <p:nvSpPr>
          <p:cNvPr id="4" name="">
            <a:extLst xmlns:a="http://schemas.openxmlformats.org/drawingml/2006/main">
              <a:ext uri="{FF2B5EF4-FFF2-40B4-BE49-F238E27FC236}">
                <a16:creationId xmlns:a16="http://schemas.microsoft.com/office/drawing/2014/main" id="{0AE7B08A-63BC-4232-A95E-C976AE981B30}"/>
              </a:ext>
            </a:extLst>
          </p:cNvPr>
          <p:cNvSpPr>
            <a:spLocks xmlns:a="http://schemas.openxmlformats.org/drawingml/2006/main" noGrp="1"/>
          </p:cNvSpPr>
          <p:nvPr/>
        </p:nvSpPr>
        <p:spPr>
          <a:xfrm xmlns:a="http://schemas.openxmlformats.org/drawingml/2006/main">
            <a:off x="400050" y="4714875"/>
            <a:ext cx="11391900" cy="1028700"/>
          </a:xfrm>
          <a:prstGeom xmlns:a="http://schemas.openxmlformats.org/drawingml/2006/main" prst="roundRect">
            <a:avLst>
              <a:gd name="adj" fmla="val 11111"/>
            </a:avLst>
          </a:prstGeom>
          <a:solidFill xmlns:a="http://schemas.openxmlformats.org/drawingml/2006/main">
            <a:srgbClr val="153A6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D69CEE5-5310-4427-B357-D30BAC9E8CA2}"/>
              </a:ext>
            </a:extLst>
          </p:cNvPr>
          <p:cNvSpPr>
            <a:spLocks xmlns:a="http://schemas.openxmlformats.org/drawingml/2006/main" noGrp="1"/>
          </p:cNvSpPr>
          <p:nvPr/>
        </p:nvSpPr>
        <p:spPr>
          <a:xfrm xmlns:a="http://schemas.openxmlformats.org/drawingml/2006/main">
            <a:off x="666750" y="4924425"/>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6DCBF4"/>
                </a:solidFill>
                <a:latin typeface="Helvetica Neue"/>
                <a:ea typeface="Helvetica Neue"/>
                <a:cs typeface="Helvetica Neue"/>
              </a:defRPr>
            </a:pPr>
            <a:r>
              <a:rPr sz="1125" b="1">
                <a:solidFill>
                  <a:srgbClr val="6DCBF4"/>
                </a:solidFill>
                <a:latin typeface="Helvetica Neue"/>
                <a:ea typeface="Helvetica Neue"/>
                <a:cs typeface="Helvetica Neue"/>
              </a:rPr>
              <a:t>NEXT CLAIM-BEARING TEST</a:t>
            </a:r>
          </a:p>
        </p:txBody>
      </p:sp>
      <p:sp>
        <p:nvSpPr>
          <p:cNvPr id="6" name="">
            <a:extLst xmlns:a="http://schemas.openxmlformats.org/drawingml/2006/main">
              <a:ext uri="{FF2B5EF4-FFF2-40B4-BE49-F238E27FC236}">
                <a16:creationId xmlns:a16="http://schemas.microsoft.com/office/drawing/2014/main" id="{86943432-F07A-4FFD-8BE5-0B80273FF435}"/>
              </a:ext>
            </a:extLst>
          </p:cNvPr>
          <p:cNvSpPr>
            <a:spLocks xmlns:a="http://schemas.openxmlformats.org/drawingml/2006/main" noGrp="1"/>
          </p:cNvSpPr>
          <p:nvPr/>
        </p:nvSpPr>
        <p:spPr>
          <a:xfrm xmlns:a="http://schemas.openxmlformats.org/drawingml/2006/main">
            <a:off x="3667125" y="4924425"/>
            <a:ext cx="7715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Independent replication with a different generator—or matched field data containing age tracers, repeated heads, chemistry and independently measured connectivity.</a:t>
            </a:r>
          </a:p>
        </p:txBody>
      </p:sp>
      <p:sp>
        <p:nvSpPr>
          <p:cNvPr id="7" name="">
            <a:extLst xmlns:a="http://schemas.openxmlformats.org/drawingml/2006/main">
              <a:ext uri="{FF2B5EF4-FFF2-40B4-BE49-F238E27FC236}">
                <a16:creationId xmlns:a16="http://schemas.microsoft.com/office/drawing/2014/main" id="{7C5A1E10-C9BE-43BC-A8AB-4406A255BE15}"/>
              </a:ext>
            </a:extLst>
          </p:cNvPr>
          <p:cNvSpPr>
            <a:spLocks xmlns:a="http://schemas.openxmlformats.org/drawingml/2006/main" noGrp="1"/>
          </p:cNvSpPr>
          <p:nvPr/>
        </p:nvSpPr>
        <p:spPr>
          <a:xfrm xmlns:a="http://schemas.openxmlformats.org/drawingml/2006/main">
            <a:off x="400050" y="62579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Thank you</a:t>
            </a:r>
          </a:p>
        </p:txBody>
      </p:sp>
    </p:spTree>
    <p:extLst>
      <p:ext uri="{BB962C8B-B14F-4D97-AF65-F5344CB8AC3E}">
        <p14:creationId xmlns:p14="http://schemas.microsoft.com/office/powerpoint/2010/main" val="209432213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D1D0570-9563-4E36-ABF9-B60F4B434C1B}"/>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SHEAF VERSUS GRAPH</a:t>
            </a:r>
          </a:p>
        </p:txBody>
      </p:sp>
      <p:sp>
        <p:nvSpPr>
          <p:cNvPr id="2" name="">
            <a:extLst xmlns:a="http://schemas.openxmlformats.org/drawingml/2006/main">
              <a:ext uri="{FF2B5EF4-FFF2-40B4-BE49-F238E27FC236}">
                <a16:creationId xmlns:a16="http://schemas.microsoft.com/office/drawing/2014/main" id="{320E5B7A-3DAF-42C2-ABC3-9011BA6A63B2}"/>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What exactly does the sheaf add?</a:t>
            </a:r>
          </a:p>
        </p:txBody>
      </p:sp>
      <p:sp>
        <p:nvSpPr>
          <p:cNvPr id="3" name="">
            <a:extLst xmlns:a="http://schemas.openxmlformats.org/drawingml/2006/main">
              <a:ext uri="{FF2B5EF4-FFF2-40B4-BE49-F238E27FC236}">
                <a16:creationId xmlns:a16="http://schemas.microsoft.com/office/drawing/2014/main" id="{4FCBC473-0DC5-4867-B663-F430231F676F}"/>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1F56C4C-7BBF-4EC7-8277-D1D486D064DE}"/>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BC3ADC00-C1D1-4023-AD5A-83AE4D680CA5}"/>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21</a:t>
            </a:r>
          </a:p>
        </p:txBody>
      </p:sp>
      <p:sp>
        <p:nvSpPr>
          <p:cNvPr id="6" name="">
            <a:extLst xmlns:a="http://schemas.openxmlformats.org/drawingml/2006/main">
              <a:ext uri="{FF2B5EF4-FFF2-40B4-BE49-F238E27FC236}">
                <a16:creationId xmlns:a16="http://schemas.microsoft.com/office/drawing/2014/main" id="{579C84C9-6C57-4E29-A79B-9A97B2C735D7}"/>
              </a:ext>
            </a:extLst>
          </p:cNvPr>
          <p:cNvSpPr>
            <a:spLocks xmlns:a="http://schemas.openxmlformats.org/drawingml/2006/main" noGrp="1"/>
          </p:cNvSpPr>
          <p:nvPr/>
        </p:nvSpPr>
        <p:spPr>
          <a:xfrm xmlns:a="http://schemas.openxmlformats.org/drawingml/2006/main">
            <a:off x="400050" y="1619250"/>
            <a:ext cx="3543300" cy="3067050"/>
          </a:xfrm>
          <a:prstGeom xmlns:a="http://schemas.openxmlformats.org/drawingml/2006/main" prst="roundRect">
            <a:avLst>
              <a:gd name="adj" fmla="val 3727"/>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0CC6A3F-9696-4807-8403-4703E8C1DDB5}"/>
              </a:ext>
            </a:extLst>
          </p:cNvPr>
          <p:cNvSpPr>
            <a:spLocks xmlns:a="http://schemas.openxmlformats.org/drawingml/2006/main" noGrp="1"/>
          </p:cNvSpPr>
          <p:nvPr/>
        </p:nvSpPr>
        <p:spPr>
          <a:xfrm xmlns:a="http://schemas.openxmlformats.org/drawingml/2006/main">
            <a:off x="609600" y="1847850"/>
            <a:ext cx="312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5D6470"/>
                </a:solidFill>
                <a:latin typeface="Helvetica Neue"/>
                <a:ea typeface="Helvetica Neue"/>
                <a:cs typeface="Helvetica Neue"/>
              </a:defRPr>
            </a:pPr>
            <a:r>
              <a:rPr sz="1500" b="1">
                <a:solidFill>
                  <a:srgbClr val="5D6470"/>
                </a:solidFill>
                <a:latin typeface="Helvetica Neue"/>
                <a:ea typeface="Helvetica Neue"/>
                <a:cs typeface="Helvetica Neue"/>
              </a:rPr>
              <a:t>IDENTITY GRAPH</a:t>
            </a:r>
          </a:p>
        </p:txBody>
      </p:sp>
      <p:sp>
        <p:nvSpPr>
          <p:cNvPr id="8" name="">
            <a:extLst xmlns:a="http://schemas.openxmlformats.org/drawingml/2006/main">
              <a:ext uri="{FF2B5EF4-FFF2-40B4-BE49-F238E27FC236}">
                <a16:creationId xmlns:a16="http://schemas.microsoft.com/office/drawing/2014/main" id="{253B3542-9A7F-48D7-9E48-8A63DE833D7F}"/>
              </a:ext>
            </a:extLst>
          </p:cNvPr>
          <p:cNvSpPr>
            <a:spLocks xmlns:a="http://schemas.openxmlformats.org/drawingml/2006/main" noGrp="1"/>
          </p:cNvSpPr>
          <p:nvPr/>
        </p:nvSpPr>
        <p:spPr>
          <a:xfrm xmlns:a="http://schemas.openxmlformats.org/drawingml/2006/main">
            <a:off x="685800" y="247650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Scalar similarity</a:t>
            </a:r>
          </a:p>
        </p:txBody>
      </p:sp>
      <p:sp>
        <p:nvSpPr>
          <p:cNvPr id="9" name="">
            <a:extLst xmlns:a="http://schemas.openxmlformats.org/drawingml/2006/main">
              <a:ext uri="{FF2B5EF4-FFF2-40B4-BE49-F238E27FC236}">
                <a16:creationId xmlns:a16="http://schemas.microsoft.com/office/drawing/2014/main" id="{71FA513E-ED7D-465F-8226-AA602B804321}"/>
              </a:ext>
            </a:extLst>
          </p:cNvPr>
          <p:cNvSpPr>
            <a:spLocks xmlns:a="http://schemas.openxmlformats.org/drawingml/2006/main" noGrp="1"/>
          </p:cNvSpPr>
          <p:nvPr/>
        </p:nvSpPr>
        <p:spPr>
          <a:xfrm xmlns:a="http://schemas.openxmlformats.org/drawingml/2006/main">
            <a:off x="685800" y="314325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One shared coordinate system</a:t>
            </a:r>
          </a:p>
        </p:txBody>
      </p:sp>
      <p:sp>
        <p:nvSpPr>
          <p:cNvPr id="10" name="">
            <a:extLst xmlns:a="http://schemas.openxmlformats.org/drawingml/2006/main">
              <a:ext uri="{FF2B5EF4-FFF2-40B4-BE49-F238E27FC236}">
                <a16:creationId xmlns:a16="http://schemas.microsoft.com/office/drawing/2014/main" id="{335A3C79-F95B-46F8-AF85-549F799991F5}"/>
              </a:ext>
            </a:extLst>
          </p:cNvPr>
          <p:cNvSpPr>
            <a:spLocks xmlns:a="http://schemas.openxmlformats.org/drawingml/2006/main" noGrp="1"/>
          </p:cNvSpPr>
          <p:nvPr/>
        </p:nvSpPr>
        <p:spPr>
          <a:xfrm xmlns:a="http://schemas.openxmlformats.org/drawingml/2006/main">
            <a:off x="685800" y="3905250"/>
            <a:ext cx="297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5D6470"/>
                </a:solidFill>
                <a:latin typeface="Helvetica Neue"/>
                <a:ea typeface="Helvetica Neue"/>
                <a:cs typeface="Helvetica Neue"/>
              </a:defRPr>
            </a:pPr>
            <a:r>
              <a:rPr sz="1500" b="1">
                <a:solidFill>
                  <a:srgbClr val="5D6470"/>
                </a:solidFill>
                <a:latin typeface="Helvetica Neue"/>
                <a:ea typeface="Helvetica Neue"/>
                <a:cs typeface="Helvetica Neue"/>
              </a:rPr>
              <a:t>Baseline limit</a:t>
            </a:r>
          </a:p>
        </p:txBody>
      </p:sp>
      <p:sp>
        <p:nvSpPr>
          <p:cNvPr id="11" name="">
            <a:extLst xmlns:a="http://schemas.openxmlformats.org/drawingml/2006/main">
              <a:ext uri="{FF2B5EF4-FFF2-40B4-BE49-F238E27FC236}">
                <a16:creationId xmlns:a16="http://schemas.microsoft.com/office/drawing/2014/main" id="{4C683BF2-9082-4AC0-B78E-824ECD75B2B9}"/>
              </a:ext>
            </a:extLst>
          </p:cNvPr>
          <p:cNvSpPr>
            <a:spLocks xmlns:a="http://schemas.openxmlformats.org/drawingml/2006/main" noGrp="1"/>
          </p:cNvSpPr>
          <p:nvPr/>
        </p:nvSpPr>
        <p:spPr>
          <a:xfrm xmlns:a="http://schemas.openxmlformats.org/drawingml/2006/main">
            <a:off x="4257675" y="1619250"/>
            <a:ext cx="3543300" cy="3067050"/>
          </a:xfrm>
          <a:prstGeom xmlns:a="http://schemas.openxmlformats.org/drawingml/2006/main" prst="roundRect">
            <a:avLst>
              <a:gd name="adj" fmla="val 3727"/>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F624D25-8497-44BB-90A2-02BA6F4F746D}"/>
              </a:ext>
            </a:extLst>
          </p:cNvPr>
          <p:cNvSpPr>
            <a:spLocks xmlns:a="http://schemas.openxmlformats.org/drawingml/2006/main" noGrp="1"/>
          </p:cNvSpPr>
          <p:nvPr/>
        </p:nvSpPr>
        <p:spPr>
          <a:xfrm xmlns:a="http://schemas.openxmlformats.org/drawingml/2006/main">
            <a:off x="4467225" y="1847850"/>
            <a:ext cx="312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EDGE-LOCAL GRAPH</a:t>
            </a:r>
          </a:p>
        </p:txBody>
      </p:sp>
      <p:sp>
        <p:nvSpPr>
          <p:cNvPr id="13" name="">
            <a:extLst xmlns:a="http://schemas.openxmlformats.org/drawingml/2006/main">
              <a:ext uri="{FF2B5EF4-FFF2-40B4-BE49-F238E27FC236}">
                <a16:creationId xmlns:a16="http://schemas.microsoft.com/office/drawing/2014/main" id="{58C47DCD-1559-4A4A-AE24-293FFAE2360A}"/>
              </a:ext>
            </a:extLst>
          </p:cNvPr>
          <p:cNvSpPr>
            <a:spLocks xmlns:a="http://schemas.openxmlformats.org/drawingml/2006/main" noGrp="1"/>
          </p:cNvSpPr>
          <p:nvPr/>
        </p:nvSpPr>
        <p:spPr>
          <a:xfrm xmlns:a="http://schemas.openxmlformats.org/drawingml/2006/main">
            <a:off x="4543425" y="247650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Flexible edge score</a:t>
            </a:r>
          </a:p>
        </p:txBody>
      </p:sp>
      <p:sp>
        <p:nvSpPr>
          <p:cNvPr id="14" name="">
            <a:extLst xmlns:a="http://schemas.openxmlformats.org/drawingml/2006/main">
              <a:ext uri="{FF2B5EF4-FFF2-40B4-BE49-F238E27FC236}">
                <a16:creationId xmlns:a16="http://schemas.microsoft.com/office/drawing/2014/main" id="{998987C8-FCAC-4A23-A919-D6FC885485B5}"/>
              </a:ext>
            </a:extLst>
          </p:cNvPr>
          <p:cNvSpPr>
            <a:spLocks xmlns:a="http://schemas.openxmlformats.org/drawingml/2006/main" noGrp="1"/>
          </p:cNvSpPr>
          <p:nvPr/>
        </p:nvSpPr>
        <p:spPr>
          <a:xfrm xmlns:a="http://schemas.openxmlformats.org/drawingml/2006/main">
            <a:off x="4543425" y="314325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Strong local comparator</a:t>
            </a:r>
          </a:p>
        </p:txBody>
      </p:sp>
      <p:sp>
        <p:nvSpPr>
          <p:cNvPr id="15" name="">
            <a:extLst xmlns:a="http://schemas.openxmlformats.org/drawingml/2006/main">
              <a:ext uri="{FF2B5EF4-FFF2-40B4-BE49-F238E27FC236}">
                <a16:creationId xmlns:a16="http://schemas.microsoft.com/office/drawing/2014/main" id="{D372087B-3E0E-45EF-98EC-E0DB5C0910E4}"/>
              </a:ext>
            </a:extLst>
          </p:cNvPr>
          <p:cNvSpPr>
            <a:spLocks xmlns:a="http://schemas.openxmlformats.org/drawingml/2006/main" noGrp="1"/>
          </p:cNvSpPr>
          <p:nvPr/>
        </p:nvSpPr>
        <p:spPr>
          <a:xfrm xmlns:a="http://schemas.openxmlformats.org/drawingml/2006/main">
            <a:off x="4543425" y="3905250"/>
            <a:ext cx="297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No global map consistency</a:t>
            </a:r>
          </a:p>
        </p:txBody>
      </p:sp>
      <p:sp>
        <p:nvSpPr>
          <p:cNvPr id="16" name="">
            <a:extLst xmlns:a="http://schemas.openxmlformats.org/drawingml/2006/main">
              <a:ext uri="{FF2B5EF4-FFF2-40B4-BE49-F238E27FC236}">
                <a16:creationId xmlns:a16="http://schemas.microsoft.com/office/drawing/2014/main" id="{881165EF-8CD8-4AA1-A4D6-968258053615}"/>
              </a:ext>
            </a:extLst>
          </p:cNvPr>
          <p:cNvSpPr>
            <a:spLocks xmlns:a="http://schemas.openxmlformats.org/drawingml/2006/main" noGrp="1"/>
          </p:cNvSpPr>
          <p:nvPr/>
        </p:nvSpPr>
        <p:spPr>
          <a:xfrm xmlns:a="http://schemas.openxmlformats.org/drawingml/2006/main">
            <a:off x="8115300" y="1619250"/>
            <a:ext cx="3543300" cy="3067050"/>
          </a:xfrm>
          <a:prstGeom xmlns:a="http://schemas.openxmlformats.org/drawingml/2006/main" prst="roundRect">
            <a:avLst>
              <a:gd name="adj" fmla="val 3727"/>
            </a:avLst>
          </a:prstGeom>
          <a:solidFill xmlns:a="http://schemas.openxmlformats.org/drawingml/2006/main">
            <a:srgbClr val="E7F7F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26E3513-D04F-4AB3-B18B-BCB18A091DD0}"/>
              </a:ext>
            </a:extLst>
          </p:cNvPr>
          <p:cNvSpPr>
            <a:spLocks xmlns:a="http://schemas.openxmlformats.org/drawingml/2006/main" noGrp="1"/>
          </p:cNvSpPr>
          <p:nvPr/>
        </p:nvSpPr>
        <p:spPr>
          <a:xfrm xmlns:a="http://schemas.openxmlformats.org/drawingml/2006/main">
            <a:off x="8324850" y="1847850"/>
            <a:ext cx="312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49A84"/>
                </a:solidFill>
                <a:latin typeface="Helvetica Neue"/>
                <a:ea typeface="Helvetica Neue"/>
                <a:cs typeface="Helvetica Neue"/>
              </a:defRPr>
            </a:pPr>
            <a:r>
              <a:rPr sz="1500" b="1">
                <a:solidFill>
                  <a:srgbClr val="149A84"/>
                </a:solidFill>
                <a:latin typeface="Helvetica Neue"/>
                <a:ea typeface="Helvetica Neue"/>
                <a:cs typeface="Helvetica Neue"/>
              </a:rPr>
              <a:t>AFFINE SHEAF</a:t>
            </a:r>
          </a:p>
        </p:txBody>
      </p:sp>
      <p:sp>
        <p:nvSpPr>
          <p:cNvPr id="18" name="">
            <a:extLst xmlns:a="http://schemas.openxmlformats.org/drawingml/2006/main">
              <a:ext uri="{FF2B5EF4-FFF2-40B4-BE49-F238E27FC236}">
                <a16:creationId xmlns:a16="http://schemas.microsoft.com/office/drawing/2014/main" id="{299D4E72-0FA3-49F0-A837-E5AA6115AC9B}"/>
              </a:ext>
            </a:extLst>
          </p:cNvPr>
          <p:cNvSpPr>
            <a:spLocks xmlns:a="http://schemas.openxmlformats.org/drawingml/2006/main" noGrp="1"/>
          </p:cNvSpPr>
          <p:nvPr/>
        </p:nvSpPr>
        <p:spPr>
          <a:xfrm xmlns:a="http://schemas.openxmlformats.org/drawingml/2006/main">
            <a:off x="8401050" y="247650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Edge-specific Aₑ and bₑ</a:t>
            </a:r>
          </a:p>
        </p:txBody>
      </p:sp>
      <p:sp>
        <p:nvSpPr>
          <p:cNvPr id="19" name="">
            <a:extLst xmlns:a="http://schemas.openxmlformats.org/drawingml/2006/main">
              <a:ext uri="{FF2B5EF4-FFF2-40B4-BE49-F238E27FC236}">
                <a16:creationId xmlns:a16="http://schemas.microsoft.com/office/drawing/2014/main" id="{AA3D1D23-DA8C-477D-96AD-C8F797C3826E}"/>
              </a:ext>
            </a:extLst>
          </p:cNvPr>
          <p:cNvSpPr>
            <a:spLocks xmlns:a="http://schemas.openxmlformats.org/drawingml/2006/main" noGrp="1"/>
          </p:cNvSpPr>
          <p:nvPr/>
        </p:nvSpPr>
        <p:spPr>
          <a:xfrm xmlns:a="http://schemas.openxmlformats.org/drawingml/2006/main">
            <a:off x="8401050" y="314325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Global compatibility residuals</a:t>
            </a:r>
          </a:p>
        </p:txBody>
      </p:sp>
      <p:sp>
        <p:nvSpPr>
          <p:cNvPr id="20" name="">
            <a:extLst xmlns:a="http://schemas.openxmlformats.org/drawingml/2006/main">
              <a:ext uri="{FF2B5EF4-FFF2-40B4-BE49-F238E27FC236}">
                <a16:creationId xmlns:a16="http://schemas.microsoft.com/office/drawing/2014/main" id="{A4F4107E-EA50-487B-BF9A-16B89FC98566}"/>
              </a:ext>
            </a:extLst>
          </p:cNvPr>
          <p:cNvSpPr>
            <a:spLocks xmlns:a="http://schemas.openxmlformats.org/drawingml/2006/main" noGrp="1"/>
          </p:cNvSpPr>
          <p:nvPr/>
        </p:nvSpPr>
        <p:spPr>
          <a:xfrm xmlns:a="http://schemas.openxmlformats.org/drawingml/2006/main">
            <a:off x="8401050" y="3905250"/>
            <a:ext cx="297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49A84"/>
                </a:solidFill>
                <a:latin typeface="Helvetica Neue"/>
                <a:ea typeface="Helvetica Neue"/>
                <a:cs typeface="Helvetica Neue"/>
              </a:defRPr>
            </a:pPr>
            <a:r>
              <a:rPr sz="1500" b="1">
                <a:solidFill>
                  <a:srgbClr val="149A84"/>
                </a:solidFill>
                <a:latin typeface="Helvetica Neue"/>
                <a:ea typeface="Helvetica Neue"/>
                <a:cs typeface="Helvetica Neue"/>
              </a:rPr>
              <a:t>Conflict localisation</a:t>
            </a:r>
          </a:p>
        </p:txBody>
      </p:sp>
      <p:sp>
        <p:nvSpPr>
          <p:cNvPr id="21" name="">
            <a:extLst xmlns:a="http://schemas.openxmlformats.org/drawingml/2006/main">
              <a:ext uri="{FF2B5EF4-FFF2-40B4-BE49-F238E27FC236}">
                <a16:creationId xmlns:a16="http://schemas.microsoft.com/office/drawing/2014/main" id="{E8DA18C8-1BB4-48BB-BC4D-3C04BFC2FB7A}"/>
              </a:ext>
            </a:extLst>
          </p:cNvPr>
          <p:cNvSpPr>
            <a:spLocks xmlns:a="http://schemas.openxmlformats.org/drawingml/2006/main" noGrp="1"/>
          </p:cNvSpPr>
          <p:nvPr/>
        </p:nvSpPr>
        <p:spPr>
          <a:xfrm xmlns:a="http://schemas.openxmlformats.org/drawingml/2006/main">
            <a:off x="400050" y="5000625"/>
            <a:ext cx="11391900" cy="809625"/>
          </a:xfrm>
          <a:prstGeom xmlns:a="http://schemas.openxmlformats.org/drawingml/2006/main" prst="roundRect">
            <a:avLst>
              <a:gd name="adj" fmla="val 14118"/>
            </a:avLst>
          </a:prstGeom>
          <a:solidFill xmlns:a="http://schemas.openxmlformats.org/drawingml/2006/main">
            <a:srgbClr val="FDE8E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82CABCB-094B-4854-8D64-F3F7FA8638E0}"/>
              </a:ext>
            </a:extLst>
          </p:cNvPr>
          <p:cNvSpPr>
            <a:spLocks xmlns:a="http://schemas.openxmlformats.org/drawingml/2006/main" noGrp="1"/>
          </p:cNvSpPr>
          <p:nvPr/>
        </p:nvSpPr>
        <p:spPr>
          <a:xfrm xmlns:a="http://schemas.openxmlformats.org/drawingml/2006/main">
            <a:off x="666750" y="5219700"/>
            <a:ext cx="1085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121"/>
          </a:bodyPr>
          <a:lstStyle xmlns:a="http://schemas.openxmlformats.org/drawingml/2006/main"/>
          <a:p xmlns:a="http://schemas.openxmlformats.org/drawingml/2006/main">
            <a:pPr algn="ctr">
              <a:defRPr sz="1650" b="1">
                <a:solidFill>
                  <a:srgbClr val="C53030"/>
                </a:solidFill>
                <a:latin typeface="Helvetica Neue"/>
                <a:ea typeface="Helvetica Neue"/>
                <a:cs typeface="Helvetica Neue"/>
              </a:defRPr>
            </a:pPr>
            <a:r>
              <a:rPr sz="1650" b="1">
                <a:solidFill>
                  <a:srgbClr val="C53030"/>
                </a:solidFill>
                <a:latin typeface="Helvetica Neue"/>
                <a:ea typeface="Helvetica Neue"/>
                <a:cs typeface="Helvetica Neue"/>
              </a:rPr>
              <a:t>Examiner answer: the sheaf adds relation-specific transformations and global conflict localisation; it did not establish general superiority over the strongest edge-local comparator.</a:t>
            </a:r>
          </a:p>
        </p:txBody>
      </p:sp>
    </p:spTree>
    <p:extLst>
      <p:ext uri="{BB962C8B-B14F-4D97-AF65-F5344CB8AC3E}">
        <p14:creationId xmlns:p14="http://schemas.microsoft.com/office/powerpoint/2010/main" val="156397185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E5E7442-751C-43AD-AF98-080D51990A69}"/>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AGE BENCHMARK</a:t>
            </a:r>
          </a:p>
        </p:txBody>
      </p:sp>
      <p:sp>
        <p:nvSpPr>
          <p:cNvPr id="2" name="">
            <a:extLst xmlns:a="http://schemas.openxmlformats.org/drawingml/2006/main">
              <a:ext uri="{FF2B5EF4-FFF2-40B4-BE49-F238E27FC236}">
                <a16:creationId xmlns:a16="http://schemas.microsoft.com/office/drawing/2014/main" id="{745B8C4D-0CD2-4CB3-900D-65D58A152407}"/>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Why HydroSheaf did not need to beat TracerLPM</a:t>
            </a:r>
          </a:p>
        </p:txBody>
      </p:sp>
      <p:sp>
        <p:nvSpPr>
          <p:cNvPr id="3" name="">
            <a:extLst xmlns:a="http://schemas.openxmlformats.org/drawingml/2006/main">
              <a:ext uri="{FF2B5EF4-FFF2-40B4-BE49-F238E27FC236}">
                <a16:creationId xmlns:a16="http://schemas.microsoft.com/office/drawing/2014/main" id="{775FF2C7-4BD1-4C64-BDDE-E88D17A58649}"/>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B550FD8-5CB5-48F0-8724-C72749143124}"/>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8EE5708E-AAAA-4AD9-B9ED-AEC02D9C2213}"/>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22</a:t>
            </a:r>
          </a:p>
        </p:txBody>
      </p:sp>
      <p:sp>
        <p:nvSpPr>
          <p:cNvPr id="6" name="">
            <a:extLst xmlns:a="http://schemas.openxmlformats.org/drawingml/2006/main">
              <a:ext uri="{FF2B5EF4-FFF2-40B4-BE49-F238E27FC236}">
                <a16:creationId xmlns:a16="http://schemas.microsoft.com/office/drawing/2014/main" id="{405FC39B-DEAE-44DA-A0F6-DD4333969FF5}"/>
              </a:ext>
            </a:extLst>
          </p:cNvPr>
          <p:cNvSpPr>
            <a:spLocks xmlns:a="http://schemas.openxmlformats.org/drawingml/2006/main" noGrp="1"/>
          </p:cNvSpPr>
          <p:nvPr/>
        </p:nvSpPr>
        <p:spPr>
          <a:xfrm xmlns:a="http://schemas.openxmlformats.org/drawingml/2006/main">
            <a:off x="400050" y="1600200"/>
            <a:ext cx="5334000" cy="3619500"/>
          </a:xfrm>
          <a:prstGeom xmlns:a="http://schemas.openxmlformats.org/drawingml/2006/main" prst="roundRect">
            <a:avLst>
              <a:gd name="adj" fmla="val 3158"/>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0C46F33-59F4-4439-ADAD-363513EBBCEB}"/>
              </a:ext>
            </a:extLst>
          </p:cNvPr>
          <p:cNvSpPr>
            <a:spLocks xmlns:a="http://schemas.openxmlformats.org/drawingml/2006/main" noGrp="1"/>
          </p:cNvSpPr>
          <p:nvPr/>
        </p:nvSpPr>
        <p:spPr>
          <a:xfrm xmlns:a="http://schemas.openxmlformats.org/drawingml/2006/main">
            <a:off x="666750" y="1847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QUESTION ACTUALLY TESTED</a:t>
            </a:r>
          </a:p>
        </p:txBody>
      </p:sp>
      <p:sp>
        <p:nvSpPr>
          <p:cNvPr id="8" name="">
            <a:extLst xmlns:a="http://schemas.openxmlformats.org/drawingml/2006/main">
              <a:ext uri="{FF2B5EF4-FFF2-40B4-BE49-F238E27FC236}">
                <a16:creationId xmlns:a16="http://schemas.microsoft.com/office/drawing/2014/main" id="{104D2F29-E207-44D4-927C-7A3DC9C28F5B}"/>
              </a:ext>
            </a:extLst>
          </p:cNvPr>
          <p:cNvSpPr>
            <a:spLocks xmlns:a="http://schemas.openxmlformats.org/drawingml/2006/main" noGrp="1"/>
          </p:cNvSpPr>
          <p:nvPr/>
        </p:nvSpPr>
        <p:spPr>
          <a:xfrm xmlns:a="http://schemas.openxmlformats.org/drawingml/2006/main">
            <a:off x="666750" y="233362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Can HydroSheaf reproduce the reported configuration—and does topology add independent information?</a:t>
            </a:r>
          </a:p>
        </p:txBody>
      </p:sp>
      <p:sp>
        <p:nvSpPr>
          <p:cNvPr id="9" name="">
            <a:extLst xmlns:a="http://schemas.openxmlformats.org/drawingml/2006/main">
              <a:ext uri="{FF2B5EF4-FFF2-40B4-BE49-F238E27FC236}">
                <a16:creationId xmlns:a16="http://schemas.microsoft.com/office/drawing/2014/main" id="{41225974-B450-42F3-B3A5-D6DD988CF79F}"/>
              </a:ext>
            </a:extLst>
          </p:cNvPr>
          <p:cNvSpPr>
            <a:spLocks xmlns:a="http://schemas.openxmlformats.org/drawingml/2006/main" noGrp="1"/>
          </p:cNvSpPr>
          <p:nvPr/>
        </p:nvSpPr>
        <p:spPr>
          <a:xfrm xmlns:a="http://schemas.openxmlformats.org/drawingml/2006/main">
            <a:off x="666750" y="3838575"/>
            <a:ext cx="476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53A63"/>
                </a:solidFill>
                <a:latin typeface="Helvetica Neue"/>
                <a:ea typeface="Helvetica Neue"/>
                <a:cs typeface="Helvetica Neue"/>
              </a:defRPr>
            </a:pPr>
            <a:r>
              <a:rPr sz="1725" b="1">
                <a:solidFill>
                  <a:srgbClr val="153A63"/>
                </a:solidFill>
                <a:latin typeface="Helvetica Neue"/>
                <a:ea typeface="Helvetica Neue"/>
                <a:cs typeface="Helvetica Neue"/>
              </a:rPr>
              <a:t>Answer: close agreement achieved; incremental graph value not established.</a:t>
            </a:r>
          </a:p>
        </p:txBody>
      </p:sp>
      <p:sp>
        <p:nvSpPr>
          <p:cNvPr id="10" name="">
            <a:extLst xmlns:a="http://schemas.openxmlformats.org/drawingml/2006/main">
              <a:ext uri="{FF2B5EF4-FFF2-40B4-BE49-F238E27FC236}">
                <a16:creationId xmlns:a16="http://schemas.microsoft.com/office/drawing/2014/main" id="{FB7E1DF0-C300-4A1A-90EE-8131D94A85B4}"/>
              </a:ext>
            </a:extLst>
          </p:cNvPr>
          <p:cNvSpPr>
            <a:spLocks xmlns:a="http://schemas.openxmlformats.org/drawingml/2006/main" noGrp="1"/>
          </p:cNvSpPr>
          <p:nvPr/>
        </p:nvSpPr>
        <p:spPr>
          <a:xfrm xmlns:a="http://schemas.openxmlformats.org/drawingml/2006/main">
            <a:off x="6076950" y="1600200"/>
            <a:ext cx="5334000" cy="3619500"/>
          </a:xfrm>
          <a:prstGeom xmlns:a="http://schemas.openxmlformats.org/drawingml/2006/main" prst="roundRect">
            <a:avLst>
              <a:gd name="adj" fmla="val 3158"/>
            </a:avLst>
          </a:prstGeom>
          <a:solidFill xmlns:a="http://schemas.openxmlformats.org/drawingml/2006/main">
            <a:srgbClr val="FDE8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4C9D16D-84D0-4714-8A84-D21216466909}"/>
              </a:ext>
            </a:extLst>
          </p:cNvPr>
          <p:cNvSpPr>
            <a:spLocks xmlns:a="http://schemas.openxmlformats.org/drawingml/2006/main" noGrp="1"/>
          </p:cNvSpPr>
          <p:nvPr/>
        </p:nvSpPr>
        <p:spPr>
          <a:xfrm xmlns:a="http://schemas.openxmlformats.org/drawingml/2006/main">
            <a:off x="6343650" y="1847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C53030"/>
                </a:solidFill>
                <a:latin typeface="Helvetica Neue"/>
                <a:ea typeface="Helvetica Neue"/>
                <a:cs typeface="Helvetica Neue"/>
              </a:defRPr>
            </a:pPr>
            <a:r>
              <a:rPr sz="1125" b="1">
                <a:solidFill>
                  <a:srgbClr val="C53030"/>
                </a:solidFill>
                <a:latin typeface="Helvetica Neue"/>
                <a:ea typeface="Helvetica Neue"/>
                <a:cs typeface="Helvetica Neue"/>
              </a:rPr>
              <a:t>QUESTION NOT TESTED</a:t>
            </a:r>
          </a:p>
        </p:txBody>
      </p:sp>
      <p:sp>
        <p:nvSpPr>
          <p:cNvPr id="12" name="">
            <a:extLst xmlns:a="http://schemas.openxmlformats.org/drawingml/2006/main">
              <a:ext uri="{FF2B5EF4-FFF2-40B4-BE49-F238E27FC236}">
                <a16:creationId xmlns:a16="http://schemas.microsoft.com/office/drawing/2014/main" id="{C558074C-2078-4729-AF09-B380C39630E4}"/>
              </a:ext>
            </a:extLst>
          </p:cNvPr>
          <p:cNvSpPr>
            <a:spLocks xmlns:a="http://schemas.openxmlformats.org/drawingml/2006/main" noGrp="1"/>
          </p:cNvSpPr>
          <p:nvPr/>
        </p:nvSpPr>
        <p:spPr>
          <a:xfrm xmlns:a="http://schemas.openxmlformats.org/drawingml/2006/main">
            <a:off x="6343650" y="233362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Which model is closer to the unknown true groundwater-age distribution?</a:t>
            </a:r>
          </a:p>
        </p:txBody>
      </p:sp>
      <p:sp>
        <p:nvSpPr>
          <p:cNvPr id="13" name="">
            <a:extLst xmlns:a="http://schemas.openxmlformats.org/drawingml/2006/main">
              <a:ext uri="{FF2B5EF4-FFF2-40B4-BE49-F238E27FC236}">
                <a16:creationId xmlns:a16="http://schemas.microsoft.com/office/drawing/2014/main" id="{0F5C8FA6-AFC7-4AC4-BA1C-ABB48CCDC8F2}"/>
              </a:ext>
            </a:extLst>
          </p:cNvPr>
          <p:cNvSpPr>
            <a:spLocks xmlns:a="http://schemas.openxmlformats.org/drawingml/2006/main" noGrp="1"/>
          </p:cNvSpPr>
          <p:nvPr/>
        </p:nvSpPr>
        <p:spPr>
          <a:xfrm xmlns:a="http://schemas.openxmlformats.org/drawingml/2006/main">
            <a:off x="6343650" y="3838575"/>
            <a:ext cx="476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C53030"/>
                </a:solidFill>
                <a:latin typeface="Helvetica Neue"/>
                <a:ea typeface="Helvetica Neue"/>
                <a:cs typeface="Helvetica Neue"/>
              </a:defRPr>
            </a:pPr>
            <a:r>
              <a:rPr sz="1725" b="1">
                <a:solidFill>
                  <a:srgbClr val="C53030"/>
                </a:solidFill>
                <a:latin typeface="Helvetica Neue"/>
                <a:ea typeface="Helvetica Neue"/>
                <a:cs typeface="Helvetica Neue"/>
              </a:rPr>
              <a:t>The public reference outputs are emulation targets—not error-free truth.</a:t>
            </a:r>
          </a:p>
        </p:txBody>
      </p:sp>
    </p:spTree>
    <p:extLst>
      <p:ext uri="{BB962C8B-B14F-4D97-AF65-F5344CB8AC3E}">
        <p14:creationId xmlns:p14="http://schemas.microsoft.com/office/powerpoint/2010/main" val="60933556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F41A0D1-3326-42CB-8B72-81C0C2A03960}"/>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REPRODUCIBILITY</a:t>
            </a:r>
          </a:p>
        </p:txBody>
      </p:sp>
      <p:sp>
        <p:nvSpPr>
          <p:cNvPr id="2" name="">
            <a:extLst xmlns:a="http://schemas.openxmlformats.org/drawingml/2006/main">
              <a:ext uri="{FF2B5EF4-FFF2-40B4-BE49-F238E27FC236}">
                <a16:creationId xmlns:a16="http://schemas.microsoft.com/office/drawing/2014/main" id="{F1A71DDD-B4E0-46BE-A084-BC27F18B3DE8}"/>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What a locked test means</a:t>
            </a:r>
          </a:p>
        </p:txBody>
      </p:sp>
      <p:sp>
        <p:nvSpPr>
          <p:cNvPr id="3" name="">
            <a:extLst xmlns:a="http://schemas.openxmlformats.org/drawingml/2006/main">
              <a:ext uri="{FF2B5EF4-FFF2-40B4-BE49-F238E27FC236}">
                <a16:creationId xmlns:a16="http://schemas.microsoft.com/office/drawing/2014/main" id="{4AC39B12-E77C-4AA3-B622-9DE5FADEB3EE}"/>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47BEF8A-8ADC-474E-BBD3-A617836F999F}"/>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18694EED-CFFD-493B-9B57-8126563D5EF8}"/>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23</a:t>
            </a:r>
          </a:p>
        </p:txBody>
      </p:sp>
      <p:sp>
        <p:nvSpPr>
          <p:cNvPr id="6" name="">
            <a:extLst xmlns:a="http://schemas.openxmlformats.org/drawingml/2006/main">
              <a:ext uri="{FF2B5EF4-FFF2-40B4-BE49-F238E27FC236}">
                <a16:creationId xmlns:a16="http://schemas.microsoft.com/office/drawing/2014/main" id="{3B7EBC06-9D30-41D9-84C9-C8BA30015F4D}"/>
              </a:ext>
            </a:extLst>
          </p:cNvPr>
          <p:cNvSpPr>
            <a:spLocks xmlns:a="http://schemas.openxmlformats.org/drawingml/2006/main" noGrp="1"/>
          </p:cNvSpPr>
          <p:nvPr/>
        </p:nvSpPr>
        <p:spPr>
          <a:xfrm xmlns:a="http://schemas.openxmlformats.org/drawingml/2006/main">
            <a:off x="400050" y="2000250"/>
            <a:ext cx="2571750" cy="2381250"/>
          </a:xfrm>
          <a:prstGeom xmlns:a="http://schemas.openxmlformats.org/drawingml/2006/main" prst="roundRect">
            <a:avLst>
              <a:gd name="adj" fmla="val 4800"/>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C2DB931-B7CA-4283-8074-D534C28B9B4C}"/>
              </a:ext>
            </a:extLst>
          </p:cNvPr>
          <p:cNvSpPr>
            <a:spLocks xmlns:a="http://schemas.openxmlformats.org/drawingml/2006/main" noGrp="1"/>
          </p:cNvSpPr>
          <p:nvPr/>
        </p:nvSpPr>
        <p:spPr>
          <a:xfrm xmlns:a="http://schemas.openxmlformats.org/drawingml/2006/main">
            <a:off x="609600" y="22098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A18F7EEC-C9A1-40A2-9E34-4F80DBD0670F}"/>
              </a:ext>
            </a:extLst>
          </p:cNvPr>
          <p:cNvSpPr>
            <a:spLocks xmlns:a="http://schemas.openxmlformats.org/drawingml/2006/main" noGrp="1"/>
          </p:cNvSpPr>
          <p:nvPr/>
        </p:nvSpPr>
        <p:spPr>
          <a:xfrm xmlns:a="http://schemas.openxmlformats.org/drawingml/2006/main">
            <a:off x="609600" y="2857500"/>
            <a:ext cx="2152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DEVELOP</a:t>
            </a:r>
          </a:p>
        </p:txBody>
      </p:sp>
      <p:sp>
        <p:nvSpPr>
          <p:cNvPr id="9" name="">
            <a:extLst xmlns:a="http://schemas.openxmlformats.org/drawingml/2006/main">
              <a:ext uri="{FF2B5EF4-FFF2-40B4-BE49-F238E27FC236}">
                <a16:creationId xmlns:a16="http://schemas.microsoft.com/office/drawing/2014/main" id="{19A7B2A3-C278-4547-8962-DAE41C7AF6D3}"/>
              </a:ext>
            </a:extLst>
          </p:cNvPr>
          <p:cNvSpPr>
            <a:spLocks xmlns:a="http://schemas.openxmlformats.org/drawingml/2006/main" noGrp="1"/>
          </p:cNvSpPr>
          <p:nvPr/>
        </p:nvSpPr>
        <p:spPr>
          <a:xfrm xmlns:a="http://schemas.openxmlformats.org/drawingml/2006/main">
            <a:off x="609600" y="33528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Tune on declared development cases</a:t>
            </a:r>
          </a:p>
        </p:txBody>
      </p:sp>
      <p:sp>
        <p:nvSpPr>
          <p:cNvPr id="10" name="">
            <a:extLst xmlns:a="http://schemas.openxmlformats.org/drawingml/2006/main">
              <a:ext uri="{FF2B5EF4-FFF2-40B4-BE49-F238E27FC236}">
                <a16:creationId xmlns:a16="http://schemas.microsoft.com/office/drawing/2014/main" id="{A03F6426-EE12-4044-A2FE-044703DAEE68}"/>
              </a:ext>
            </a:extLst>
          </p:cNvPr>
          <p:cNvSpPr>
            <a:spLocks xmlns:a="http://schemas.openxmlformats.org/drawingml/2006/main" noGrp="1"/>
          </p:cNvSpPr>
          <p:nvPr/>
        </p:nvSpPr>
        <p:spPr>
          <a:xfrm xmlns:a="http://schemas.openxmlformats.org/drawingml/2006/main">
            <a:off x="2971800" y="2952750"/>
            <a:ext cx="304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ctr">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11558350-7395-466F-BBCC-232FF9ADDA51}"/>
              </a:ext>
            </a:extLst>
          </p:cNvPr>
          <p:cNvSpPr>
            <a:spLocks xmlns:a="http://schemas.openxmlformats.org/drawingml/2006/main" noGrp="1"/>
          </p:cNvSpPr>
          <p:nvPr/>
        </p:nvSpPr>
        <p:spPr>
          <a:xfrm xmlns:a="http://schemas.openxmlformats.org/drawingml/2006/main">
            <a:off x="3276600" y="2000250"/>
            <a:ext cx="2571750" cy="2381250"/>
          </a:xfrm>
          <a:prstGeom xmlns:a="http://schemas.openxmlformats.org/drawingml/2006/main" prst="roundRect">
            <a:avLst>
              <a:gd name="adj" fmla="val 4800"/>
            </a:avLst>
          </a:prstGeom>
          <a:solidFill xmlns:a="http://schemas.openxmlformats.org/drawingml/2006/main">
            <a:srgbClr val="F2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87A9A5D-1A15-4AEB-82E7-3D5A76862992}"/>
              </a:ext>
            </a:extLst>
          </p:cNvPr>
          <p:cNvSpPr>
            <a:spLocks xmlns:a="http://schemas.openxmlformats.org/drawingml/2006/main" noGrp="1"/>
          </p:cNvSpPr>
          <p:nvPr/>
        </p:nvSpPr>
        <p:spPr>
          <a:xfrm xmlns:a="http://schemas.openxmlformats.org/drawingml/2006/main">
            <a:off x="3486150" y="22098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F88E226B-F890-4470-BFC6-58C58E143036}"/>
              </a:ext>
            </a:extLst>
          </p:cNvPr>
          <p:cNvSpPr>
            <a:spLocks xmlns:a="http://schemas.openxmlformats.org/drawingml/2006/main" noGrp="1"/>
          </p:cNvSpPr>
          <p:nvPr/>
        </p:nvSpPr>
        <p:spPr>
          <a:xfrm xmlns:a="http://schemas.openxmlformats.org/drawingml/2006/main">
            <a:off x="3486150" y="2857500"/>
            <a:ext cx="2152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FREEZE</a:t>
            </a:r>
          </a:p>
        </p:txBody>
      </p:sp>
      <p:sp>
        <p:nvSpPr>
          <p:cNvPr id="14" name="">
            <a:extLst xmlns:a="http://schemas.openxmlformats.org/drawingml/2006/main">
              <a:ext uri="{FF2B5EF4-FFF2-40B4-BE49-F238E27FC236}">
                <a16:creationId xmlns:a16="http://schemas.microsoft.com/office/drawing/2014/main" id="{112026EA-2E2A-4F80-B746-D1A98A5C6094}"/>
              </a:ext>
            </a:extLst>
          </p:cNvPr>
          <p:cNvSpPr>
            <a:spLocks xmlns:a="http://schemas.openxmlformats.org/drawingml/2006/main" noGrp="1"/>
          </p:cNvSpPr>
          <p:nvPr/>
        </p:nvSpPr>
        <p:spPr>
          <a:xfrm xmlns:a="http://schemas.openxmlformats.org/drawingml/2006/main">
            <a:off x="3486150" y="33528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Generator, code, seeds, primary metrics and decision rules</a:t>
            </a:r>
          </a:p>
        </p:txBody>
      </p:sp>
      <p:sp>
        <p:nvSpPr>
          <p:cNvPr id="15" name="">
            <a:extLst xmlns:a="http://schemas.openxmlformats.org/drawingml/2006/main">
              <a:ext uri="{FF2B5EF4-FFF2-40B4-BE49-F238E27FC236}">
                <a16:creationId xmlns:a16="http://schemas.microsoft.com/office/drawing/2014/main" id="{7027C6B4-FDBA-4887-98AF-6B51F32AAEF5}"/>
              </a:ext>
            </a:extLst>
          </p:cNvPr>
          <p:cNvSpPr>
            <a:spLocks xmlns:a="http://schemas.openxmlformats.org/drawingml/2006/main" noGrp="1"/>
          </p:cNvSpPr>
          <p:nvPr/>
        </p:nvSpPr>
        <p:spPr>
          <a:xfrm xmlns:a="http://schemas.openxmlformats.org/drawingml/2006/main">
            <a:off x="5848350" y="2952750"/>
            <a:ext cx="304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ctr">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EE96ABBF-2B9E-4376-B204-DAF75B8C4085}"/>
              </a:ext>
            </a:extLst>
          </p:cNvPr>
          <p:cNvSpPr>
            <a:spLocks xmlns:a="http://schemas.openxmlformats.org/drawingml/2006/main" noGrp="1"/>
          </p:cNvSpPr>
          <p:nvPr/>
        </p:nvSpPr>
        <p:spPr>
          <a:xfrm xmlns:a="http://schemas.openxmlformats.org/drawingml/2006/main">
            <a:off x="6153150" y="2000250"/>
            <a:ext cx="2571750" cy="2381250"/>
          </a:xfrm>
          <a:prstGeom xmlns:a="http://schemas.openxmlformats.org/drawingml/2006/main" prst="roundRect">
            <a:avLst>
              <a:gd name="adj" fmla="val 4800"/>
            </a:avLst>
          </a:prstGeom>
          <a:solidFill xmlns:a="http://schemas.openxmlformats.org/drawingml/2006/main">
            <a:srgbClr val="E9F4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9B3358F-DE2A-4F8C-8387-1084E173C8E7}"/>
              </a:ext>
            </a:extLst>
          </p:cNvPr>
          <p:cNvSpPr>
            <a:spLocks xmlns:a="http://schemas.openxmlformats.org/drawingml/2006/main" noGrp="1"/>
          </p:cNvSpPr>
          <p:nvPr/>
        </p:nvSpPr>
        <p:spPr>
          <a:xfrm xmlns:a="http://schemas.openxmlformats.org/drawingml/2006/main">
            <a:off x="6362700" y="22098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B6BA2B7D-A07B-4484-AAA6-946F06D769B5}"/>
              </a:ext>
            </a:extLst>
          </p:cNvPr>
          <p:cNvSpPr>
            <a:spLocks xmlns:a="http://schemas.openxmlformats.org/drawingml/2006/main" noGrp="1"/>
          </p:cNvSpPr>
          <p:nvPr/>
        </p:nvSpPr>
        <p:spPr>
          <a:xfrm xmlns:a="http://schemas.openxmlformats.org/drawingml/2006/main">
            <a:off x="6362700" y="2857500"/>
            <a:ext cx="2152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OPEN ONCE</a:t>
            </a:r>
          </a:p>
        </p:txBody>
      </p:sp>
      <p:sp>
        <p:nvSpPr>
          <p:cNvPr id="19" name="">
            <a:extLst xmlns:a="http://schemas.openxmlformats.org/drawingml/2006/main">
              <a:ext uri="{FF2B5EF4-FFF2-40B4-BE49-F238E27FC236}">
                <a16:creationId xmlns:a16="http://schemas.microsoft.com/office/drawing/2014/main" id="{B1305D55-0347-48D5-8DEB-C80B9F8A9E9F}"/>
              </a:ext>
            </a:extLst>
          </p:cNvPr>
          <p:cNvSpPr>
            <a:spLocks xmlns:a="http://schemas.openxmlformats.org/drawingml/2006/main" noGrp="1"/>
          </p:cNvSpPr>
          <p:nvPr/>
        </p:nvSpPr>
        <p:spPr>
          <a:xfrm xmlns:a="http://schemas.openxmlformats.org/drawingml/2006/main">
            <a:off x="6362700" y="33528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Evaluate untouched locked cases</a:t>
            </a:r>
          </a:p>
        </p:txBody>
      </p:sp>
      <p:sp>
        <p:nvSpPr>
          <p:cNvPr id="20" name="">
            <a:extLst xmlns:a="http://schemas.openxmlformats.org/drawingml/2006/main">
              <a:ext uri="{FF2B5EF4-FFF2-40B4-BE49-F238E27FC236}">
                <a16:creationId xmlns:a16="http://schemas.microsoft.com/office/drawing/2014/main" id="{CF5C15B7-AD37-4D82-BA75-467902B2D3FC}"/>
              </a:ext>
            </a:extLst>
          </p:cNvPr>
          <p:cNvSpPr>
            <a:spLocks xmlns:a="http://schemas.openxmlformats.org/drawingml/2006/main" noGrp="1"/>
          </p:cNvSpPr>
          <p:nvPr/>
        </p:nvSpPr>
        <p:spPr>
          <a:xfrm xmlns:a="http://schemas.openxmlformats.org/drawingml/2006/main">
            <a:off x="8724900" y="2952750"/>
            <a:ext cx="304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p xmlns:a="http://schemas.openxmlformats.org/drawingml/2006/main">
            <a:pPr algn="ctr">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E5068F28-A8DB-4719-8C7A-345052841643}"/>
              </a:ext>
            </a:extLst>
          </p:cNvPr>
          <p:cNvSpPr>
            <a:spLocks xmlns:a="http://schemas.openxmlformats.org/drawingml/2006/main" noGrp="1"/>
          </p:cNvSpPr>
          <p:nvPr/>
        </p:nvSpPr>
        <p:spPr>
          <a:xfrm xmlns:a="http://schemas.openxmlformats.org/drawingml/2006/main">
            <a:off x="9029700" y="2000250"/>
            <a:ext cx="2571750" cy="2381250"/>
          </a:xfrm>
          <a:prstGeom xmlns:a="http://schemas.openxmlformats.org/drawingml/2006/main" prst="roundRect">
            <a:avLst>
              <a:gd name="adj" fmla="val 4800"/>
            </a:avLst>
          </a:prstGeom>
          <a:solidFill xmlns:a="http://schemas.openxmlformats.org/drawingml/2006/main">
            <a:srgbClr val="F2F3F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3D082AD-4FAF-47EE-8FC5-EEE33770B1CA}"/>
              </a:ext>
            </a:extLst>
          </p:cNvPr>
          <p:cNvSpPr>
            <a:spLocks xmlns:a="http://schemas.openxmlformats.org/drawingml/2006/main" noGrp="1"/>
          </p:cNvSpPr>
          <p:nvPr/>
        </p:nvSpPr>
        <p:spPr>
          <a:xfrm xmlns:a="http://schemas.openxmlformats.org/drawingml/2006/main">
            <a:off x="9239250" y="2209800"/>
            <a:ext cx="523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A7DF9017-B867-48BB-A9AB-2EE5C07F03B7}"/>
              </a:ext>
            </a:extLst>
          </p:cNvPr>
          <p:cNvSpPr>
            <a:spLocks xmlns:a="http://schemas.openxmlformats.org/drawingml/2006/main" noGrp="1"/>
          </p:cNvSpPr>
          <p:nvPr/>
        </p:nvSpPr>
        <p:spPr>
          <a:xfrm xmlns:a="http://schemas.openxmlformats.org/drawingml/2006/main">
            <a:off x="9239250" y="2857500"/>
            <a:ext cx="2152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DECIDE</a:t>
            </a:r>
          </a:p>
        </p:txBody>
      </p:sp>
      <p:sp>
        <p:nvSpPr>
          <p:cNvPr id="24" name="">
            <a:extLst xmlns:a="http://schemas.openxmlformats.org/drawingml/2006/main">
              <a:ext uri="{FF2B5EF4-FFF2-40B4-BE49-F238E27FC236}">
                <a16:creationId xmlns:a16="http://schemas.microsoft.com/office/drawing/2014/main" id="{A51CEFEA-DA44-4495-90CE-9F868FBD148A}"/>
              </a:ext>
            </a:extLst>
          </p:cNvPr>
          <p:cNvSpPr>
            <a:spLocks xmlns:a="http://schemas.openxmlformats.org/drawingml/2006/main" noGrp="1"/>
          </p:cNvSpPr>
          <p:nvPr/>
        </p:nvSpPr>
        <p:spPr>
          <a:xfrm xmlns:a="http://schemas.openxmlformats.org/drawingml/2006/main">
            <a:off x="9239250" y="33528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487"/>
          </a:bodyP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Apply the frozen gate, including negative outcomes</a:t>
            </a:r>
          </a:p>
        </p:txBody>
      </p:sp>
      <p:sp>
        <p:nvSpPr>
          <p:cNvPr id="25" name="">
            <a:extLst xmlns:a="http://schemas.openxmlformats.org/drawingml/2006/main">
              <a:ext uri="{FF2B5EF4-FFF2-40B4-BE49-F238E27FC236}">
                <a16:creationId xmlns:a16="http://schemas.microsoft.com/office/drawing/2014/main" id="{498E88FC-E424-44A9-8E96-390D37CEA91B}"/>
              </a:ext>
            </a:extLst>
          </p:cNvPr>
          <p:cNvSpPr>
            <a:spLocks xmlns:a="http://schemas.openxmlformats.org/drawingml/2006/main" noGrp="1"/>
          </p:cNvSpPr>
          <p:nvPr/>
        </p:nvSpPr>
        <p:spPr>
          <a:xfrm xmlns:a="http://schemas.openxmlformats.org/drawingml/2006/main">
            <a:off x="2000250" y="4810125"/>
            <a:ext cx="8191500" cy="723900"/>
          </a:xfrm>
          <a:prstGeom xmlns:a="http://schemas.openxmlformats.org/drawingml/2006/main" prst="roundRect">
            <a:avLst>
              <a:gd name="adj" fmla="val 15789"/>
            </a:avLst>
          </a:prstGeom>
          <a:solidFill xmlns:a="http://schemas.openxmlformats.org/drawingml/2006/main">
            <a:srgbClr val="E7F7F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C6CF27E-9C9D-44FB-902F-6D0E396FEE5B}"/>
              </a:ext>
            </a:extLst>
          </p:cNvPr>
          <p:cNvSpPr>
            <a:spLocks xmlns:a="http://schemas.openxmlformats.org/drawingml/2006/main" noGrp="1"/>
          </p:cNvSpPr>
          <p:nvPr/>
        </p:nvSpPr>
        <p:spPr>
          <a:xfrm xmlns:a="http://schemas.openxmlformats.org/drawingml/2006/main">
            <a:off x="2286000" y="5029200"/>
            <a:ext cx="762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64"/>
          </a:bodyPr>
          <a:lstStyle xmlns:a="http://schemas.openxmlformats.org/drawingml/2006/main"/>
          <a:p xmlns:a="http://schemas.openxmlformats.org/drawingml/2006/main">
            <a:pPr algn="ctr">
              <a:defRPr sz="1575" b="1">
                <a:solidFill>
                  <a:srgbClr val="153A63"/>
                </a:solidFill>
                <a:latin typeface="Helvetica Neue"/>
                <a:ea typeface="Helvetica Neue"/>
                <a:cs typeface="Helvetica Neue"/>
              </a:defRPr>
            </a:pPr>
            <a:r>
              <a:rPr sz="1575" b="1">
                <a:solidFill>
                  <a:srgbClr val="153A63"/>
                </a:solidFill>
                <a:latin typeface="Helvetica Neue"/>
                <a:ea typeface="Helvetica Neue"/>
                <a:cs typeface="Helvetica Neue"/>
              </a:rPr>
              <a:t>Locked comparisons were not rerun; practical planning margins were post-review diagnostics.</a:t>
            </a:r>
          </a:p>
        </p:txBody>
      </p:sp>
    </p:spTree>
    <p:extLst>
      <p:ext uri="{BB962C8B-B14F-4D97-AF65-F5344CB8AC3E}">
        <p14:creationId xmlns:p14="http://schemas.microsoft.com/office/powerpoint/2010/main" val="19010480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F44A807F-EA2C-4934-951B-46B7F294EDB6}"/>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EVIDENCE MATRIX</a:t>
            </a:r>
          </a:p>
        </p:txBody>
      </p:sp>
      <p:sp>
        <p:nvSpPr>
          <p:cNvPr id="2" name="">
            <a:extLst xmlns:a="http://schemas.openxmlformats.org/drawingml/2006/main">
              <a:ext uri="{FF2B5EF4-FFF2-40B4-BE49-F238E27FC236}">
                <a16:creationId xmlns:a16="http://schemas.microsoft.com/office/drawing/2014/main" id="{87BE4B37-5FFF-4C37-B83D-670933BA18F4}"/>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No single field dataset contains all three truths</a:t>
            </a:r>
          </a:p>
        </p:txBody>
      </p:sp>
      <p:sp>
        <p:nvSpPr>
          <p:cNvPr id="3" name="">
            <a:extLst xmlns:a="http://schemas.openxmlformats.org/drawingml/2006/main">
              <a:ext uri="{FF2B5EF4-FFF2-40B4-BE49-F238E27FC236}">
                <a16:creationId xmlns:a16="http://schemas.microsoft.com/office/drawing/2014/main" id="{B3685B8F-9BFF-458F-B1BC-1A71E08EA6F9}"/>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85AAA59-4A4E-4026-B45D-DB10F5EF79FC}"/>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D21FC0F3-279D-454E-A756-CB04F48A67EE}"/>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24</a:t>
            </a:r>
          </a:p>
        </p:txBody>
      </p:sp>
      <p:sp>
        <p:nvSpPr>
          <p:cNvPr id="6" name="">
            <a:extLst xmlns:a="http://schemas.openxmlformats.org/drawingml/2006/main">
              <a:ext uri="{FF2B5EF4-FFF2-40B4-BE49-F238E27FC236}">
                <a16:creationId xmlns:a16="http://schemas.microsoft.com/office/drawing/2014/main" id="{4AE38D14-4DD0-4C41-868F-F54B4DD4A171}"/>
              </a:ext>
            </a:extLst>
          </p:cNvPr>
          <p:cNvSpPr>
            <a:spLocks xmlns:a="http://schemas.openxmlformats.org/drawingml/2006/main" noGrp="1"/>
          </p:cNvSpPr>
          <p:nvPr/>
        </p:nvSpPr>
        <p:spPr>
          <a:xfrm xmlns:a="http://schemas.openxmlformats.org/drawingml/2006/main">
            <a:off x="400050" y="1619250"/>
            <a:ext cx="2676525" cy="552450"/>
          </a:xfrm>
          <a:prstGeom xmlns:a="http://schemas.openxmlformats.org/drawingml/2006/main" prst="roundRect">
            <a:avLst>
              <a:gd name="adj" fmla="val 20690"/>
            </a:avLst>
          </a:prstGeom>
          <a:solidFill xmlns:a="http://schemas.openxmlformats.org/drawingml/2006/main">
            <a:srgbClr val="153A6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2E180C5-C189-4711-83E5-EC51BEB9D386}"/>
              </a:ext>
            </a:extLst>
          </p:cNvPr>
          <p:cNvSpPr>
            <a:spLocks xmlns:a="http://schemas.openxmlformats.org/drawingml/2006/main" noGrp="1"/>
          </p:cNvSpPr>
          <p:nvPr/>
        </p:nvSpPr>
        <p:spPr>
          <a:xfrm xmlns:a="http://schemas.openxmlformats.org/drawingml/2006/main">
            <a:off x="476250" y="1809750"/>
            <a:ext cx="2524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DATASET</a:t>
            </a:r>
          </a:p>
        </p:txBody>
      </p:sp>
      <p:sp>
        <p:nvSpPr>
          <p:cNvPr id="8" name="">
            <a:extLst xmlns:a="http://schemas.openxmlformats.org/drawingml/2006/main">
              <a:ext uri="{FF2B5EF4-FFF2-40B4-BE49-F238E27FC236}">
                <a16:creationId xmlns:a16="http://schemas.microsoft.com/office/drawing/2014/main" id="{F9FADE5A-6065-4998-B8E5-ABA2CAA2D138}"/>
              </a:ext>
            </a:extLst>
          </p:cNvPr>
          <p:cNvSpPr>
            <a:spLocks xmlns:a="http://schemas.openxmlformats.org/drawingml/2006/main" noGrp="1"/>
          </p:cNvSpPr>
          <p:nvPr/>
        </p:nvSpPr>
        <p:spPr>
          <a:xfrm xmlns:a="http://schemas.openxmlformats.org/drawingml/2006/main">
            <a:off x="3114675" y="1619250"/>
            <a:ext cx="1866900" cy="552450"/>
          </a:xfrm>
          <a:prstGeom xmlns:a="http://schemas.openxmlformats.org/drawingml/2006/main" prst="roundRect">
            <a:avLst>
              <a:gd name="adj" fmla="val 20690"/>
            </a:avLst>
          </a:prstGeom>
          <a:solidFill xmlns:a="http://schemas.openxmlformats.org/drawingml/2006/main">
            <a:srgbClr val="153A6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A62D1C9-CA34-4BDC-805B-8547DC3BC3DB}"/>
              </a:ext>
            </a:extLst>
          </p:cNvPr>
          <p:cNvSpPr>
            <a:spLocks xmlns:a="http://schemas.openxmlformats.org/drawingml/2006/main" noGrp="1"/>
          </p:cNvSpPr>
          <p:nvPr/>
        </p:nvSpPr>
        <p:spPr>
          <a:xfrm xmlns:a="http://schemas.openxmlformats.org/drawingml/2006/main">
            <a:off x="3190875" y="18097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AGE TRACERS</a:t>
            </a:r>
          </a:p>
        </p:txBody>
      </p:sp>
      <p:sp>
        <p:nvSpPr>
          <p:cNvPr id="10" name="">
            <a:extLst xmlns:a="http://schemas.openxmlformats.org/drawingml/2006/main">
              <a:ext uri="{FF2B5EF4-FFF2-40B4-BE49-F238E27FC236}">
                <a16:creationId xmlns:a16="http://schemas.microsoft.com/office/drawing/2014/main" id="{D0800EE7-47DD-483E-B853-F75230FE2DB5}"/>
              </a:ext>
            </a:extLst>
          </p:cNvPr>
          <p:cNvSpPr>
            <a:spLocks xmlns:a="http://schemas.openxmlformats.org/drawingml/2006/main" noGrp="1"/>
          </p:cNvSpPr>
          <p:nvPr/>
        </p:nvSpPr>
        <p:spPr>
          <a:xfrm xmlns:a="http://schemas.openxmlformats.org/drawingml/2006/main">
            <a:off x="5019675" y="1619250"/>
            <a:ext cx="2343150" cy="552450"/>
          </a:xfrm>
          <a:prstGeom xmlns:a="http://schemas.openxmlformats.org/drawingml/2006/main" prst="roundRect">
            <a:avLst>
              <a:gd name="adj" fmla="val 20690"/>
            </a:avLst>
          </a:prstGeom>
          <a:solidFill xmlns:a="http://schemas.openxmlformats.org/drawingml/2006/main">
            <a:srgbClr val="153A6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FA0DDF-9438-4C3E-87BD-767C8C01795D}"/>
              </a:ext>
            </a:extLst>
          </p:cNvPr>
          <p:cNvSpPr>
            <a:spLocks xmlns:a="http://schemas.openxmlformats.org/drawingml/2006/main" noGrp="1"/>
          </p:cNvSpPr>
          <p:nvPr/>
        </p:nvSpPr>
        <p:spPr>
          <a:xfrm xmlns:a="http://schemas.openxmlformats.org/drawingml/2006/main">
            <a:off x="5095875" y="18097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REPEATED HYDRAULICS</a:t>
            </a:r>
          </a:p>
        </p:txBody>
      </p:sp>
      <p:sp>
        <p:nvSpPr>
          <p:cNvPr id="12" name="">
            <a:extLst xmlns:a="http://schemas.openxmlformats.org/drawingml/2006/main">
              <a:ext uri="{FF2B5EF4-FFF2-40B4-BE49-F238E27FC236}">
                <a16:creationId xmlns:a16="http://schemas.microsoft.com/office/drawing/2014/main" id="{C900B01E-E6CD-4F25-8387-BF40A20F5A7E}"/>
              </a:ext>
            </a:extLst>
          </p:cNvPr>
          <p:cNvSpPr>
            <a:spLocks xmlns:a="http://schemas.openxmlformats.org/drawingml/2006/main" noGrp="1"/>
          </p:cNvSpPr>
          <p:nvPr/>
        </p:nvSpPr>
        <p:spPr>
          <a:xfrm xmlns:a="http://schemas.openxmlformats.org/drawingml/2006/main">
            <a:off x="7400925" y="1619250"/>
            <a:ext cx="1866900" cy="552450"/>
          </a:xfrm>
          <a:prstGeom xmlns:a="http://schemas.openxmlformats.org/drawingml/2006/main" prst="roundRect">
            <a:avLst>
              <a:gd name="adj" fmla="val 20690"/>
            </a:avLst>
          </a:prstGeom>
          <a:solidFill xmlns:a="http://schemas.openxmlformats.org/drawingml/2006/main">
            <a:srgbClr val="153A6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1EC553E-D80D-45BD-BD9D-BEFAC0D0F14B}"/>
              </a:ext>
            </a:extLst>
          </p:cNvPr>
          <p:cNvSpPr>
            <a:spLocks xmlns:a="http://schemas.openxmlformats.org/drawingml/2006/main" noGrp="1"/>
          </p:cNvSpPr>
          <p:nvPr/>
        </p:nvSpPr>
        <p:spPr>
          <a:xfrm xmlns:a="http://schemas.openxmlformats.org/drawingml/2006/main">
            <a:off x="7477125" y="18097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CHEMISTRY</a:t>
            </a:r>
          </a:p>
        </p:txBody>
      </p:sp>
      <p:sp>
        <p:nvSpPr>
          <p:cNvPr id="14" name="">
            <a:extLst xmlns:a="http://schemas.openxmlformats.org/drawingml/2006/main">
              <a:ext uri="{FF2B5EF4-FFF2-40B4-BE49-F238E27FC236}">
                <a16:creationId xmlns:a16="http://schemas.microsoft.com/office/drawing/2014/main" id="{3C2E0134-D5A6-4140-80BC-7179B05235D0}"/>
              </a:ext>
            </a:extLst>
          </p:cNvPr>
          <p:cNvSpPr>
            <a:spLocks xmlns:a="http://schemas.openxmlformats.org/drawingml/2006/main" noGrp="1"/>
          </p:cNvSpPr>
          <p:nvPr/>
        </p:nvSpPr>
        <p:spPr>
          <a:xfrm xmlns:a="http://schemas.openxmlformats.org/drawingml/2006/main">
            <a:off x="9305925" y="1619250"/>
            <a:ext cx="2438400" cy="552450"/>
          </a:xfrm>
          <a:prstGeom xmlns:a="http://schemas.openxmlformats.org/drawingml/2006/main" prst="roundRect">
            <a:avLst>
              <a:gd name="adj" fmla="val 20690"/>
            </a:avLst>
          </a:prstGeom>
          <a:solidFill xmlns:a="http://schemas.openxmlformats.org/drawingml/2006/main">
            <a:srgbClr val="153A6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3E7B9D-B6FB-45A5-86F2-0BD49E7E3DDC}"/>
              </a:ext>
            </a:extLst>
          </p:cNvPr>
          <p:cNvSpPr>
            <a:spLocks xmlns:a="http://schemas.openxmlformats.org/drawingml/2006/main" noGrp="1"/>
          </p:cNvSpPr>
          <p:nvPr/>
        </p:nvSpPr>
        <p:spPr>
          <a:xfrm xmlns:a="http://schemas.openxmlformats.org/drawingml/2006/main">
            <a:off x="9382125" y="18097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CONNECTIVITY TRUTH</a:t>
            </a:r>
          </a:p>
        </p:txBody>
      </p:sp>
      <p:sp>
        <p:nvSpPr>
          <p:cNvPr id="16" name="">
            <a:extLst xmlns:a="http://schemas.openxmlformats.org/drawingml/2006/main">
              <a:ext uri="{FF2B5EF4-FFF2-40B4-BE49-F238E27FC236}">
                <a16:creationId xmlns:a16="http://schemas.microsoft.com/office/drawing/2014/main" id="{50FB97ED-D086-4EDF-B4E5-C27A1C09B4DF}"/>
              </a:ext>
            </a:extLst>
          </p:cNvPr>
          <p:cNvSpPr>
            <a:spLocks xmlns:a="http://schemas.openxmlformats.org/drawingml/2006/main" noGrp="1"/>
          </p:cNvSpPr>
          <p:nvPr/>
        </p:nvSpPr>
        <p:spPr>
          <a:xfrm xmlns:a="http://schemas.openxmlformats.org/drawingml/2006/main">
            <a:off x="400050" y="2228850"/>
            <a:ext cx="2676525"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153C9189-BA32-44F4-834F-FE1AEEA3C358}"/>
              </a:ext>
            </a:extLst>
          </p:cNvPr>
          <p:cNvSpPr>
            <a:spLocks xmlns:a="http://schemas.openxmlformats.org/drawingml/2006/main" noGrp="1"/>
          </p:cNvSpPr>
          <p:nvPr/>
        </p:nvSpPr>
        <p:spPr>
          <a:xfrm xmlns:a="http://schemas.openxmlformats.org/drawingml/2006/main">
            <a:off x="476250" y="2400300"/>
            <a:ext cx="2524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11318"/>
                </a:solidFill>
                <a:latin typeface="Helvetica Neue"/>
                <a:ea typeface="Helvetica Neue"/>
                <a:cs typeface="Helvetica Neue"/>
              </a:defRPr>
            </a:pPr>
            <a:r>
              <a:rPr sz="1200" b="1">
                <a:solidFill>
                  <a:srgbClr val="111318"/>
                </a:solidFill>
                <a:latin typeface="Helvetica Neue"/>
                <a:ea typeface="Helvetica Neue"/>
                <a:cs typeface="Helvetica Neue"/>
              </a:rPr>
              <a:t>Public age archive</a:t>
            </a:r>
          </a:p>
        </p:txBody>
      </p:sp>
      <p:sp>
        <p:nvSpPr>
          <p:cNvPr id="18" name="">
            <a:extLst xmlns:a="http://schemas.openxmlformats.org/drawingml/2006/main">
              <a:ext uri="{FF2B5EF4-FFF2-40B4-BE49-F238E27FC236}">
                <a16:creationId xmlns:a16="http://schemas.microsoft.com/office/drawing/2014/main" id="{B61CD9F3-FAC9-4688-B201-51FDAEF20A71}"/>
              </a:ext>
            </a:extLst>
          </p:cNvPr>
          <p:cNvSpPr>
            <a:spLocks xmlns:a="http://schemas.openxmlformats.org/drawingml/2006/main" noGrp="1"/>
          </p:cNvSpPr>
          <p:nvPr/>
        </p:nvSpPr>
        <p:spPr>
          <a:xfrm xmlns:a="http://schemas.openxmlformats.org/drawingml/2006/main">
            <a:off x="3114675" y="2228850"/>
            <a:ext cx="18669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19" name="">
            <a:extLst xmlns:a="http://schemas.openxmlformats.org/drawingml/2006/main">
              <a:ext uri="{FF2B5EF4-FFF2-40B4-BE49-F238E27FC236}">
                <a16:creationId xmlns:a16="http://schemas.microsoft.com/office/drawing/2014/main" id="{AC110004-D111-4044-9B38-E14989B31817}"/>
              </a:ext>
            </a:extLst>
          </p:cNvPr>
          <p:cNvSpPr>
            <a:spLocks xmlns:a="http://schemas.openxmlformats.org/drawingml/2006/main" noGrp="1"/>
          </p:cNvSpPr>
          <p:nvPr/>
        </p:nvSpPr>
        <p:spPr>
          <a:xfrm xmlns:a="http://schemas.openxmlformats.org/drawingml/2006/main">
            <a:off x="3190875" y="24003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124258B2-E98E-4655-A4B6-2D75B5178166}"/>
              </a:ext>
            </a:extLst>
          </p:cNvPr>
          <p:cNvSpPr>
            <a:spLocks xmlns:a="http://schemas.openxmlformats.org/drawingml/2006/main" noGrp="1"/>
          </p:cNvSpPr>
          <p:nvPr/>
        </p:nvSpPr>
        <p:spPr>
          <a:xfrm xmlns:a="http://schemas.openxmlformats.org/drawingml/2006/main">
            <a:off x="5019675" y="2228850"/>
            <a:ext cx="234315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97D41D58-EB95-4DB9-969B-FE06B0CB8173}"/>
              </a:ext>
            </a:extLst>
          </p:cNvPr>
          <p:cNvSpPr>
            <a:spLocks xmlns:a="http://schemas.openxmlformats.org/drawingml/2006/main" noGrp="1"/>
          </p:cNvSpPr>
          <p:nvPr/>
        </p:nvSpPr>
        <p:spPr>
          <a:xfrm xmlns:a="http://schemas.openxmlformats.org/drawingml/2006/main">
            <a:off x="5095875" y="24003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direct heads unavailable</a:t>
            </a:r>
          </a:p>
        </p:txBody>
      </p:sp>
      <p:sp>
        <p:nvSpPr>
          <p:cNvPr id="22" name="">
            <a:extLst xmlns:a="http://schemas.openxmlformats.org/drawingml/2006/main">
              <a:ext uri="{FF2B5EF4-FFF2-40B4-BE49-F238E27FC236}">
                <a16:creationId xmlns:a16="http://schemas.microsoft.com/office/drawing/2014/main" id="{DCD133C6-EB35-4916-8A71-021181685BDE}"/>
              </a:ext>
            </a:extLst>
          </p:cNvPr>
          <p:cNvSpPr>
            <a:spLocks xmlns:a="http://schemas.openxmlformats.org/drawingml/2006/main" noGrp="1"/>
          </p:cNvSpPr>
          <p:nvPr/>
        </p:nvSpPr>
        <p:spPr>
          <a:xfrm xmlns:a="http://schemas.openxmlformats.org/drawingml/2006/main">
            <a:off x="7400925" y="2228850"/>
            <a:ext cx="18669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67ED65A0-C9E9-44F9-8C53-B060CCAA40F0}"/>
              </a:ext>
            </a:extLst>
          </p:cNvPr>
          <p:cNvSpPr>
            <a:spLocks xmlns:a="http://schemas.openxmlformats.org/drawingml/2006/main" noGrp="1"/>
          </p:cNvSpPr>
          <p:nvPr/>
        </p:nvSpPr>
        <p:spPr>
          <a:xfrm xmlns:a="http://schemas.openxmlformats.org/drawingml/2006/main">
            <a:off x="7477125" y="24003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not used</a:t>
            </a:r>
          </a:p>
        </p:txBody>
      </p:sp>
      <p:sp>
        <p:nvSpPr>
          <p:cNvPr id="24" name="">
            <a:extLst xmlns:a="http://schemas.openxmlformats.org/drawingml/2006/main">
              <a:ext uri="{FF2B5EF4-FFF2-40B4-BE49-F238E27FC236}">
                <a16:creationId xmlns:a16="http://schemas.microsoft.com/office/drawing/2014/main" id="{E4E781AF-88C1-4F8F-AE95-2021C92682DC}"/>
              </a:ext>
            </a:extLst>
          </p:cNvPr>
          <p:cNvSpPr>
            <a:spLocks xmlns:a="http://schemas.openxmlformats.org/drawingml/2006/main" noGrp="1"/>
          </p:cNvSpPr>
          <p:nvPr/>
        </p:nvSpPr>
        <p:spPr>
          <a:xfrm xmlns:a="http://schemas.openxmlformats.org/drawingml/2006/main">
            <a:off x="9305925" y="2228850"/>
            <a:ext cx="24384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25" name="">
            <a:extLst xmlns:a="http://schemas.openxmlformats.org/drawingml/2006/main">
              <a:ext uri="{FF2B5EF4-FFF2-40B4-BE49-F238E27FC236}">
                <a16:creationId xmlns:a16="http://schemas.microsoft.com/office/drawing/2014/main" id="{33242794-4832-47EE-B488-6AF49C8F125D}"/>
              </a:ext>
            </a:extLst>
          </p:cNvPr>
          <p:cNvSpPr>
            <a:spLocks xmlns:a="http://schemas.openxmlformats.org/drawingml/2006/main" noGrp="1"/>
          </p:cNvSpPr>
          <p:nvPr/>
        </p:nvSpPr>
        <p:spPr>
          <a:xfrm xmlns:a="http://schemas.openxmlformats.org/drawingml/2006/main">
            <a:off x="9382125" y="24003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26" name="">
            <a:extLst xmlns:a="http://schemas.openxmlformats.org/drawingml/2006/main">
              <a:ext uri="{FF2B5EF4-FFF2-40B4-BE49-F238E27FC236}">
                <a16:creationId xmlns:a16="http://schemas.microsoft.com/office/drawing/2014/main" id="{1D88759C-09F8-4CA0-B114-123B93F8E8C4}"/>
              </a:ext>
            </a:extLst>
          </p:cNvPr>
          <p:cNvSpPr>
            <a:spLocks xmlns:a="http://schemas.openxmlformats.org/drawingml/2006/main" noGrp="1"/>
          </p:cNvSpPr>
          <p:nvPr/>
        </p:nvSpPr>
        <p:spPr>
          <a:xfrm xmlns:a="http://schemas.openxmlformats.org/drawingml/2006/main">
            <a:off x="400050" y="2876550"/>
            <a:ext cx="26765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27" name="">
            <a:extLst xmlns:a="http://schemas.openxmlformats.org/drawingml/2006/main">
              <a:ext uri="{FF2B5EF4-FFF2-40B4-BE49-F238E27FC236}">
                <a16:creationId xmlns:a16="http://schemas.microsoft.com/office/drawing/2014/main" id="{9E375510-1A74-494D-B9F8-0B3C4D2047E0}"/>
              </a:ext>
            </a:extLst>
          </p:cNvPr>
          <p:cNvSpPr>
            <a:spLocks xmlns:a="http://schemas.openxmlformats.org/drawingml/2006/main" noGrp="1"/>
          </p:cNvSpPr>
          <p:nvPr/>
        </p:nvSpPr>
        <p:spPr>
          <a:xfrm xmlns:a="http://schemas.openxmlformats.org/drawingml/2006/main">
            <a:off x="476250" y="3048000"/>
            <a:ext cx="2524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11318"/>
                </a:solidFill>
                <a:latin typeface="Helvetica Neue"/>
                <a:ea typeface="Helvetica Neue"/>
                <a:cs typeface="Helvetica Neue"/>
              </a:defRPr>
            </a:pPr>
            <a:r>
              <a:rPr sz="1200" b="1">
                <a:solidFill>
                  <a:srgbClr val="111318"/>
                </a:solidFill>
                <a:latin typeface="Helvetica Neue"/>
                <a:ea typeface="Helvetica Neue"/>
                <a:cs typeface="Helvetica Neue"/>
              </a:rPr>
              <a:t>MODFLOW / MODPATH</a:t>
            </a:r>
          </a:p>
        </p:txBody>
      </p:sp>
      <p:sp>
        <p:nvSpPr>
          <p:cNvPr id="28" name="">
            <a:extLst xmlns:a="http://schemas.openxmlformats.org/drawingml/2006/main">
              <a:ext uri="{FF2B5EF4-FFF2-40B4-BE49-F238E27FC236}">
                <a16:creationId xmlns:a16="http://schemas.microsoft.com/office/drawing/2014/main" id="{479F6C02-CC26-4C43-BB5B-B07A37618106}"/>
              </a:ext>
            </a:extLst>
          </p:cNvPr>
          <p:cNvSpPr>
            <a:spLocks xmlns:a="http://schemas.openxmlformats.org/drawingml/2006/main" noGrp="1"/>
          </p:cNvSpPr>
          <p:nvPr/>
        </p:nvSpPr>
        <p:spPr>
          <a:xfrm xmlns:a="http://schemas.openxmlformats.org/drawingml/2006/main">
            <a:off x="3114675" y="2876550"/>
            <a:ext cx="18669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29" name="">
            <a:extLst xmlns:a="http://schemas.openxmlformats.org/drawingml/2006/main">
              <a:ext uri="{FF2B5EF4-FFF2-40B4-BE49-F238E27FC236}">
                <a16:creationId xmlns:a16="http://schemas.microsoft.com/office/drawing/2014/main" id="{209432B1-6454-4DAE-82C6-4C5B71BDEC34}"/>
              </a:ext>
            </a:extLst>
          </p:cNvPr>
          <p:cNvSpPr>
            <a:spLocks xmlns:a="http://schemas.openxmlformats.org/drawingml/2006/main" noGrp="1"/>
          </p:cNvSpPr>
          <p:nvPr/>
        </p:nvSpPr>
        <p:spPr>
          <a:xfrm xmlns:a="http://schemas.openxmlformats.org/drawingml/2006/main">
            <a:off x="3190875" y="30480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modelled</a:t>
            </a:r>
          </a:p>
        </p:txBody>
      </p:sp>
      <p:sp>
        <p:nvSpPr>
          <p:cNvPr id="30" name="">
            <a:extLst xmlns:a="http://schemas.openxmlformats.org/drawingml/2006/main">
              <a:ext uri="{FF2B5EF4-FFF2-40B4-BE49-F238E27FC236}">
                <a16:creationId xmlns:a16="http://schemas.microsoft.com/office/drawing/2014/main" id="{04649AC4-C1CD-4F96-A97F-505785523CB6}"/>
              </a:ext>
            </a:extLst>
          </p:cNvPr>
          <p:cNvSpPr>
            <a:spLocks xmlns:a="http://schemas.openxmlformats.org/drawingml/2006/main" noGrp="1"/>
          </p:cNvSpPr>
          <p:nvPr/>
        </p:nvSpPr>
        <p:spPr>
          <a:xfrm xmlns:a="http://schemas.openxmlformats.org/drawingml/2006/main">
            <a:off x="5019675" y="2876550"/>
            <a:ext cx="23431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31" name="">
            <a:extLst xmlns:a="http://schemas.openxmlformats.org/drawingml/2006/main">
              <a:ext uri="{FF2B5EF4-FFF2-40B4-BE49-F238E27FC236}">
                <a16:creationId xmlns:a16="http://schemas.microsoft.com/office/drawing/2014/main" id="{8A75E0F5-FD39-475C-885E-984C38AB3848}"/>
              </a:ext>
            </a:extLst>
          </p:cNvPr>
          <p:cNvSpPr>
            <a:spLocks xmlns:a="http://schemas.openxmlformats.org/drawingml/2006/main" noGrp="1"/>
          </p:cNvSpPr>
          <p:nvPr/>
        </p:nvSpPr>
        <p:spPr>
          <a:xfrm xmlns:a="http://schemas.openxmlformats.org/drawingml/2006/main">
            <a:off x="5095875" y="30480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32" name="">
            <a:extLst xmlns:a="http://schemas.openxmlformats.org/drawingml/2006/main">
              <a:ext uri="{FF2B5EF4-FFF2-40B4-BE49-F238E27FC236}">
                <a16:creationId xmlns:a16="http://schemas.microsoft.com/office/drawing/2014/main" id="{934FDE7A-B549-4D79-B800-731F611E78C5}"/>
              </a:ext>
            </a:extLst>
          </p:cNvPr>
          <p:cNvSpPr>
            <a:spLocks xmlns:a="http://schemas.openxmlformats.org/drawingml/2006/main" noGrp="1"/>
          </p:cNvSpPr>
          <p:nvPr/>
        </p:nvSpPr>
        <p:spPr>
          <a:xfrm xmlns:a="http://schemas.openxmlformats.org/drawingml/2006/main">
            <a:off x="7400925" y="2876550"/>
            <a:ext cx="18669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33" name="">
            <a:extLst xmlns:a="http://schemas.openxmlformats.org/drawingml/2006/main">
              <a:ext uri="{FF2B5EF4-FFF2-40B4-BE49-F238E27FC236}">
                <a16:creationId xmlns:a16="http://schemas.microsoft.com/office/drawing/2014/main" id="{4625DB29-C8C8-421F-8302-978ACE1952CA}"/>
              </a:ext>
            </a:extLst>
          </p:cNvPr>
          <p:cNvSpPr>
            <a:spLocks xmlns:a="http://schemas.openxmlformats.org/drawingml/2006/main" noGrp="1"/>
          </p:cNvSpPr>
          <p:nvPr/>
        </p:nvSpPr>
        <p:spPr>
          <a:xfrm xmlns:a="http://schemas.openxmlformats.org/drawingml/2006/main">
            <a:off x="7477125" y="30480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34" name="">
            <a:extLst xmlns:a="http://schemas.openxmlformats.org/drawingml/2006/main">
              <a:ext uri="{FF2B5EF4-FFF2-40B4-BE49-F238E27FC236}">
                <a16:creationId xmlns:a16="http://schemas.microsoft.com/office/drawing/2014/main" id="{9FB3B2C1-13A3-42AB-AB20-719CFC32D8EE}"/>
              </a:ext>
            </a:extLst>
          </p:cNvPr>
          <p:cNvSpPr>
            <a:spLocks xmlns:a="http://schemas.openxmlformats.org/drawingml/2006/main" noGrp="1"/>
          </p:cNvSpPr>
          <p:nvPr/>
        </p:nvSpPr>
        <p:spPr>
          <a:xfrm xmlns:a="http://schemas.openxmlformats.org/drawingml/2006/main">
            <a:off x="9305925" y="2876550"/>
            <a:ext cx="24384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35" name="">
            <a:extLst xmlns:a="http://schemas.openxmlformats.org/drawingml/2006/main">
              <a:ext uri="{FF2B5EF4-FFF2-40B4-BE49-F238E27FC236}">
                <a16:creationId xmlns:a16="http://schemas.microsoft.com/office/drawing/2014/main" id="{FDF674A4-8B20-4A17-9DDB-478158EA6592}"/>
              </a:ext>
            </a:extLst>
          </p:cNvPr>
          <p:cNvSpPr>
            <a:spLocks xmlns:a="http://schemas.openxmlformats.org/drawingml/2006/main" noGrp="1"/>
          </p:cNvSpPr>
          <p:nvPr/>
        </p:nvSpPr>
        <p:spPr>
          <a:xfrm xmlns:a="http://schemas.openxmlformats.org/drawingml/2006/main">
            <a:off x="9382125" y="30480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model-conditioned</a:t>
            </a:r>
          </a:p>
        </p:txBody>
      </p:sp>
      <p:sp>
        <p:nvSpPr>
          <p:cNvPr id="36" name="">
            <a:extLst xmlns:a="http://schemas.openxmlformats.org/drawingml/2006/main">
              <a:ext uri="{FF2B5EF4-FFF2-40B4-BE49-F238E27FC236}">
                <a16:creationId xmlns:a16="http://schemas.microsoft.com/office/drawing/2014/main" id="{3ACA3A78-3A4F-4680-AB67-937FA045DCBB}"/>
              </a:ext>
            </a:extLst>
          </p:cNvPr>
          <p:cNvSpPr>
            <a:spLocks xmlns:a="http://schemas.openxmlformats.org/drawingml/2006/main" noGrp="1"/>
          </p:cNvSpPr>
          <p:nvPr/>
        </p:nvSpPr>
        <p:spPr>
          <a:xfrm xmlns:a="http://schemas.openxmlformats.org/drawingml/2006/main">
            <a:off x="400050" y="3524250"/>
            <a:ext cx="2676525"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37" name="">
            <a:extLst xmlns:a="http://schemas.openxmlformats.org/drawingml/2006/main">
              <a:ext uri="{FF2B5EF4-FFF2-40B4-BE49-F238E27FC236}">
                <a16:creationId xmlns:a16="http://schemas.microsoft.com/office/drawing/2014/main" id="{0EB9D75E-5E65-4657-9DC8-05B435AF3FC2}"/>
              </a:ext>
            </a:extLst>
          </p:cNvPr>
          <p:cNvSpPr>
            <a:spLocks xmlns:a="http://schemas.openxmlformats.org/drawingml/2006/main" noGrp="1"/>
          </p:cNvSpPr>
          <p:nvPr/>
        </p:nvSpPr>
        <p:spPr>
          <a:xfrm xmlns:a="http://schemas.openxmlformats.org/drawingml/2006/main">
            <a:off x="476250" y="3695700"/>
            <a:ext cx="2524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11318"/>
                </a:solidFill>
                <a:latin typeface="Helvetica Neue"/>
                <a:ea typeface="Helvetica Neue"/>
                <a:cs typeface="Helvetica Neue"/>
              </a:defRPr>
            </a:pPr>
            <a:r>
              <a:rPr sz="1200" b="1">
                <a:solidFill>
                  <a:srgbClr val="111318"/>
                </a:solidFill>
                <a:latin typeface="Helvetica Neue"/>
                <a:ea typeface="Helvetica Neue"/>
                <a:cs typeface="Helvetica Neue"/>
              </a:rPr>
              <a:t>Northern Ghana</a:t>
            </a:r>
          </a:p>
        </p:txBody>
      </p:sp>
      <p:sp>
        <p:nvSpPr>
          <p:cNvPr id="38" name="">
            <a:extLst xmlns:a="http://schemas.openxmlformats.org/drawingml/2006/main">
              <a:ext uri="{FF2B5EF4-FFF2-40B4-BE49-F238E27FC236}">
                <a16:creationId xmlns:a16="http://schemas.microsoft.com/office/drawing/2014/main" id="{A06E494A-E026-4FB3-A99F-C791479CC946}"/>
              </a:ext>
            </a:extLst>
          </p:cNvPr>
          <p:cNvSpPr>
            <a:spLocks xmlns:a="http://schemas.openxmlformats.org/drawingml/2006/main" noGrp="1"/>
          </p:cNvSpPr>
          <p:nvPr/>
        </p:nvSpPr>
        <p:spPr>
          <a:xfrm xmlns:a="http://schemas.openxmlformats.org/drawingml/2006/main">
            <a:off x="3114675" y="3524250"/>
            <a:ext cx="18669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39" name="">
            <a:extLst xmlns:a="http://schemas.openxmlformats.org/drawingml/2006/main">
              <a:ext uri="{FF2B5EF4-FFF2-40B4-BE49-F238E27FC236}">
                <a16:creationId xmlns:a16="http://schemas.microsoft.com/office/drawing/2014/main" id="{229A26A1-0631-4C09-9505-01570E8A366A}"/>
              </a:ext>
            </a:extLst>
          </p:cNvPr>
          <p:cNvSpPr>
            <a:spLocks xmlns:a="http://schemas.openxmlformats.org/drawingml/2006/main" noGrp="1"/>
          </p:cNvSpPr>
          <p:nvPr/>
        </p:nvSpPr>
        <p:spPr>
          <a:xfrm xmlns:a="http://schemas.openxmlformats.org/drawingml/2006/main">
            <a:off x="3190875" y="3695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40" name="">
            <a:extLst xmlns:a="http://schemas.openxmlformats.org/drawingml/2006/main">
              <a:ext uri="{FF2B5EF4-FFF2-40B4-BE49-F238E27FC236}">
                <a16:creationId xmlns:a16="http://schemas.microsoft.com/office/drawing/2014/main" id="{A53054E8-C6B2-4FB3-8C8C-DD72F94F260D}"/>
              </a:ext>
            </a:extLst>
          </p:cNvPr>
          <p:cNvSpPr>
            <a:spLocks xmlns:a="http://schemas.openxmlformats.org/drawingml/2006/main" noGrp="1"/>
          </p:cNvSpPr>
          <p:nvPr/>
        </p:nvSpPr>
        <p:spPr>
          <a:xfrm xmlns:a="http://schemas.openxmlformats.org/drawingml/2006/main">
            <a:off x="5019675" y="3524250"/>
            <a:ext cx="234315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41" name="">
            <a:extLst xmlns:a="http://schemas.openxmlformats.org/drawingml/2006/main">
              <a:ext uri="{FF2B5EF4-FFF2-40B4-BE49-F238E27FC236}">
                <a16:creationId xmlns:a16="http://schemas.microsoft.com/office/drawing/2014/main" id="{3F944A6E-63E4-4F78-A13A-A717068CC137}"/>
              </a:ext>
            </a:extLst>
          </p:cNvPr>
          <p:cNvSpPr>
            <a:spLocks xmlns:a="http://schemas.openxmlformats.org/drawingml/2006/main" noGrp="1"/>
          </p:cNvSpPr>
          <p:nvPr/>
        </p:nvSpPr>
        <p:spPr>
          <a:xfrm xmlns:a="http://schemas.openxmlformats.org/drawingml/2006/main">
            <a:off x="5095875" y="36957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42" name="">
            <a:extLst xmlns:a="http://schemas.openxmlformats.org/drawingml/2006/main">
              <a:ext uri="{FF2B5EF4-FFF2-40B4-BE49-F238E27FC236}">
                <a16:creationId xmlns:a16="http://schemas.microsoft.com/office/drawing/2014/main" id="{48192184-F518-4BD0-B1D2-F27F3DD72B83}"/>
              </a:ext>
            </a:extLst>
          </p:cNvPr>
          <p:cNvSpPr>
            <a:spLocks xmlns:a="http://schemas.openxmlformats.org/drawingml/2006/main" noGrp="1"/>
          </p:cNvSpPr>
          <p:nvPr/>
        </p:nvSpPr>
        <p:spPr>
          <a:xfrm xmlns:a="http://schemas.openxmlformats.org/drawingml/2006/main">
            <a:off x="7400925" y="3524250"/>
            <a:ext cx="18669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43" name="">
            <a:extLst xmlns:a="http://schemas.openxmlformats.org/drawingml/2006/main">
              <a:ext uri="{FF2B5EF4-FFF2-40B4-BE49-F238E27FC236}">
                <a16:creationId xmlns:a16="http://schemas.microsoft.com/office/drawing/2014/main" id="{EF18C3E4-725D-43BF-BEB6-AE8BD9EC4AAE}"/>
              </a:ext>
            </a:extLst>
          </p:cNvPr>
          <p:cNvSpPr>
            <a:spLocks xmlns:a="http://schemas.openxmlformats.org/drawingml/2006/main" noGrp="1"/>
          </p:cNvSpPr>
          <p:nvPr/>
        </p:nvSpPr>
        <p:spPr>
          <a:xfrm xmlns:a="http://schemas.openxmlformats.org/drawingml/2006/main">
            <a:off x="7477125" y="3695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44" name="">
            <a:extLst xmlns:a="http://schemas.openxmlformats.org/drawingml/2006/main">
              <a:ext uri="{FF2B5EF4-FFF2-40B4-BE49-F238E27FC236}">
                <a16:creationId xmlns:a16="http://schemas.microsoft.com/office/drawing/2014/main" id="{646DF74E-141E-4D30-9060-26792BE30C46}"/>
              </a:ext>
            </a:extLst>
          </p:cNvPr>
          <p:cNvSpPr>
            <a:spLocks xmlns:a="http://schemas.openxmlformats.org/drawingml/2006/main" noGrp="1"/>
          </p:cNvSpPr>
          <p:nvPr/>
        </p:nvSpPr>
        <p:spPr>
          <a:xfrm xmlns:a="http://schemas.openxmlformats.org/drawingml/2006/main">
            <a:off x="9305925" y="3524250"/>
            <a:ext cx="24384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45" name="">
            <a:extLst xmlns:a="http://schemas.openxmlformats.org/drawingml/2006/main">
              <a:ext uri="{FF2B5EF4-FFF2-40B4-BE49-F238E27FC236}">
                <a16:creationId xmlns:a16="http://schemas.microsoft.com/office/drawing/2014/main" id="{C481EAD9-74B7-4A03-AF16-29381E604557}"/>
              </a:ext>
            </a:extLst>
          </p:cNvPr>
          <p:cNvSpPr>
            <a:spLocks xmlns:a="http://schemas.openxmlformats.org/drawingml/2006/main" noGrp="1"/>
          </p:cNvSpPr>
          <p:nvPr/>
        </p:nvSpPr>
        <p:spPr>
          <a:xfrm xmlns:a="http://schemas.openxmlformats.org/drawingml/2006/main">
            <a:off x="9382125" y="36957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46" name="">
            <a:extLst xmlns:a="http://schemas.openxmlformats.org/drawingml/2006/main">
              <a:ext uri="{FF2B5EF4-FFF2-40B4-BE49-F238E27FC236}">
                <a16:creationId xmlns:a16="http://schemas.microsoft.com/office/drawing/2014/main" id="{CE90BBC9-AD75-4D80-A191-55D9793C2E7D}"/>
              </a:ext>
            </a:extLst>
          </p:cNvPr>
          <p:cNvSpPr>
            <a:spLocks xmlns:a="http://schemas.openxmlformats.org/drawingml/2006/main" noGrp="1"/>
          </p:cNvSpPr>
          <p:nvPr/>
        </p:nvSpPr>
        <p:spPr>
          <a:xfrm xmlns:a="http://schemas.openxmlformats.org/drawingml/2006/main">
            <a:off x="400050" y="4171950"/>
            <a:ext cx="26765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47" name="">
            <a:extLst xmlns:a="http://schemas.openxmlformats.org/drawingml/2006/main">
              <a:ext uri="{FF2B5EF4-FFF2-40B4-BE49-F238E27FC236}">
                <a16:creationId xmlns:a16="http://schemas.microsoft.com/office/drawing/2014/main" id="{CF86104E-1F16-4564-BBAD-82E6DC526806}"/>
              </a:ext>
            </a:extLst>
          </p:cNvPr>
          <p:cNvSpPr>
            <a:spLocks xmlns:a="http://schemas.openxmlformats.org/drawingml/2006/main" noGrp="1"/>
          </p:cNvSpPr>
          <p:nvPr/>
        </p:nvSpPr>
        <p:spPr>
          <a:xfrm xmlns:a="http://schemas.openxmlformats.org/drawingml/2006/main">
            <a:off x="476250" y="4343400"/>
            <a:ext cx="2524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11318"/>
                </a:solidFill>
                <a:latin typeface="Helvetica Neue"/>
                <a:ea typeface="Helvetica Neue"/>
                <a:cs typeface="Helvetica Neue"/>
              </a:defRPr>
            </a:pPr>
            <a:r>
              <a:rPr sz="1200" b="1">
                <a:solidFill>
                  <a:srgbClr val="111318"/>
                </a:solidFill>
                <a:latin typeface="Helvetica Neue"/>
                <a:ea typeface="Helvetica Neue"/>
                <a:cs typeface="Helvetica Neue"/>
              </a:rPr>
              <a:t>Talensi / Lower Anayari</a:t>
            </a:r>
          </a:p>
        </p:txBody>
      </p:sp>
      <p:sp>
        <p:nvSpPr>
          <p:cNvPr id="48" name="">
            <a:extLst xmlns:a="http://schemas.openxmlformats.org/drawingml/2006/main">
              <a:ext uri="{FF2B5EF4-FFF2-40B4-BE49-F238E27FC236}">
                <a16:creationId xmlns:a16="http://schemas.microsoft.com/office/drawing/2014/main" id="{A6F6C9F4-D7A9-4279-A305-843652C0D396}"/>
              </a:ext>
            </a:extLst>
          </p:cNvPr>
          <p:cNvSpPr>
            <a:spLocks xmlns:a="http://schemas.openxmlformats.org/drawingml/2006/main" noGrp="1"/>
          </p:cNvSpPr>
          <p:nvPr/>
        </p:nvSpPr>
        <p:spPr>
          <a:xfrm xmlns:a="http://schemas.openxmlformats.org/drawingml/2006/main">
            <a:off x="3114675" y="4171950"/>
            <a:ext cx="18669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49" name="">
            <a:extLst xmlns:a="http://schemas.openxmlformats.org/drawingml/2006/main">
              <a:ext uri="{FF2B5EF4-FFF2-40B4-BE49-F238E27FC236}">
                <a16:creationId xmlns:a16="http://schemas.microsoft.com/office/drawing/2014/main" id="{77A2106A-29C9-48A7-B14D-BF59BD1D2C19}"/>
              </a:ext>
            </a:extLst>
          </p:cNvPr>
          <p:cNvSpPr>
            <a:spLocks xmlns:a="http://schemas.openxmlformats.org/drawingml/2006/main" noGrp="1"/>
          </p:cNvSpPr>
          <p:nvPr/>
        </p:nvSpPr>
        <p:spPr>
          <a:xfrm xmlns:a="http://schemas.openxmlformats.org/drawingml/2006/main">
            <a:off x="3190875" y="43434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50" name="">
            <a:extLst xmlns:a="http://schemas.openxmlformats.org/drawingml/2006/main">
              <a:ext uri="{FF2B5EF4-FFF2-40B4-BE49-F238E27FC236}">
                <a16:creationId xmlns:a16="http://schemas.microsoft.com/office/drawing/2014/main" id="{39B880AD-5F81-4B6D-98D6-2844678E5628}"/>
              </a:ext>
            </a:extLst>
          </p:cNvPr>
          <p:cNvSpPr>
            <a:spLocks xmlns:a="http://schemas.openxmlformats.org/drawingml/2006/main" noGrp="1"/>
          </p:cNvSpPr>
          <p:nvPr/>
        </p:nvSpPr>
        <p:spPr>
          <a:xfrm xmlns:a="http://schemas.openxmlformats.org/drawingml/2006/main">
            <a:off x="5019675" y="4171950"/>
            <a:ext cx="23431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51" name="">
            <a:extLst xmlns:a="http://schemas.openxmlformats.org/drawingml/2006/main">
              <a:ext uri="{FF2B5EF4-FFF2-40B4-BE49-F238E27FC236}">
                <a16:creationId xmlns:a16="http://schemas.microsoft.com/office/drawing/2014/main" id="{8047A1BA-32E4-4A18-B793-187AF4C6677C}"/>
              </a:ext>
            </a:extLst>
          </p:cNvPr>
          <p:cNvSpPr>
            <a:spLocks xmlns:a="http://schemas.openxmlformats.org/drawingml/2006/main" noGrp="1"/>
          </p:cNvSpPr>
          <p:nvPr/>
        </p:nvSpPr>
        <p:spPr>
          <a:xfrm xmlns:a="http://schemas.openxmlformats.org/drawingml/2006/main">
            <a:off x="5095875" y="43434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52" name="">
            <a:extLst xmlns:a="http://schemas.openxmlformats.org/drawingml/2006/main">
              <a:ext uri="{FF2B5EF4-FFF2-40B4-BE49-F238E27FC236}">
                <a16:creationId xmlns:a16="http://schemas.microsoft.com/office/drawing/2014/main" id="{6DD0A267-80ED-493B-BEEA-7EA0D54EE030}"/>
              </a:ext>
            </a:extLst>
          </p:cNvPr>
          <p:cNvSpPr>
            <a:spLocks xmlns:a="http://schemas.openxmlformats.org/drawingml/2006/main" noGrp="1"/>
          </p:cNvSpPr>
          <p:nvPr/>
        </p:nvSpPr>
        <p:spPr>
          <a:xfrm xmlns:a="http://schemas.openxmlformats.org/drawingml/2006/main">
            <a:off x="7400925" y="4171950"/>
            <a:ext cx="18669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53" name="">
            <a:extLst xmlns:a="http://schemas.openxmlformats.org/drawingml/2006/main">
              <a:ext uri="{FF2B5EF4-FFF2-40B4-BE49-F238E27FC236}">
                <a16:creationId xmlns:a16="http://schemas.microsoft.com/office/drawing/2014/main" id="{A604DEC8-917A-4EBC-AE8B-1C4E252DAE31}"/>
              </a:ext>
            </a:extLst>
          </p:cNvPr>
          <p:cNvSpPr>
            <a:spLocks xmlns:a="http://schemas.openxmlformats.org/drawingml/2006/main" noGrp="1"/>
          </p:cNvSpPr>
          <p:nvPr/>
        </p:nvSpPr>
        <p:spPr>
          <a:xfrm xmlns:a="http://schemas.openxmlformats.org/drawingml/2006/main">
            <a:off x="7477125" y="43434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54" name="">
            <a:extLst xmlns:a="http://schemas.openxmlformats.org/drawingml/2006/main">
              <a:ext uri="{FF2B5EF4-FFF2-40B4-BE49-F238E27FC236}">
                <a16:creationId xmlns:a16="http://schemas.microsoft.com/office/drawing/2014/main" id="{6347E129-099B-4915-BC20-E6219FEF5FB0}"/>
              </a:ext>
            </a:extLst>
          </p:cNvPr>
          <p:cNvSpPr>
            <a:spLocks xmlns:a="http://schemas.openxmlformats.org/drawingml/2006/main" noGrp="1"/>
          </p:cNvSpPr>
          <p:nvPr/>
        </p:nvSpPr>
        <p:spPr>
          <a:xfrm xmlns:a="http://schemas.openxmlformats.org/drawingml/2006/main">
            <a:off x="9305925" y="4171950"/>
            <a:ext cx="24384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B8BCC4"/>
            </a:solidFill>
            <a:prstDash val="solid"/>
          </a:ln>
        </p:spPr>
      </p:sp>
      <p:sp>
        <p:nvSpPr>
          <p:cNvPr id="55" name="">
            <a:extLst xmlns:a="http://schemas.openxmlformats.org/drawingml/2006/main">
              <a:ext uri="{FF2B5EF4-FFF2-40B4-BE49-F238E27FC236}">
                <a16:creationId xmlns:a16="http://schemas.microsoft.com/office/drawing/2014/main" id="{BD40474F-0777-443D-9F2E-B750D0B7D947}"/>
              </a:ext>
            </a:extLst>
          </p:cNvPr>
          <p:cNvSpPr>
            <a:spLocks xmlns:a="http://schemas.openxmlformats.org/drawingml/2006/main" noGrp="1"/>
          </p:cNvSpPr>
          <p:nvPr/>
        </p:nvSpPr>
        <p:spPr>
          <a:xfrm xmlns:a="http://schemas.openxmlformats.org/drawingml/2006/main">
            <a:off x="9382125" y="43434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C53030"/>
                </a:solidFill>
                <a:latin typeface="Helvetica Neue"/>
                <a:ea typeface="Helvetica Neue"/>
                <a:cs typeface="Helvetica Neue"/>
              </a:defRPr>
            </a:pPr>
            <a:r>
              <a:rPr sz="1200" b="0">
                <a:solidFill>
                  <a:srgbClr val="C53030"/>
                </a:solidFill>
                <a:latin typeface="Helvetica Neue"/>
                <a:ea typeface="Helvetica Neue"/>
                <a:cs typeface="Helvetica Neue"/>
              </a:rPr>
              <a:t>—</a:t>
            </a:r>
          </a:p>
        </p:txBody>
      </p:sp>
      <p:sp>
        <p:nvSpPr>
          <p:cNvPr id="56" name="">
            <a:extLst xmlns:a="http://schemas.openxmlformats.org/drawingml/2006/main">
              <a:ext uri="{FF2B5EF4-FFF2-40B4-BE49-F238E27FC236}">
                <a16:creationId xmlns:a16="http://schemas.microsoft.com/office/drawing/2014/main" id="{C9A36905-A55F-4BC3-A153-DA6C8CB9B9E1}"/>
              </a:ext>
            </a:extLst>
          </p:cNvPr>
          <p:cNvSpPr>
            <a:spLocks xmlns:a="http://schemas.openxmlformats.org/drawingml/2006/main" noGrp="1"/>
          </p:cNvSpPr>
          <p:nvPr/>
        </p:nvSpPr>
        <p:spPr>
          <a:xfrm xmlns:a="http://schemas.openxmlformats.org/drawingml/2006/main">
            <a:off x="400050" y="4819650"/>
            <a:ext cx="2676525"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57" name="">
            <a:extLst xmlns:a="http://schemas.openxmlformats.org/drawingml/2006/main">
              <a:ext uri="{FF2B5EF4-FFF2-40B4-BE49-F238E27FC236}">
                <a16:creationId xmlns:a16="http://schemas.microsoft.com/office/drawing/2014/main" id="{609151FE-2133-40DE-918D-CEC5DF8C5445}"/>
              </a:ext>
            </a:extLst>
          </p:cNvPr>
          <p:cNvSpPr>
            <a:spLocks xmlns:a="http://schemas.openxmlformats.org/drawingml/2006/main" noGrp="1"/>
          </p:cNvSpPr>
          <p:nvPr/>
        </p:nvSpPr>
        <p:spPr>
          <a:xfrm xmlns:a="http://schemas.openxmlformats.org/drawingml/2006/main">
            <a:off x="476250" y="4991100"/>
            <a:ext cx="2524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11318"/>
                </a:solidFill>
                <a:latin typeface="Helvetica Neue"/>
                <a:ea typeface="Helvetica Neue"/>
                <a:cs typeface="Helvetica Neue"/>
              </a:defRPr>
            </a:pPr>
            <a:r>
              <a:rPr sz="1200" b="1">
                <a:solidFill>
                  <a:srgbClr val="111318"/>
                </a:solidFill>
                <a:latin typeface="Helvetica Neue"/>
                <a:ea typeface="Helvetica Neue"/>
                <a:cs typeface="Helvetica Neue"/>
              </a:rPr>
              <a:t>Controlled integration generator</a:t>
            </a:r>
          </a:p>
        </p:txBody>
      </p:sp>
      <p:sp>
        <p:nvSpPr>
          <p:cNvPr id="58" name="">
            <a:extLst xmlns:a="http://schemas.openxmlformats.org/drawingml/2006/main">
              <a:ext uri="{FF2B5EF4-FFF2-40B4-BE49-F238E27FC236}">
                <a16:creationId xmlns:a16="http://schemas.microsoft.com/office/drawing/2014/main" id="{73728A5F-76FF-42EC-BBBE-F694F95D3DF5}"/>
              </a:ext>
            </a:extLst>
          </p:cNvPr>
          <p:cNvSpPr>
            <a:spLocks xmlns:a="http://schemas.openxmlformats.org/drawingml/2006/main" noGrp="1"/>
          </p:cNvSpPr>
          <p:nvPr/>
        </p:nvSpPr>
        <p:spPr>
          <a:xfrm xmlns:a="http://schemas.openxmlformats.org/drawingml/2006/main">
            <a:off x="3114675" y="4819650"/>
            <a:ext cx="18669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59" name="">
            <a:extLst xmlns:a="http://schemas.openxmlformats.org/drawingml/2006/main">
              <a:ext uri="{FF2B5EF4-FFF2-40B4-BE49-F238E27FC236}">
                <a16:creationId xmlns:a16="http://schemas.microsoft.com/office/drawing/2014/main" id="{51630D7B-10ED-444D-8EAD-2ED494E8BA9E}"/>
              </a:ext>
            </a:extLst>
          </p:cNvPr>
          <p:cNvSpPr>
            <a:spLocks xmlns:a="http://schemas.openxmlformats.org/drawingml/2006/main" noGrp="1"/>
          </p:cNvSpPr>
          <p:nvPr/>
        </p:nvSpPr>
        <p:spPr>
          <a:xfrm xmlns:a="http://schemas.openxmlformats.org/drawingml/2006/main">
            <a:off x="3190875" y="49911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60" name="">
            <a:extLst xmlns:a="http://schemas.openxmlformats.org/drawingml/2006/main">
              <a:ext uri="{FF2B5EF4-FFF2-40B4-BE49-F238E27FC236}">
                <a16:creationId xmlns:a16="http://schemas.microsoft.com/office/drawing/2014/main" id="{D65390CB-072A-4829-A0D2-29A221B282D9}"/>
              </a:ext>
            </a:extLst>
          </p:cNvPr>
          <p:cNvSpPr>
            <a:spLocks xmlns:a="http://schemas.openxmlformats.org/drawingml/2006/main" noGrp="1"/>
          </p:cNvSpPr>
          <p:nvPr/>
        </p:nvSpPr>
        <p:spPr>
          <a:xfrm xmlns:a="http://schemas.openxmlformats.org/drawingml/2006/main">
            <a:off x="5019675" y="4819650"/>
            <a:ext cx="234315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61" name="">
            <a:extLst xmlns:a="http://schemas.openxmlformats.org/drawingml/2006/main">
              <a:ext uri="{FF2B5EF4-FFF2-40B4-BE49-F238E27FC236}">
                <a16:creationId xmlns:a16="http://schemas.microsoft.com/office/drawing/2014/main" id="{92C9749A-97BC-44B8-BF30-E70FD4FF8C2C}"/>
              </a:ext>
            </a:extLst>
          </p:cNvPr>
          <p:cNvSpPr>
            <a:spLocks xmlns:a="http://schemas.openxmlformats.org/drawingml/2006/main" noGrp="1"/>
          </p:cNvSpPr>
          <p:nvPr/>
        </p:nvSpPr>
        <p:spPr>
          <a:xfrm xmlns:a="http://schemas.openxmlformats.org/drawingml/2006/main">
            <a:off x="5095875" y="49911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62" name="">
            <a:extLst xmlns:a="http://schemas.openxmlformats.org/drawingml/2006/main">
              <a:ext uri="{FF2B5EF4-FFF2-40B4-BE49-F238E27FC236}">
                <a16:creationId xmlns:a16="http://schemas.microsoft.com/office/drawing/2014/main" id="{EC969632-B806-48CF-9163-E9A4673B7A28}"/>
              </a:ext>
            </a:extLst>
          </p:cNvPr>
          <p:cNvSpPr>
            <a:spLocks xmlns:a="http://schemas.openxmlformats.org/drawingml/2006/main" noGrp="1"/>
          </p:cNvSpPr>
          <p:nvPr/>
        </p:nvSpPr>
        <p:spPr>
          <a:xfrm xmlns:a="http://schemas.openxmlformats.org/drawingml/2006/main">
            <a:off x="7400925" y="4819650"/>
            <a:ext cx="18669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63" name="">
            <a:extLst xmlns:a="http://schemas.openxmlformats.org/drawingml/2006/main">
              <a:ext uri="{FF2B5EF4-FFF2-40B4-BE49-F238E27FC236}">
                <a16:creationId xmlns:a16="http://schemas.microsoft.com/office/drawing/2014/main" id="{B18D5D36-61F6-4A02-B58D-ED8077FA9729}"/>
              </a:ext>
            </a:extLst>
          </p:cNvPr>
          <p:cNvSpPr>
            <a:spLocks xmlns:a="http://schemas.openxmlformats.org/drawingml/2006/main" noGrp="1"/>
          </p:cNvSpPr>
          <p:nvPr/>
        </p:nvSpPr>
        <p:spPr>
          <a:xfrm xmlns:a="http://schemas.openxmlformats.org/drawingml/2006/main">
            <a:off x="7477125" y="49911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a:t>
            </a:r>
          </a:p>
        </p:txBody>
      </p:sp>
      <p:sp>
        <p:nvSpPr>
          <p:cNvPr id="64" name="">
            <a:extLst xmlns:a="http://schemas.openxmlformats.org/drawingml/2006/main">
              <a:ext uri="{FF2B5EF4-FFF2-40B4-BE49-F238E27FC236}">
                <a16:creationId xmlns:a16="http://schemas.microsoft.com/office/drawing/2014/main" id="{7CE88BEF-5ECA-4100-B4FC-B54A99764FDE}"/>
              </a:ext>
            </a:extLst>
          </p:cNvPr>
          <p:cNvSpPr>
            <a:spLocks xmlns:a="http://schemas.openxmlformats.org/drawingml/2006/main" noGrp="1"/>
          </p:cNvSpPr>
          <p:nvPr/>
        </p:nvSpPr>
        <p:spPr>
          <a:xfrm xmlns:a="http://schemas.openxmlformats.org/drawingml/2006/main">
            <a:off x="9305925" y="4819650"/>
            <a:ext cx="2438400" cy="552450"/>
          </a:xfrm>
          <a:prstGeom xmlns:a="http://schemas.openxmlformats.org/drawingml/2006/main" prst="roundRect">
            <a:avLst>
              <a:gd name="adj" fmla="val 20690"/>
            </a:avLst>
          </a:prstGeom>
          <a:solidFill xmlns:a="http://schemas.openxmlformats.org/drawingml/2006/main">
            <a:srgbClr val="F2F3F5"/>
          </a:solidFill>
          <a:ln xmlns:a="http://schemas.openxmlformats.org/drawingml/2006/main" w="9525">
            <a:solidFill>
              <a:srgbClr val="B8BCC4"/>
            </a:solidFill>
            <a:prstDash val="solid"/>
          </a:ln>
        </p:spPr>
      </p:sp>
      <p:sp>
        <p:nvSpPr>
          <p:cNvPr id="65" name="">
            <a:extLst xmlns:a="http://schemas.openxmlformats.org/drawingml/2006/main">
              <a:ext uri="{FF2B5EF4-FFF2-40B4-BE49-F238E27FC236}">
                <a16:creationId xmlns:a16="http://schemas.microsoft.com/office/drawing/2014/main" id="{B199FF5B-4BDD-422B-AD61-74C8240EBA8D}"/>
              </a:ext>
            </a:extLst>
          </p:cNvPr>
          <p:cNvSpPr>
            <a:spLocks xmlns:a="http://schemas.openxmlformats.org/drawingml/2006/main" noGrp="1"/>
          </p:cNvSpPr>
          <p:nvPr/>
        </p:nvSpPr>
        <p:spPr>
          <a:xfrm xmlns:a="http://schemas.openxmlformats.org/drawingml/2006/main">
            <a:off x="9382125" y="49911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111318"/>
                </a:solidFill>
                <a:latin typeface="Helvetica Neue"/>
                <a:ea typeface="Helvetica Neue"/>
                <a:cs typeface="Helvetica Neue"/>
              </a:defRPr>
            </a:pPr>
            <a:r>
              <a:rPr sz="1200" b="0">
                <a:solidFill>
                  <a:srgbClr val="111318"/>
                </a:solidFill>
                <a:latin typeface="Helvetica Neue"/>
                <a:ea typeface="Helvetica Neue"/>
                <a:cs typeface="Helvetica Neue"/>
              </a:rPr>
              <a:t>✓ planted</a:t>
            </a:r>
          </a:p>
        </p:txBody>
      </p:sp>
      <p:sp>
        <p:nvSpPr>
          <p:cNvPr id="66" name="">
            <a:extLst xmlns:a="http://schemas.openxmlformats.org/drawingml/2006/main">
              <a:ext uri="{FF2B5EF4-FFF2-40B4-BE49-F238E27FC236}">
                <a16:creationId xmlns:a16="http://schemas.microsoft.com/office/drawing/2014/main" id="{853995EA-BD87-4C81-A00F-C6DDFD8DA27D}"/>
              </a:ext>
            </a:extLst>
          </p:cNvPr>
          <p:cNvSpPr>
            <a:spLocks xmlns:a="http://schemas.openxmlformats.org/drawingml/2006/main" noGrp="1"/>
          </p:cNvSpPr>
          <p:nvPr/>
        </p:nvSpPr>
        <p:spPr>
          <a:xfrm xmlns:a="http://schemas.openxmlformats.org/drawingml/2006/main">
            <a:off x="400050" y="5715000"/>
            <a:ext cx="1139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C53030"/>
                </a:solidFill>
                <a:latin typeface="Helvetica Neue"/>
                <a:ea typeface="Helvetica Neue"/>
                <a:cs typeface="Helvetica Neue"/>
              </a:defRPr>
            </a:pPr>
            <a:r>
              <a:rPr sz="1650" b="1">
                <a:solidFill>
                  <a:srgbClr val="C53030"/>
                </a:solidFill>
                <a:latin typeface="Helvetica Neue"/>
                <a:ea typeface="Helvetica Neue"/>
                <a:cs typeface="Helvetica Neue"/>
              </a:rPr>
              <a:t>Therefore: controlled known-truth integration + field supportability, not end-to-end field validation.</a:t>
            </a:r>
          </a:p>
        </p:txBody>
      </p:sp>
    </p:spTree>
    <p:extLst>
      <p:ext uri="{BB962C8B-B14F-4D97-AF65-F5344CB8AC3E}">
        <p14:creationId xmlns:p14="http://schemas.microsoft.com/office/powerpoint/2010/main" val="14921326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795FD59-DA64-421F-9992-32860D580F63}"/>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ADVERSE CONTROLS</a:t>
            </a:r>
          </a:p>
        </p:txBody>
      </p:sp>
      <p:sp>
        <p:nvSpPr>
          <p:cNvPr id="2" name="">
            <a:extLst xmlns:a="http://schemas.openxmlformats.org/drawingml/2006/main">
              <a:ext uri="{FF2B5EF4-FFF2-40B4-BE49-F238E27FC236}">
                <a16:creationId xmlns:a16="http://schemas.microsoft.com/office/drawing/2014/main" id="{BEBDCF57-4843-47DD-A9E4-1A4C095F4C2B}"/>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Reduced uncertainty can mean confident error</a:t>
            </a:r>
          </a:p>
        </p:txBody>
      </p:sp>
      <p:sp>
        <p:nvSpPr>
          <p:cNvPr id="3" name="">
            <a:extLst xmlns:a="http://schemas.openxmlformats.org/drawingml/2006/main">
              <a:ext uri="{FF2B5EF4-FFF2-40B4-BE49-F238E27FC236}">
                <a16:creationId xmlns:a16="http://schemas.microsoft.com/office/drawing/2014/main" id="{6D8639A4-2BA1-4739-8A2A-F03DC4455749}"/>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9EE719D-BFA5-4189-9897-D075F9C4444F}"/>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48A22AF7-C78A-41C8-917D-87FB8CE65D73}"/>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25</a:t>
            </a:r>
          </a:p>
        </p:txBody>
      </p:sp>
      <p:sp>
        <p:nvSpPr>
          <p:cNvPr id="6" name="">
            <a:extLst xmlns:a="http://schemas.openxmlformats.org/drawingml/2006/main">
              <a:ext uri="{FF2B5EF4-FFF2-40B4-BE49-F238E27FC236}">
                <a16:creationId xmlns:a16="http://schemas.microsoft.com/office/drawing/2014/main" id="{867319C4-9E5C-4BF6-868E-305511F4649C}"/>
              </a:ext>
            </a:extLst>
          </p:cNvPr>
          <p:cNvSpPr>
            <a:spLocks xmlns:a="http://schemas.openxmlformats.org/drawingml/2006/main" noGrp="1"/>
          </p:cNvSpPr>
          <p:nvPr/>
        </p:nvSpPr>
        <p:spPr>
          <a:xfrm xmlns:a="http://schemas.openxmlformats.org/drawingml/2006/main">
            <a:off x="400050" y="1809750"/>
            <a:ext cx="3543300" cy="2952750"/>
          </a:xfrm>
          <a:prstGeom xmlns:a="http://schemas.openxmlformats.org/drawingml/2006/main" prst="roundRect">
            <a:avLst>
              <a:gd name="adj" fmla="val 3871"/>
            </a:avLst>
          </a:prstGeom>
          <a:solidFill xmlns:a="http://schemas.openxmlformats.org/drawingml/2006/main">
            <a:srgbClr val="FFF3D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FD28EE6-D1BB-4CAC-A653-4CA7DA5DD56A}"/>
              </a:ext>
            </a:extLst>
          </p:cNvPr>
          <p:cNvSpPr>
            <a:spLocks xmlns:a="http://schemas.openxmlformats.org/drawingml/2006/main" noGrp="1"/>
          </p:cNvSpPr>
          <p:nvPr/>
        </p:nvSpPr>
        <p:spPr>
          <a:xfrm xmlns:a="http://schemas.openxmlformats.org/drawingml/2006/main">
            <a:off x="628650" y="2095500"/>
            <a:ext cx="308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D97706"/>
                </a:solidFill>
                <a:latin typeface="Helvetica Neue"/>
                <a:ea typeface="Helvetica Neue"/>
                <a:cs typeface="Helvetica Neue"/>
              </a:defRPr>
            </a:pPr>
            <a:r>
              <a:rPr sz="1350" b="1">
                <a:solidFill>
                  <a:srgbClr val="D97706"/>
                </a:solidFill>
                <a:latin typeface="Helvetica Neue"/>
                <a:ea typeface="Helvetica Neue"/>
                <a:cs typeface="Helvetica Neue"/>
              </a:rPr>
              <a:t>PERMUTED AGE</a:t>
            </a:r>
          </a:p>
        </p:txBody>
      </p:sp>
      <p:sp>
        <p:nvSpPr>
          <p:cNvPr id="8" name="">
            <a:extLst xmlns:a="http://schemas.openxmlformats.org/drawingml/2006/main">
              <a:ext uri="{FF2B5EF4-FFF2-40B4-BE49-F238E27FC236}">
                <a16:creationId xmlns:a16="http://schemas.microsoft.com/office/drawing/2014/main" id="{F8FBCA4B-1C49-433A-B8A5-63BFDB3D15A4}"/>
              </a:ext>
            </a:extLst>
          </p:cNvPr>
          <p:cNvSpPr>
            <a:spLocks xmlns:a="http://schemas.openxmlformats.org/drawingml/2006/main" noGrp="1"/>
          </p:cNvSpPr>
          <p:nvPr/>
        </p:nvSpPr>
        <p:spPr>
          <a:xfrm xmlns:a="http://schemas.openxmlformats.org/drawingml/2006/main">
            <a:off x="628650" y="28384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MORE CERTAIN</a:t>
            </a:r>
          </a:p>
        </p:txBody>
      </p:sp>
      <p:sp>
        <p:nvSpPr>
          <p:cNvPr id="9" name="">
            <a:extLst xmlns:a="http://schemas.openxmlformats.org/drawingml/2006/main">
              <a:ext uri="{FF2B5EF4-FFF2-40B4-BE49-F238E27FC236}">
                <a16:creationId xmlns:a16="http://schemas.microsoft.com/office/drawing/2014/main" id="{D1DACF64-FC7A-4F68-9C17-612DC5212EEA}"/>
              </a:ext>
            </a:extLst>
          </p:cNvPr>
          <p:cNvSpPr>
            <a:spLocks xmlns:a="http://schemas.openxmlformats.org/drawingml/2006/main" noGrp="1"/>
          </p:cNvSpPr>
          <p:nvPr/>
        </p:nvSpPr>
        <p:spPr>
          <a:xfrm xmlns:a="http://schemas.openxmlformats.org/drawingml/2006/main">
            <a:off x="628650" y="3219450"/>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Entropy −0.0207</a:t>
            </a:r>
          </a:p>
        </p:txBody>
      </p:sp>
      <p:sp>
        <p:nvSpPr>
          <p:cNvPr id="10" name="">
            <a:extLst xmlns:a="http://schemas.openxmlformats.org/drawingml/2006/main">
              <a:ext uri="{FF2B5EF4-FFF2-40B4-BE49-F238E27FC236}">
                <a16:creationId xmlns:a16="http://schemas.microsoft.com/office/drawing/2014/main" id="{51477764-B304-4C56-8084-5383A5CC4BDC}"/>
              </a:ext>
            </a:extLst>
          </p:cNvPr>
          <p:cNvSpPr>
            <a:spLocks xmlns:a="http://schemas.openxmlformats.org/drawingml/2006/main" noGrp="1"/>
          </p:cNvSpPr>
          <p:nvPr/>
        </p:nvSpPr>
        <p:spPr>
          <a:xfrm xmlns:a="http://schemas.openxmlformats.org/drawingml/2006/main">
            <a:off x="628650" y="3876675"/>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C53030"/>
                </a:solidFill>
                <a:latin typeface="Helvetica Neue"/>
                <a:ea typeface="Helvetica Neue"/>
                <a:cs typeface="Helvetica Neue"/>
              </a:defRPr>
            </a:pPr>
            <a:r>
              <a:rPr sz="1275" b="1">
                <a:solidFill>
                  <a:srgbClr val="C53030"/>
                </a:solidFill>
                <a:latin typeface="Helvetica Neue"/>
                <a:ea typeface="Helvetica Neue"/>
                <a:cs typeface="Helvetica Neue"/>
              </a:rPr>
              <a:t>BUT WORSE</a:t>
            </a:r>
          </a:p>
        </p:txBody>
      </p:sp>
      <p:sp>
        <p:nvSpPr>
          <p:cNvPr id="11" name="">
            <a:extLst xmlns:a="http://schemas.openxmlformats.org/drawingml/2006/main">
              <a:ext uri="{FF2B5EF4-FFF2-40B4-BE49-F238E27FC236}">
                <a16:creationId xmlns:a16="http://schemas.microsoft.com/office/drawing/2014/main" id="{F93AA0D8-A857-48F8-B558-DF2B62CE3A0D}"/>
              </a:ext>
            </a:extLst>
          </p:cNvPr>
          <p:cNvSpPr>
            <a:spLocks xmlns:a="http://schemas.openxmlformats.org/drawingml/2006/main" noGrp="1"/>
          </p:cNvSpPr>
          <p:nvPr/>
        </p:nvSpPr>
        <p:spPr>
          <a:xfrm xmlns:a="http://schemas.openxmlformats.org/drawingml/2006/main">
            <a:off x="628650" y="4257675"/>
            <a:ext cx="3086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C53030"/>
                </a:solidFill>
                <a:latin typeface="Helvetica Neue"/>
                <a:ea typeface="Helvetica Neue"/>
                <a:cs typeface="Helvetica Neue"/>
              </a:defRPr>
            </a:pPr>
            <a:r>
              <a:rPr sz="1800" b="1">
                <a:solidFill>
                  <a:srgbClr val="C53030"/>
                </a:solidFill>
                <a:latin typeface="Helvetica Neue"/>
                <a:ea typeface="Helvetica Neue"/>
                <a:cs typeface="Helvetica Neue"/>
              </a:rPr>
              <a:t>PR-AUC −0.0754</a:t>
            </a:r>
          </a:p>
        </p:txBody>
      </p:sp>
      <p:sp>
        <p:nvSpPr>
          <p:cNvPr id="12" name="">
            <a:extLst xmlns:a="http://schemas.openxmlformats.org/drawingml/2006/main">
              <a:ext uri="{FF2B5EF4-FFF2-40B4-BE49-F238E27FC236}">
                <a16:creationId xmlns:a16="http://schemas.microsoft.com/office/drawing/2014/main" id="{E5C86354-6B2F-4CC8-A3F4-55DE755EBEAA}"/>
              </a:ext>
            </a:extLst>
          </p:cNvPr>
          <p:cNvSpPr>
            <a:spLocks xmlns:a="http://schemas.openxmlformats.org/drawingml/2006/main" noGrp="1"/>
          </p:cNvSpPr>
          <p:nvPr/>
        </p:nvSpPr>
        <p:spPr>
          <a:xfrm xmlns:a="http://schemas.openxmlformats.org/drawingml/2006/main">
            <a:off x="4257675" y="1809750"/>
            <a:ext cx="3543300" cy="2952750"/>
          </a:xfrm>
          <a:prstGeom xmlns:a="http://schemas.openxmlformats.org/drawingml/2006/main" prst="roundRect">
            <a:avLst>
              <a:gd name="adj" fmla="val 3871"/>
            </a:avLst>
          </a:prstGeom>
          <a:solidFill xmlns:a="http://schemas.openxmlformats.org/drawingml/2006/main">
            <a:srgbClr val="FDE8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B3C9383-2043-4583-83C6-7E291E25DC9B}"/>
              </a:ext>
            </a:extLst>
          </p:cNvPr>
          <p:cNvSpPr>
            <a:spLocks xmlns:a="http://schemas.openxmlformats.org/drawingml/2006/main" noGrp="1"/>
          </p:cNvSpPr>
          <p:nvPr/>
        </p:nvSpPr>
        <p:spPr>
          <a:xfrm xmlns:a="http://schemas.openxmlformats.org/drawingml/2006/main">
            <a:off x="4486275" y="2095500"/>
            <a:ext cx="308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C53030"/>
                </a:solidFill>
                <a:latin typeface="Helvetica Neue"/>
                <a:ea typeface="Helvetica Neue"/>
                <a:cs typeface="Helvetica Neue"/>
              </a:defRPr>
            </a:pPr>
            <a:r>
              <a:rPr sz="1350" b="1">
                <a:solidFill>
                  <a:srgbClr val="C53030"/>
                </a:solidFill>
                <a:latin typeface="Helvetica Neue"/>
                <a:ea typeface="Helvetica Neue"/>
                <a:cs typeface="Helvetica Neue"/>
              </a:rPr>
              <a:t>PERMUTED HYDRAULICS</a:t>
            </a:r>
          </a:p>
        </p:txBody>
      </p:sp>
      <p:sp>
        <p:nvSpPr>
          <p:cNvPr id="14" name="">
            <a:extLst xmlns:a="http://schemas.openxmlformats.org/drawingml/2006/main">
              <a:ext uri="{FF2B5EF4-FFF2-40B4-BE49-F238E27FC236}">
                <a16:creationId xmlns:a16="http://schemas.microsoft.com/office/drawing/2014/main" id="{6B1534ED-92BB-4B50-99BC-2C144AD4EF73}"/>
              </a:ext>
            </a:extLst>
          </p:cNvPr>
          <p:cNvSpPr>
            <a:spLocks xmlns:a="http://schemas.openxmlformats.org/drawingml/2006/main" noGrp="1"/>
          </p:cNvSpPr>
          <p:nvPr/>
        </p:nvSpPr>
        <p:spPr>
          <a:xfrm xmlns:a="http://schemas.openxmlformats.org/drawingml/2006/main">
            <a:off x="4486275" y="28384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MORE CERTAIN</a:t>
            </a:r>
          </a:p>
        </p:txBody>
      </p:sp>
      <p:sp>
        <p:nvSpPr>
          <p:cNvPr id="15" name="">
            <a:extLst xmlns:a="http://schemas.openxmlformats.org/drawingml/2006/main">
              <a:ext uri="{FF2B5EF4-FFF2-40B4-BE49-F238E27FC236}">
                <a16:creationId xmlns:a16="http://schemas.microsoft.com/office/drawing/2014/main" id="{181F0D1E-6E9A-4D43-B69B-F398CAAEB9E3}"/>
              </a:ext>
            </a:extLst>
          </p:cNvPr>
          <p:cNvSpPr>
            <a:spLocks xmlns:a="http://schemas.openxmlformats.org/drawingml/2006/main" noGrp="1"/>
          </p:cNvSpPr>
          <p:nvPr/>
        </p:nvSpPr>
        <p:spPr>
          <a:xfrm xmlns:a="http://schemas.openxmlformats.org/drawingml/2006/main">
            <a:off x="4486275" y="3219450"/>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Entropy −0.0482</a:t>
            </a:r>
          </a:p>
        </p:txBody>
      </p:sp>
      <p:sp>
        <p:nvSpPr>
          <p:cNvPr id="16" name="">
            <a:extLst xmlns:a="http://schemas.openxmlformats.org/drawingml/2006/main">
              <a:ext uri="{FF2B5EF4-FFF2-40B4-BE49-F238E27FC236}">
                <a16:creationId xmlns:a16="http://schemas.microsoft.com/office/drawing/2014/main" id="{043A9541-7AEE-4178-BECA-B79D037E6922}"/>
              </a:ext>
            </a:extLst>
          </p:cNvPr>
          <p:cNvSpPr>
            <a:spLocks xmlns:a="http://schemas.openxmlformats.org/drawingml/2006/main" noGrp="1"/>
          </p:cNvSpPr>
          <p:nvPr/>
        </p:nvSpPr>
        <p:spPr>
          <a:xfrm xmlns:a="http://schemas.openxmlformats.org/drawingml/2006/main">
            <a:off x="4486275" y="3876675"/>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C53030"/>
                </a:solidFill>
                <a:latin typeface="Helvetica Neue"/>
                <a:ea typeface="Helvetica Neue"/>
                <a:cs typeface="Helvetica Neue"/>
              </a:defRPr>
            </a:pPr>
            <a:r>
              <a:rPr sz="1275" b="1">
                <a:solidFill>
                  <a:srgbClr val="C53030"/>
                </a:solidFill>
                <a:latin typeface="Helvetica Neue"/>
                <a:ea typeface="Helvetica Neue"/>
                <a:cs typeface="Helvetica Neue"/>
              </a:rPr>
              <a:t>BUT WORSE</a:t>
            </a:r>
          </a:p>
        </p:txBody>
      </p:sp>
      <p:sp>
        <p:nvSpPr>
          <p:cNvPr id="17" name="">
            <a:extLst xmlns:a="http://schemas.openxmlformats.org/drawingml/2006/main">
              <a:ext uri="{FF2B5EF4-FFF2-40B4-BE49-F238E27FC236}">
                <a16:creationId xmlns:a16="http://schemas.microsoft.com/office/drawing/2014/main" id="{9D612789-2E55-4F75-AB65-17F60ABE1631}"/>
              </a:ext>
            </a:extLst>
          </p:cNvPr>
          <p:cNvSpPr>
            <a:spLocks xmlns:a="http://schemas.openxmlformats.org/drawingml/2006/main" noGrp="1"/>
          </p:cNvSpPr>
          <p:nvPr/>
        </p:nvSpPr>
        <p:spPr>
          <a:xfrm xmlns:a="http://schemas.openxmlformats.org/drawingml/2006/main">
            <a:off x="4486275" y="4257675"/>
            <a:ext cx="3086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C53030"/>
                </a:solidFill>
                <a:latin typeface="Helvetica Neue"/>
                <a:ea typeface="Helvetica Neue"/>
                <a:cs typeface="Helvetica Neue"/>
              </a:defRPr>
            </a:pPr>
            <a:r>
              <a:rPr sz="1800" b="1">
                <a:solidFill>
                  <a:srgbClr val="C53030"/>
                </a:solidFill>
                <a:latin typeface="Helvetica Neue"/>
                <a:ea typeface="Helvetica Neue"/>
                <a:cs typeface="Helvetica Neue"/>
              </a:rPr>
              <a:t>Log loss +0.0745</a:t>
            </a:r>
          </a:p>
        </p:txBody>
      </p:sp>
      <p:sp>
        <p:nvSpPr>
          <p:cNvPr id="18" name="">
            <a:extLst xmlns:a="http://schemas.openxmlformats.org/drawingml/2006/main">
              <a:ext uri="{FF2B5EF4-FFF2-40B4-BE49-F238E27FC236}">
                <a16:creationId xmlns:a16="http://schemas.microsoft.com/office/drawing/2014/main" id="{EBEBB140-C908-41B7-BADF-3FB48366F781}"/>
              </a:ext>
            </a:extLst>
          </p:cNvPr>
          <p:cNvSpPr>
            <a:spLocks xmlns:a="http://schemas.openxmlformats.org/drawingml/2006/main" noGrp="1"/>
          </p:cNvSpPr>
          <p:nvPr/>
        </p:nvSpPr>
        <p:spPr>
          <a:xfrm xmlns:a="http://schemas.openxmlformats.org/drawingml/2006/main">
            <a:off x="8115300" y="1809750"/>
            <a:ext cx="3543300" cy="2952750"/>
          </a:xfrm>
          <a:prstGeom xmlns:a="http://schemas.openxmlformats.org/drawingml/2006/main" prst="roundRect">
            <a:avLst>
              <a:gd name="adj" fmla="val 3871"/>
            </a:avLst>
          </a:prstGeom>
          <a:solidFill xmlns:a="http://schemas.openxmlformats.org/drawingml/2006/main">
            <a:srgbClr val="FDE8E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6DD4DC0-656F-4B22-A35A-84047B415CC5}"/>
              </a:ext>
            </a:extLst>
          </p:cNvPr>
          <p:cNvSpPr>
            <a:spLocks xmlns:a="http://schemas.openxmlformats.org/drawingml/2006/main" noGrp="1"/>
          </p:cNvSpPr>
          <p:nvPr/>
        </p:nvSpPr>
        <p:spPr>
          <a:xfrm xmlns:a="http://schemas.openxmlformats.org/drawingml/2006/main">
            <a:off x="8343900" y="2095500"/>
            <a:ext cx="308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C53030"/>
                </a:solidFill>
                <a:latin typeface="Helvetica Neue"/>
                <a:ea typeface="Helvetica Neue"/>
                <a:cs typeface="Helvetica Neue"/>
              </a:defRPr>
            </a:pPr>
            <a:r>
              <a:rPr sz="1350" b="1">
                <a:solidFill>
                  <a:srgbClr val="C53030"/>
                </a:solidFill>
                <a:latin typeface="Helvetica Neue"/>
                <a:ea typeface="Helvetica Neue"/>
                <a:cs typeface="Helvetica Neue"/>
              </a:rPr>
              <a:t>JOINT MISSPECIFICATION</a:t>
            </a:r>
          </a:p>
        </p:txBody>
      </p:sp>
      <p:sp>
        <p:nvSpPr>
          <p:cNvPr id="20" name="">
            <a:extLst xmlns:a="http://schemas.openxmlformats.org/drawingml/2006/main">
              <a:ext uri="{FF2B5EF4-FFF2-40B4-BE49-F238E27FC236}">
                <a16:creationId xmlns:a16="http://schemas.microsoft.com/office/drawing/2014/main" id="{E53C5713-745D-4D65-B5EB-CDE2C27DC3D7}"/>
              </a:ext>
            </a:extLst>
          </p:cNvPr>
          <p:cNvSpPr>
            <a:spLocks xmlns:a="http://schemas.openxmlformats.org/drawingml/2006/main" noGrp="1"/>
          </p:cNvSpPr>
          <p:nvPr/>
        </p:nvSpPr>
        <p:spPr>
          <a:xfrm xmlns:a="http://schemas.openxmlformats.org/drawingml/2006/main">
            <a:off x="8343900" y="28384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MORE CERTAIN</a:t>
            </a:r>
          </a:p>
        </p:txBody>
      </p:sp>
      <p:sp>
        <p:nvSpPr>
          <p:cNvPr id="21" name="">
            <a:extLst xmlns:a="http://schemas.openxmlformats.org/drawingml/2006/main">
              <a:ext uri="{FF2B5EF4-FFF2-40B4-BE49-F238E27FC236}">
                <a16:creationId xmlns:a16="http://schemas.microsoft.com/office/drawing/2014/main" id="{6E4350D2-F089-4716-8EA9-BA1D390892CE}"/>
              </a:ext>
            </a:extLst>
          </p:cNvPr>
          <p:cNvSpPr>
            <a:spLocks xmlns:a="http://schemas.openxmlformats.org/drawingml/2006/main" noGrp="1"/>
          </p:cNvSpPr>
          <p:nvPr/>
        </p:nvSpPr>
        <p:spPr>
          <a:xfrm xmlns:a="http://schemas.openxmlformats.org/drawingml/2006/main">
            <a:off x="8343900" y="3219450"/>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Entropy −0.0706</a:t>
            </a:r>
          </a:p>
        </p:txBody>
      </p:sp>
      <p:sp>
        <p:nvSpPr>
          <p:cNvPr id="22" name="">
            <a:extLst xmlns:a="http://schemas.openxmlformats.org/drawingml/2006/main">
              <a:ext uri="{FF2B5EF4-FFF2-40B4-BE49-F238E27FC236}">
                <a16:creationId xmlns:a16="http://schemas.microsoft.com/office/drawing/2014/main" id="{1C271B7A-47C1-4B08-8EBD-BAA44D76CBA4}"/>
              </a:ext>
            </a:extLst>
          </p:cNvPr>
          <p:cNvSpPr>
            <a:spLocks xmlns:a="http://schemas.openxmlformats.org/drawingml/2006/main" noGrp="1"/>
          </p:cNvSpPr>
          <p:nvPr/>
        </p:nvSpPr>
        <p:spPr>
          <a:xfrm xmlns:a="http://schemas.openxmlformats.org/drawingml/2006/main">
            <a:off x="8343900" y="3876675"/>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C53030"/>
                </a:solidFill>
                <a:latin typeface="Helvetica Neue"/>
                <a:ea typeface="Helvetica Neue"/>
                <a:cs typeface="Helvetica Neue"/>
              </a:defRPr>
            </a:pPr>
            <a:r>
              <a:rPr sz="1275" b="1">
                <a:solidFill>
                  <a:srgbClr val="C53030"/>
                </a:solidFill>
                <a:latin typeface="Helvetica Neue"/>
                <a:ea typeface="Helvetica Neue"/>
                <a:cs typeface="Helvetica Neue"/>
              </a:rPr>
              <a:t>BUT WORSE</a:t>
            </a:r>
          </a:p>
        </p:txBody>
      </p:sp>
      <p:sp>
        <p:nvSpPr>
          <p:cNvPr id="23" name="">
            <a:extLst xmlns:a="http://schemas.openxmlformats.org/drawingml/2006/main">
              <a:ext uri="{FF2B5EF4-FFF2-40B4-BE49-F238E27FC236}">
                <a16:creationId xmlns:a16="http://schemas.microsoft.com/office/drawing/2014/main" id="{B659B5ED-07ED-44AE-BB82-70ECE87C5EA7}"/>
              </a:ext>
            </a:extLst>
          </p:cNvPr>
          <p:cNvSpPr>
            <a:spLocks xmlns:a="http://schemas.openxmlformats.org/drawingml/2006/main" noGrp="1"/>
          </p:cNvSpPr>
          <p:nvPr/>
        </p:nvSpPr>
        <p:spPr>
          <a:xfrm xmlns:a="http://schemas.openxmlformats.org/drawingml/2006/main">
            <a:off x="8343900" y="4257675"/>
            <a:ext cx="3086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C53030"/>
                </a:solidFill>
                <a:latin typeface="Helvetica Neue"/>
                <a:ea typeface="Helvetica Neue"/>
                <a:cs typeface="Helvetica Neue"/>
              </a:defRPr>
            </a:pPr>
            <a:r>
              <a:rPr sz="1800" b="1">
                <a:solidFill>
                  <a:srgbClr val="C53030"/>
                </a:solidFill>
                <a:latin typeface="Helvetica Neue"/>
                <a:ea typeface="Helvetica Neue"/>
                <a:cs typeface="Helvetica Neue"/>
              </a:rPr>
              <a:t>PR-AUC −0.139</a:t>
            </a:r>
          </a:p>
        </p:txBody>
      </p:sp>
      <p:sp>
        <p:nvSpPr>
          <p:cNvPr id="24" name="">
            <a:extLst xmlns:a="http://schemas.openxmlformats.org/drawingml/2006/main">
              <a:ext uri="{FF2B5EF4-FFF2-40B4-BE49-F238E27FC236}">
                <a16:creationId xmlns:a16="http://schemas.microsoft.com/office/drawing/2014/main" id="{AB81741E-1379-48FA-A9C7-0156237DCC13}"/>
              </a:ext>
            </a:extLst>
          </p:cNvPr>
          <p:cNvSpPr>
            <a:spLocks xmlns:a="http://schemas.openxmlformats.org/drawingml/2006/main" noGrp="1"/>
          </p:cNvSpPr>
          <p:nvPr/>
        </p:nvSpPr>
        <p:spPr>
          <a:xfrm xmlns:a="http://schemas.openxmlformats.org/drawingml/2006/main">
            <a:off x="1905000" y="5191125"/>
            <a:ext cx="8382000" cy="685800"/>
          </a:xfrm>
          <a:prstGeom xmlns:a="http://schemas.openxmlformats.org/drawingml/2006/main" prst="roundRect">
            <a:avLst>
              <a:gd name="adj" fmla="val 16667"/>
            </a:avLst>
          </a:prstGeom>
          <a:solidFill xmlns:a="http://schemas.openxmlformats.org/drawingml/2006/main">
            <a:srgbClr val="11131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2AD82FC-F61C-4859-8C3E-74229E3EA174}"/>
              </a:ext>
            </a:extLst>
          </p:cNvPr>
          <p:cNvSpPr>
            <a:spLocks xmlns:a="http://schemas.openxmlformats.org/drawingml/2006/main" noGrp="1"/>
          </p:cNvSpPr>
          <p:nvPr/>
        </p:nvSpPr>
        <p:spPr>
          <a:xfrm xmlns:a="http://schemas.openxmlformats.org/drawingml/2006/main">
            <a:off x="2190750" y="5400675"/>
            <a:ext cx="781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Calibration and discrimination must accompany entropy or interval width.</a:t>
            </a:r>
          </a:p>
        </p:txBody>
      </p:sp>
    </p:spTree>
    <p:extLst>
      <p:ext uri="{BB962C8B-B14F-4D97-AF65-F5344CB8AC3E}">
        <p14:creationId xmlns:p14="http://schemas.microsoft.com/office/powerpoint/2010/main" val="103520498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D4929FA-CE19-422E-8226-119E8E3D6B11}"/>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CAPABILITY STATUS</a:t>
            </a:r>
          </a:p>
        </p:txBody>
      </p:sp>
      <p:sp>
        <p:nvSpPr>
          <p:cNvPr id="2" name="">
            <a:extLst xmlns:a="http://schemas.openxmlformats.org/drawingml/2006/main">
              <a:ext uri="{FF2B5EF4-FFF2-40B4-BE49-F238E27FC236}">
                <a16:creationId xmlns:a16="http://schemas.microsoft.com/office/drawing/2014/main" id="{671F0C9C-E6D1-40A9-9F79-A5230E8B75AB}"/>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Active learning is implemented, not yet validated</a:t>
            </a:r>
          </a:p>
        </p:txBody>
      </p:sp>
      <p:sp>
        <p:nvSpPr>
          <p:cNvPr id="3" name="">
            <a:extLst xmlns:a="http://schemas.openxmlformats.org/drawingml/2006/main">
              <a:ext uri="{FF2B5EF4-FFF2-40B4-BE49-F238E27FC236}">
                <a16:creationId xmlns:a16="http://schemas.microsoft.com/office/drawing/2014/main" id="{E1D2E984-46B2-422F-871C-E6E2B5C6D705}"/>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7B3EDE1-205C-42E3-8FBD-C0870D5C4E54}"/>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1D235EB1-7EC9-487C-9DF1-DD58FE8131A8}"/>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26</a:t>
            </a:r>
          </a:p>
        </p:txBody>
      </p:sp>
      <p:sp>
        <p:nvSpPr>
          <p:cNvPr id="6" name="">
            <a:extLst xmlns:a="http://schemas.openxmlformats.org/drawingml/2006/main">
              <a:ext uri="{FF2B5EF4-FFF2-40B4-BE49-F238E27FC236}">
                <a16:creationId xmlns:a16="http://schemas.microsoft.com/office/drawing/2014/main" id="{B32FE5CA-FEE7-4B5E-AC79-6471197EE25E}"/>
              </a:ext>
            </a:extLst>
          </p:cNvPr>
          <p:cNvSpPr>
            <a:spLocks xmlns:a="http://schemas.openxmlformats.org/drawingml/2006/main" noGrp="1"/>
          </p:cNvSpPr>
          <p:nvPr/>
        </p:nvSpPr>
        <p:spPr>
          <a:xfrm xmlns:a="http://schemas.openxmlformats.org/drawingml/2006/main">
            <a:off x="400050" y="1619250"/>
            <a:ext cx="5334000" cy="3619500"/>
          </a:xfrm>
          <a:prstGeom xmlns:a="http://schemas.openxmlformats.org/drawingml/2006/main" prst="roundRect">
            <a:avLst>
              <a:gd name="adj" fmla="val 3158"/>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0F1176F-F4A4-4618-83AA-DB2C823AADE0}"/>
              </a:ext>
            </a:extLst>
          </p:cNvPr>
          <p:cNvSpPr>
            <a:spLocks xmlns:a="http://schemas.openxmlformats.org/drawingml/2006/main" noGrp="1"/>
          </p:cNvSpPr>
          <p:nvPr/>
        </p:nvSpPr>
        <p:spPr>
          <a:xfrm xmlns:a="http://schemas.openxmlformats.org/drawingml/2006/main">
            <a:off x="666750" y="18669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CURRENT STATUS</a:t>
            </a:r>
          </a:p>
        </p:txBody>
      </p:sp>
      <p:sp>
        <p:nvSpPr>
          <p:cNvPr id="8" name="">
            <a:extLst xmlns:a="http://schemas.openxmlformats.org/drawingml/2006/main">
              <a:ext uri="{FF2B5EF4-FFF2-40B4-BE49-F238E27FC236}">
                <a16:creationId xmlns:a16="http://schemas.microsoft.com/office/drawing/2014/main" id="{FF34CABE-946F-4914-B6C8-EB7255910CA8}"/>
              </a:ext>
            </a:extLst>
          </p:cNvPr>
          <p:cNvSpPr>
            <a:spLocks xmlns:a="http://schemas.openxmlformats.org/drawingml/2006/main" noGrp="1"/>
          </p:cNvSpPr>
          <p:nvPr/>
        </p:nvSpPr>
        <p:spPr>
          <a:xfrm xmlns:a="http://schemas.openxmlformats.org/drawingml/2006/main">
            <a:off x="666750" y="252412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550" b="1">
                <a:solidFill>
                  <a:srgbClr val="111318"/>
                </a:solidFill>
                <a:latin typeface="Helvetica Neue"/>
                <a:ea typeface="Helvetica Neue"/>
                <a:cs typeface="Helvetica Neue"/>
              </a:defRPr>
            </a:pPr>
            <a:r>
              <a:rPr sz="2550" b="1">
                <a:solidFill>
                  <a:srgbClr val="111318"/>
                </a:solidFill>
                <a:latin typeface="Helvetica Neue"/>
                <a:ea typeface="Helvetica Neue"/>
                <a:cs typeface="Helvetica Neue"/>
              </a:rPr>
              <a:t>0 recommendations</a:t>
            </a:r>
          </a:p>
          <a:p xmlns:a="http://schemas.openxmlformats.org/drawingml/2006/main">
            <a:pPr algn="ctr">
              <a:defRPr sz="2550" b="1">
                <a:solidFill>
                  <a:srgbClr val="111318"/>
                </a:solidFill>
                <a:latin typeface="Helvetica Neue"/>
                <a:ea typeface="Helvetica Neue"/>
                <a:cs typeface="Helvetica Neue"/>
              </a:defRPr>
            </a:pPr>
            <a:r>
              <a:rPr sz="2550" b="1">
                <a:solidFill>
                  <a:srgbClr val="111318"/>
                </a:solidFill>
                <a:latin typeface="Helvetica Neue"/>
                <a:ea typeface="Helvetica Neue"/>
                <a:cs typeface="Helvetica Neue"/>
              </a:rPr>
              <a:t>from 0 scored edges</a:t>
            </a:r>
          </a:p>
        </p:txBody>
      </p:sp>
      <p:sp>
        <p:nvSpPr>
          <p:cNvPr id="9" name="">
            <a:extLst xmlns:a="http://schemas.openxmlformats.org/drawingml/2006/main">
              <a:ext uri="{FF2B5EF4-FFF2-40B4-BE49-F238E27FC236}">
                <a16:creationId xmlns:a16="http://schemas.microsoft.com/office/drawing/2014/main" id="{001B442D-08D0-46F6-AB7E-3CAE048D4769}"/>
              </a:ext>
            </a:extLst>
          </p:cNvPr>
          <p:cNvSpPr>
            <a:spLocks xmlns:a="http://schemas.openxmlformats.org/drawingml/2006/main" noGrp="1"/>
          </p:cNvSpPr>
          <p:nvPr/>
        </p:nvSpPr>
        <p:spPr>
          <a:xfrm xmlns:a="http://schemas.openxmlformats.org/drawingml/2006/main">
            <a:off x="1381125" y="3905250"/>
            <a:ext cx="3333750" cy="323850"/>
          </a:xfrm>
          <a:prstGeom xmlns:a="http://schemas.openxmlformats.org/drawingml/2006/main" prst="roundRect">
            <a:avLst>
              <a:gd name="adj" fmla="val 50000"/>
            </a:avLst>
          </a:prstGeom>
          <a:solidFill xmlns:a="http://schemas.openxmlformats.org/drawingml/2006/main">
            <a:srgbClr val="FDE8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1CCBBCF-3818-4576-8C33-88675278DF67}"/>
              </a:ext>
            </a:extLst>
          </p:cNvPr>
          <p:cNvSpPr>
            <a:spLocks xmlns:a="http://schemas.openxmlformats.org/drawingml/2006/main" noGrp="1"/>
          </p:cNvSpPr>
          <p:nvPr/>
        </p:nvSpPr>
        <p:spPr>
          <a:xfrm xmlns:a="http://schemas.openxmlformats.org/drawingml/2006/main">
            <a:off x="1476375" y="397192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C53030"/>
                </a:solidFill>
                <a:latin typeface="Helvetica Neue"/>
                <a:ea typeface="Helvetica Neue"/>
                <a:cs typeface="Helvetica Neue"/>
              </a:defRPr>
            </a:pPr>
            <a:r>
              <a:rPr sz="1050" b="1">
                <a:solidFill>
                  <a:srgbClr val="C53030"/>
                </a:solidFill>
                <a:latin typeface="Helvetica Neue"/>
                <a:ea typeface="Helvetica Neue"/>
                <a:cs typeface="Helvetica Neue"/>
              </a:rPr>
              <a:t>NOT A CLAIM-BEARING RESULT</a:t>
            </a:r>
          </a:p>
        </p:txBody>
      </p:sp>
      <p:sp>
        <p:nvSpPr>
          <p:cNvPr id="11" name="">
            <a:extLst xmlns:a="http://schemas.openxmlformats.org/drawingml/2006/main">
              <a:ext uri="{FF2B5EF4-FFF2-40B4-BE49-F238E27FC236}">
                <a16:creationId xmlns:a16="http://schemas.microsoft.com/office/drawing/2014/main" id="{D8689D16-5740-45E3-ABD6-320154F93D72}"/>
              </a:ext>
            </a:extLst>
          </p:cNvPr>
          <p:cNvSpPr>
            <a:spLocks xmlns:a="http://schemas.openxmlformats.org/drawingml/2006/main" noGrp="1"/>
          </p:cNvSpPr>
          <p:nvPr/>
        </p:nvSpPr>
        <p:spPr>
          <a:xfrm xmlns:a="http://schemas.openxmlformats.org/drawingml/2006/main">
            <a:off x="6076950" y="1619250"/>
            <a:ext cx="5334000" cy="3619500"/>
          </a:xfrm>
          <a:prstGeom xmlns:a="http://schemas.openxmlformats.org/drawingml/2006/main" prst="roundRect">
            <a:avLst>
              <a:gd name="adj" fmla="val 3158"/>
            </a:avLst>
          </a:prstGeom>
          <a:solidFill xmlns:a="http://schemas.openxmlformats.org/drawingml/2006/main">
            <a:srgbClr val="E7F7F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682241B-F344-4DA9-8E04-1BCDD57AE276}"/>
              </a:ext>
            </a:extLst>
          </p:cNvPr>
          <p:cNvSpPr>
            <a:spLocks xmlns:a="http://schemas.openxmlformats.org/drawingml/2006/main" noGrp="1"/>
          </p:cNvSpPr>
          <p:nvPr/>
        </p:nvSpPr>
        <p:spPr>
          <a:xfrm xmlns:a="http://schemas.openxmlformats.org/drawingml/2006/main">
            <a:off x="6343650" y="18669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49A84"/>
                </a:solidFill>
                <a:latin typeface="Helvetica Neue"/>
                <a:ea typeface="Helvetica Neue"/>
                <a:cs typeface="Helvetica Neue"/>
              </a:defRPr>
            </a:pPr>
            <a:r>
              <a:rPr sz="1200" b="1">
                <a:solidFill>
                  <a:srgbClr val="149A84"/>
                </a:solidFill>
                <a:latin typeface="Helvetica Neue"/>
                <a:ea typeface="Helvetica Neue"/>
                <a:cs typeface="Helvetica Neue"/>
              </a:rPr>
              <a:t>WHAT WOULD EARN STATUS</a:t>
            </a:r>
          </a:p>
        </p:txBody>
      </p:sp>
      <p:sp>
        <p:nvSpPr>
          <p:cNvPr id="13" name="">
            <a:extLst xmlns:a="http://schemas.openxmlformats.org/drawingml/2006/main">
              <a:ext uri="{FF2B5EF4-FFF2-40B4-BE49-F238E27FC236}">
                <a16:creationId xmlns:a16="http://schemas.microsoft.com/office/drawing/2014/main" id="{3535BD62-6238-4F5B-A778-14C10259F60B}"/>
              </a:ext>
            </a:extLst>
          </p:cNvPr>
          <p:cNvSpPr>
            <a:spLocks xmlns:a="http://schemas.openxmlformats.org/drawingml/2006/main" noGrp="1"/>
          </p:cNvSpPr>
          <p:nvPr/>
        </p:nvSpPr>
        <p:spPr>
          <a:xfrm xmlns:a="http://schemas.openxmlformats.org/drawingml/2006/main">
            <a:off x="6515100" y="2476500"/>
            <a:ext cx="44291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1  Jacobian-aware value of information</a:t>
            </a:r>
          </a:p>
          <a:p xmlns:a="http://schemas.openxmlformats.org/drawingml/2006/main">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2  explicit costs and decision loss</a:t>
            </a:r>
          </a:p>
          <a:p xmlns:a="http://schemas.openxmlformats.org/drawingml/2006/main">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3  prospective locked comparison</a:t>
            </a:r>
          </a:p>
          <a:p xmlns:a="http://schemas.openxmlformats.org/drawingml/2006/main">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4  independent replication</a:t>
            </a:r>
          </a:p>
        </p:txBody>
      </p:sp>
      <p:sp>
        <p:nvSpPr>
          <p:cNvPr id="14" name="">
            <a:extLst xmlns:a="http://schemas.openxmlformats.org/drawingml/2006/main">
              <a:ext uri="{FF2B5EF4-FFF2-40B4-BE49-F238E27FC236}">
                <a16:creationId xmlns:a16="http://schemas.microsoft.com/office/drawing/2014/main" id="{34DEDC02-E62D-4749-8265-0F13B93AC4D0}"/>
              </a:ext>
            </a:extLst>
          </p:cNvPr>
          <p:cNvSpPr>
            <a:spLocks xmlns:a="http://schemas.openxmlformats.org/drawingml/2006/main" noGrp="1"/>
          </p:cNvSpPr>
          <p:nvPr/>
        </p:nvSpPr>
        <p:spPr>
          <a:xfrm xmlns:a="http://schemas.openxmlformats.org/drawingml/2006/main">
            <a:off x="400050" y="5676900"/>
            <a:ext cx="11391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C53030"/>
                </a:solidFill>
                <a:latin typeface="Helvetica Neue"/>
                <a:ea typeface="Helvetica Neue"/>
                <a:cs typeface="Helvetica Neue"/>
              </a:defRPr>
            </a:pPr>
            <a:r>
              <a:rPr sz="1650" b="1">
                <a:solidFill>
                  <a:srgbClr val="C53030"/>
                </a:solidFill>
                <a:latin typeface="Helvetica Neue"/>
                <a:ea typeface="Helvetica Neue"/>
                <a:cs typeface="Helvetica Neue"/>
              </a:rPr>
              <a:t>Do not call the current method ‘excellent active learning’ in the viva.</a:t>
            </a:r>
          </a:p>
        </p:txBody>
      </p:sp>
    </p:spTree>
    <p:extLst>
      <p:ext uri="{BB962C8B-B14F-4D97-AF65-F5344CB8AC3E}">
        <p14:creationId xmlns:p14="http://schemas.microsoft.com/office/powerpoint/2010/main" val="43068604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7E2C69E-CC8E-42E7-A3C9-6896C323543C}"/>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AUDITABILITY</a:t>
            </a:r>
          </a:p>
        </p:txBody>
      </p:sp>
      <p:sp>
        <p:nvSpPr>
          <p:cNvPr id="2" name="">
            <a:extLst xmlns:a="http://schemas.openxmlformats.org/drawingml/2006/main">
              <a:ext uri="{FF2B5EF4-FFF2-40B4-BE49-F238E27FC236}">
                <a16:creationId xmlns:a16="http://schemas.microsoft.com/office/drawing/2014/main" id="{85FE0ED7-44DA-4CFC-8DF3-071B52DEC74E}"/>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Reproducibility status</a:t>
            </a:r>
          </a:p>
        </p:txBody>
      </p:sp>
      <p:sp>
        <p:nvSpPr>
          <p:cNvPr id="3" name="">
            <a:extLst xmlns:a="http://schemas.openxmlformats.org/drawingml/2006/main">
              <a:ext uri="{FF2B5EF4-FFF2-40B4-BE49-F238E27FC236}">
                <a16:creationId xmlns:a16="http://schemas.microsoft.com/office/drawing/2014/main" id="{9F24035F-3773-4604-AA2B-B7DCA7D46B4C}"/>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A937CC4-5C6C-419C-A168-3F8CD00FCC87}"/>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D44A2B48-F6E5-4422-B519-3EE42BF6C093}"/>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27</a:t>
            </a:r>
          </a:p>
        </p:txBody>
      </p:sp>
      <p:sp>
        <p:nvSpPr>
          <p:cNvPr id="6" name="">
            <a:extLst xmlns:a="http://schemas.openxmlformats.org/drawingml/2006/main">
              <a:ext uri="{FF2B5EF4-FFF2-40B4-BE49-F238E27FC236}">
                <a16:creationId xmlns:a16="http://schemas.microsoft.com/office/drawing/2014/main" id="{3423C313-5997-4C61-AD43-6F468D45CB16}"/>
              </a:ext>
            </a:extLst>
          </p:cNvPr>
          <p:cNvSpPr>
            <a:spLocks xmlns:a="http://schemas.openxmlformats.org/drawingml/2006/main" noGrp="1"/>
          </p:cNvSpPr>
          <p:nvPr/>
        </p:nvSpPr>
        <p:spPr>
          <a:xfrm xmlns:a="http://schemas.openxmlformats.org/drawingml/2006/main">
            <a:off x="400050" y="1581150"/>
            <a:ext cx="5429250" cy="1028700"/>
          </a:xfrm>
          <a:prstGeom xmlns:a="http://schemas.openxmlformats.org/drawingml/2006/main" prst="roundRect">
            <a:avLst>
              <a:gd name="adj" fmla="val 11111"/>
            </a:avLst>
          </a:prstGeom>
          <a:solidFill xmlns:a="http://schemas.openxmlformats.org/drawingml/2006/main">
            <a:srgbClr val="F2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F9F4198-D2F5-4683-BA95-670EA932651C}"/>
              </a:ext>
            </a:extLst>
          </p:cNvPr>
          <p:cNvSpPr>
            <a:spLocks xmlns:a="http://schemas.openxmlformats.org/drawingml/2006/main" noGrp="1"/>
          </p:cNvSpPr>
          <p:nvPr/>
        </p:nvSpPr>
        <p:spPr>
          <a:xfrm xmlns:a="http://schemas.openxmlformats.org/drawingml/2006/main">
            <a:off x="609600" y="1800225"/>
            <a:ext cx="1238250" cy="323850"/>
          </a:xfrm>
          <a:prstGeom xmlns:a="http://schemas.openxmlformats.org/drawingml/2006/main" prst="roundRect">
            <a:avLst>
              <a:gd name="adj" fmla="val 50000"/>
            </a:avLst>
          </a:prstGeom>
          <a:solidFill xmlns:a="http://schemas.openxmlformats.org/drawingml/2006/main">
            <a:srgbClr val="E7F7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406DE55-B576-4A6E-9D7D-D9554BF42677}"/>
              </a:ext>
            </a:extLst>
          </p:cNvPr>
          <p:cNvSpPr>
            <a:spLocks xmlns:a="http://schemas.openxmlformats.org/drawingml/2006/main" noGrp="1"/>
          </p:cNvSpPr>
          <p:nvPr/>
        </p:nvSpPr>
        <p:spPr>
          <a:xfrm xmlns:a="http://schemas.openxmlformats.org/drawingml/2006/main">
            <a:off x="704850" y="18669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2F855A"/>
                </a:solidFill>
                <a:latin typeface="Helvetica Neue"/>
                <a:ea typeface="Helvetica Neue"/>
                <a:cs typeface="Helvetica Neue"/>
              </a:defRPr>
            </a:pPr>
            <a:r>
              <a:rPr sz="1050" b="1">
                <a:solidFill>
                  <a:srgbClr val="2F855A"/>
                </a:solidFill>
                <a:latin typeface="Helvetica Neue"/>
                <a:ea typeface="Helvetica Neue"/>
                <a:cs typeface="Helvetica Neue"/>
              </a:rPr>
              <a:t>PASS</a:t>
            </a:r>
          </a:p>
        </p:txBody>
      </p:sp>
      <p:sp>
        <p:nvSpPr>
          <p:cNvPr id="9" name="">
            <a:extLst xmlns:a="http://schemas.openxmlformats.org/drawingml/2006/main">
              <a:ext uri="{FF2B5EF4-FFF2-40B4-BE49-F238E27FC236}">
                <a16:creationId xmlns:a16="http://schemas.microsoft.com/office/drawing/2014/main" id="{52FD628D-F6F0-40C1-8096-C4856103744C}"/>
              </a:ext>
            </a:extLst>
          </p:cNvPr>
          <p:cNvSpPr>
            <a:spLocks xmlns:a="http://schemas.openxmlformats.org/drawingml/2006/main" noGrp="1"/>
          </p:cNvSpPr>
          <p:nvPr/>
        </p:nvSpPr>
        <p:spPr>
          <a:xfrm xmlns:a="http://schemas.openxmlformats.org/drawingml/2006/main">
            <a:off x="2019300" y="1809750"/>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Locked-case separation</a:t>
            </a:r>
          </a:p>
        </p:txBody>
      </p:sp>
      <p:sp>
        <p:nvSpPr>
          <p:cNvPr id="10" name="">
            <a:extLst xmlns:a="http://schemas.openxmlformats.org/drawingml/2006/main">
              <a:ext uri="{FF2B5EF4-FFF2-40B4-BE49-F238E27FC236}">
                <a16:creationId xmlns:a16="http://schemas.microsoft.com/office/drawing/2014/main" id="{34E1566C-3205-49F1-BB3F-2D0C6F5046ED}"/>
              </a:ext>
            </a:extLst>
          </p:cNvPr>
          <p:cNvSpPr>
            <a:spLocks xmlns:a="http://schemas.openxmlformats.org/drawingml/2006/main" noGrp="1"/>
          </p:cNvSpPr>
          <p:nvPr/>
        </p:nvSpPr>
        <p:spPr>
          <a:xfrm xmlns:a="http://schemas.openxmlformats.org/drawingml/2006/main">
            <a:off x="6191250" y="1581150"/>
            <a:ext cx="5429250" cy="1028700"/>
          </a:xfrm>
          <a:prstGeom xmlns:a="http://schemas.openxmlformats.org/drawingml/2006/main" prst="roundRect">
            <a:avLst>
              <a:gd name="adj" fmla="val 11111"/>
            </a:avLst>
          </a:prstGeom>
          <a:solidFill xmlns:a="http://schemas.openxmlformats.org/drawingml/2006/main">
            <a:srgbClr val="F2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54C8EF1-8CC8-4645-A2C3-BB98CBCED204}"/>
              </a:ext>
            </a:extLst>
          </p:cNvPr>
          <p:cNvSpPr>
            <a:spLocks xmlns:a="http://schemas.openxmlformats.org/drawingml/2006/main" noGrp="1"/>
          </p:cNvSpPr>
          <p:nvPr/>
        </p:nvSpPr>
        <p:spPr>
          <a:xfrm xmlns:a="http://schemas.openxmlformats.org/drawingml/2006/main">
            <a:off x="6400800" y="1800225"/>
            <a:ext cx="1238250" cy="323850"/>
          </a:xfrm>
          <a:prstGeom xmlns:a="http://schemas.openxmlformats.org/drawingml/2006/main" prst="roundRect">
            <a:avLst>
              <a:gd name="adj" fmla="val 50000"/>
            </a:avLst>
          </a:prstGeom>
          <a:solidFill xmlns:a="http://schemas.openxmlformats.org/drawingml/2006/main">
            <a:srgbClr val="E7F7F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566CA90-068C-4E45-9545-477F7D74E046}"/>
              </a:ext>
            </a:extLst>
          </p:cNvPr>
          <p:cNvSpPr>
            <a:spLocks xmlns:a="http://schemas.openxmlformats.org/drawingml/2006/main" noGrp="1"/>
          </p:cNvSpPr>
          <p:nvPr/>
        </p:nvSpPr>
        <p:spPr>
          <a:xfrm xmlns:a="http://schemas.openxmlformats.org/drawingml/2006/main">
            <a:off x="6496050" y="18669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2F855A"/>
                </a:solidFill>
                <a:latin typeface="Helvetica Neue"/>
                <a:ea typeface="Helvetica Neue"/>
                <a:cs typeface="Helvetica Neue"/>
              </a:defRPr>
            </a:pPr>
            <a:r>
              <a:rPr sz="1050" b="1">
                <a:solidFill>
                  <a:srgbClr val="2F855A"/>
                </a:solidFill>
                <a:latin typeface="Helvetica Neue"/>
                <a:ea typeface="Helvetica Neue"/>
                <a:cs typeface="Helvetica Neue"/>
              </a:rPr>
              <a:t>PASS</a:t>
            </a:r>
          </a:p>
        </p:txBody>
      </p:sp>
      <p:sp>
        <p:nvSpPr>
          <p:cNvPr id="13" name="">
            <a:extLst xmlns:a="http://schemas.openxmlformats.org/drawingml/2006/main">
              <a:ext uri="{FF2B5EF4-FFF2-40B4-BE49-F238E27FC236}">
                <a16:creationId xmlns:a16="http://schemas.microsoft.com/office/drawing/2014/main" id="{CA7F04E7-3931-4B27-8D40-0CDA4C55FE3B}"/>
              </a:ext>
            </a:extLst>
          </p:cNvPr>
          <p:cNvSpPr>
            <a:spLocks xmlns:a="http://schemas.openxmlformats.org/drawingml/2006/main" noGrp="1"/>
          </p:cNvSpPr>
          <p:nvPr/>
        </p:nvSpPr>
        <p:spPr>
          <a:xfrm xmlns:a="http://schemas.openxmlformats.org/drawingml/2006/main">
            <a:off x="7810500" y="1809750"/>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Frozen hashes and artifact regeneration gates</a:t>
            </a:r>
          </a:p>
        </p:txBody>
      </p:sp>
      <p:sp>
        <p:nvSpPr>
          <p:cNvPr id="14" name="">
            <a:extLst xmlns:a="http://schemas.openxmlformats.org/drawingml/2006/main">
              <a:ext uri="{FF2B5EF4-FFF2-40B4-BE49-F238E27FC236}">
                <a16:creationId xmlns:a16="http://schemas.microsoft.com/office/drawing/2014/main" id="{1763573F-DE77-4D71-A77F-60A2988AE2BD}"/>
              </a:ext>
            </a:extLst>
          </p:cNvPr>
          <p:cNvSpPr>
            <a:spLocks xmlns:a="http://schemas.openxmlformats.org/drawingml/2006/main" noGrp="1"/>
          </p:cNvSpPr>
          <p:nvPr/>
        </p:nvSpPr>
        <p:spPr>
          <a:xfrm xmlns:a="http://schemas.openxmlformats.org/drawingml/2006/main">
            <a:off x="400050" y="2867025"/>
            <a:ext cx="5429250" cy="1028700"/>
          </a:xfrm>
          <a:prstGeom xmlns:a="http://schemas.openxmlformats.org/drawingml/2006/main" prst="roundRect">
            <a:avLst>
              <a:gd name="adj" fmla="val 11111"/>
            </a:avLst>
          </a:prstGeom>
          <a:solidFill xmlns:a="http://schemas.openxmlformats.org/drawingml/2006/main">
            <a:srgbClr val="F2F3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8CD243A-994F-4A6B-BD27-5707A7F38E7B}"/>
              </a:ext>
            </a:extLst>
          </p:cNvPr>
          <p:cNvSpPr>
            <a:spLocks xmlns:a="http://schemas.openxmlformats.org/drawingml/2006/main" noGrp="1"/>
          </p:cNvSpPr>
          <p:nvPr/>
        </p:nvSpPr>
        <p:spPr>
          <a:xfrm xmlns:a="http://schemas.openxmlformats.org/drawingml/2006/main">
            <a:off x="609600" y="3086100"/>
            <a:ext cx="1238250" cy="323850"/>
          </a:xfrm>
          <a:prstGeom xmlns:a="http://schemas.openxmlformats.org/drawingml/2006/main" prst="roundRect">
            <a:avLst>
              <a:gd name="adj" fmla="val 50000"/>
            </a:avLst>
          </a:prstGeom>
          <a:solidFill xmlns:a="http://schemas.openxmlformats.org/drawingml/2006/main">
            <a:srgbClr val="E7F7F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99B435A-B0E8-4B7D-AA97-578F5A7C8061}"/>
              </a:ext>
            </a:extLst>
          </p:cNvPr>
          <p:cNvSpPr>
            <a:spLocks xmlns:a="http://schemas.openxmlformats.org/drawingml/2006/main" noGrp="1"/>
          </p:cNvSpPr>
          <p:nvPr/>
        </p:nvSpPr>
        <p:spPr>
          <a:xfrm xmlns:a="http://schemas.openxmlformats.org/drawingml/2006/main">
            <a:off x="704850" y="31527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2F855A"/>
                </a:solidFill>
                <a:latin typeface="Helvetica Neue"/>
                <a:ea typeface="Helvetica Neue"/>
                <a:cs typeface="Helvetica Neue"/>
              </a:defRPr>
            </a:pPr>
            <a:r>
              <a:rPr sz="1050" b="1">
                <a:solidFill>
                  <a:srgbClr val="2F855A"/>
                </a:solidFill>
                <a:latin typeface="Helvetica Neue"/>
                <a:ea typeface="Helvetica Neue"/>
                <a:cs typeface="Helvetica Neue"/>
              </a:rPr>
              <a:t>PASS</a:t>
            </a:r>
          </a:p>
        </p:txBody>
      </p:sp>
      <p:sp>
        <p:nvSpPr>
          <p:cNvPr id="17" name="">
            <a:extLst xmlns:a="http://schemas.openxmlformats.org/drawingml/2006/main">
              <a:ext uri="{FF2B5EF4-FFF2-40B4-BE49-F238E27FC236}">
                <a16:creationId xmlns:a16="http://schemas.microsoft.com/office/drawing/2014/main" id="{606F1B73-BE6D-4883-9CB1-C1DBAECA42EE}"/>
              </a:ext>
            </a:extLst>
          </p:cNvPr>
          <p:cNvSpPr>
            <a:spLocks xmlns:a="http://schemas.openxmlformats.org/drawingml/2006/main" noGrp="1"/>
          </p:cNvSpPr>
          <p:nvPr/>
        </p:nvSpPr>
        <p:spPr>
          <a:xfrm xmlns:a="http://schemas.openxmlformats.org/drawingml/2006/main">
            <a:off x="2019300" y="3095625"/>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10,000-resample post-review audit</a:t>
            </a:r>
          </a:p>
        </p:txBody>
      </p:sp>
      <p:sp>
        <p:nvSpPr>
          <p:cNvPr id="18" name="">
            <a:extLst xmlns:a="http://schemas.openxmlformats.org/drawingml/2006/main">
              <a:ext uri="{FF2B5EF4-FFF2-40B4-BE49-F238E27FC236}">
                <a16:creationId xmlns:a16="http://schemas.microsoft.com/office/drawing/2014/main" id="{72AE7423-973A-4E64-9EA1-020947D2E477}"/>
              </a:ext>
            </a:extLst>
          </p:cNvPr>
          <p:cNvSpPr>
            <a:spLocks xmlns:a="http://schemas.openxmlformats.org/drawingml/2006/main" noGrp="1"/>
          </p:cNvSpPr>
          <p:nvPr/>
        </p:nvSpPr>
        <p:spPr>
          <a:xfrm xmlns:a="http://schemas.openxmlformats.org/drawingml/2006/main">
            <a:off x="6191250" y="2867025"/>
            <a:ext cx="5429250" cy="1028700"/>
          </a:xfrm>
          <a:prstGeom xmlns:a="http://schemas.openxmlformats.org/drawingml/2006/main" prst="roundRect">
            <a:avLst>
              <a:gd name="adj" fmla="val 11111"/>
            </a:avLst>
          </a:prstGeom>
          <a:solidFill xmlns:a="http://schemas.openxmlformats.org/drawingml/2006/main">
            <a:srgbClr val="F2F3F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9468990-F873-4CC0-AEAA-CE4D6AA96B35}"/>
              </a:ext>
            </a:extLst>
          </p:cNvPr>
          <p:cNvSpPr>
            <a:spLocks xmlns:a="http://schemas.openxmlformats.org/drawingml/2006/main" noGrp="1"/>
          </p:cNvSpPr>
          <p:nvPr/>
        </p:nvSpPr>
        <p:spPr>
          <a:xfrm xmlns:a="http://schemas.openxmlformats.org/drawingml/2006/main">
            <a:off x="6400800" y="3086100"/>
            <a:ext cx="1238250" cy="323850"/>
          </a:xfrm>
          <a:prstGeom xmlns:a="http://schemas.openxmlformats.org/drawingml/2006/main" prst="roundRect">
            <a:avLst>
              <a:gd name="adj" fmla="val 50000"/>
            </a:avLst>
          </a:prstGeom>
          <a:solidFill xmlns:a="http://schemas.openxmlformats.org/drawingml/2006/main">
            <a:srgbClr val="E7F7F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6643B9B-3DAD-40F9-BF80-9E97D3940C85}"/>
              </a:ext>
            </a:extLst>
          </p:cNvPr>
          <p:cNvSpPr>
            <a:spLocks xmlns:a="http://schemas.openxmlformats.org/drawingml/2006/main" noGrp="1"/>
          </p:cNvSpPr>
          <p:nvPr/>
        </p:nvSpPr>
        <p:spPr>
          <a:xfrm xmlns:a="http://schemas.openxmlformats.org/drawingml/2006/main">
            <a:off x="6496050" y="31527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2F855A"/>
                </a:solidFill>
                <a:latin typeface="Helvetica Neue"/>
                <a:ea typeface="Helvetica Neue"/>
                <a:cs typeface="Helvetica Neue"/>
              </a:defRPr>
            </a:pPr>
            <a:r>
              <a:rPr sz="1050" b="1">
                <a:solidFill>
                  <a:srgbClr val="2F855A"/>
                </a:solidFill>
                <a:latin typeface="Helvetica Neue"/>
                <a:ea typeface="Helvetica Neue"/>
                <a:cs typeface="Helvetica Neue"/>
              </a:rPr>
              <a:t>PASS</a:t>
            </a:r>
          </a:p>
        </p:txBody>
      </p:sp>
      <p:sp>
        <p:nvSpPr>
          <p:cNvPr id="21" name="">
            <a:extLst xmlns:a="http://schemas.openxmlformats.org/drawingml/2006/main">
              <a:ext uri="{FF2B5EF4-FFF2-40B4-BE49-F238E27FC236}">
                <a16:creationId xmlns:a16="http://schemas.microsoft.com/office/drawing/2014/main" id="{6A1E7676-A35F-487A-848D-05FBA026E494}"/>
              </a:ext>
            </a:extLst>
          </p:cNvPr>
          <p:cNvSpPr>
            <a:spLocks xmlns:a="http://schemas.openxmlformats.org/drawingml/2006/main" noGrp="1"/>
          </p:cNvSpPr>
          <p:nvPr/>
        </p:nvSpPr>
        <p:spPr>
          <a:xfrm xmlns:a="http://schemas.openxmlformats.org/drawingml/2006/main">
            <a:off x="7810500" y="3095625"/>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14 focused tests</a:t>
            </a:r>
          </a:p>
        </p:txBody>
      </p:sp>
      <p:sp>
        <p:nvSpPr>
          <p:cNvPr id="22" name="">
            <a:extLst xmlns:a="http://schemas.openxmlformats.org/drawingml/2006/main">
              <a:ext uri="{FF2B5EF4-FFF2-40B4-BE49-F238E27FC236}">
                <a16:creationId xmlns:a16="http://schemas.microsoft.com/office/drawing/2014/main" id="{3EB0FFC2-6087-4DD3-A1B8-8C545ED99370}"/>
              </a:ext>
            </a:extLst>
          </p:cNvPr>
          <p:cNvSpPr>
            <a:spLocks xmlns:a="http://schemas.openxmlformats.org/drawingml/2006/main" noGrp="1"/>
          </p:cNvSpPr>
          <p:nvPr/>
        </p:nvSpPr>
        <p:spPr>
          <a:xfrm xmlns:a="http://schemas.openxmlformats.org/drawingml/2006/main">
            <a:off x="400050" y="4152900"/>
            <a:ext cx="5429250" cy="1028700"/>
          </a:xfrm>
          <a:prstGeom xmlns:a="http://schemas.openxmlformats.org/drawingml/2006/main" prst="roundRect">
            <a:avLst>
              <a:gd name="adj" fmla="val 11111"/>
            </a:avLst>
          </a:prstGeom>
          <a:solidFill xmlns:a="http://schemas.openxmlformats.org/drawingml/2006/main">
            <a:srgbClr val="F2F3F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EF9758F-9EC7-48FB-8132-E5AD551A4518}"/>
              </a:ext>
            </a:extLst>
          </p:cNvPr>
          <p:cNvSpPr>
            <a:spLocks xmlns:a="http://schemas.openxmlformats.org/drawingml/2006/main" noGrp="1"/>
          </p:cNvSpPr>
          <p:nvPr/>
        </p:nvSpPr>
        <p:spPr>
          <a:xfrm xmlns:a="http://schemas.openxmlformats.org/drawingml/2006/main">
            <a:off x="609600" y="4371975"/>
            <a:ext cx="1238250" cy="323850"/>
          </a:xfrm>
          <a:prstGeom xmlns:a="http://schemas.openxmlformats.org/drawingml/2006/main" prst="roundRect">
            <a:avLst>
              <a:gd name="adj" fmla="val 50000"/>
            </a:avLst>
          </a:prstGeom>
          <a:solidFill xmlns:a="http://schemas.openxmlformats.org/drawingml/2006/main">
            <a:srgbClr val="FFF3D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EAC2E69-2844-4584-B5EC-EF36A8C1AAB0}"/>
              </a:ext>
            </a:extLst>
          </p:cNvPr>
          <p:cNvSpPr>
            <a:spLocks xmlns:a="http://schemas.openxmlformats.org/drawingml/2006/main" noGrp="1"/>
          </p:cNvSpPr>
          <p:nvPr/>
        </p:nvSpPr>
        <p:spPr>
          <a:xfrm xmlns:a="http://schemas.openxmlformats.org/drawingml/2006/main">
            <a:off x="704850" y="44386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PENDING</a:t>
            </a:r>
          </a:p>
        </p:txBody>
      </p:sp>
      <p:sp>
        <p:nvSpPr>
          <p:cNvPr id="25" name="">
            <a:extLst xmlns:a="http://schemas.openxmlformats.org/drawingml/2006/main">
              <a:ext uri="{FF2B5EF4-FFF2-40B4-BE49-F238E27FC236}">
                <a16:creationId xmlns:a16="http://schemas.microsoft.com/office/drawing/2014/main" id="{2B2D5BB7-EEF0-422F-8D0E-FFB90C9DFDAC}"/>
              </a:ext>
            </a:extLst>
          </p:cNvPr>
          <p:cNvSpPr>
            <a:spLocks xmlns:a="http://schemas.openxmlformats.org/drawingml/2006/main" noGrp="1"/>
          </p:cNvSpPr>
          <p:nvPr/>
        </p:nvSpPr>
        <p:spPr>
          <a:xfrm xmlns:a="http://schemas.openxmlformats.org/drawingml/2006/main">
            <a:off x="2019300" y="4381500"/>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Versioned public release and persistent identifiers</a:t>
            </a:r>
          </a:p>
        </p:txBody>
      </p:sp>
      <p:sp>
        <p:nvSpPr>
          <p:cNvPr id="26" name="">
            <a:extLst xmlns:a="http://schemas.openxmlformats.org/drawingml/2006/main">
              <a:ext uri="{FF2B5EF4-FFF2-40B4-BE49-F238E27FC236}">
                <a16:creationId xmlns:a16="http://schemas.microsoft.com/office/drawing/2014/main" id="{5FF7E0F2-449C-4712-816A-863589B1E4A3}"/>
              </a:ext>
            </a:extLst>
          </p:cNvPr>
          <p:cNvSpPr>
            <a:spLocks xmlns:a="http://schemas.openxmlformats.org/drawingml/2006/main" noGrp="1"/>
          </p:cNvSpPr>
          <p:nvPr/>
        </p:nvSpPr>
        <p:spPr>
          <a:xfrm xmlns:a="http://schemas.openxmlformats.org/drawingml/2006/main">
            <a:off x="6191250" y="4152900"/>
            <a:ext cx="5429250" cy="1028700"/>
          </a:xfrm>
          <a:prstGeom xmlns:a="http://schemas.openxmlformats.org/drawingml/2006/main" prst="roundRect">
            <a:avLst>
              <a:gd name="adj" fmla="val 11111"/>
            </a:avLst>
          </a:prstGeom>
          <a:solidFill xmlns:a="http://schemas.openxmlformats.org/drawingml/2006/main">
            <a:srgbClr val="F2F3F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C598D07-02B0-4372-BFEC-9EAA7581C79E}"/>
              </a:ext>
            </a:extLst>
          </p:cNvPr>
          <p:cNvSpPr>
            <a:spLocks xmlns:a="http://schemas.openxmlformats.org/drawingml/2006/main" noGrp="1"/>
          </p:cNvSpPr>
          <p:nvPr/>
        </p:nvSpPr>
        <p:spPr>
          <a:xfrm xmlns:a="http://schemas.openxmlformats.org/drawingml/2006/main">
            <a:off x="6400800" y="4371975"/>
            <a:ext cx="1238250" cy="323850"/>
          </a:xfrm>
          <a:prstGeom xmlns:a="http://schemas.openxmlformats.org/drawingml/2006/main" prst="roundRect">
            <a:avLst>
              <a:gd name="adj" fmla="val 50000"/>
            </a:avLst>
          </a:prstGeom>
          <a:solidFill xmlns:a="http://schemas.openxmlformats.org/drawingml/2006/main">
            <a:srgbClr val="FFF3D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EF34B45-F117-4848-BC78-2D6CE51ADECB}"/>
              </a:ext>
            </a:extLst>
          </p:cNvPr>
          <p:cNvSpPr>
            <a:spLocks xmlns:a="http://schemas.openxmlformats.org/drawingml/2006/main" noGrp="1"/>
          </p:cNvSpPr>
          <p:nvPr/>
        </p:nvSpPr>
        <p:spPr>
          <a:xfrm xmlns:a="http://schemas.openxmlformats.org/drawingml/2006/main">
            <a:off x="6496050" y="44386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D97706"/>
                </a:solidFill>
                <a:latin typeface="Helvetica Neue"/>
                <a:ea typeface="Helvetica Neue"/>
                <a:cs typeface="Helvetica Neue"/>
              </a:defRPr>
            </a:pPr>
            <a:r>
              <a:rPr sz="1050" b="1">
                <a:solidFill>
                  <a:srgbClr val="D97706"/>
                </a:solidFill>
                <a:latin typeface="Helvetica Neue"/>
                <a:ea typeface="Helvetica Neue"/>
                <a:cs typeface="Helvetica Neue"/>
              </a:rPr>
              <a:t>PENDING</a:t>
            </a:r>
          </a:p>
        </p:txBody>
      </p:sp>
      <p:sp>
        <p:nvSpPr>
          <p:cNvPr id="29" name="">
            <a:extLst xmlns:a="http://schemas.openxmlformats.org/drawingml/2006/main">
              <a:ext uri="{FF2B5EF4-FFF2-40B4-BE49-F238E27FC236}">
                <a16:creationId xmlns:a16="http://schemas.microsoft.com/office/drawing/2014/main" id="{6BCDD2F7-4857-4F6A-A063-D216B4E5BF4F}"/>
              </a:ext>
            </a:extLst>
          </p:cNvPr>
          <p:cNvSpPr>
            <a:spLocks xmlns:a="http://schemas.openxmlformats.org/drawingml/2006/main" noGrp="1"/>
          </p:cNvSpPr>
          <p:nvPr/>
        </p:nvSpPr>
        <p:spPr>
          <a:xfrm xmlns:a="http://schemas.openxmlformats.org/drawingml/2006/main">
            <a:off x="7810500" y="4381500"/>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CRediT, funding and conflict-of-interest declarations</a:t>
            </a:r>
          </a:p>
        </p:txBody>
      </p:sp>
    </p:spTree>
    <p:extLst>
      <p:ext uri="{BB962C8B-B14F-4D97-AF65-F5344CB8AC3E}">
        <p14:creationId xmlns:p14="http://schemas.microsoft.com/office/powerpoint/2010/main" val="134618544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3D88D9D-E34C-4492-8031-A086B12C8B09}"/>
              </a:ext>
            </a:extLst>
          </p:cNvPr>
          <p:cNvSpPr>
            <a:spLocks xmlns:a="http://schemas.openxmlformats.org/drawingml/2006/main" noGrp="1"/>
          </p:cNvSpPr>
          <p:nvPr/>
        </p:nvSpPr>
        <p:spPr>
          <a:xfrm xmlns:a="http://schemas.openxmlformats.org/drawingml/2006/main">
            <a:off x="400050" y="228600"/>
            <a:ext cx="695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RAPID RESPONSES</a:t>
            </a:r>
          </a:p>
        </p:txBody>
      </p:sp>
      <p:sp>
        <p:nvSpPr>
          <p:cNvPr id="2" name="">
            <a:extLst xmlns:a="http://schemas.openxmlformats.org/drawingml/2006/main">
              <a:ext uri="{FF2B5EF4-FFF2-40B4-BE49-F238E27FC236}">
                <a16:creationId xmlns:a16="http://schemas.microsoft.com/office/drawing/2014/main" id="{E0B7C21F-9B2E-42D4-9A3E-6B7E6D3D011B}"/>
              </a:ext>
            </a:extLst>
          </p:cNvPr>
          <p:cNvSpPr>
            <a:spLocks xmlns:a="http://schemas.openxmlformats.org/drawingml/2006/main" noGrp="1"/>
          </p:cNvSpPr>
          <p:nvPr/>
        </p:nvSpPr>
        <p:spPr>
          <a:xfrm xmlns:a="http://schemas.openxmlformats.org/drawingml/2006/main">
            <a:off x="400050" y="49530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318"/>
                </a:solidFill>
                <a:latin typeface="Helvetica Neue"/>
                <a:ea typeface="Helvetica Neue"/>
                <a:cs typeface="Helvetica Neue"/>
              </a:defRPr>
            </a:pPr>
            <a:r>
              <a:rPr sz="2850" b="1">
                <a:solidFill>
                  <a:srgbClr val="111318"/>
                </a:solidFill>
                <a:latin typeface="Helvetica Neue"/>
                <a:ea typeface="Helvetica Neue"/>
                <a:cs typeface="Helvetica Neue"/>
              </a:rPr>
              <a:t>Backup · Five one-sentence viva answers</a:t>
            </a:r>
          </a:p>
        </p:txBody>
      </p:sp>
      <p:sp>
        <p:nvSpPr>
          <p:cNvPr id="3" name="">
            <a:extLst xmlns:a="http://schemas.openxmlformats.org/drawingml/2006/main">
              <a:ext uri="{FF2B5EF4-FFF2-40B4-BE49-F238E27FC236}">
                <a16:creationId xmlns:a16="http://schemas.microsoft.com/office/drawing/2014/main" id="{5837FB52-7310-43B8-9A86-48D080B8D08F}"/>
              </a:ext>
            </a:extLst>
          </p:cNvPr>
          <p:cNvSpPr>
            <a:spLocks xmlns:a="http://schemas.openxmlformats.org/drawingml/2006/main" noGrp="1"/>
          </p:cNvSpPr>
          <p:nvPr/>
        </p:nvSpPr>
        <p:spPr>
          <a:xfrm xmlns:a="http://schemas.openxmlformats.org/drawingml/2006/main">
            <a:off x="400050" y="1190625"/>
            <a:ext cx="11391900" cy="19050"/>
          </a:xfrm>
          <a:prstGeom xmlns:a="http://schemas.openxmlformats.org/drawingml/2006/main" prst="rect">
            <a:avLst/>
          </a:prstGeom>
          <a:solidFill xmlns:a="http://schemas.openxmlformats.org/drawingml/2006/main">
            <a:srgbClr val="11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D08F90D-9A64-47CA-B644-76D2D985FBFE}"/>
              </a:ext>
            </a:extLst>
          </p:cNvPr>
          <p:cNvSpPr>
            <a:spLocks xmlns:a="http://schemas.openxmlformats.org/drawingml/2006/main" noGrp="1"/>
          </p:cNvSpPr>
          <p:nvPr/>
        </p:nvSpPr>
        <p:spPr>
          <a:xfrm xmlns:a="http://schemas.openxmlformats.org/drawingml/2006/main">
            <a:off x="400050" y="643890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D6470"/>
                </a:solidFill>
                <a:latin typeface="Helvetica Neue"/>
                <a:ea typeface="Helvetica Neue"/>
                <a:cs typeface="Helvetica Neue"/>
              </a:defRPr>
            </a:pPr>
            <a:r>
              <a:rPr sz="900" b="0">
                <a:solidFill>
                  <a:srgbClr val="5D6470"/>
                </a:solidFill>
                <a:latin typeface="Helvetica Neue"/>
                <a:ea typeface="Helvetica Neue"/>
                <a:cs typeface="Helvetica Neue"/>
              </a:rPr>
              <a:t>Examiner backup</a:t>
            </a:r>
          </a:p>
        </p:txBody>
      </p:sp>
      <p:sp>
        <p:nvSpPr>
          <p:cNvPr id="5" name="">
            <a:extLst xmlns:a="http://schemas.openxmlformats.org/drawingml/2006/main">
              <a:ext uri="{FF2B5EF4-FFF2-40B4-BE49-F238E27FC236}">
                <a16:creationId xmlns:a16="http://schemas.microsoft.com/office/drawing/2014/main" id="{2398B3B0-739D-4951-960F-EC52F7C6AFC0}"/>
              </a:ext>
            </a:extLst>
          </p:cNvPr>
          <p:cNvSpPr>
            <a:spLocks xmlns:a="http://schemas.openxmlformats.org/drawingml/2006/main" noGrp="1"/>
          </p:cNvSpPr>
          <p:nvPr/>
        </p:nvSpPr>
        <p:spPr>
          <a:xfrm xmlns:a="http://schemas.openxmlformats.org/drawingml/2006/main">
            <a:off x="11287125" y="63912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D6470"/>
                </a:solidFill>
                <a:latin typeface="Helvetica Neue"/>
                <a:ea typeface="Helvetica Neue"/>
                <a:cs typeface="Helvetica Neue"/>
              </a:defRPr>
            </a:pPr>
            <a:r>
              <a:rPr sz="975" b="0">
                <a:solidFill>
                  <a:srgbClr val="5D6470"/>
                </a:solidFill>
                <a:latin typeface="Helvetica Neue"/>
                <a:ea typeface="Helvetica Neue"/>
                <a:cs typeface="Helvetica Neue"/>
              </a:rPr>
              <a:t>28</a:t>
            </a:r>
          </a:p>
        </p:txBody>
      </p:sp>
      <p:sp>
        <p:nvSpPr>
          <p:cNvPr id="6" name="">
            <a:extLst xmlns:a="http://schemas.openxmlformats.org/drawingml/2006/main">
              <a:ext uri="{FF2B5EF4-FFF2-40B4-BE49-F238E27FC236}">
                <a16:creationId xmlns:a16="http://schemas.microsoft.com/office/drawing/2014/main" id="{EF5D5B33-B14A-4277-BDE0-A5526A292345}"/>
              </a:ext>
            </a:extLst>
          </p:cNvPr>
          <p:cNvSpPr>
            <a:spLocks xmlns:a="http://schemas.openxmlformats.org/drawingml/2006/main" noGrp="1"/>
          </p:cNvSpPr>
          <p:nvPr/>
        </p:nvSpPr>
        <p:spPr>
          <a:xfrm xmlns:a="http://schemas.openxmlformats.org/drawingml/2006/main">
            <a:off x="400050" y="1428750"/>
            <a:ext cx="11391900" cy="742950"/>
          </a:xfrm>
          <a:prstGeom xmlns:a="http://schemas.openxmlformats.org/drawingml/2006/main" prst="roundRect">
            <a:avLst>
              <a:gd name="adj" fmla="val 15385"/>
            </a:avLst>
          </a:prstGeom>
          <a:solidFill xmlns:a="http://schemas.openxmlformats.org/drawingml/2006/main">
            <a:srgbClr val="F2F3F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4EC95686-DE1A-430C-B6C6-28FC6770EB9F}"/>
              </a:ext>
            </a:extLst>
          </p:cNvPr>
          <p:cNvSpPr>
            <a:spLocks xmlns:a="http://schemas.openxmlformats.org/drawingml/2006/main" noGrp="1"/>
          </p:cNvSpPr>
          <p:nvPr/>
        </p:nvSpPr>
        <p:spPr>
          <a:xfrm xmlns:a="http://schemas.openxmlformats.org/drawingml/2006/main">
            <a:off x="590550" y="15906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Why is this a PhD?</a:t>
            </a:r>
          </a:p>
        </p:txBody>
      </p:sp>
      <p:sp>
        <p:nvSpPr>
          <p:cNvPr id="8" name="">
            <a:extLst xmlns:a="http://schemas.openxmlformats.org/drawingml/2006/main">
              <a:ext uri="{FF2B5EF4-FFF2-40B4-BE49-F238E27FC236}">
                <a16:creationId xmlns:a16="http://schemas.microsoft.com/office/drawing/2014/main" id="{6E8D89FC-1185-4F59-833C-1A2035C71D21}"/>
              </a:ext>
            </a:extLst>
          </p:cNvPr>
          <p:cNvSpPr>
            <a:spLocks xmlns:a="http://schemas.openxmlformats.org/drawingml/2006/main" noGrp="1"/>
          </p:cNvSpPr>
          <p:nvPr/>
        </p:nvSpPr>
        <p:spPr>
          <a:xfrm xmlns:a="http://schemas.openxmlformats.org/drawingml/2006/main">
            <a:off x="3429000" y="15621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It contributes a falsifiable integration formalism, evidence logic and field supportability diagnosis—not merely software.</a:t>
            </a:r>
          </a:p>
        </p:txBody>
      </p:sp>
      <p:sp>
        <p:nvSpPr>
          <p:cNvPr id="9" name="">
            <a:extLst xmlns:a="http://schemas.openxmlformats.org/drawingml/2006/main">
              <a:ext uri="{FF2B5EF4-FFF2-40B4-BE49-F238E27FC236}">
                <a16:creationId xmlns:a16="http://schemas.microsoft.com/office/drawing/2014/main" id="{7E550F00-CA7F-4C4F-97BB-6C67D5CCCBDC}"/>
              </a:ext>
            </a:extLst>
          </p:cNvPr>
          <p:cNvSpPr>
            <a:spLocks xmlns:a="http://schemas.openxmlformats.org/drawingml/2006/main" noGrp="1"/>
          </p:cNvSpPr>
          <p:nvPr/>
        </p:nvSpPr>
        <p:spPr>
          <a:xfrm xmlns:a="http://schemas.openxmlformats.org/drawingml/2006/main">
            <a:off x="400050" y="2362200"/>
            <a:ext cx="1139190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D1BFD5F8-25CA-422D-AD7B-748BB581102B}"/>
              </a:ext>
            </a:extLst>
          </p:cNvPr>
          <p:cNvSpPr>
            <a:spLocks xmlns:a="http://schemas.openxmlformats.org/drawingml/2006/main" noGrp="1"/>
          </p:cNvSpPr>
          <p:nvPr/>
        </p:nvSpPr>
        <p:spPr>
          <a:xfrm xmlns:a="http://schemas.openxmlformats.org/drawingml/2006/main">
            <a:off x="590550" y="25241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Did it beat TracerLPM?</a:t>
            </a:r>
          </a:p>
        </p:txBody>
      </p:sp>
      <p:sp>
        <p:nvSpPr>
          <p:cNvPr id="11" name="">
            <a:extLst xmlns:a="http://schemas.openxmlformats.org/drawingml/2006/main">
              <a:ext uri="{FF2B5EF4-FFF2-40B4-BE49-F238E27FC236}">
                <a16:creationId xmlns:a16="http://schemas.microsoft.com/office/drawing/2014/main" id="{B13DD907-D9BE-4C12-95A6-28A900580160}"/>
              </a:ext>
            </a:extLst>
          </p:cNvPr>
          <p:cNvSpPr>
            <a:spLocks xmlns:a="http://schemas.openxmlformats.org/drawingml/2006/main" noGrp="1"/>
          </p:cNvSpPr>
          <p:nvPr/>
        </p:nvSpPr>
        <p:spPr>
          <a:xfrm xmlns:a="http://schemas.openxmlformats.org/drawingml/2006/main">
            <a:off x="3429000" y="249555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It closely reproduced reported configurations; graph value was not established and harmful topology was detectable.</a:t>
            </a:r>
          </a:p>
        </p:txBody>
      </p:sp>
      <p:sp>
        <p:nvSpPr>
          <p:cNvPr id="12" name="">
            <a:extLst xmlns:a="http://schemas.openxmlformats.org/drawingml/2006/main">
              <a:ext uri="{FF2B5EF4-FFF2-40B4-BE49-F238E27FC236}">
                <a16:creationId xmlns:a16="http://schemas.microsoft.com/office/drawing/2014/main" id="{DE590E1D-2AB6-4D75-A04A-4C218AA220DD}"/>
              </a:ext>
            </a:extLst>
          </p:cNvPr>
          <p:cNvSpPr>
            <a:spLocks xmlns:a="http://schemas.openxmlformats.org/drawingml/2006/main" noGrp="1"/>
          </p:cNvSpPr>
          <p:nvPr/>
        </p:nvSpPr>
        <p:spPr>
          <a:xfrm xmlns:a="http://schemas.openxmlformats.org/drawingml/2006/main">
            <a:off x="400050" y="3295650"/>
            <a:ext cx="11391900" cy="742950"/>
          </a:xfrm>
          <a:prstGeom xmlns:a="http://schemas.openxmlformats.org/drawingml/2006/main" prst="roundRect">
            <a:avLst>
              <a:gd name="adj" fmla="val 15385"/>
            </a:avLst>
          </a:prstGeom>
          <a:solidFill xmlns:a="http://schemas.openxmlformats.org/drawingml/2006/main">
            <a:srgbClr val="F2F3F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E595E349-C35C-4492-8C15-C8104FE0A216}"/>
              </a:ext>
            </a:extLst>
          </p:cNvPr>
          <p:cNvSpPr>
            <a:spLocks xmlns:a="http://schemas.openxmlformats.org/drawingml/2006/main" noGrp="1"/>
          </p:cNvSpPr>
          <p:nvPr/>
        </p:nvSpPr>
        <p:spPr>
          <a:xfrm xmlns:a="http://schemas.openxmlformats.org/drawingml/2006/main">
            <a:off x="590550" y="34575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What does the sheaf add?</a:t>
            </a:r>
          </a:p>
        </p:txBody>
      </p:sp>
      <p:sp>
        <p:nvSpPr>
          <p:cNvPr id="14" name="">
            <a:extLst xmlns:a="http://schemas.openxmlformats.org/drawingml/2006/main">
              <a:ext uri="{FF2B5EF4-FFF2-40B4-BE49-F238E27FC236}">
                <a16:creationId xmlns:a16="http://schemas.microsoft.com/office/drawing/2014/main" id="{62E50E8F-91F5-44B6-8C83-97E721648387}"/>
              </a:ext>
            </a:extLst>
          </p:cNvPr>
          <p:cNvSpPr>
            <a:spLocks xmlns:a="http://schemas.openxmlformats.org/drawingml/2006/main" noGrp="1"/>
          </p:cNvSpPr>
          <p:nvPr/>
        </p:nvSpPr>
        <p:spPr>
          <a:xfrm xmlns:a="http://schemas.openxmlformats.org/drawingml/2006/main">
            <a:off x="3429000" y="34290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Edge-specific transformations and global conflict localisation, conditionally—not universal superiority.</a:t>
            </a:r>
          </a:p>
        </p:txBody>
      </p:sp>
      <p:sp>
        <p:nvSpPr>
          <p:cNvPr id="15" name="">
            <a:extLst xmlns:a="http://schemas.openxmlformats.org/drawingml/2006/main">
              <a:ext uri="{FF2B5EF4-FFF2-40B4-BE49-F238E27FC236}">
                <a16:creationId xmlns:a16="http://schemas.microsoft.com/office/drawing/2014/main" id="{379DF488-DDBE-4F6F-80B1-ECD9685D4C67}"/>
              </a:ext>
            </a:extLst>
          </p:cNvPr>
          <p:cNvSpPr>
            <a:spLocks xmlns:a="http://schemas.openxmlformats.org/drawingml/2006/main" noGrp="1"/>
          </p:cNvSpPr>
          <p:nvPr/>
        </p:nvSpPr>
        <p:spPr>
          <a:xfrm xmlns:a="http://schemas.openxmlformats.org/drawingml/2006/main">
            <a:off x="400050" y="4229100"/>
            <a:ext cx="1139190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F2D658B0-F8CB-4244-AFCC-ABDC2D5EAC81}"/>
              </a:ext>
            </a:extLst>
          </p:cNvPr>
          <p:cNvSpPr>
            <a:spLocks xmlns:a="http://schemas.openxmlformats.org/drawingml/2006/main" noGrp="1"/>
          </p:cNvSpPr>
          <p:nvPr/>
        </p:nvSpPr>
        <p:spPr>
          <a:xfrm xmlns:a="http://schemas.openxmlformats.org/drawingml/2006/main">
            <a:off x="590550" y="43910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Is Ghana validated?</a:t>
            </a:r>
          </a:p>
        </p:txBody>
      </p:sp>
      <p:sp>
        <p:nvSpPr>
          <p:cNvPr id="17" name="">
            <a:extLst xmlns:a="http://schemas.openxmlformats.org/drawingml/2006/main">
              <a:ext uri="{FF2B5EF4-FFF2-40B4-BE49-F238E27FC236}">
                <a16:creationId xmlns:a16="http://schemas.microsoft.com/office/drawing/2014/main" id="{F0A01303-CCE6-4374-A689-7D5C7BA6D4DC}"/>
              </a:ext>
            </a:extLst>
          </p:cNvPr>
          <p:cNvSpPr>
            <a:spLocks xmlns:a="http://schemas.openxmlformats.org/drawingml/2006/main" noGrp="1"/>
          </p:cNvSpPr>
          <p:nvPr/>
        </p:nvSpPr>
        <p:spPr>
          <a:xfrm xmlns:a="http://schemas.openxmlformats.org/drawingml/2006/main">
            <a:off x="3429000" y="436245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No end-to-end truth; the field result identifies evidence ceilings and priority measurements.</a:t>
            </a:r>
          </a:p>
        </p:txBody>
      </p:sp>
      <p:sp>
        <p:nvSpPr>
          <p:cNvPr id="18" name="">
            <a:extLst xmlns:a="http://schemas.openxmlformats.org/drawingml/2006/main">
              <a:ext uri="{FF2B5EF4-FFF2-40B4-BE49-F238E27FC236}">
                <a16:creationId xmlns:a16="http://schemas.microsoft.com/office/drawing/2014/main" id="{1B8AE35C-8E75-4102-AADE-BAC44E4DE190}"/>
              </a:ext>
            </a:extLst>
          </p:cNvPr>
          <p:cNvSpPr>
            <a:spLocks xmlns:a="http://schemas.openxmlformats.org/drawingml/2006/main" noGrp="1"/>
          </p:cNvSpPr>
          <p:nvPr/>
        </p:nvSpPr>
        <p:spPr>
          <a:xfrm xmlns:a="http://schemas.openxmlformats.org/drawingml/2006/main">
            <a:off x="400050" y="5162550"/>
            <a:ext cx="11391900" cy="742950"/>
          </a:xfrm>
          <a:prstGeom xmlns:a="http://schemas.openxmlformats.org/drawingml/2006/main" prst="roundRect">
            <a:avLst>
              <a:gd name="adj" fmla="val 15385"/>
            </a:avLst>
          </a:prstGeom>
          <a:solidFill xmlns:a="http://schemas.openxmlformats.org/drawingml/2006/main">
            <a:srgbClr val="F2F3F5"/>
          </a:solidFill>
          <a:ln xmlns:a="http://schemas.openxmlformats.org/drawingml/2006/main" w="9525">
            <a:solidFill>
              <a:srgbClr val="B8BCC4"/>
            </a:solidFill>
            <a:prstDash val="solid"/>
          </a:ln>
        </p:spPr>
      </p:sp>
      <p:sp>
        <p:nvSpPr>
          <p:cNvPr id="19" name="">
            <a:extLst xmlns:a="http://schemas.openxmlformats.org/drawingml/2006/main">
              <a:ext uri="{FF2B5EF4-FFF2-40B4-BE49-F238E27FC236}">
                <a16:creationId xmlns:a16="http://schemas.microsoft.com/office/drawing/2014/main" id="{471B59C9-BB1A-41B2-A074-4717A6B11694}"/>
              </a:ext>
            </a:extLst>
          </p:cNvPr>
          <p:cNvSpPr>
            <a:spLocks xmlns:a="http://schemas.openxmlformats.org/drawingml/2006/main" noGrp="1"/>
          </p:cNvSpPr>
          <p:nvPr/>
        </p:nvSpPr>
        <p:spPr>
          <a:xfrm xmlns:a="http://schemas.openxmlformats.org/drawingml/2006/main">
            <a:off x="590550" y="53244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What is the decisive next test?</a:t>
            </a:r>
          </a:p>
        </p:txBody>
      </p:sp>
      <p:sp>
        <p:nvSpPr>
          <p:cNvPr id="20" name="">
            <a:extLst xmlns:a="http://schemas.openxmlformats.org/drawingml/2006/main">
              <a:ext uri="{FF2B5EF4-FFF2-40B4-BE49-F238E27FC236}">
                <a16:creationId xmlns:a16="http://schemas.microsoft.com/office/drawing/2014/main" id="{574AE968-6185-4B2A-B066-5F40A18EB06F}"/>
              </a:ext>
            </a:extLst>
          </p:cNvPr>
          <p:cNvSpPr>
            <a:spLocks xmlns:a="http://schemas.openxmlformats.org/drawingml/2006/main" noGrp="1"/>
          </p:cNvSpPr>
          <p:nvPr/>
        </p:nvSpPr>
        <p:spPr>
          <a:xfrm xmlns:a="http://schemas.openxmlformats.org/drawingml/2006/main">
            <a:off x="3429000" y="529590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Independent replication under another generator or matched field connectivity truth.</a:t>
            </a:r>
          </a:p>
        </p:txBody>
      </p:sp>
    </p:spTree>
    <p:extLst>
      <p:ext uri="{BB962C8B-B14F-4D97-AF65-F5344CB8AC3E}">
        <p14:creationId xmlns:p14="http://schemas.microsoft.com/office/powerpoint/2010/main" val="6771911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2026-07-30T11:13:43.7740000Z</dcterms:created>
  <dcterms:modified xsi:type="dcterms:W3CDTF">2026-07-30T11:13:43.7740000Z</dcterms:modified>
</coreProperties>
</file>