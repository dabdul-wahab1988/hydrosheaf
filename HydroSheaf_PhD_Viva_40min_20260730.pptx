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0:00-0:30</a:t>
            </a:r>
          </a:p>
          <a:p>
            <a:endParaRPr/>
          </a:p>
          <a:p>
            <a:r>
              <a:t>MEMORY ANCHOR: Integrate the evidence without hiding uncertainty.</a:t>
            </a:r>
          </a:p>
          <a:p>
            <a:endParaRPr/>
          </a:p>
          <a:p>
            <a:r>
              <a:t>SAY THIS:</a:t>
            </a:r>
          </a:p>
          <a:p>
            <a:r>
              <a:t>Good morning, and thank you for the opportunity to present my doctoral research. This thesis develops, benchmarks and applies HydroSheaf, an uncertainty-aware framework for integrating groundwater-age evidence, directed connectivity and hydrogeochemical reactions. The central scientific position is that integration is useful only when it exposes non-uniqueness rather than hiding it. I will organise the presentation into the introduction, methodology, results and discussion for each objective, and finally the conclusions and recommendations.</a:t>
            </a:r>
          </a:p>
          <a:p>
            <a:endParaRPr/>
          </a:p>
          <a:p>
            <a:r>
              <a:t>TRANSITION:</a:t>
            </a:r>
          </a:p>
          <a:p>
            <a:r>
              <a:t>I will begin with the groundwater setting that makes this integration necessary.</a:t>
            </a:r>
          </a:p>
          <a:p>
            <a:endParaRPr/>
          </a:p>
          <a:p>
            <a:r>
              <a:t>DELIVERY CUE: Stand still, look at the panel and speak slowly. Pause after the central scientific position.</a:t>
            </a:r>
          </a:p>
          <a:p>
            <a:endParaRPr/>
          </a:p>
          <a:p>
            <a:r>
              <a:t>AVOID SAYING: Do not begin with software modules, milestone labels or a claim of universal superiority.</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0:30-1:40</a:t>
            </a:r>
          </a:p>
          <a:p>
            <a:endParaRPr/>
          </a:p>
          <a:p>
            <a:r>
              <a:t>MEMORY ANCHOR: Important decisions depend on quantities that are inferred indirectly.</a:t>
            </a:r>
          </a:p>
          <a:p>
            <a:endParaRPr/>
          </a:p>
          <a:p>
            <a:r>
              <a:t>SAY THIS:</a:t>
            </a:r>
          </a:p>
          <a:p>
            <a:r>
              <a:t>Groundwater supplies drinking water, irrigation and economic activity, particularly in semi-arid regions where monitoring is limited. Yet the quantities needed for management are rarely observed directly. We need to know how long water has been underground, which locations are connected along flow paths, and which reactions control water quality. Environmental and nuclear tracers provide information about residence time. Hydraulic observations constrain flow direction and connectivity. Hydrochemistry records mixing and reaction. Each evidence stream is valuable, but each provides only a partial view. The scientific challenge is therefore not simply to fit each dataset. It is to determine which combined groundwater interpretation remains defensible when observations are sparse, heterogeneous and uncertain.</a:t>
            </a:r>
          </a:p>
          <a:p>
            <a:endParaRPr/>
          </a:p>
          <a:p>
            <a:r>
              <a:t>TRANSITION:</a:t>
            </a:r>
          </a:p>
          <a:p>
            <a:r>
              <a:t>That background leads to the specific problem addressed by the thesis.</a:t>
            </a:r>
          </a:p>
          <a:p>
            <a:endParaRPr/>
          </a:p>
          <a:p>
            <a:r>
              <a:t>DELIVERY CUE: Use the sequence: management need, partial observations, hidden quantities, integration challenge.</a:t>
            </a:r>
          </a:p>
          <a:p>
            <a:endParaRPr/>
          </a:p>
          <a:p>
            <a:r>
              <a:t>AVOID SAYING: Do not imply that every study area contains all three evidence streams.</a:t>
            </a:r>
          </a:p>
          <a:p>
            <a:endParaRPr/>
          </a:p>
          <a:p>
            <a:r>
              <a:t>[Sources]</a:t>
            </a:r>
          </a:p>
          <a:p>
            <a:r>
              <a:t>- C:\Users\ThinkPad P1 G4\Documents\July_2026\NeutroProject\Groundwater\Hydrosheaf\draftbychapter\PhDChapter1_refined.docx</a:t>
            </a:r>
          </a:p>
          <a:p>
            <a:r>
              <a:t>- C:\Users\ThinkPad P1 G4\Documents\July_2026\NeutroProject\Groundwater\Hydrosheaf\M1\M1_draftv2\Manuscript- Water and Ecology.docx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1:40-3:10</a:t>
            </a:r>
          </a:p>
          <a:p>
            <a:endParaRPr/>
          </a:p>
          <a:p>
            <a:r>
              <a:t>MEMORY ANCHOR: Coupled system, sparse evidence, separate workflows, conflicting stories.</a:t>
            </a:r>
          </a:p>
          <a:p>
            <a:endParaRPr/>
          </a:p>
          <a:p>
            <a:r>
              <a:t>SAY THIS:</a:t>
            </a:r>
          </a:p>
          <a:p>
            <a:r>
              <a:t>The problem is that groundwater residence time, flow-path connectivity and chemical evolution describe the same physical aquifer, but they are commonly analysed as separate inverse problems. In data-limited aquifers, each problem is already non-unique. Several age distributions may fit the same tracer signal. Several directed networks may fit sparse hydraulic evidence. Several reaction pathways may reproduce the same chemistry. When the analyses are performed separately, uncertainty from one stage is often passed forward as fixed truth in the next. The result can be several individually plausible but mutually incompatible aquifer stories. Even worse, combining evidence can make uncertainty appear smaller while the interpretation becomes less accurate. What was needed was a framework that couples uncertain evidence, tests global compatibility, measures incremental information and reports when the problem remains non-identifiable.</a:t>
            </a:r>
          </a:p>
          <a:p>
            <a:endParaRPr/>
          </a:p>
          <a:p>
            <a:r>
              <a:t>TRANSITION:</a:t>
            </a:r>
          </a:p>
          <a:p>
            <a:r>
              <a:t>The source of that problem becomes clearer when the three unknowns are considered together.</a:t>
            </a:r>
          </a:p>
          <a:p>
            <a:endParaRPr/>
          </a:p>
          <a:p>
            <a:r>
              <a:t>DELIVERY CUE: Use four verbal signposts: coupled system, sparse evidence, separate workflows, conflicting stories.</a:t>
            </a:r>
          </a:p>
          <a:p>
            <a:endParaRPr/>
          </a:p>
          <a:p>
            <a:r>
              <a:t>AVOID SAYING: Do not say conventional methods are wrong; say their separate use leaves cross-domain consistency untested.</a:t>
            </a:r>
          </a:p>
          <a:p>
            <a:endParaRPr/>
          </a:p>
          <a:p>
            <a:r>
              <a:t>[Sources]</a:t>
            </a:r>
          </a:p>
          <a:p>
            <a:r>
              <a:t>- C:\Users\ThinkPad P1 G4\Documents\July_2026\NeutroProject\Groundwater\Hydrosheaf\M5\m5_inverse_reaction_benchmark\docs\m5_results_summary.md</a:t>
            </a:r>
          </a:p>
          <a:p>
            <a:r>
              <a:t>- C:\Users\ThinkPad P1 G4\Documents\July_2026\NeutroProject\Groundwater\Hydrosheaf\M7\m7_nonuniqueness_benchmark\docs\m7_3_results.md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3:10-4:10</a:t>
            </a:r>
          </a:p>
          <a:p>
            <a:endParaRPr/>
          </a:p>
          <a:p>
            <a:r>
              <a:t>MEMORY ANCHOR: Age, topology and chemistry constrain one another.</a:t>
            </a:r>
          </a:p>
          <a:p>
            <a:endParaRPr/>
          </a:p>
          <a:p>
            <a:r>
              <a:t>SAY THIS:</a:t>
            </a:r>
          </a:p>
          <a:p>
            <a:r>
              <a:t>Age, topology and chemistry cannot be interpreted independently. Tracer evidence constrains plausible travel times and mixing. Topology determines which samples can reasonably be compared along a directed flow path. Chemistry constrains which reactions are plausible between connected locations. A sequential workflow often estimates one domain first and then treats that estimate as known. HydroSheaf instead treats the relations themselves as uncertain. It asks whether locally plausible tracer, hydraulic and chemical relations can be assembled into a globally compatible interpretation. If they cannot, the conflict should remain visible rather than being averaged away. This local-to-global question is the conceptual thread connecting all six objectives.</a:t>
            </a:r>
          </a:p>
          <a:p>
            <a:endParaRPr/>
          </a:p>
          <a:p>
            <a:r>
              <a:t>TRANSITION:</a:t>
            </a:r>
          </a:p>
          <a:p>
            <a:r>
              <a:t>With that scientific gap established, I can state the overall aim.</a:t>
            </a:r>
          </a:p>
          <a:p>
            <a:endParaRPr/>
          </a:p>
          <a:p>
            <a:r>
              <a:t>DELIVERY CUE: Point once from age to topology to chemistry, then return your hands to a neutral position.</a:t>
            </a:r>
          </a:p>
          <a:p>
            <a:endParaRPr/>
          </a:p>
          <a:p>
            <a:r>
              <a:t>AVOID SAYING: Do not imply that the Ghana dataset itself contains all three evidence domains.</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4:10-5:10</a:t>
            </a:r>
          </a:p>
          <a:p>
            <a:endParaRPr/>
          </a:p>
          <a:p>
            <a:r>
              <a:t>MEMORY ANCHOR: Develop, benchmark and apply an uncertainty-aware integration framework.</a:t>
            </a:r>
          </a:p>
          <a:p>
            <a:endParaRPr/>
          </a:p>
          <a:p>
            <a:r>
              <a:t>SAY THIS:</a:t>
            </a:r>
          </a:p>
          <a:p>
            <a:r>
              <a:t>The aim of this study is to develop, benchmark and apply HydroSheaf, an uncertainty-aware framework that integrates environmental and nuclear tracers, directed groundwater topology and inverse hydrogeochemistry to diagnose groundwater residence time and evolution in data-limited semi-arid aquifers. Three verbs matter here. Develop means constructing the formal and executable framework. Benchmark means testing the components and the integration claims against evidence that can genuinely challenge them. Apply means transferring the diagnostic logic to Ghanaian aquifer datasets while respecting their evidential limits. The aim is therefore methodological, evaluative and applied.</a:t>
            </a:r>
          </a:p>
          <a:p>
            <a:endParaRPr/>
          </a:p>
          <a:p>
            <a:r>
              <a:t>TRANSITION:</a:t>
            </a:r>
          </a:p>
          <a:p>
            <a:r>
              <a:t>I separated that broad aim into six objectives with distinct scientific roles.</a:t>
            </a:r>
          </a:p>
          <a:p>
            <a:endParaRPr/>
          </a:p>
          <a:p>
            <a:r>
              <a:t>DELIVERY CUE: Read the aim deliberately. Emphasise develop, benchmark and apply.</a:t>
            </a:r>
          </a:p>
          <a:p>
            <a:endParaRPr/>
          </a:p>
          <a:p>
            <a:r>
              <a:t>AVOID SAYING: Do not shorten the aim in a way that removes uncertainty, topology or inverse hydrogeochemistry.</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5:10-6:25</a:t>
            </a:r>
          </a:p>
          <a:p>
            <a:endParaRPr/>
          </a:p>
          <a:p>
            <a:r>
              <a:t>MEMORY ANCHOR: Review, develop, then benchmark the components.</a:t>
            </a:r>
          </a:p>
          <a:p>
            <a:endParaRPr/>
          </a:p>
          <a:p>
            <a:r>
              <a:t>SAY THIS:</a:t>
            </a:r>
          </a:p>
          <a:p>
            <a:r>
              <a:t>The first three objectives establish the foundation. Objective one critically reviews environmental- and nuclear-tracer residence-time methods, groundwater-connectivity approaches and inverse hydrogeochemical modelling in data-limited aquifers. Objective two develops HydroSheaf to integrate tracer-based residence-time inference, directed groundwater topology and sparse inverse hydrogeochemical modelling. Objective three benchmarks the residence-time, topology and reaction-inference components against public, reference and controlled synthetic datasets. The sequence is intentional. The review defines the unresolved problem. Development translates that problem into a formal workflow. Component benchmarking then tests whether the individual parts are operational before any claim is made about the value of integration.</a:t>
            </a:r>
          </a:p>
          <a:p>
            <a:endParaRPr/>
          </a:p>
          <a:p>
            <a:r>
              <a:t>TRANSITION:</a:t>
            </a:r>
          </a:p>
          <a:p>
            <a:r>
              <a:t>The remaining objectives challenge the framework, test integration directly and examine field transfer.</a:t>
            </a:r>
          </a:p>
          <a:p>
            <a:endParaRPr/>
          </a:p>
          <a:p>
            <a:r>
              <a:t>DELIVERY CUE: Count the objectives visibly but do not read them as one long sentence.</a:t>
            </a:r>
          </a:p>
          <a:p>
            <a:endParaRPr/>
          </a:p>
          <a:p>
            <a:r>
              <a:t>AVOID SAYING: Do not merge development and benchmarking into one objective; their evidence requirements differ.</a:t>
            </a:r>
          </a:p>
          <a:p>
            <a:endParaRPr/>
          </a:p>
          <a:p>
            <a:r>
              <a:t>[Sources]</a:t>
            </a:r>
          </a:p>
          <a:p>
            <a:r>
              <a:t>- C:\Users\ThinkPad P1 G4\Documents\July_2026\NeutroProject\Groundwater\Hydrosheaf\draftbychapter\PhDChapter1_refined.docx</a:t>
            </a:r>
          </a:p>
          <a:p>
            <a:r>
              <a:t>- C:\Users\ThinkPad P1 G4\Documents\July_2026\NeutroProject\Groundwater\Hydrosheaf\draftbychapter\Chapter_Two_Literature_Review_Refined.docx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6:25-7:45</a:t>
            </a:r>
          </a:p>
          <a:p>
            <a:endParaRPr/>
          </a:p>
          <a:p>
            <a:r>
              <a:t>MEMORY ANCHOR: Test robustness, evaluate integration and apply to Ghana.</a:t>
            </a:r>
          </a:p>
          <a:p>
            <a:endParaRPr/>
          </a:p>
          <a:p>
            <a:r>
              <a:t>SAY THIS:</a:t>
            </a:r>
          </a:p>
          <a:p>
            <a:r>
              <a:t>Objective four assesses robustness and identifiability under alternative model assumptions, conflicting evidence, measurement uncertainty and missing data. Objective five determines when integrating hydraulic, tracer and chemical evidence improves inference, is redundant or causes negative transfer using independent benchmarks and adverse controls. Objective six applies HydroSheaf to Ghanaian aquifer datasets to evaluate transferability and identify which interpretations are supportable or non-identifiable under data scarcity. Objective five is the central integration test because it does not assume that more data must help. It requires added evidence to demonstrate independent information. Together, the six roles are review, develop, benchmark components, test robustness, evaluate integration and apply to Ghana.</a:t>
            </a:r>
          </a:p>
          <a:p>
            <a:endParaRPr/>
          </a:p>
          <a:p>
            <a:r>
              <a:t>TRANSITION:</a:t>
            </a:r>
          </a:p>
          <a:p>
            <a:r>
              <a:t>These objectives also clarify what is genuinely novel about the thesis.</a:t>
            </a:r>
          </a:p>
          <a:p>
            <a:endParaRPr/>
          </a:p>
          <a:p>
            <a:r>
              <a:t>DELIVERY CUE: Slow down for Objective five and state that integration is tested, not assumed.</a:t>
            </a:r>
          </a:p>
          <a:p>
            <a:endParaRPr/>
          </a:p>
          <a:p>
            <a:r>
              <a:t>AVOID SAYING: Do not describe robustness testing as another component benchmark or Ghana transfer as end-to-end validation.</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7:45-8:55</a:t>
            </a:r>
          </a:p>
          <a:p>
            <a:endParaRPr/>
          </a:p>
          <a:p>
            <a:r>
              <a:t>MEMORY ANCHOR: The novelty is coupling plus falsification, not inventing the ingredients.</a:t>
            </a:r>
          </a:p>
          <a:p>
            <a:endParaRPr/>
          </a:p>
          <a:p>
            <a:r>
              <a:t>SAY THIS:</a:t>
            </a:r>
          </a:p>
          <a:p>
            <a:r>
              <a:t>The individual scientific ingredients are established. This thesis does not claim to invent tracer dating, directed graphs, sheaf theory, PHREEQC, MODFLOW or MODPATH. The novelty is the way those foundations are made operational together for groundwater inference. HydroSheaf provides a groundwater-specific executable coupling, treats uncertainty and identifiability as outputs, uses adverse controls to detect false confidence, and applies locked claim-decision rules. Its significance is that integration becomes falsifiable. The framework can show that evidence is informative, redundant or harmful. It can also diagnose which field interpretations cannot be supported. That changes integration from an assumption into a scientific question.</a:t>
            </a:r>
          </a:p>
          <a:p>
            <a:endParaRPr/>
          </a:p>
          <a:p>
            <a:r>
              <a:t>TRANSITION:</a:t>
            </a:r>
          </a:p>
          <a:p>
            <a:r>
              <a:t>I will now explain the methodology used to test that question.</a:t>
            </a:r>
          </a:p>
          <a:p>
            <a:endParaRPr/>
          </a:p>
          <a:p>
            <a:r>
              <a:t>DELIVERY CUE: State the inherited foundations first, then the exact thesis contribution.</a:t>
            </a:r>
          </a:p>
          <a:p>
            <a:endParaRPr/>
          </a:p>
          <a:p>
            <a:r>
              <a:t>AVOID SAYING: Never say that you invented sheaf theory or that HydroSheaf is the first groundwater graph model.</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8:55-10:15</a:t>
            </a:r>
          </a:p>
          <a:p>
            <a:endParaRPr/>
          </a:p>
          <a:p>
            <a:r>
              <a:t>MEMORY ANCHOR: Each objective has its own evidence and failure test.</a:t>
            </a:r>
          </a:p>
          <a:p>
            <a:endParaRPr/>
          </a:p>
          <a:p>
            <a:r>
              <a:t>SAY THIS:</a:t>
            </a:r>
          </a:p>
          <a:p>
            <a:r>
              <a:t>The methodology is a staged and adversarial evaluation design. The review first defines the gap and the boundaries of defensible claims. Formalisation represents the three evidence domains as uncertain relations. Component benchmarks test residence time, topology and reaction inference separately. Robustness experiments then perturb assumptions, remove measurements and introduce conflicting evidence. Integration experiments measure incremental value, redundancy and negative transfer. Finally, field transfer applies evidence-ceiling diagnostics to Ghanaian datasets. This sequence prevents a common error: using one successful experiment to support every claim about the framework. Each claim is matched to the strongest evidence that can actually test it.</a:t>
            </a:r>
          </a:p>
          <a:p>
            <a:endParaRPr/>
          </a:p>
          <a:p>
            <a:r>
              <a:t>TRANSITION:</a:t>
            </a:r>
          </a:p>
          <a:p>
            <a:r>
              <a:t>The central mathematical distinction is between scoring an edge and transforming evidence across it.</a:t>
            </a:r>
          </a:p>
          <a:p>
            <a:endParaRPr/>
          </a:p>
          <a:p>
            <a:r>
              <a:t>DELIVERY CUE: Present the six stages as scientific decisions, not software packages.</a:t>
            </a:r>
          </a:p>
          <a:p>
            <a:endParaRPr/>
          </a:p>
          <a:p>
            <a:r>
              <a:t>AVOID SAYING: Do not present synthetic benchmarks and field transfer as interchangeable forms of validation.</a:t>
            </a:r>
          </a:p>
          <a:p>
            <a:endParaRPr/>
          </a:p>
          <a:p>
            <a:r>
              <a:t>[Sources]</a:t>
            </a:r>
          </a:p>
          <a:p>
            <a:r>
              <a:t>- C:\Users\ThinkPad P1 G4\Documents\July_2026\NeutroProject\Groundwater\Hydrosheaf\draftbychapter\Chapter_Three_Methodology.docx</a:t>
            </a:r>
          </a:p>
          <a:p>
            <a:r>
              <a:t>- C:\Users\ThinkPad P1 G4\Documents\July_2026\NeutroProject\Groundwater\Hydrosheaf\M7\m7_nonuniqueness_benchmark\manuscript\revision\FINAL_VERIFICATION_20260730.md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10:15-11:35</a:t>
            </a:r>
          </a:p>
          <a:p>
            <a:endParaRPr/>
          </a:p>
          <a:p>
            <a:r>
              <a:t>MEMORY ANCHOR: A weight scores a relation; an affine map transforms it and tests compatibility.</a:t>
            </a:r>
          </a:p>
          <a:p>
            <a:endParaRPr/>
          </a:p>
          <a:p>
            <a:r>
              <a:t>SAY THIS:</a:t>
            </a:r>
          </a:p>
          <a:p>
            <a:r>
              <a:t>An ordinary weighted graph describes which nodes are connected and assigns a scalar strength to each edge. That is useful, but it does not specify how a state measured at one node should be translated into the state expected at another node. In the tested scalar-affine representation, each edge has a gain and offset. Different edges can therefore express different relations. HydroSheaf then asks whether these locally plausible transformations compose into a global section. Inconsistent cycles produce residuals that can localise conflict. The tested contribution is scalar affine representation and conflict localisation. The software can represent broader multivariate stalks, but multivariate vector-stalk performance was not validated in this thesis.</a:t>
            </a:r>
          </a:p>
          <a:p>
            <a:endParaRPr/>
          </a:p>
          <a:p>
            <a:r>
              <a:t>TRANSITION:</a:t>
            </a:r>
          </a:p>
          <a:p>
            <a:r>
              <a:t>Because representation alone does not validate performance, claims were placed on an explicit evidence ladder.</a:t>
            </a:r>
          </a:p>
          <a:p>
            <a:endParaRPr/>
          </a:p>
          <a:p>
            <a:r>
              <a:t>DELIVERY CUE: Explain the equation once, then immediately state the scientific meaning and limitation.</a:t>
            </a:r>
          </a:p>
          <a:p>
            <a:endParaRPr/>
          </a:p>
          <a:p>
            <a:r>
              <a:t>AVOID SAYING: Do not claim that full age-chemistry-head vectors were validated.</a:t>
            </a:r>
          </a:p>
          <a:p>
            <a:endParaRPr/>
          </a:p>
          <a:p>
            <a:r>
              <a:t>[Sources]</a:t>
            </a:r>
          </a:p>
          <a:p>
            <a:r>
              <a:t>- C:\Users\ThinkPad P1 G4\Documents\July_2026\NeutroProject\Groundwater\Hydrosheaf\hydrosheaf\sheaf\directed_section.py</a:t>
            </a:r>
          </a:p>
          <a:p>
            <a:r>
              <a:t>- C:\Users\ThinkPad P1 G4\Documents\July_2026\NeutroProject\Groundwater\Hydrosheaf\M7\m7_nonuniqueness_benchmark\docs\m7_sheaf_vs_graph_results.md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11:35-12:55</a:t>
            </a:r>
          </a:p>
          <a:p>
            <a:endParaRPr/>
          </a:p>
          <a:p>
            <a:r>
              <a:t>MEMORY ANCHOR: Different evidence levels support different claims.</a:t>
            </a:r>
          </a:p>
          <a:p>
            <a:endParaRPr/>
          </a:p>
          <a:p>
            <a:r>
              <a:t>SAY THIS:</a:t>
            </a:r>
          </a:p>
          <a:p>
            <a:r>
              <a:t>The validation architecture has five levels. Unit and conversion checks establish that declared inputs are represented correctly. Reference emulation asks whether HydroSheaf can closely reproduce an established public workflow. Controlled known-truth benchmarks test recovery when the answer is planted externally. Field transfer asks what real observations can support when truth is unavailable. The missing highest level is a matched field dataset containing age tracers, repeated hydraulic observations, chemistry and independently measured connectivity. I also used locked tests. Development cases selected methods and decision rules. Held-out cases were opened once for confirmatory evaluation. This protects negative results from being tuned away, although the protocol was Git-locked rather than externally preregistered.</a:t>
            </a:r>
          </a:p>
          <a:p>
            <a:endParaRPr/>
          </a:p>
          <a:p>
            <a:r>
              <a:t>TRANSITION:</a:t>
            </a:r>
          </a:p>
          <a:p>
            <a:r>
              <a:t>I will now present the results and discussion objective by objective.</a:t>
            </a:r>
          </a:p>
          <a:p>
            <a:endParaRPr/>
          </a:p>
          <a:p>
            <a:r>
              <a:t>DELIVERY CUE: Move down the evidence ladder slowly and pause at the missing highest level.</a:t>
            </a:r>
          </a:p>
          <a:p>
            <a:endParaRPr/>
          </a:p>
          <a:p>
            <a:r>
              <a:t>AVOID SAYING: Do not call reference emulation independent truth or call the locked protocol externally preregistered.</a:t>
            </a:r>
          </a:p>
          <a:p>
            <a:endParaRPr/>
          </a:p>
          <a:p>
            <a:r>
              <a:t>[Sources]</a:t>
            </a:r>
          </a:p>
          <a:p>
            <a:r>
              <a:t>- C:\Users\ThinkPad P1 G4\Documents\July_2026\NeutroProject\Groundwater\Hydrosheaf\M7\m7_nonuniqueness_benchmark\manuscript\revision\FINAL_VERIFICATION_20260730.md</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12:55-14:10</a:t>
            </a:r>
          </a:p>
          <a:p>
            <a:endParaRPr/>
          </a:p>
          <a:p>
            <a:r>
              <a:t>MEMORY ANCHOR: The missing link was falsifiable integration.</a:t>
            </a:r>
          </a:p>
          <a:p>
            <a:endParaRPr/>
          </a:p>
          <a:p>
            <a:r>
              <a:t>SAY THIS:</a:t>
            </a:r>
          </a:p>
          <a:p>
            <a:r>
              <a:t>Objective one identified four recurring limitations. First, residence-time, connectivity and reaction models were commonly interpreted in separate workflows. Second, non-uniqueness was often treated as a nuisance rather than a primary result. Third, good observational fit was sometimes allowed to stand in for correct process identification. Fourth, additional evidence was frequently assumed to improve inference without an explicit incremental-value test. The literature therefore supplied mature component methods but not a complete solution to cross-domain compatibility. The discussion arising from the review is that the missing contribution was not simply another isolated model. It was a falsifiable way to test whether uncertain local relations remain mutually compatible when combined.</a:t>
            </a:r>
          </a:p>
          <a:p>
            <a:endParaRPr/>
          </a:p>
          <a:p>
            <a:r>
              <a:t>TRANSITION:</a:t>
            </a:r>
          </a:p>
          <a:p>
            <a:r>
              <a:t>Objective two converted that conceptual requirement into an executable framework.</a:t>
            </a:r>
          </a:p>
          <a:p>
            <a:endParaRPr/>
          </a:p>
          <a:p>
            <a:r>
              <a:t>DELIVERY CUE: Use the four findings as signposts, then state the gap in one sentence.</a:t>
            </a:r>
          </a:p>
          <a:p>
            <a:endParaRPr/>
          </a:p>
          <a:p>
            <a:r>
              <a:t>AVOID SAYING: Do not claim that earlier tracer, graph or geochemical methods had no uncertainty analysis.</a:t>
            </a:r>
          </a:p>
          <a:p>
            <a:endParaRPr/>
          </a:p>
          <a:p>
            <a:r>
              <a:t>[Sources]</a:t>
            </a:r>
          </a:p>
          <a:p>
            <a:r>
              <a:t>- C:\Users\ThinkPad P1 G4\Documents\July_2026\NeutroProject\Groundwater\Hydrosheaf\M1\M1_draftv2\Manuscript- Water and Ecology.docx</a:t>
            </a:r>
          </a:p>
          <a:p>
            <a:r>
              <a:t>- C:\Users\ThinkPad P1 G4\Documents\July_2026\NeutroProject\Groundwater\Hydrosheaf\draftbychapter\Chapter_Two_Literature_Review_Refined.docx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14:10-15:25</a:t>
            </a:r>
          </a:p>
          <a:p>
            <a:endParaRPr/>
          </a:p>
          <a:p>
            <a:r>
              <a:t>MEMORY ANCHOR: HydroSheaf carries relations, uncertainty and diagnostics across domains.</a:t>
            </a:r>
          </a:p>
          <a:p>
            <a:endParaRPr/>
          </a:p>
          <a:p>
            <a:r>
              <a:t>SAY THIS:</a:t>
            </a:r>
          </a:p>
          <a:p>
            <a:r>
              <a:t>Objective two produced the HydroSheaf workflow. Domain-specific modules infer tracer residence time, directed topology and reaction alternatives. Their outputs are expressed as uncertain node states and directed edge relations. The sheaf layer represents edge-specific transformations and tests whether local relations compose globally. Diagnostic outputs include uncertainty, identifiability, calibration and conflict localisation. The evaluation layer then applies locked tests, adverse controls and explicit claim decisions. The development objective is therefore achieved at the level of an executable and auditable framework. However, capability is not the same as scientific performance. The framework's existence does not prove that every component is accurate or that integration is superior. Those questions belong to the remaining objectives.</a:t>
            </a:r>
          </a:p>
          <a:p>
            <a:endParaRPr/>
          </a:p>
          <a:p>
            <a:r>
              <a:t>TRANSITION:</a:t>
            </a:r>
          </a:p>
          <a:p>
            <a:r>
              <a:t>Objective three therefore tested the components before testing the integration claim.</a:t>
            </a:r>
          </a:p>
          <a:p>
            <a:endParaRPr/>
          </a:p>
          <a:p>
            <a:r>
              <a:t>DELIVERY CUE: Describe the architecture from left to right and end with the capability-versus-validation distinction.</a:t>
            </a:r>
          </a:p>
          <a:p>
            <a:endParaRPr/>
          </a:p>
          <a:p>
            <a:r>
              <a:t>AVOID SAYING: Do not use code volume or number of modules as evidence of scientific contribution.</a:t>
            </a:r>
          </a:p>
          <a:p>
            <a:endParaRPr/>
          </a:p>
          <a:p>
            <a:r>
              <a:t>[Sources]</a:t>
            </a:r>
          </a:p>
          <a:p>
            <a:r>
              <a:t>- C:\Users\ThinkPad P1 G4\Documents\July_2026\NeutroProject\Groundwater\Hydrosheaf\hydrosheaf\inference\network_fit.py</a:t>
            </a:r>
          </a:p>
          <a:p>
            <a:r>
              <a:t>- C:\Users\ThinkPad P1 G4\Documents\July_2026\NeutroProject\Groundwater\Hydrosheaf\hydrosheaf\sheaf\directed_section.py</a:t>
            </a:r>
          </a:p>
          <a:p>
            <a:r>
              <a:t>- C:\Users\ThinkPad P1 G4\Documents\July_2026\NeutroProject\Groundwater\Hydrosheaf\hydrosheaf\calibration\validation_workflow.py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15:25-16:20</a:t>
            </a:r>
          </a:p>
          <a:p>
            <a:endParaRPr/>
          </a:p>
          <a:p>
            <a:r>
              <a:t>MEMORY ANCHOR: Verify basic recovery before testing novelty.</a:t>
            </a:r>
          </a:p>
          <a:p>
            <a:endParaRPr/>
          </a:p>
          <a:p>
            <a:r>
              <a:t>SAY THIS:</a:t>
            </a:r>
          </a:p>
          <a:p>
            <a:r>
              <a:t>The controlled foundation used one hundred transport-reaction realisations. Median transport absolute error was 0.058 and median reaction error was 0.112. This established that the basic architecture could recover planted behaviour and convert MODPATH archives into reference graphs. A crucial distinction is that an F1 of one for the 174-edge archive conversion verifies conversion of known paths. It does not show perfect inference of an unknown topology. The early chemistry experiment used a PHREEQC-compatible deterministic proxy, while the later reaction benchmark supplied the live-PHREEQC evidence. These checks support operational capability, not universal validity.</a:t>
            </a:r>
          </a:p>
          <a:p>
            <a:endParaRPr/>
          </a:p>
          <a:p>
            <a:r>
              <a:t>TRANSITION:</a:t>
            </a:r>
          </a:p>
          <a:p>
            <a:r>
              <a:t>The residence-time benchmark then compared HydroSheaf with reported public configurations.</a:t>
            </a:r>
          </a:p>
          <a:p>
            <a:endParaRPr/>
          </a:p>
          <a:p>
            <a:r>
              <a:t>DELIVERY CUE: Keep this slide brief and give more emphasis to the red guardrail than the three numbers.</a:t>
            </a:r>
          </a:p>
          <a:p>
            <a:endParaRPr/>
          </a:p>
          <a:p>
            <a:r>
              <a:t>AVOID SAYING: Do not describe perfect archive conversion as perfect topology inference.</a:t>
            </a:r>
          </a:p>
          <a:p>
            <a:endParaRPr/>
          </a:p>
          <a:p>
            <a:r>
              <a:t>[Sources]</a:t>
            </a:r>
          </a:p>
          <a:p>
            <a:r>
              <a:t>- C:\Users\ThinkPad P1 G4\Documents\July_2026\NeutroProject\Groundwater\Hydrosheaf\M2\m2_benchmark\docs\m2_results_summary.md</a:t>
            </a:r>
          </a:p>
          <a:p>
            <a:r>
              <a:t>- C:\Users\ThinkPad P1 G4\Documents\July_2026\NeutroProject\Groundwater\Hydrosheaf\M5\m5_inverse_reaction_benchmark\docs\m5_results_summary.md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16:20-18:10</a:t>
            </a:r>
          </a:p>
          <a:p>
            <a:endParaRPr/>
          </a:p>
          <a:p>
            <a:r>
              <a:t>MEMORY ANCHOR: Close reference agreement; no robust gain from the available graph proxy.</a:t>
            </a:r>
          </a:p>
          <a:p>
            <a:endParaRPr/>
          </a:p>
          <a:p>
            <a:r>
              <a:t>SAY THIS:</a:t>
            </a:r>
          </a:p>
          <a:p>
            <a:r>
              <a:t>The public age archive contained 1,272 harmonised rows, of which 329 passed the strict reportability guard. Against the reported USGS and TracerLPM configurations, HydroSheaf achieved a median absolute log-ten age discrepancy of 0.0279, an R-squared of 0.937 and 87.5 percent agreement within a factor of two. This is close reference agreement, not formal equivalence and not independently observed age truth. The important integration stress test was whether topology added value. The weak hydraulic proxy changed RMSE by only minus 0.00135 and worsened factor-two agreement, so it failed the improvement rule. Wrong-direction and random graphs worsened RMSE substantially. HydroSheaf therefore reproduced the reported outputs closely and detected harmful topology, but it did not beat TracerLPM or establish useful graph information in that dataset.</a:t>
            </a:r>
          </a:p>
          <a:p>
            <a:endParaRPr/>
          </a:p>
          <a:p>
            <a:r>
              <a:t>TRANSITION:</a:t>
            </a:r>
          </a:p>
          <a:p>
            <a:r>
              <a:t>The next component question was whether directed connectivity itself could be inferred.</a:t>
            </a:r>
          </a:p>
          <a:p>
            <a:endParaRPr/>
          </a:p>
          <a:p>
            <a:r>
              <a:t>DELIVERY CUE: Say close reference agreement twice. Slow down when distinguishing emulation from truth.</a:t>
            </a:r>
          </a:p>
          <a:p>
            <a:endParaRPr/>
          </a:p>
          <a:p>
            <a:r>
              <a:t>AVOID SAYING: Do not say reference-equivalent, parity proven or true field age.</a:t>
            </a:r>
          </a:p>
          <a:p>
            <a:endParaRPr/>
          </a:p>
          <a:p>
            <a:r>
              <a:t>[Sources]</a:t>
            </a:r>
          </a:p>
          <a:p>
            <a:r>
              <a:t>- C:\Users\ThinkPad P1 G4\Documents\July_2026\NeutroProject\Groundwater\Hydrosheaf\M3\m3_age_benchmark\M3_FINAL_ACCURACY_AUDIT.md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18:10-19:45</a:t>
            </a:r>
          </a:p>
          <a:p>
            <a:endParaRPr/>
          </a:p>
          <a:p>
            <a:r>
              <a:t>MEMORY ANCHOR: Topology inference was useful but conditional and imperfect.</a:t>
            </a:r>
          </a:p>
          <a:p>
            <a:endParaRPr/>
          </a:p>
          <a:p>
            <a:r>
              <a:t>SAY THIS:</a:t>
            </a:r>
          </a:p>
          <a:p>
            <a:r>
              <a:t>For topology, MODPATH particle tracks supplied a model-conditioned reference network. Head-gradient inference achieved precision 0.49, recall 0.84 and F1 0.62, while negative controls were near zero. The relatively high recall shows that much of the directed structure was detected, but precision shows that false positives remained substantial. Independent scenarios also varied across evidence levels and spatial scales. It is essential to separate reference construction from unknown-graph inference. Conversion asks whether known particle paths are represented correctly. Inference asks whether an unknown graph can be reconstructed from indirect observations. The supported conclusion is conditional topology skill against MODPATH-derived reference transitions, not independently measured field connectivity.</a:t>
            </a:r>
          </a:p>
          <a:p>
            <a:endParaRPr/>
          </a:p>
          <a:p>
            <a:r>
              <a:t>TRANSITION:</a:t>
            </a:r>
          </a:p>
          <a:p>
            <a:r>
              <a:t>The reaction benchmark exposed an even clearer distinction between fit and mechanism.</a:t>
            </a:r>
          </a:p>
          <a:p>
            <a:endParaRPr/>
          </a:p>
          <a:p>
            <a:r>
              <a:t>DELIVERY CUE: Point to the particle paths, then the metrics, and finish by looking at the examiners.</a:t>
            </a:r>
          </a:p>
          <a:p>
            <a:endParaRPr/>
          </a:p>
          <a:p>
            <a:r>
              <a:t>AVOID SAYING: Do not call MODPATH output field truth or claim full pathline-shape validation.</a:t>
            </a:r>
          </a:p>
          <a:p>
            <a:endParaRPr/>
          </a:p>
          <a:p>
            <a:r>
              <a:t>[Sources]</a:t>
            </a:r>
          </a:p>
          <a:p>
            <a:r>
              <a:t>- C:\Users\ThinkPad P1 G4\Documents\July_2026\NeutroProject\Groundwater\Hydrosheaf\M4\m4_topology_benchmark\docs\02_figures.md</a:t>
            </a:r>
          </a:p>
          <a:p>
            <a:r>
              <a:t>- C:\Users\ThinkPad P1 G4\Documents\July_2026\NeutroProject\Groundwater\Hydrosheaf\M4\m4_topology_benchmark\docs\m4_results_summary.md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19:45-21:45</a:t>
            </a:r>
          </a:p>
          <a:p>
            <a:endParaRPr/>
          </a:p>
          <a:p>
            <a:r>
              <a:t>MEMORY ANCHOR: A low residual does not identify a unique reaction mechanism.</a:t>
            </a:r>
          </a:p>
          <a:p>
            <a:endParaRPr/>
          </a:p>
          <a:p>
            <a:r>
              <a:t>SAY THIS:</a:t>
            </a:r>
          </a:p>
          <a:p>
            <a:r>
              <a:t>The reaction benchmark used 240 live-PHREEQC scenarios and 21,600 inverse fits. The key finding is that concentration fit and mechanism recovery are not the same. Conventional inverse PHREEQC produced, on average, 185.78 feasible models and 6.79 minimal models per scenario. Fifty-five percent of the lowest-residual fits still had phase F1 below 0.80. The guarded HydroSheaf result gave exact-phase F1 of 0.563, equivalence-class F1 of 0.609 and a false-discovery rate of 0.361. These values are not perfect, but they support a more defensible reporting target. Instead of selecting one apparently best mineral pathway, the method reports reaction families or equivalence classes and preserves alternatives that the chemistry cannot distinguish.</a:t>
            </a:r>
          </a:p>
          <a:p>
            <a:endParaRPr/>
          </a:p>
          <a:p>
            <a:r>
              <a:t>TRANSITION:</a:t>
            </a:r>
          </a:p>
          <a:p>
            <a:r>
              <a:t>Objective four then asked whether attractive results survived adverse assumptions, conflicts and missing data.</a:t>
            </a:r>
          </a:p>
          <a:p>
            <a:endParaRPr/>
          </a:p>
          <a:p>
            <a:r>
              <a:t>DELIVERY CUE: Pause after saying that fit and mechanism recovery are not the same.</a:t>
            </a:r>
          </a:p>
          <a:p>
            <a:endParaRPr/>
          </a:p>
          <a:p>
            <a:r>
              <a:t>AVOID SAYING: Do not claim exact mineral identification or unique reaction truth in Ghana.</a:t>
            </a:r>
          </a:p>
          <a:p>
            <a:endParaRPr/>
          </a:p>
          <a:p>
            <a:r>
              <a:t>[Sources]</a:t>
            </a:r>
          </a:p>
          <a:p>
            <a:r>
              <a:t>- C:\Users\ThinkPad P1 G4\Documents\July_2026\NeutroProject\Groundwater\Hydrosheaf\M5\m5_inverse_reaction_benchmark\docs\m5_results_summary.md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21:45-23:05</a:t>
            </a:r>
          </a:p>
          <a:p>
            <a:endParaRPr/>
          </a:p>
          <a:p>
            <a:r>
              <a:t>MEMORY ANCHOR: Robustness depends on evidence quality, not fit alone.</a:t>
            </a:r>
          </a:p>
          <a:p>
            <a:endParaRPr/>
          </a:p>
          <a:p>
            <a:r>
              <a:t>SAY THIS:</a:t>
            </a:r>
          </a:p>
          <a:p>
            <a:r>
              <a:t>Objective four challenged the outputs in four ways. Alternative assumptions included weak priors and different estimator choices. Conflicting evidence included wrong, random and permuted relations. Measurement uncertainty was evaluated using intervals, resampling and calibration metrics. Missing-data experiments removed evidence that might control interpretive resolution. Across these tests, the recurring lesson was that good fit or narrower uncertainty did not guarantee a better scientific interpretation. A model could remain numerically stable while becoming non-identifiable, poorly calibrated or confidently wrong. Robustness must therefore be judged jointly through discrimination, calibration, adverse controls and identifiability, rather than through residuals or interval width alone.</a:t>
            </a:r>
          </a:p>
          <a:p>
            <a:endParaRPr/>
          </a:p>
          <a:p>
            <a:r>
              <a:t>TRANSITION:</a:t>
            </a:r>
          </a:p>
          <a:p>
            <a:r>
              <a:t>Objective five tested that principle directly by measuring the incremental value of each evidence stream.</a:t>
            </a:r>
          </a:p>
          <a:p>
            <a:endParaRPr/>
          </a:p>
          <a:p>
            <a:r>
              <a:t>DELIVERY CUE: Use the four stress-test categories and then state the shared lesson.</a:t>
            </a:r>
          </a:p>
          <a:p>
            <a:endParaRPr/>
          </a:p>
          <a:p>
            <a:r>
              <a:t>AVOID SAYING: Do not equate a narrow interval with validated certainty.</a:t>
            </a:r>
          </a:p>
          <a:p>
            <a:endParaRPr/>
          </a:p>
          <a:p>
            <a:r>
              <a:t>[Sources]</a:t>
            </a:r>
          </a:p>
          <a:p>
            <a:r>
              <a:t>- C:\Users\ThinkPad P1 G4\Documents\July_2026\NeutroProject\Groundwater\Hydrosheaf\M6\m6_field_transfer_benchmark\docs\m6_results_summary.md</a:t>
            </a:r>
          </a:p>
          <a:p>
            <a:r>
              <a:t>- C:\Users\ThinkPad P1 G4\Documents\July_2026\NeutroProject\Groundwater\Hydrosheaf\M7\m7_nonuniqueness_benchmark\docs\m7_3_results.md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23:05-24:55</a:t>
            </a:r>
          </a:p>
          <a:p>
            <a:endParaRPr/>
          </a:p>
          <a:p>
            <a:r>
              <a:t>MEMORY ANCHOR: Added data became useful only when it supplied independent information.</a:t>
            </a:r>
          </a:p>
          <a:p>
            <a:endParaRPr/>
          </a:p>
          <a:p>
            <a:r>
              <a:t>SAY THIS:</a:t>
            </a:r>
          </a:p>
          <a:p>
            <a:r>
              <a:t>In the independent integration generator, I added each evidence stream to the others. Chemistry produced the clear topology-ranking gain: plus 0.447 PR-AUC, and this survived family-wise multiplicity correction. Hydraulics had a smaller PR-AUC point estimate of plus 0.0091. Its ranking contrast did not survive correction, with adjusted p equal to 0.070, although its Brier-score and log-loss improvements did survive. Adding age produced a PR-AUC point estimate of minus 0.0060 and also did not survive multiplicity correction. The evidence streams were therefore not equally informative. Chemistry carried strong independent ranking information in this generator. Hydraulics contributed mainly through calibration. Age added no positive topology-ranking value beyond hydraulics and chemistry. Added data are not automatically added information.</a:t>
            </a:r>
          </a:p>
          <a:p>
            <a:endParaRPr/>
          </a:p>
          <a:p>
            <a:r>
              <a:t>TRANSITION:</a:t>
            </a:r>
          </a:p>
          <a:p>
            <a:r>
              <a:t>Information also flowed in the opposite direction, from topology into age inference.</a:t>
            </a:r>
          </a:p>
          <a:p>
            <a:endParaRPr/>
          </a:p>
          <a:p>
            <a:r>
              <a:t>DELIVERY CUE: Say after multiplicity correction clearly and distinguish ranking from calibration.</a:t>
            </a:r>
          </a:p>
          <a:p>
            <a:endParaRPr/>
          </a:p>
          <a:p>
            <a:r>
              <a:t>AVOID SAYING: Do not say that all nominal confidence intervals had the same inferential status.</a:t>
            </a:r>
          </a:p>
          <a:p>
            <a:endParaRPr/>
          </a:p>
          <a:p>
            <a:r>
              <a:t>[Sources]</a:t>
            </a:r>
          </a:p>
          <a:p>
            <a:r>
              <a:t>- C:\Users\ThinkPad P1 G4\Documents\July_2026\NeutroProject\Groundwater\Hydrosheaf\M7\m7_nonuniqueness_benchmark\docs\m7_3_results.md</a:t>
            </a:r>
          </a:p>
          <a:p>
            <a:r>
              <a:t>- C:\Users\ThinkPad P1 G4\Documents\July_2026\NeutroProject\Groundwater\Hydrosheaf\M7\m7_nonuniqueness_benchmark\manuscript\sections\03-results\section.md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24:55-26:15</a:t>
            </a:r>
          </a:p>
          <a:p>
            <a:endParaRPr/>
          </a:p>
          <a:p>
            <a:r>
              <a:t>MEMORY ANCHOR: Correct topology helped slightly; reversed topology harmed.</a:t>
            </a:r>
          </a:p>
          <a:p>
            <a:endParaRPr/>
          </a:p>
          <a:p>
            <a:r>
              <a:t>SAY THIS:</a:t>
            </a:r>
          </a:p>
          <a:p>
            <a:r>
              <a:t>When correct topology was supplied to the age model, mean absolute error decreased by 0.0619 years with two tracers and by 0.1642 years with tritium alone. The uncertainty intervals also narrowed without a coverage penalty. These changes were statistically precise but practically small: approximately 2.24 and 3.46 percent of the respective baseline errors. The practical planning margins were introduced after review and were not prespecified. Reversing the topology increased error, reduced coverage and caused numerical instability in several tritium-only cases. The result is therefore conditional. Correct topology can reduce age non-uniqueness, especially when tracer evidence is weak, but an unsupported graph can make age inference worse.</a:t>
            </a:r>
          </a:p>
          <a:p>
            <a:endParaRPr/>
          </a:p>
          <a:p>
            <a:r>
              <a:t>TRANSITION:</a:t>
            </a:r>
          </a:p>
          <a:p>
            <a:r>
              <a:t>I then isolated what the sheaf representation contributed beyond weighted graphs.</a:t>
            </a:r>
          </a:p>
          <a:p>
            <a:endParaRPr/>
          </a:p>
          <a:p>
            <a:r>
              <a:t>DELIVERY CUE: State statistically precise but practically small without defensiveness.</a:t>
            </a:r>
          </a:p>
          <a:p>
            <a:endParaRPr/>
          </a:p>
          <a:p>
            <a:r>
              <a:t>AVOID SAYING: Do not present the age improvement as large or transformative.</a:t>
            </a:r>
          </a:p>
          <a:p>
            <a:endParaRPr/>
          </a:p>
          <a:p>
            <a:r>
              <a:t>[Sources]</a:t>
            </a:r>
          </a:p>
          <a:p>
            <a:r>
              <a:t>- C:\Users\ThinkPad P1 G4\Documents\July_2026\NeutroProject\Groundwater\Hydrosheaf\M7\m7_nonuniqueness_benchmark\docs\m7_3_results.md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26:15-28:35</a:t>
            </a:r>
          </a:p>
          <a:p>
            <a:endParaRPr/>
          </a:p>
          <a:p>
            <a:r>
              <a:t>MEMORY ANCHOR: Map semantics and conflict localisation, not universal superiority.</a:t>
            </a:r>
          </a:p>
          <a:p>
            <a:endParaRPr/>
          </a:p>
          <a:p>
            <a:r>
              <a:t>SAY THIS:</a:t>
            </a:r>
          </a:p>
          <a:p>
            <a:r>
              <a:t>This is the central sheaf-versus-graph result. The affine sheaf improved PR-AUC by 0.0854 relative to an identity graph Laplacian. Native affine maps also beat permuted maps by 0.0909, showing that the learned map semantics mattered. Identity-limit cases matched exactly, so the sheaf reduced correctly to the graph baseline when restriction maps were identities. However, the stronger edge-local weighted graph was the decisive comparator. Against it, the overall PR-AUC difference was only plus 0.0097 and the simultaneous confidence interval crossed zero. The complete superiority gate therefore failed. The supported contribution is narrower but real: edge-specific gain and offset relations, global compatibility testing and improved localisation of planted-cycle conflicts. HydroSheaf did not establish universal predictive superiority over a strong weighted graph.</a:t>
            </a:r>
          </a:p>
          <a:p>
            <a:endParaRPr/>
          </a:p>
          <a:p>
            <a:r>
              <a:t>TRANSITION:</a:t>
            </a:r>
          </a:p>
          <a:p>
            <a:r>
              <a:t>A fresh estimator experiment tested whether stronger local and global weighting changed that conclusion.</a:t>
            </a:r>
          </a:p>
          <a:p>
            <a:endParaRPr/>
          </a:p>
          <a:p>
            <a:r>
              <a:t>DELIVERY CUE: Give the positive comparisons first, then volunteer the failed strongest comparison.</a:t>
            </a:r>
          </a:p>
          <a:p>
            <a:endParaRPr/>
          </a:p>
          <a:p>
            <a:r>
              <a:t>AVOID SAYING: Do not hide the edge-local comparator or call the affine sheaf the overall winner.</a:t>
            </a:r>
          </a:p>
          <a:p>
            <a:endParaRPr/>
          </a:p>
          <a:p>
            <a:r>
              <a:t>[Sources]</a:t>
            </a:r>
          </a:p>
          <a:p>
            <a:r>
              <a:t>- C:\Users\ThinkPad P1 G4\Documents\July_2026\NeutroProject\Groundwater\Hydrosheaf\M7\m7_nonuniqueness_benchmark\docs\m7_sheaf_vs_graph_results.md</a:t>
            </a:r>
          </a:p>
          <a:p>
            <a:r>
              <a:t>- C:\Users\ThinkPad P1 G4\Documents\July_2026\NeutroProject\Groundwater\Hydrosheaf\M7\m7_nonuniqueness_benchmark\M7_SHEAF_VS_GRAPH_CLAIM_DECISION.md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28:35-29:50</a:t>
            </a:r>
          </a:p>
          <a:p>
            <a:endParaRPr/>
          </a:p>
          <a:p>
            <a:r>
              <a:t>MEMORY ANCHOR: A higher point estimate did not pass the complete superiority gate.</a:t>
            </a:r>
          </a:p>
          <a:p>
            <a:endParaRPr/>
          </a:p>
          <a:p>
            <a:r>
              <a:t>SAY THIS:</a:t>
            </a:r>
          </a:p>
          <a:p>
            <a:r>
              <a:t>Development selected a local-first, global-fallback estimator and it was evaluated once on 128 fresh locked cases. The PR-AUC point estimate was 0.0200 higher than the edge-local graph, but the family-wise simultaneous interval ranged from minus 0.0055 to plus 0.0454. Brier score and log loss were also inconclusive, so the complete superiority gate failed. The leave-one-edge-out robust global method actually worsened calibration. Native maps still beat permuted maps and conflict localisation remained useful, but the refined estimator did not convert the sheaf into a universal winner. I therefore report this as an estimator diagnostic and a direction for future refinement, not as a confirmed superiority result.</a:t>
            </a:r>
          </a:p>
          <a:p>
            <a:endParaRPr/>
          </a:p>
          <a:p>
            <a:r>
              <a:t>TRANSITION:</a:t>
            </a:r>
          </a:p>
          <a:p>
            <a:r>
              <a:t>Objective six then asked what the framework could support in Ghanaian field data.</a:t>
            </a:r>
          </a:p>
          <a:p>
            <a:endParaRPr/>
          </a:p>
          <a:p>
            <a:r>
              <a:t>DELIVERY CUE: Keep a calm tone. The failed gate demonstrates that the method was allowed to fail.</a:t>
            </a:r>
          </a:p>
          <a:p>
            <a:endParaRPr/>
          </a:p>
          <a:p>
            <a:r>
              <a:t>AVOID SAYING: Do not call this a confirmed robust-hybrid superiority result.</a:t>
            </a:r>
          </a:p>
          <a:p>
            <a:endParaRPr/>
          </a:p>
          <a:p>
            <a:r>
              <a:t>[Sources]</a:t>
            </a:r>
          </a:p>
          <a:p>
            <a:r>
              <a:t>- C:\Users\ThinkPad P1 G4\Documents\July_2026\NeutroProject\Groundwater\Hydrosheaf\M7\m7_nonuniqueness_benchmark\manuscript\sections\03-results\section.md</a:t>
            </a:r>
          </a:p>
          <a:p>
            <a:r>
              <a:t>- C:\Users\ThinkPad P1 G4\Documents\July_2026\NeutroProject\Groundwater\Hydrosheaf\M7\m7_nonuniqueness_benchmark\M7_ROBUST_HYBRID_CLAIM_DECISION.md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29:50-31:50</a:t>
            </a:r>
          </a:p>
          <a:p>
            <a:endParaRPr/>
          </a:p>
          <a:p>
            <a:r>
              <a:t>MEMORY ANCHOR: The Ghana result identifies an evidence ceiling, not exact field truth.</a:t>
            </a:r>
          </a:p>
          <a:p>
            <a:endParaRPr/>
          </a:p>
          <a:p>
            <a:r>
              <a:t>SAY THIS:</a:t>
            </a:r>
          </a:p>
          <a:p>
            <a:r>
              <a:t>Northern Ghana provided 320 records, of which 294 met the quantitative quality tier. The field question was not whether exact reactions could be validated, because independent reaction truth was unavailable. The question was which measurements controlled interpretive resolution. Under the predeclared evidence gate, removing strontium and silica moved approximately 52 percent of wells into the non-identifiable category. At the same time, mean fit remained around 68 to 71, bootstrap support remained high, and process labels changed in 35.6 percent of wells. A synthetic check supported the direction of the result, but the 52 percent is an operational classification, not independently observed field truth. The transferability result is that HydroSheaf can diagnose supportability and evidence ceilings in field chemistry while preserving the boundary on exact ages, paths and reactions.</a:t>
            </a:r>
          </a:p>
          <a:p>
            <a:endParaRPr/>
          </a:p>
          <a:p>
            <a:r>
              <a:t>TRANSITION:</a:t>
            </a:r>
          </a:p>
          <a:p>
            <a:r>
              <a:t>The negative and inconclusive findings across the objectives define the overall claim boundary.</a:t>
            </a:r>
          </a:p>
          <a:p>
            <a:endParaRPr/>
          </a:p>
          <a:p>
            <a:r>
              <a:t>DELIVERY CUE: Emphasise the contrast between stable fit and collapsed identifiability.</a:t>
            </a:r>
          </a:p>
          <a:p>
            <a:endParaRPr/>
          </a:p>
          <a:p>
            <a:r>
              <a:t>AVOID SAYING: Do not describe the 52 percent as measured geological truth or end-to-end Ghana validation.</a:t>
            </a:r>
          </a:p>
          <a:p>
            <a:endParaRPr/>
          </a:p>
          <a:p>
            <a:r>
              <a:t>[Sources]</a:t>
            </a:r>
          </a:p>
          <a:p>
            <a:r>
              <a:t>- C:\Users\ThinkPad P1 G4\Documents\July_2026\NeutroProject\Groundwater\Hydrosheaf\M6\m6_field_transfer_benchmark\docs\m6_results_summary.md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31:50-33:00</a:t>
            </a:r>
          </a:p>
          <a:p>
            <a:endParaRPr/>
          </a:p>
          <a:p>
            <a:r>
              <a:t>MEMORY ANCHOR: The workflow rejected claims that the evidence did not support.</a:t>
            </a:r>
          </a:p>
          <a:p>
            <a:endParaRPr/>
          </a:p>
          <a:p>
            <a:r>
              <a:t>SAY THIS:</a:t>
            </a:r>
          </a:p>
          <a:p>
            <a:r>
              <a:t>Five negative findings define the scientific boundary. The weak graph prior did not improve age inference. The old-water prior was withdrawn because its performance was poor. Carbonate reaction families were not recovered under either tested indicator panel, although this does not prove universal non-identifiability under every possible panel. The overall sheaf-versus-edge-local superiority gate failed. Finally, the active-learning implementation produced zero recommendations from zero scored edges, so excellent active-learning performance is not a thesis result. These are not hidden failures. They show that the evaluation workflow can reject its own hypotheses and distinguish implemented capability from validated scientific performance.</a:t>
            </a:r>
          </a:p>
          <a:p>
            <a:endParaRPr/>
          </a:p>
          <a:p>
            <a:r>
              <a:t>TRANSITION:</a:t>
            </a:r>
          </a:p>
          <a:p>
            <a:r>
              <a:t>That evidence can now be expressed as a clear ledger of supported and unsupported claims.</a:t>
            </a:r>
          </a:p>
          <a:p>
            <a:endParaRPr/>
          </a:p>
          <a:p>
            <a:r>
              <a:t>DELIVERY CUE: Use a factual tone and do not apologise for negative results.</a:t>
            </a:r>
          </a:p>
          <a:p>
            <a:endParaRPr/>
          </a:p>
          <a:p>
            <a:r>
              <a:t>AVOID SAYING: Do not call carbonate universally non-identifiable or active learning validated.</a:t>
            </a:r>
          </a:p>
          <a:p>
            <a:endParaRPr/>
          </a:p>
          <a:p>
            <a:r>
              <a:t>[Sources]</a:t>
            </a:r>
          </a:p>
          <a:p>
            <a:r>
              <a:t>- C:\Users\ThinkPad P1 G4\Documents\July_2026\NeutroProject\Groundwater\Hydrosheaf\M3\m3_age_benchmark\M3_FINAL_ACCURACY_AUDIT.md</a:t>
            </a:r>
          </a:p>
          <a:p>
            <a:r>
              <a:t>- C:\Users\ThinkPad P1 G4\Documents\July_2026\NeutroProject\Groundwater\Hydrosheaf\M7\m7_nonuniqueness_benchmark\docs\m7_3_results.md</a:t>
            </a:r>
          </a:p>
          <a:p>
            <a:r>
              <a:t>- C:\Users\ThinkPad P1 G4\Documents\July_2026\NeutroProject\Groundwater\Hydrosheaf\HYDROSHEAF_REMAINING_CAPABILITIES_DECISION_20260728.md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33:00-34:10</a:t>
            </a:r>
          </a:p>
          <a:p>
            <a:endParaRPr/>
          </a:p>
          <a:p>
            <a:r>
              <a:t>MEMORY ANCHOR: Conditional support on the left; prohibited claims on the right.</a:t>
            </a:r>
          </a:p>
          <a:p>
            <a:endParaRPr/>
          </a:p>
          <a:p>
            <a:r>
              <a:t>SAY THIS:</a:t>
            </a:r>
          </a:p>
          <a:p>
            <a:r>
              <a:t>The thesis supports close agreement with reported age-model configurations, conditional topology and evidence value, reaction equivalence-class reporting, affine-map and conflict-localisation value, and a Ghana measurement-value diagnosis. It does not establish universal superiority over strong baselines, exact Ghana ages, paths or mineral truth, end-to-end field validation, validated vector-stalk, three-dimensional, temporal or vadose performance, or excellent active-learning performance. This boundary is not a weakness to hide. It is a central output of the research because it identifies exactly which conclusions the evidence permits and which conclusions require further tests.</a:t>
            </a:r>
          </a:p>
          <a:p>
            <a:endParaRPr/>
          </a:p>
          <a:p>
            <a:r>
              <a:t>TRANSITION:</a:t>
            </a:r>
          </a:p>
          <a:p>
            <a:r>
              <a:t>I can now answer each of the six objectives directly.</a:t>
            </a:r>
          </a:p>
          <a:p>
            <a:endParaRPr/>
          </a:p>
          <a:p>
            <a:r>
              <a:t>DELIVERY CUE: Summarise the supported column, then the unsupported column, then explain why the boundary matters.</a:t>
            </a:r>
          </a:p>
          <a:p>
            <a:endParaRPr/>
          </a:p>
          <a:p>
            <a:r>
              <a:t>AVOID SAYING: Do not weaken the limitations with phrases such as but probably.</a:t>
            </a:r>
          </a:p>
          <a:p>
            <a:endParaRPr/>
          </a:p>
          <a:p>
            <a:r>
              <a:t>[Sources]</a:t>
            </a:r>
          </a:p>
          <a:p>
            <a:r>
              <a:t>- C:\Users\ThinkPad P1 G4\Documents\July_2026\NeutroProject\Groundwater\Hydrosheaf\draftbychapter\PhDChapter1_refined.docx</a:t>
            </a:r>
          </a:p>
          <a:p>
            <a:r>
              <a:t>- C:\Users\ThinkPad P1 G4\Documents\July_2026\NeutroProject\Groundwater\Hydrosheaf\M7\m7_nonuniqueness_benchmark\manuscript\revision\FINAL_VERIFICATION_20260730.md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34:10-35:20</a:t>
            </a:r>
          </a:p>
          <a:p>
            <a:endParaRPr/>
          </a:p>
          <a:p>
            <a:r>
              <a:t>MEMORY ANCHOR: Six objectives produced six bounded answers.</a:t>
            </a:r>
          </a:p>
          <a:p>
            <a:endParaRPr/>
          </a:p>
          <a:p>
            <a:r>
              <a:t>SAY THIS:</a:t>
            </a:r>
          </a:p>
          <a:p>
            <a:r>
              <a:t>Objective one identified integration and validation as the unresolved methodological gap. Objective two made cross-domain relations and diagnostics executable. Objective three found usable but conditional component performance: close age-reference agreement, imperfect topology inference and non-unique reactions. Objective four showed that fit and precision could remain attractive while robustness or identifiability failed. Objective five demonstrated that evidence helped only when it supplied independent information and that unsupported evidence could cause negative transfer. Objective six transferred the supportability diagnosis to Ghanaian data without claiming unavailable field truth. Together, these results answer the thesis aim: HydroSheaf can integrate the evidence, but the benefit of that integration remains a testable condition.</a:t>
            </a:r>
          </a:p>
          <a:p>
            <a:endParaRPr/>
          </a:p>
          <a:p>
            <a:r>
              <a:t>TRANSITION:</a:t>
            </a:r>
          </a:p>
          <a:p>
            <a:r>
              <a:t>Within those boundaries, the thesis makes four contributions to knowledge.</a:t>
            </a:r>
          </a:p>
          <a:p>
            <a:endParaRPr/>
          </a:p>
          <a:p>
            <a:r>
              <a:t>DELIVERY CUE: Move through the six objectives briskly and end on the central answer.</a:t>
            </a:r>
          </a:p>
          <a:p>
            <a:endParaRPr/>
          </a:p>
          <a:p>
            <a:r>
              <a:t>AVOID SAYING: Do not introduce new statistics or claims on the synthesis slide.</a:t>
            </a:r>
          </a:p>
          <a:p>
            <a:endParaRPr/>
          </a:p>
          <a:p>
            <a:r>
              <a:t>[Sources]</a:t>
            </a:r>
          </a:p>
          <a:p>
            <a:r>
              <a:t>- C:\Users\ThinkPad P1 G4\Documents\July_2026\NeutroProject\Groundwater\Hydrosheaf\draftbychapter\PhDChapter1_refined.docx</a:t>
            </a:r>
          </a:p>
          <a:p>
            <a:r>
              <a:t>- C:\Users\ThinkPad P1 G4\Documents\July_2026\NeutroProject\Groundwater\Hydrosheaf\M7\m7_nonuniqueness_benchmark\manuscript\revision\FINAL_VERIFICATION_20260730.md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35:20-36:20</a:t>
            </a:r>
          </a:p>
          <a:p>
            <a:endParaRPr/>
          </a:p>
          <a:p>
            <a:r>
              <a:t>MEMORY ANCHOR: Representation, diagnostics, evidence logic and field design.</a:t>
            </a:r>
          </a:p>
          <a:p>
            <a:endParaRPr/>
          </a:p>
          <a:p>
            <a:r>
              <a:t>SAY THIS:</a:t>
            </a:r>
          </a:p>
          <a:p>
            <a:r>
              <a:t>The first contribution is a groundwater-specific graph and sheaf formalisation linking age, directed flow and reaction evidence. The second is diagnostic: identifiability, calibration and conflict localisation become primary outputs rather than afterthoughts. The third is an evidence logic based on locked tests, adverse controls and explicit claim-decision gates. The fourth is a field-design contribution: the framework identifies the evidence ceiling and reveals which additional measurements are most likely to improve interpretive resolution. These contributions concern how groundwater interpretations are constructed, tested, limited and improved. They are contributions to inference and evidence evaluation, not merely to software implementation.</a:t>
            </a:r>
          </a:p>
          <a:p>
            <a:endParaRPr/>
          </a:p>
          <a:p>
            <a:r>
              <a:t>TRANSITION:</a:t>
            </a:r>
          </a:p>
          <a:p>
            <a:r>
              <a:t>I will conclude by returning to the original problem of plausible but incompatible aquifer stories.</a:t>
            </a:r>
          </a:p>
          <a:p>
            <a:endParaRPr/>
          </a:p>
          <a:p>
            <a:r>
              <a:t>DELIVERY CUE: Count the four contributions discreetly and keep the pace steady.</a:t>
            </a:r>
          </a:p>
          <a:p>
            <a:endParaRPr/>
          </a:p>
          <a:p>
            <a:r>
              <a:t>AVOID SAYING: Do not describe the number of modules or lines of code as the primary scholarly contribution.</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36:20-37:30</a:t>
            </a:r>
          </a:p>
          <a:p>
            <a:endParaRPr/>
          </a:p>
          <a:p>
            <a:r>
              <a:t>MEMORY ANCHOR: HydroSheaf tests compatibility and preserves unresolved uncertainty.</a:t>
            </a:r>
          </a:p>
          <a:p>
            <a:endParaRPr/>
          </a:p>
          <a:p>
            <a:r>
              <a:t>SAY THIS:</a:t>
            </a:r>
          </a:p>
          <a:p>
            <a:r>
              <a:t>The thesis began with the problem that separate analyses can produce individually plausible but mutually incompatible groundwater stories. HydroSheaf brings uncertain relations into one auditable framework. It can test whether those relations compose globally, measure whether an added evidence stream contributes information, localise conflict, and reveal when apparently precise integration is confidently wrong. The contribution is not universal predictive superiority and it is not a fully validated Ghana aquifer model. The defensible conclusion is that HydroSheaf provides a falsifiable approach to integrating groundwater evidence while preserving the uncertainty and non-uniqueness that the available data cannot resolve.</a:t>
            </a:r>
          </a:p>
          <a:p>
            <a:endParaRPr/>
          </a:p>
          <a:p>
            <a:r>
              <a:t>TRANSITION:</a:t>
            </a:r>
          </a:p>
          <a:p>
            <a:r>
              <a:t>The recommendations follow directly from the remaining evidence gaps.</a:t>
            </a:r>
          </a:p>
          <a:p>
            <a:endParaRPr/>
          </a:p>
          <a:p>
            <a:r>
              <a:t>DELIVERY CUE: Slow down and look at the examiners for the final two sentences.</a:t>
            </a:r>
          </a:p>
          <a:p>
            <a:endParaRPr/>
          </a:p>
          <a:p>
            <a:r>
              <a:t>AVOID SAYING: Do not conclude with only the limitations; state the achieved contribution first.</a:t>
            </a:r>
          </a:p>
          <a:p>
            <a:endParaRPr/>
          </a:p>
          <a:p>
            <a:r>
              <a:t>[Sources]</a:t>
            </a:r>
          </a:p>
          <a:p>
            <a:r>
              <a:t>- C:\Users\ThinkPad P1 G4\Documents\July_2026\NeutroProject\Groundwater\Hydrosheaf\M7\m7_nonuniqueness_benchmark\manuscript\sections\05-conclusion\section.md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37:30-38:25</a:t>
            </a:r>
          </a:p>
          <a:p>
            <a:endParaRPr/>
          </a:p>
          <a:p>
            <a:r>
              <a:t>MEMORY ANCHOR: Prioritise matched truth and independent replication.</a:t>
            </a:r>
          </a:p>
          <a:p>
            <a:endParaRPr/>
          </a:p>
          <a:p>
            <a:r>
              <a:t>SAY THIS:</a:t>
            </a:r>
          </a:p>
          <a:p>
            <a:r>
              <a:t>I make four recommendations. First, the decisive next validation should use a matched field dataset containing environmental age tracers, repeated hydraulic observations, chemistry and independently measured connectivity. Second, the integration benchmark should be replicated using a different generator family and an external implementation. Third, future measurement design should prioritise evidence that improves identifiability and calibration, rather than measurements that only improve fit or narrow intervals. Fourth, active learning should be evaluated prospectively with explicit costs and decision loss. Temporal, three-dimensional and vadose capabilities should remain future work until suitable data permit claim-bearing validation. The priority is independent matched truth before expanding the headline claim.</a:t>
            </a:r>
          </a:p>
          <a:p>
            <a:endParaRPr/>
          </a:p>
          <a:p>
            <a:r>
              <a:t>TRANSITION:</a:t>
            </a:r>
          </a:p>
          <a:p>
            <a:r>
              <a:t>I will stop there and welcome your questions.</a:t>
            </a:r>
          </a:p>
          <a:p>
            <a:endParaRPr/>
          </a:p>
          <a:p>
            <a:r>
              <a:t>DELIVERY CUE: Give the recommendations in priority order and finish cleanly.</a:t>
            </a:r>
          </a:p>
          <a:p>
            <a:endParaRPr/>
          </a:p>
          <a:p>
            <a:r>
              <a:t>AVOID SAYING: Do not promise that unvalidated capabilities will necessarily improve performance.</a:t>
            </a:r>
          </a:p>
          <a:p>
            <a:endParaRPr/>
          </a:p>
          <a:p>
            <a:r>
              <a:t>[Sources]</a:t>
            </a:r>
          </a:p>
          <a:p>
            <a:r>
              <a:t>- C:\Users\ThinkPad P1 G4\Documents\July_2026\NeutroProject\Groundwater\Hydrosheaf\HYDROSHEAF_REMAINING_CAPABILITIES_DECISION_20260728.md</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38:25-38:35</a:t>
            </a:r>
          </a:p>
          <a:p>
            <a:endParaRPr/>
          </a:p>
          <a:p>
            <a:r>
              <a:t>MEMORY ANCHOR: Stop, look up and invite questions.</a:t>
            </a:r>
          </a:p>
          <a:p>
            <a:endParaRPr/>
          </a:p>
          <a:p>
            <a:r>
              <a:t>SAY THIS:</a:t>
            </a:r>
          </a:p>
          <a:p>
            <a:r>
              <a:t>Thank you for listening. I welcome your questions and discussion.</a:t>
            </a:r>
          </a:p>
          <a:p>
            <a:endParaRPr/>
          </a:p>
          <a:p>
            <a:r>
              <a:t>TRANSITION:</a:t>
            </a:r>
          </a:p>
          <a:p>
            <a:r>
              <a:t>Stop speaking.</a:t>
            </a:r>
          </a:p>
          <a:p>
            <a:endParaRPr/>
          </a:p>
          <a:p>
            <a:r>
              <a:t>DELIVERY CUE: Look at the examiners, smile briefly and wait. The remaining time protects against pauses and interruptions.</a:t>
            </a:r>
          </a:p>
          <a:p>
            <a:endParaRPr/>
          </a:p>
          <a:p>
            <a:r>
              <a:t>AVOID SAYING: Do not continue summarising or apologise for the limitations.</a:t>
            </a:r>
          </a:p>
          <a:p>
            <a:endParaRPr/>
          </a:p>
          <a:p>
            <a:r>
              <a:t>[Sources]</a:t>
            </a:r>
          </a:p>
          <a:p>
            <a:r>
              <a:t>- C:\Users\ThinkPad P1 G4\Documents\July_2026\NeutroProject\Groundwater\Hydrosheaf\draftbychapter\PhDChapter1_refined.docx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What exactly does the sheaf add?</a:t>
            </a:r>
          </a:p>
          <a:p>
            <a:endParaRPr/>
          </a:p>
          <a:p>
            <a:r>
              <a:t>ANSWER:</a:t>
            </a:r>
          </a:p>
          <a:p>
            <a:r>
              <a:t>It adds edge-specific affine relations and a global compatibility test. Native affine maps beat identity and permuted-map controls, and conflict localisation improved in planted-cycle cases. However, the sheaf did not outperform the strongest edge-local weighted graph overall, so the contribution is representational and diagnostic rather than universal predictive superiority.</a:t>
            </a:r>
          </a:p>
          <a:p>
            <a:endParaRPr/>
          </a:p>
          <a:p>
            <a:r>
              <a:t>DELIVERY CUE: Answer the question in the first sentence, then give the evidence and limitation.</a:t>
            </a:r>
          </a:p>
          <a:p>
            <a:endParaRPr/>
          </a:p>
          <a:p>
            <a:r>
              <a:t>[Sources]</a:t>
            </a:r>
          </a:p>
          <a:p>
            <a:r>
              <a:t>- C:\Users\ThinkPad P1 G4\Documents\July_2026\NeutroProject\Groundwater\Hydrosheaf\M7\m7_nonuniqueness_benchmark\docs\m7_sheaf_vs_graph_results.md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Why did HydroSheaf not beat TracerLPM?</a:t>
            </a:r>
          </a:p>
          <a:p>
            <a:endParaRPr/>
          </a:p>
          <a:p>
            <a:r>
              <a:t>ANSWER:</a:t>
            </a:r>
          </a:p>
          <a:p>
            <a:r>
              <a:t>That benchmark tested close reproduction of reported USGS and TracerLPM configurations and whether topology added independent information. Close agreement was achieved on 329 reportable fits, but the available graph proxy did not improve the locked outcomes. HydroSheaf therefore does not replace TracerLPM; it shows when added topology is uninformative or harmful.</a:t>
            </a:r>
          </a:p>
          <a:p>
            <a:endParaRPr/>
          </a:p>
          <a:p>
            <a:r>
              <a:t>DELIVERY CUE: Answer the question in the first sentence, then give the evidence and limitation.</a:t>
            </a:r>
          </a:p>
          <a:p>
            <a:endParaRPr/>
          </a:p>
          <a:p>
            <a:r>
              <a:t>[Sources]</a:t>
            </a:r>
          </a:p>
          <a:p>
            <a:r>
              <a:t>- C:\Users\ThinkPad P1 G4\Documents\July_2026\NeutroProject\Groundwater\Hydrosheaf\M3\m3_age_benchmark\M3_FINAL_ACCURACY_AUDIT.md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What is a locked test?</a:t>
            </a:r>
          </a:p>
          <a:p>
            <a:endParaRPr/>
          </a:p>
          <a:p>
            <a:r>
              <a:t>ANSWER:</a:t>
            </a:r>
          </a:p>
          <a:p>
            <a:r>
              <a:t>Development cases select the method, code, seeds, primary metrics and decision rules. These are frozen before held-out cases are opened once. The protocol protects the confirmatory result from repeated tuning, but it was prospectively Git-locked rather than externally preregistered.</a:t>
            </a:r>
          </a:p>
          <a:p>
            <a:endParaRPr/>
          </a:p>
          <a:p>
            <a:r>
              <a:t>DELIVERY CUE: Answer the question in the first sentence, then give the evidence and limitation.</a:t>
            </a:r>
          </a:p>
          <a:p>
            <a:endParaRPr/>
          </a:p>
          <a:p>
            <a:r>
              <a:t>[Sources]</a:t>
            </a:r>
          </a:p>
          <a:p>
            <a:r>
              <a:t>- C:\Users\ThinkPad P1 G4\Documents\July_2026\NeutroProject\Groundwater\Hydrosheaf\M7\m7_nonuniqueness_benchmark\manuscript\revision\FINAL_VERIFICATION_20260730.md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How can the thesis be valid without one complete field dataset?</a:t>
            </a:r>
          </a:p>
          <a:p>
            <a:endParaRPr/>
          </a:p>
          <a:p>
            <a:r>
              <a:t>ANSWER:</a:t>
            </a:r>
          </a:p>
          <a:p>
            <a:r>
              <a:t>It cannot claim end-to-end field validation. The thesis triangulates component reference checks, controlled known-truth integration and claim-limited field transfer. These establish capability and supportability, while the missing matched field dataset remains the decisive next validation.</a:t>
            </a:r>
          </a:p>
          <a:p>
            <a:endParaRPr/>
          </a:p>
          <a:p>
            <a:r>
              <a:t>DELIVERY CUE: Answer the question in the first sentence, then give the evidence and limitation.</a:t>
            </a:r>
          </a:p>
          <a:p>
            <a:endParaRPr/>
          </a:p>
          <a:p>
            <a:r>
              <a:t>[Sources]</a:t>
            </a:r>
          </a:p>
          <a:p>
            <a:r>
              <a:t>- C:\Users\ThinkPad P1 G4\Documents\July_2026\NeutroProject\Groundwater\Hydrosheaf\draftbychapter\PhDChapter1_refined.docx</a:t>
            </a:r>
          </a:p>
          <a:p>
            <a:r>
              <a:t>- C:\Users\ThinkPad P1 G4\Documents\July_2026\NeutroProject\Groundwater\Hydrosheaf\M7\m7_nonuniqueness_benchmark\docs\m7_3_results.md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Can lower uncertainty still be wrong?</a:t>
            </a:r>
          </a:p>
          <a:p>
            <a:endParaRPr/>
          </a:p>
          <a:p>
            <a:r>
              <a:t>ANSWER:</a:t>
            </a:r>
          </a:p>
          <a:p>
            <a:r>
              <a:t>Yes. Permuted evidence reduced entropy while worsening ranking and calibration. HydroSheaf therefore evaluates discrimination and calibration alongside interval width or entropy. Greater confidence is not validation unless the predictions also become better.</a:t>
            </a:r>
          </a:p>
          <a:p>
            <a:endParaRPr/>
          </a:p>
          <a:p>
            <a:r>
              <a:t>DELIVERY CUE: Answer the question in the first sentence, then give the evidence and limitation.</a:t>
            </a:r>
          </a:p>
          <a:p>
            <a:endParaRPr/>
          </a:p>
          <a:p>
            <a:r>
              <a:t>[Sources]</a:t>
            </a:r>
          </a:p>
          <a:p>
            <a:r>
              <a:t>- C:\Users\ThinkPad P1 G4\Documents\July_2026\NeutroProject\Groundwater\Hydrosheaf\M7\m7_nonuniqueness_benchmark\docs\m7_3_results.md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Is the active-learning method excellent?</a:t>
            </a:r>
          </a:p>
          <a:p>
            <a:endParaRPr/>
          </a:p>
          <a:p>
            <a:r>
              <a:t>ANSWER:</a:t>
            </a:r>
          </a:p>
          <a:p>
            <a:r>
              <a:t>No claim-bearing evidence supports that conclusion. The current report contains zero recommendations from zero scored edges, and the transport-time interface lacks the required candidate-time Jacobians. Active learning remains an implemented capability that needs a prospective cost-aware locked benchmark.</a:t>
            </a:r>
          </a:p>
          <a:p>
            <a:endParaRPr/>
          </a:p>
          <a:p>
            <a:r>
              <a:t>DELIVERY CUE: Answer the question in the first sentence, then give the evidence and limitation.</a:t>
            </a:r>
          </a:p>
          <a:p>
            <a:endParaRPr/>
          </a:p>
          <a:p>
            <a:r>
              <a:t>[Sources]</a:t>
            </a:r>
          </a:p>
          <a:p>
            <a:r>
              <a:t>- C:\Users\ThinkPad P1 G4\Documents\July_2026\NeutroProject\Groundwater\Hydrosheaf\M4\m4_topology_benchmark\results\active_learning_report.md</a:t>
            </a:r>
          </a:p>
          <a:p>
            <a:r>
              <a:t>- C:\Users\ThinkPad P1 G4\Documents\July_2026\NeutroProject\Groundwater\Hydrosheaf\HYDROSHEAF_REMAINING_CAPABILITIES_DECISION_20260728.md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Is the work fully reproducible?</a:t>
            </a:r>
          </a:p>
          <a:p>
            <a:endParaRPr/>
          </a:p>
          <a:p>
            <a:r>
              <a:t>ANSWER:</a:t>
            </a:r>
          </a:p>
          <a:p>
            <a:r>
              <a:t>Milestone-level provenance, locked-case separation and focused verification are available. The remaining release actions are a clean-checkout reproduction, a repository-wide green test state, a versioned public release and persistent identifiers. I therefore describe the work as locally auditable, not yet fully archived for independent reproduction.</a:t>
            </a:r>
          </a:p>
          <a:p>
            <a:endParaRPr/>
          </a:p>
          <a:p>
            <a:r>
              <a:t>DELIVERY CUE: Answer the question in the first sentence, then give the evidence and limitation.</a:t>
            </a:r>
          </a:p>
          <a:p>
            <a:endParaRPr/>
          </a:p>
          <a:p>
            <a:r>
              <a:t>[Sources]</a:t>
            </a:r>
          </a:p>
          <a:p>
            <a:r>
              <a:t>- C:\Users\ThinkPad P1 G4\Documents\July_2026\NeutroProject\Groundwater\Hydrosheaf\M7\m7_nonuniqueness_benchmark\manuscript\revision\FINAL_VERIFICATION_20260730.md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Examiner backup - use only if asked</a:t>
            </a:r>
          </a:p>
          <a:p>
            <a:endParaRPr/>
          </a:p>
          <a:p>
            <a:r>
              <a:t>EXAMINER QUESTION: Why is this sufficient for a PhD?</a:t>
            </a:r>
          </a:p>
          <a:p>
            <a:endParaRPr/>
          </a:p>
          <a:p>
            <a:r>
              <a:t>ANSWER:</a:t>
            </a:r>
          </a:p>
          <a:p>
            <a:r>
              <a:t>The thesis contributes a formal integration framework, controlled evidence about when cross-domain information helps or harms, explicit falsification and claim-decision procedures, and a field evidence-ceiling diagnosis. The contribution is strengthened by the locked negative results because the method was allowed to reject its own hypotheses.</a:t>
            </a:r>
          </a:p>
          <a:p>
            <a:endParaRPr/>
          </a:p>
          <a:p>
            <a:r>
              <a:t>DELIVERY CUE: Answer the question in the first sentence, then give the evidence and limitation.</a:t>
            </a:r>
          </a:p>
          <a:p>
            <a:endParaRPr/>
          </a:p>
          <a:p>
            <a:r>
              <a:t>[Sources]</a:t>
            </a:r>
          </a:p>
          <a:p>
            <a:r>
              <a:t>- C:\Users\ThinkPad P1 G4\Documents\July_2026\NeutroProject\Groundwater\Hydrosheaf\draftbychapter\PhDChapter1_refined.docx</a:t>
            </a:r>
          </a:p>
          <a:p>
            <a:r>
              <a:t>- C:\Users\ThinkPad P1 G4\Documents\July_2026\NeutroProject\Groundwater\Hydrosheaf\M7\m7_nonuniqueness_benchmark\manuscript\revision\FINAL_VERIFICATION_20260730.md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48C90F8-DB49-493B-A543-D2EF123B907F}"/>
              </a:ext>
            </a:extLst>
          </p:cNvPr>
          <p:cNvSpPr>
            <a:spLocks noGrp="1"/>
          </p:cNvSpPr>
          <p:nvPr/>
        </p:nvSpPr>
        <p:spPr>
          <a:xfrm>
            <a:off x="400050" y="333375"/>
            <a:ext cx="9525000" cy="247650"/>
          </a:xfrm>
          <a:prstGeom prst="rect">
            <a:avLst/>
          </a:prstGeom>
          <a:noFill/>
          <a:ln w="0">
            <a:noFill/>
            <a:prstDash val="solid"/>
          </a:ln>
        </p:spPr>
        <p:txBody>
          <a:bodyPr lIns="0" tIns="0" rIns="0" bIns="0" anchor="t">
            <a:normAutofit/>
          </a:bodyPr>
          <a:lstStyle/>
          <a:p>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UNIVERSITY OF GHANA · SCHOOL OF NUCLEAR AND ALLIED SCIENCES</a:t>
            </a:r>
          </a:p>
        </p:txBody>
      </p:sp>
      <p:sp>
        <p:nvSpPr>
          <p:cNvPr id="2" name="Rectangle 1">
            <a:extLst>
              <a:ext uri="{FF2B5EF4-FFF2-40B4-BE49-F238E27FC236}">
                <a16:creationId xmlns:a16="http://schemas.microsoft.com/office/drawing/2014/main" id="{CA72C3BC-DCAC-48E5-84A2-1210127F7932}"/>
              </a:ext>
            </a:extLst>
          </p:cNvPr>
          <p:cNvSpPr>
            <a:spLocks noGrp="1"/>
          </p:cNvSpPr>
          <p:nvPr/>
        </p:nvSpPr>
        <p:spPr>
          <a:xfrm>
            <a:off x="400050" y="1428750"/>
            <a:ext cx="7239000" cy="876300"/>
          </a:xfrm>
          <a:prstGeom prst="rect">
            <a:avLst/>
          </a:prstGeom>
          <a:noFill/>
          <a:ln w="0">
            <a:noFill/>
            <a:prstDash val="solid"/>
          </a:ln>
        </p:spPr>
        <p:txBody>
          <a:bodyPr lIns="0" tIns="0" rIns="0" bIns="0" anchor="t">
            <a:normAutofit/>
          </a:bodyPr>
          <a:lstStyle/>
          <a:p>
            <a:pPr algn="l">
              <a:defRPr sz="5100" b="1">
                <a:solidFill>
                  <a:srgbClr val="111318"/>
                </a:solidFill>
                <a:latin typeface="Helvetica Neue"/>
                <a:ea typeface="Helvetica Neue"/>
                <a:cs typeface="Helvetica Neue"/>
              </a:defRPr>
            </a:pPr>
            <a:r>
              <a:rPr sz="5100" b="1">
                <a:solidFill>
                  <a:srgbClr val="111318"/>
                </a:solidFill>
                <a:latin typeface="Helvetica Neue"/>
                <a:ea typeface="Helvetica Neue"/>
                <a:cs typeface="Helvetica Neue"/>
              </a:rPr>
              <a:t>HydroSheaf</a:t>
            </a:r>
          </a:p>
        </p:txBody>
      </p:sp>
      <p:sp>
        <p:nvSpPr>
          <p:cNvPr id="3" name="Rectangle 2">
            <a:extLst>
              <a:ext uri="{FF2B5EF4-FFF2-40B4-BE49-F238E27FC236}">
                <a16:creationId xmlns:a16="http://schemas.microsoft.com/office/drawing/2014/main" id="{20C13F61-DB01-4F8F-9C9B-9E95E03FBA8E}"/>
              </a:ext>
            </a:extLst>
          </p:cNvPr>
          <p:cNvSpPr>
            <a:spLocks noGrp="1"/>
          </p:cNvSpPr>
          <p:nvPr/>
        </p:nvSpPr>
        <p:spPr>
          <a:xfrm>
            <a:off x="400050" y="2381250"/>
            <a:ext cx="10668000" cy="1352550"/>
          </a:xfrm>
          <a:prstGeom prst="rect">
            <a:avLst/>
          </a:prstGeom>
          <a:noFill/>
          <a:ln w="0">
            <a:noFill/>
            <a:prstDash val="solid"/>
          </a:ln>
        </p:spPr>
        <p:txBody>
          <a:bodyPr lIns="0" tIns="0" rIns="0" bIns="0" anchor="t">
            <a:normAutofit/>
          </a:bodyPr>
          <a:lstStyle/>
          <a:p>
            <a:pPr algn="l">
              <a:defRPr sz="1800" b="0">
                <a:solidFill>
                  <a:srgbClr val="153A63"/>
                </a:solidFill>
                <a:latin typeface="Helvetica Neue"/>
                <a:ea typeface="Helvetica Neue"/>
                <a:cs typeface="Helvetica Neue"/>
              </a:defRPr>
            </a:pPr>
            <a:r>
              <a:rPr sz="1800" b="0">
                <a:solidFill>
                  <a:srgbClr val="153A63"/>
                </a:solidFill>
                <a:latin typeface="Helvetica Neue"/>
                <a:ea typeface="Helvetica Neue"/>
                <a:cs typeface="Helvetica Neue"/>
              </a:rPr>
              <a:t>Graph-constrained environmental and nuclear tracer modelling with inverse hydrogeochemistry for diagnosing groundwater residence time and evolution in data-limited semi-arid aquifers: development and application of HydroSheaf</a:t>
            </a:r>
          </a:p>
        </p:txBody>
      </p:sp>
      <p:sp>
        <p:nvSpPr>
          <p:cNvPr id="4" name="Rectangle 3">
            <a:extLst>
              <a:ext uri="{FF2B5EF4-FFF2-40B4-BE49-F238E27FC236}">
                <a16:creationId xmlns:a16="http://schemas.microsoft.com/office/drawing/2014/main" id="{D1FE3AAA-B937-438D-BB8D-32242BDC6D18}"/>
              </a:ext>
            </a:extLst>
          </p:cNvPr>
          <p:cNvSpPr>
            <a:spLocks noGrp="1"/>
          </p:cNvSpPr>
          <p:nvPr/>
        </p:nvSpPr>
        <p:spPr>
          <a:xfrm>
            <a:off x="400050" y="3914775"/>
            <a:ext cx="11391900" cy="19050"/>
          </a:xfrm>
          <a:prstGeom prst="rect">
            <a:avLst/>
          </a:prstGeom>
          <a:solidFill>
            <a:srgbClr val="111318"/>
          </a:solidFill>
          <a:ln w="0">
            <a:noFill/>
            <a:prstDash val="solid"/>
          </a:ln>
        </p:spPr>
        <p:txBody>
          <a:bodyPr/>
          <a:lstStyle/>
          <a:p>
            <a:endParaRPr lang="en-US"/>
          </a:p>
        </p:txBody>
      </p:sp>
      <p:sp>
        <p:nvSpPr>
          <p:cNvPr id="5" name="Rectangle 4">
            <a:extLst>
              <a:ext uri="{FF2B5EF4-FFF2-40B4-BE49-F238E27FC236}">
                <a16:creationId xmlns:a16="http://schemas.microsoft.com/office/drawing/2014/main" id="{516431A4-5060-455A-A09B-283A9E414138}"/>
              </a:ext>
            </a:extLst>
          </p:cNvPr>
          <p:cNvSpPr>
            <a:spLocks noGrp="1"/>
          </p:cNvSpPr>
          <p:nvPr/>
        </p:nvSpPr>
        <p:spPr>
          <a:xfrm>
            <a:off x="400050" y="4257675"/>
            <a:ext cx="8572500" cy="342900"/>
          </a:xfrm>
          <a:prstGeom prst="rect">
            <a:avLst/>
          </a:prstGeom>
          <a:noFill/>
          <a:ln w="0">
            <a:noFill/>
            <a:prstDash val="solid"/>
          </a:ln>
        </p:spPr>
        <p:txBody>
          <a:bodyPr lIns="0" tIns="0" rIns="0" bIns="0" anchor="t">
            <a:normAutofit/>
          </a:bodyPr>
          <a:lstStyle/>
          <a:p>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PhD viva defence · Dickson Abdul-Wahab · 11004418</a:t>
            </a:r>
          </a:p>
        </p:txBody>
      </p:sp>
      <p:sp>
        <p:nvSpPr>
          <p:cNvPr id="6" name="Rectangle 5">
            <a:extLst>
              <a:ext uri="{FF2B5EF4-FFF2-40B4-BE49-F238E27FC236}">
                <a16:creationId xmlns:a16="http://schemas.microsoft.com/office/drawing/2014/main" id="{7D0953B6-0B0C-4FE5-BB3D-BD05385C5A14}"/>
              </a:ext>
            </a:extLst>
          </p:cNvPr>
          <p:cNvSpPr>
            <a:spLocks noGrp="1"/>
          </p:cNvSpPr>
          <p:nvPr/>
        </p:nvSpPr>
        <p:spPr>
          <a:xfrm>
            <a:off x="400050" y="4705350"/>
            <a:ext cx="2857500" cy="26670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August 2026</a:t>
            </a:r>
          </a:p>
        </p:txBody>
      </p:sp>
      <p:sp>
        <p:nvSpPr>
          <p:cNvPr id="7" name="Rectangle: Rounded Corners 6">
            <a:extLst>
              <a:ext uri="{FF2B5EF4-FFF2-40B4-BE49-F238E27FC236}">
                <a16:creationId xmlns:a16="http://schemas.microsoft.com/office/drawing/2014/main" id="{4A2EAAD3-12E5-4DF2-A277-0C091C59E626}"/>
              </a:ext>
            </a:extLst>
          </p:cNvPr>
          <p:cNvSpPr>
            <a:spLocks noGrp="1"/>
          </p:cNvSpPr>
          <p:nvPr/>
        </p:nvSpPr>
        <p:spPr>
          <a:xfrm>
            <a:off x="9382125" y="400050"/>
            <a:ext cx="2381250" cy="323850"/>
          </a:xfrm>
          <a:prstGeom prst="roundRect">
            <a:avLst>
              <a:gd name="adj" fmla="val 50000"/>
            </a:avLst>
          </a:prstGeom>
          <a:solidFill>
            <a:srgbClr val="E9F4FF"/>
          </a:solidFill>
          <a:ln w="0">
            <a:noFill/>
            <a:prstDash val="solid"/>
          </a:ln>
        </p:spPr>
        <p:txBody>
          <a:bodyPr/>
          <a:lstStyle/>
          <a:p>
            <a:endParaRPr lang="en-US"/>
          </a:p>
        </p:txBody>
      </p:sp>
      <p:sp>
        <p:nvSpPr>
          <p:cNvPr id="8" name="Rectangle 7">
            <a:extLst>
              <a:ext uri="{FF2B5EF4-FFF2-40B4-BE49-F238E27FC236}">
                <a16:creationId xmlns:a16="http://schemas.microsoft.com/office/drawing/2014/main" id="{7B7336D6-BBBA-49F8-B963-9B7CC4496C9C}"/>
              </a:ext>
            </a:extLst>
          </p:cNvPr>
          <p:cNvSpPr>
            <a:spLocks noGrp="1"/>
          </p:cNvSpPr>
          <p:nvPr/>
        </p:nvSpPr>
        <p:spPr>
          <a:xfrm>
            <a:off x="9477375" y="466725"/>
            <a:ext cx="2190750" cy="190500"/>
          </a:xfrm>
          <a:prstGeom prst="rect">
            <a:avLst/>
          </a:prstGeom>
          <a:noFill/>
          <a:ln w="0">
            <a:noFill/>
            <a:prstDash val="solid"/>
          </a:ln>
        </p:spPr>
        <p:txBody>
          <a:bodyPr lIns="0" tIns="0" rIns="0" bIns="0" anchor="t">
            <a:normAutofit/>
          </a:bodyPr>
          <a:lstStyle/>
          <a:p>
            <a:pPr algn="ct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40-MINUTE DEFENCE</a:t>
            </a:r>
          </a:p>
        </p:txBody>
      </p:sp>
      <p:sp>
        <p:nvSpPr>
          <p:cNvPr id="9" name="Rectangle 8">
            <a:extLst>
              <a:ext uri="{FF2B5EF4-FFF2-40B4-BE49-F238E27FC236}">
                <a16:creationId xmlns:a16="http://schemas.microsoft.com/office/drawing/2014/main" id="{61897F98-0F3B-493D-827C-54B2897A0189}"/>
              </a:ext>
            </a:extLst>
          </p:cNvPr>
          <p:cNvSpPr>
            <a:spLocks noGrp="1"/>
          </p:cNvSpPr>
          <p:nvPr/>
        </p:nvSpPr>
        <p:spPr>
          <a:xfrm>
            <a:off x="8001000" y="5286375"/>
            <a:ext cx="3333750" cy="209550"/>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One-sentence thesis</a:t>
            </a:r>
          </a:p>
        </p:txBody>
      </p:sp>
      <p:sp>
        <p:nvSpPr>
          <p:cNvPr id="10" name="Rectangle 9">
            <a:extLst>
              <a:ext uri="{FF2B5EF4-FFF2-40B4-BE49-F238E27FC236}">
                <a16:creationId xmlns:a16="http://schemas.microsoft.com/office/drawing/2014/main" id="{D2CA55DD-D8A3-4D13-8D42-DBAC81054CAE}"/>
              </a:ext>
            </a:extLst>
          </p:cNvPr>
          <p:cNvSpPr>
            <a:spLocks noGrp="1"/>
          </p:cNvSpPr>
          <p:nvPr/>
        </p:nvSpPr>
        <p:spPr>
          <a:xfrm>
            <a:off x="8001000" y="5581650"/>
            <a:ext cx="3429000" cy="742950"/>
          </a:xfrm>
          <a:prstGeom prst="rect">
            <a:avLst/>
          </a:prstGeom>
          <a:noFill/>
          <a:ln w="0">
            <a:noFill/>
            <a:prstDash val="solid"/>
          </a:ln>
        </p:spPr>
        <p:txBody>
          <a:bodyPr lIns="0" tIns="0" rIns="0" bIns="0" anchor="t">
            <a:normAutofit fontScale="94167" lnSpcReduction="10000"/>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Integration is scientifically useful only when it exposes—not hides—non-uniqueness.</a:t>
            </a:r>
          </a:p>
        </p:txBody>
      </p:sp>
    </p:spTree>
    <p:extLst>
      <p:ext uri="{BB962C8B-B14F-4D97-AF65-F5344CB8AC3E}">
        <p14:creationId xmlns:p14="http://schemas.microsoft.com/office/powerpoint/2010/main" val="1391232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5D6BAFA-35E9-4E86-A348-8B843BEC841F}"/>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BACKGROUND</a:t>
            </a:r>
          </a:p>
        </p:txBody>
      </p:sp>
      <p:sp>
        <p:nvSpPr>
          <p:cNvPr id="2" name="Rectangle 1">
            <a:extLst>
              <a:ext uri="{FF2B5EF4-FFF2-40B4-BE49-F238E27FC236}">
                <a16:creationId xmlns:a16="http://schemas.microsoft.com/office/drawing/2014/main" id="{E1439349-45A7-4D8E-9583-4B0D66CFAC56}"/>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Background: groundwater decisions rely on incomplete evidence</a:t>
            </a:r>
          </a:p>
        </p:txBody>
      </p:sp>
      <p:sp>
        <p:nvSpPr>
          <p:cNvPr id="3" name="Rectangle 2">
            <a:extLst>
              <a:ext uri="{FF2B5EF4-FFF2-40B4-BE49-F238E27FC236}">
                <a16:creationId xmlns:a16="http://schemas.microsoft.com/office/drawing/2014/main" id="{0D9E2DDB-DEF8-4FB9-BA10-AE7266A5E852}"/>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26C85A4E-D2D9-4B17-9EFB-B0C69FBD1B7C}"/>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Introduction</a:t>
            </a:r>
          </a:p>
        </p:txBody>
      </p:sp>
      <p:sp>
        <p:nvSpPr>
          <p:cNvPr id="5" name="Rectangle 4">
            <a:extLst>
              <a:ext uri="{FF2B5EF4-FFF2-40B4-BE49-F238E27FC236}">
                <a16:creationId xmlns:a16="http://schemas.microsoft.com/office/drawing/2014/main" id="{6CCA21B7-F6BD-4292-ABED-F463DD7B9D67}"/>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02</a:t>
            </a:r>
          </a:p>
        </p:txBody>
      </p:sp>
      <p:sp>
        <p:nvSpPr>
          <p:cNvPr id="6" name="Rectangle: Rounded Corners 5">
            <a:extLst>
              <a:ext uri="{FF2B5EF4-FFF2-40B4-BE49-F238E27FC236}">
                <a16:creationId xmlns:a16="http://schemas.microsoft.com/office/drawing/2014/main" id="{58B80631-8D87-4508-A042-E151BC871D81}"/>
              </a:ext>
            </a:extLst>
          </p:cNvPr>
          <p:cNvSpPr>
            <a:spLocks noGrp="1"/>
          </p:cNvSpPr>
          <p:nvPr/>
        </p:nvSpPr>
        <p:spPr>
          <a:xfrm>
            <a:off x="400050" y="1714500"/>
            <a:ext cx="3543300" cy="2857500"/>
          </a:xfrm>
          <a:prstGeom prst="roundRect">
            <a:avLst>
              <a:gd name="adj" fmla="val 4000"/>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850DE408-956C-400E-8A41-9293B259D916}"/>
              </a:ext>
            </a:extLst>
          </p:cNvPr>
          <p:cNvSpPr>
            <a:spLocks noGrp="1"/>
          </p:cNvSpPr>
          <p:nvPr/>
        </p:nvSpPr>
        <p:spPr>
          <a:xfrm>
            <a:off x="647700" y="2000250"/>
            <a:ext cx="3048000" cy="266700"/>
          </a:xfrm>
          <a:prstGeom prst="rect">
            <a:avLst/>
          </a:prstGeom>
          <a:noFill/>
          <a:ln w="0">
            <a:noFill/>
            <a:prstDash val="solid"/>
          </a:ln>
        </p:spPr>
        <p:txBody>
          <a:bodyPr lIns="0" tIns="0" rIns="0" bIns="0" anchor="t">
            <a:normAutofit/>
          </a:bodyPr>
          <a:lstStyle/>
          <a:p>
            <a:pPr algn="ctr">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WHY IT MATTERS</a:t>
            </a:r>
          </a:p>
        </p:txBody>
      </p:sp>
      <p:sp>
        <p:nvSpPr>
          <p:cNvPr id="8" name="Rectangle 7">
            <a:extLst>
              <a:ext uri="{FF2B5EF4-FFF2-40B4-BE49-F238E27FC236}">
                <a16:creationId xmlns:a16="http://schemas.microsoft.com/office/drawing/2014/main" id="{9E378E35-D79A-4379-8FD3-780A1B5BCCD2}"/>
              </a:ext>
            </a:extLst>
          </p:cNvPr>
          <p:cNvSpPr>
            <a:spLocks noGrp="1"/>
          </p:cNvSpPr>
          <p:nvPr/>
        </p:nvSpPr>
        <p:spPr>
          <a:xfrm>
            <a:off x="742950" y="2667000"/>
            <a:ext cx="2857500" cy="1314450"/>
          </a:xfrm>
          <a:prstGeom prst="rect">
            <a:avLst/>
          </a:prstGeom>
          <a:noFill/>
          <a:ln w="0">
            <a:noFill/>
            <a:prstDash val="solid"/>
          </a:ln>
        </p:spPr>
        <p:txBody>
          <a:bodyPr lIns="0" tIns="0" rIns="0" bIns="0" anchor="t">
            <a:normAutofit/>
          </a:bodyPr>
          <a:lstStyle/>
          <a:p>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Water supply, irrigation and water-quality decisions depend on how groundwater moves, mixes and reacts.</a:t>
            </a:r>
          </a:p>
        </p:txBody>
      </p:sp>
      <p:sp>
        <p:nvSpPr>
          <p:cNvPr id="9" name="Rectangle: Rounded Corners 8">
            <a:extLst>
              <a:ext uri="{FF2B5EF4-FFF2-40B4-BE49-F238E27FC236}">
                <a16:creationId xmlns:a16="http://schemas.microsoft.com/office/drawing/2014/main" id="{036370E3-5463-491B-B630-743128CE0AA1}"/>
              </a:ext>
            </a:extLst>
          </p:cNvPr>
          <p:cNvSpPr>
            <a:spLocks noGrp="1"/>
          </p:cNvSpPr>
          <p:nvPr/>
        </p:nvSpPr>
        <p:spPr>
          <a:xfrm>
            <a:off x="4257675" y="1714500"/>
            <a:ext cx="3543300" cy="2857500"/>
          </a:xfrm>
          <a:prstGeom prst="roundRect">
            <a:avLst>
              <a:gd name="adj" fmla="val 4000"/>
            </a:avLst>
          </a:prstGeom>
          <a:solidFill>
            <a:srgbClr val="F2F3F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23C0622-039E-459B-BD96-706A54643B9B}"/>
              </a:ext>
            </a:extLst>
          </p:cNvPr>
          <p:cNvSpPr>
            <a:spLocks noGrp="1"/>
          </p:cNvSpPr>
          <p:nvPr/>
        </p:nvSpPr>
        <p:spPr>
          <a:xfrm>
            <a:off x="4505325" y="2000250"/>
            <a:ext cx="3048000" cy="266700"/>
          </a:xfrm>
          <a:prstGeom prst="rect">
            <a:avLst/>
          </a:prstGeom>
          <a:noFill/>
          <a:ln w="0">
            <a:noFill/>
            <a:prstDash val="solid"/>
          </a:ln>
        </p:spPr>
        <p:txBody>
          <a:bodyPr lIns="0" tIns="0" rIns="0" bIns="0" anchor="t">
            <a:normAutofit/>
          </a:bodyPr>
          <a:lstStyle/>
          <a:p>
            <a:pPr algn="ctr">
              <a:defRPr sz="1275" b="1">
                <a:solidFill>
                  <a:srgbClr val="149A84"/>
                </a:solidFill>
                <a:latin typeface="Helvetica Neue"/>
                <a:ea typeface="Helvetica Neue"/>
                <a:cs typeface="Helvetica Neue"/>
              </a:defRPr>
            </a:pPr>
            <a:r>
              <a:rPr sz="1275" b="1">
                <a:solidFill>
                  <a:srgbClr val="149A84"/>
                </a:solidFill>
                <a:latin typeface="Helvetica Neue"/>
                <a:ea typeface="Helvetica Neue"/>
                <a:cs typeface="Helvetica Neue"/>
              </a:rPr>
              <a:t>WHAT WE OBSERVE</a:t>
            </a:r>
          </a:p>
        </p:txBody>
      </p:sp>
      <p:sp>
        <p:nvSpPr>
          <p:cNvPr id="11" name="Rectangle 10">
            <a:extLst>
              <a:ext uri="{FF2B5EF4-FFF2-40B4-BE49-F238E27FC236}">
                <a16:creationId xmlns:a16="http://schemas.microsoft.com/office/drawing/2014/main" id="{2A1A3478-A269-47EB-8256-50E39F7AF187}"/>
              </a:ext>
            </a:extLst>
          </p:cNvPr>
          <p:cNvSpPr>
            <a:spLocks noGrp="1"/>
          </p:cNvSpPr>
          <p:nvPr/>
        </p:nvSpPr>
        <p:spPr>
          <a:xfrm>
            <a:off x="4600575" y="2667000"/>
            <a:ext cx="2857500" cy="1314450"/>
          </a:xfrm>
          <a:prstGeom prst="rect">
            <a:avLst/>
          </a:prstGeom>
          <a:noFill/>
          <a:ln w="0">
            <a:noFill/>
            <a:prstDash val="solid"/>
          </a:ln>
        </p:spPr>
        <p:txBody>
          <a:bodyPr lIns="0" tIns="0" rIns="0" bIns="0" anchor="t">
            <a:normAutofit/>
          </a:bodyPr>
          <a:lstStyle/>
          <a:p>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Environmental and nuclear tracers, hydraulic observations and hydrochemistry provide partial views.</a:t>
            </a:r>
          </a:p>
        </p:txBody>
      </p:sp>
      <p:sp>
        <p:nvSpPr>
          <p:cNvPr id="12" name="Rectangle: Rounded Corners 11">
            <a:extLst>
              <a:ext uri="{FF2B5EF4-FFF2-40B4-BE49-F238E27FC236}">
                <a16:creationId xmlns:a16="http://schemas.microsoft.com/office/drawing/2014/main" id="{2718378F-EE2D-4C63-BE08-2836F633B185}"/>
              </a:ext>
            </a:extLst>
          </p:cNvPr>
          <p:cNvSpPr>
            <a:spLocks noGrp="1"/>
          </p:cNvSpPr>
          <p:nvPr/>
        </p:nvSpPr>
        <p:spPr>
          <a:xfrm>
            <a:off x="8115300" y="1714500"/>
            <a:ext cx="3543300" cy="2857500"/>
          </a:xfrm>
          <a:prstGeom prst="roundRect">
            <a:avLst>
              <a:gd name="adj" fmla="val 4000"/>
            </a:avLst>
          </a:prstGeom>
          <a:solidFill>
            <a:srgbClr val="F2F3F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4B2FB5C4-1CF4-47CC-AE66-63C1A4358EBD}"/>
              </a:ext>
            </a:extLst>
          </p:cNvPr>
          <p:cNvSpPr>
            <a:spLocks noGrp="1"/>
          </p:cNvSpPr>
          <p:nvPr/>
        </p:nvSpPr>
        <p:spPr>
          <a:xfrm>
            <a:off x="8362950" y="2000250"/>
            <a:ext cx="3048000" cy="266700"/>
          </a:xfrm>
          <a:prstGeom prst="rect">
            <a:avLst/>
          </a:prstGeom>
          <a:noFill/>
          <a:ln w="0">
            <a:noFill/>
            <a:prstDash val="solid"/>
          </a:ln>
        </p:spPr>
        <p:txBody>
          <a:bodyPr lIns="0" tIns="0" rIns="0" bIns="0" anchor="t">
            <a:normAutofit/>
          </a:bodyPr>
          <a:lstStyle/>
          <a:p>
            <a:pPr algn="ctr">
              <a:defRPr sz="1275" b="1">
                <a:solidFill>
                  <a:srgbClr val="D97706"/>
                </a:solidFill>
                <a:latin typeface="Helvetica Neue"/>
                <a:ea typeface="Helvetica Neue"/>
                <a:cs typeface="Helvetica Neue"/>
              </a:defRPr>
            </a:pPr>
            <a:r>
              <a:rPr sz="1275" b="1">
                <a:solidFill>
                  <a:srgbClr val="D97706"/>
                </a:solidFill>
                <a:latin typeface="Helvetica Neue"/>
                <a:ea typeface="Helvetica Neue"/>
                <a:cs typeface="Helvetica Neue"/>
              </a:rPr>
              <a:t>WHAT WE MUST INFER</a:t>
            </a:r>
          </a:p>
        </p:txBody>
      </p:sp>
      <p:sp>
        <p:nvSpPr>
          <p:cNvPr id="14" name="Rectangle 13">
            <a:extLst>
              <a:ext uri="{FF2B5EF4-FFF2-40B4-BE49-F238E27FC236}">
                <a16:creationId xmlns:a16="http://schemas.microsoft.com/office/drawing/2014/main" id="{DC656F8D-78A3-4846-9A06-C9752F1956F6}"/>
              </a:ext>
            </a:extLst>
          </p:cNvPr>
          <p:cNvSpPr>
            <a:spLocks noGrp="1"/>
          </p:cNvSpPr>
          <p:nvPr/>
        </p:nvSpPr>
        <p:spPr>
          <a:xfrm>
            <a:off x="8458200" y="2667000"/>
            <a:ext cx="2857500" cy="1314450"/>
          </a:xfrm>
          <a:prstGeom prst="rect">
            <a:avLst/>
          </a:prstGeom>
          <a:noFill/>
          <a:ln w="0">
            <a:noFill/>
            <a:prstDash val="solid"/>
          </a:ln>
        </p:spPr>
        <p:txBody>
          <a:bodyPr lIns="0" tIns="0" rIns="0" bIns="0" anchor="t">
            <a:normAutofit/>
          </a:bodyPr>
          <a:lstStyle/>
          <a:p>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Residence-time distributions, directed flow paths and reaction histories are not observed directly.</a:t>
            </a:r>
          </a:p>
        </p:txBody>
      </p:sp>
      <p:sp>
        <p:nvSpPr>
          <p:cNvPr id="15" name="Rectangle: Rounded Corners 14">
            <a:extLst>
              <a:ext uri="{FF2B5EF4-FFF2-40B4-BE49-F238E27FC236}">
                <a16:creationId xmlns:a16="http://schemas.microsoft.com/office/drawing/2014/main" id="{D869E78F-522B-465C-9C94-2E1559CEF8C1}"/>
              </a:ext>
            </a:extLst>
          </p:cNvPr>
          <p:cNvSpPr>
            <a:spLocks noGrp="1"/>
          </p:cNvSpPr>
          <p:nvPr/>
        </p:nvSpPr>
        <p:spPr>
          <a:xfrm>
            <a:off x="1619250" y="4905375"/>
            <a:ext cx="8953500" cy="838200"/>
          </a:xfrm>
          <a:prstGeom prst="roundRect">
            <a:avLst>
              <a:gd name="adj" fmla="val 13636"/>
            </a:avLst>
          </a:prstGeom>
          <a:solidFill>
            <a:srgbClr val="E9F4FF"/>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3EEC65A3-DC07-4B28-ACEA-28FB093A6ACC}"/>
              </a:ext>
            </a:extLst>
          </p:cNvPr>
          <p:cNvSpPr>
            <a:spLocks noGrp="1"/>
          </p:cNvSpPr>
          <p:nvPr/>
        </p:nvSpPr>
        <p:spPr>
          <a:xfrm>
            <a:off x="1952625" y="5124450"/>
            <a:ext cx="8286750" cy="438150"/>
          </a:xfrm>
          <a:prstGeom prst="rect">
            <a:avLst/>
          </a:prstGeom>
          <a:noFill/>
          <a:ln w="0">
            <a:noFill/>
            <a:prstDash val="solid"/>
          </a:ln>
        </p:spPr>
        <p:txBody>
          <a:bodyPr lIns="0" tIns="0" rIns="0" bIns="0" anchor="t">
            <a:normAutofit fontScale="90833" lnSpcReduction="20000"/>
          </a:bodyPr>
          <a:lstStyle/>
          <a:p>
            <a:pPr algn="ctr">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In data-limited semi-arid aquifers, the scientific challenge is not simply fitting each dataset—it is deciding which combined interpretation remains defensible.</a:t>
            </a:r>
          </a:p>
        </p:txBody>
      </p:sp>
    </p:spTree>
    <p:extLst>
      <p:ext uri="{BB962C8B-B14F-4D97-AF65-F5344CB8AC3E}">
        <p14:creationId xmlns:p14="http://schemas.microsoft.com/office/powerpoint/2010/main" val="92420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93861B6-9EAA-43B1-A88E-C8693E748AC5}"/>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WHY THE WORK WAS NECESSARY</a:t>
            </a:r>
          </a:p>
        </p:txBody>
      </p:sp>
      <p:sp>
        <p:nvSpPr>
          <p:cNvPr id="2" name="Rectangle 1">
            <a:extLst>
              <a:ext uri="{FF2B5EF4-FFF2-40B4-BE49-F238E27FC236}">
                <a16:creationId xmlns:a16="http://schemas.microsoft.com/office/drawing/2014/main" id="{0F73BB30-24F4-46BA-BDE4-F0FA15F520B4}"/>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Problem statement: plausible results can still conflict</a:t>
            </a:r>
          </a:p>
        </p:txBody>
      </p:sp>
      <p:sp>
        <p:nvSpPr>
          <p:cNvPr id="3" name="Rectangle 2">
            <a:extLst>
              <a:ext uri="{FF2B5EF4-FFF2-40B4-BE49-F238E27FC236}">
                <a16:creationId xmlns:a16="http://schemas.microsoft.com/office/drawing/2014/main" id="{02F7DA07-827D-497A-9E82-FD48413E1836}"/>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ECC6401F-0C5F-4C2D-B5C9-82FB25E9FF68}"/>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Problem</a:t>
            </a:r>
          </a:p>
        </p:txBody>
      </p:sp>
      <p:sp>
        <p:nvSpPr>
          <p:cNvPr id="5" name="Rectangle 4">
            <a:extLst>
              <a:ext uri="{FF2B5EF4-FFF2-40B4-BE49-F238E27FC236}">
                <a16:creationId xmlns:a16="http://schemas.microsoft.com/office/drawing/2014/main" id="{B99CED60-5616-41D7-A9F7-4CB0BF7A669F}"/>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03</a:t>
            </a:r>
          </a:p>
        </p:txBody>
      </p:sp>
      <p:sp>
        <p:nvSpPr>
          <p:cNvPr id="6" name="Rectangle 5">
            <a:extLst>
              <a:ext uri="{FF2B5EF4-FFF2-40B4-BE49-F238E27FC236}">
                <a16:creationId xmlns:a16="http://schemas.microsoft.com/office/drawing/2014/main" id="{2B1542C1-7CC6-4626-B3C4-539B8AD81872}"/>
              </a:ext>
            </a:extLst>
          </p:cNvPr>
          <p:cNvSpPr>
            <a:spLocks noGrp="1"/>
          </p:cNvSpPr>
          <p:nvPr/>
        </p:nvSpPr>
        <p:spPr>
          <a:xfrm>
            <a:off x="400050" y="1581150"/>
            <a:ext cx="1952625" cy="247650"/>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COUPLED SYSTEM</a:t>
            </a:r>
          </a:p>
        </p:txBody>
      </p:sp>
      <p:sp>
        <p:nvSpPr>
          <p:cNvPr id="7" name="Rectangle 6">
            <a:extLst>
              <a:ext uri="{FF2B5EF4-FFF2-40B4-BE49-F238E27FC236}">
                <a16:creationId xmlns:a16="http://schemas.microsoft.com/office/drawing/2014/main" id="{A6EFA545-0F6A-47C0-B76F-F16481A6EC8B}"/>
              </a:ext>
            </a:extLst>
          </p:cNvPr>
          <p:cNvSpPr>
            <a:spLocks noGrp="1"/>
          </p:cNvSpPr>
          <p:nvPr/>
        </p:nvSpPr>
        <p:spPr>
          <a:xfrm>
            <a:off x="400050" y="1943100"/>
            <a:ext cx="5000625" cy="19050"/>
          </a:xfrm>
          <a:prstGeom prst="rect">
            <a:avLst/>
          </a:prstGeom>
          <a:solidFill>
            <a:srgbClr val="3D8DFF"/>
          </a:solidFill>
          <a:ln w="0">
            <a:noFill/>
            <a:prstDash val="solid"/>
          </a:ln>
        </p:spPr>
        <p:txBody>
          <a:bodyPr/>
          <a:lstStyle/>
          <a:p>
            <a:endParaRPr lang="en-US"/>
          </a:p>
        </p:txBody>
      </p:sp>
      <p:sp>
        <p:nvSpPr>
          <p:cNvPr id="8" name="Rectangle 7">
            <a:extLst>
              <a:ext uri="{FF2B5EF4-FFF2-40B4-BE49-F238E27FC236}">
                <a16:creationId xmlns:a16="http://schemas.microsoft.com/office/drawing/2014/main" id="{EE40956C-19D0-4E91-9645-2703AC382F2E}"/>
              </a:ext>
            </a:extLst>
          </p:cNvPr>
          <p:cNvSpPr>
            <a:spLocks noGrp="1"/>
          </p:cNvSpPr>
          <p:nvPr/>
        </p:nvSpPr>
        <p:spPr>
          <a:xfrm>
            <a:off x="400050" y="2047875"/>
            <a:ext cx="5000625" cy="438150"/>
          </a:xfrm>
          <a:prstGeom prst="rect">
            <a:avLst/>
          </a:prstGeom>
          <a:noFill/>
          <a:ln w="0">
            <a:noFill/>
            <a:prstDash val="solid"/>
          </a:ln>
        </p:spPr>
        <p:txBody>
          <a:bodyPr lIns="0" tIns="0" rIns="0" bIns="0" anchor="t">
            <a:normAutofit lnSpcReduction="10000"/>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Age, connectivity and reactions describe the same aquifer</a:t>
            </a:r>
          </a:p>
        </p:txBody>
      </p:sp>
      <p:sp>
        <p:nvSpPr>
          <p:cNvPr id="9" name="Rectangle 8">
            <a:extLst>
              <a:ext uri="{FF2B5EF4-FFF2-40B4-BE49-F238E27FC236}">
                <a16:creationId xmlns:a16="http://schemas.microsoft.com/office/drawing/2014/main" id="{B22BC8E2-E8B5-473D-A224-9787C1829866}"/>
              </a:ext>
            </a:extLst>
          </p:cNvPr>
          <p:cNvSpPr>
            <a:spLocks noGrp="1"/>
          </p:cNvSpPr>
          <p:nvPr/>
        </p:nvSpPr>
        <p:spPr>
          <a:xfrm>
            <a:off x="400050" y="2590800"/>
            <a:ext cx="1952625" cy="247650"/>
          </a:xfrm>
          <a:prstGeom prst="rect">
            <a:avLst/>
          </a:prstGeom>
          <a:noFill/>
          <a:ln w="0">
            <a:noFill/>
            <a:prstDash val="solid"/>
          </a:ln>
        </p:spPr>
        <p:txBody>
          <a:bodyPr lIns="0" tIns="0" rIns="0" bIns="0" anchor="t">
            <a:normAutofit/>
          </a:bodyPr>
          <a:lstStyle/>
          <a:p>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SPARSE EVIDENCE</a:t>
            </a:r>
          </a:p>
        </p:txBody>
      </p:sp>
      <p:sp>
        <p:nvSpPr>
          <p:cNvPr id="10" name="Rectangle 9">
            <a:extLst>
              <a:ext uri="{FF2B5EF4-FFF2-40B4-BE49-F238E27FC236}">
                <a16:creationId xmlns:a16="http://schemas.microsoft.com/office/drawing/2014/main" id="{5734D071-C0F1-47FD-A1C3-7D60D43050D6}"/>
              </a:ext>
            </a:extLst>
          </p:cNvPr>
          <p:cNvSpPr>
            <a:spLocks noGrp="1"/>
          </p:cNvSpPr>
          <p:nvPr/>
        </p:nvSpPr>
        <p:spPr>
          <a:xfrm>
            <a:off x="400050" y="2952750"/>
            <a:ext cx="5000625" cy="19050"/>
          </a:xfrm>
          <a:prstGeom prst="rect">
            <a:avLst/>
          </a:prstGeom>
          <a:solidFill>
            <a:srgbClr val="149A8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A31045B-9EC0-4B17-8DFA-E46FB6C5761E}"/>
              </a:ext>
            </a:extLst>
          </p:cNvPr>
          <p:cNvSpPr>
            <a:spLocks noGrp="1"/>
          </p:cNvSpPr>
          <p:nvPr/>
        </p:nvSpPr>
        <p:spPr>
          <a:xfrm>
            <a:off x="400050" y="3057525"/>
            <a:ext cx="5000625" cy="438150"/>
          </a:xfrm>
          <a:prstGeom prst="rect">
            <a:avLst/>
          </a:prstGeom>
          <a:noFill/>
          <a:ln w="0">
            <a:noFill/>
            <a:prstDash val="solid"/>
          </a:ln>
        </p:spPr>
        <p:txBody>
          <a:bodyPr lIns="0" tIns="0" rIns="0" bIns="0" anchor="t">
            <a:normAutofit lnSpcReduction="10000"/>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Each inverse problem admits several plausible answers</a:t>
            </a:r>
          </a:p>
        </p:txBody>
      </p:sp>
      <p:sp>
        <p:nvSpPr>
          <p:cNvPr id="12" name="Rectangle 11">
            <a:extLst>
              <a:ext uri="{FF2B5EF4-FFF2-40B4-BE49-F238E27FC236}">
                <a16:creationId xmlns:a16="http://schemas.microsoft.com/office/drawing/2014/main" id="{B80A66C5-5A95-486F-98B1-2881ECE4AED0}"/>
              </a:ext>
            </a:extLst>
          </p:cNvPr>
          <p:cNvSpPr>
            <a:spLocks noGrp="1"/>
          </p:cNvSpPr>
          <p:nvPr/>
        </p:nvSpPr>
        <p:spPr>
          <a:xfrm>
            <a:off x="400050" y="3600450"/>
            <a:ext cx="1952625" cy="247650"/>
          </a:xfrm>
          <a:prstGeom prst="rect">
            <a:avLst/>
          </a:prstGeom>
          <a:noFill/>
          <a:ln w="0">
            <a:noFill/>
            <a:prstDash val="solid"/>
          </a:ln>
        </p:spPr>
        <p:txBody>
          <a:bodyPr lIns="0" tIns="0" rIns="0" bIns="0" anchor="t">
            <a:normAutofit/>
          </a:bodyPr>
          <a:lstStyle/>
          <a:p>
            <a:pPr algn="l">
              <a:defRPr sz="1200" b="1">
                <a:solidFill>
                  <a:srgbClr val="D97706"/>
                </a:solidFill>
                <a:latin typeface="Helvetica Neue"/>
                <a:ea typeface="Helvetica Neue"/>
                <a:cs typeface="Helvetica Neue"/>
              </a:defRPr>
            </a:pPr>
            <a:r>
              <a:rPr sz="1200" b="1">
                <a:solidFill>
                  <a:srgbClr val="D97706"/>
                </a:solidFill>
                <a:latin typeface="Helvetica Neue"/>
                <a:ea typeface="Helvetica Neue"/>
                <a:cs typeface="Helvetica Neue"/>
              </a:rPr>
              <a:t>SEPARATE WORKFLOWS</a:t>
            </a:r>
          </a:p>
        </p:txBody>
      </p:sp>
      <p:sp>
        <p:nvSpPr>
          <p:cNvPr id="13" name="Rectangle 12">
            <a:extLst>
              <a:ext uri="{FF2B5EF4-FFF2-40B4-BE49-F238E27FC236}">
                <a16:creationId xmlns:a16="http://schemas.microsoft.com/office/drawing/2014/main" id="{7CDCB365-6495-479E-9EED-056540D2FEBE}"/>
              </a:ext>
            </a:extLst>
          </p:cNvPr>
          <p:cNvSpPr>
            <a:spLocks noGrp="1"/>
          </p:cNvSpPr>
          <p:nvPr/>
        </p:nvSpPr>
        <p:spPr>
          <a:xfrm>
            <a:off x="400050" y="3962400"/>
            <a:ext cx="5000625" cy="19050"/>
          </a:xfrm>
          <a:prstGeom prst="rect">
            <a:avLst/>
          </a:prstGeom>
          <a:solidFill>
            <a:srgbClr val="D9770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FDD89F4-1564-4559-ACD0-C7DADA62FEDE}"/>
              </a:ext>
            </a:extLst>
          </p:cNvPr>
          <p:cNvSpPr>
            <a:spLocks noGrp="1"/>
          </p:cNvSpPr>
          <p:nvPr/>
        </p:nvSpPr>
        <p:spPr>
          <a:xfrm>
            <a:off x="400050" y="4067175"/>
            <a:ext cx="5000625" cy="438150"/>
          </a:xfrm>
          <a:prstGeom prst="rect">
            <a:avLst/>
          </a:prstGeom>
          <a:noFill/>
          <a:ln w="0">
            <a:noFill/>
            <a:prstDash val="solid"/>
          </a:ln>
        </p:spPr>
        <p:txBody>
          <a:bodyPr lIns="0" tIns="0" rIns="0" bIns="0" anchor="t">
            <a:normAutofit lnSpcReduction="10000"/>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Upstream uncertainty is often passed forward as fixed truth</a:t>
            </a:r>
          </a:p>
        </p:txBody>
      </p:sp>
      <p:sp>
        <p:nvSpPr>
          <p:cNvPr id="15" name="Rectangle: Rounded Corners 14">
            <a:extLst>
              <a:ext uri="{FF2B5EF4-FFF2-40B4-BE49-F238E27FC236}">
                <a16:creationId xmlns:a16="http://schemas.microsoft.com/office/drawing/2014/main" id="{7A90BB45-0D64-44BC-8DBE-4C45412BA0B0}"/>
              </a:ext>
            </a:extLst>
          </p:cNvPr>
          <p:cNvSpPr>
            <a:spLocks noGrp="1"/>
          </p:cNvSpPr>
          <p:nvPr/>
        </p:nvSpPr>
        <p:spPr>
          <a:xfrm>
            <a:off x="6000750" y="1581150"/>
            <a:ext cx="5410200" cy="2476500"/>
          </a:xfrm>
          <a:prstGeom prst="roundRect">
            <a:avLst>
              <a:gd name="adj" fmla="val 4615"/>
            </a:avLst>
          </a:prstGeom>
          <a:solidFill>
            <a:srgbClr val="11131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B12E4C6D-99C0-4E5C-9070-EBF1729824F2}"/>
              </a:ext>
            </a:extLst>
          </p:cNvPr>
          <p:cNvSpPr>
            <a:spLocks noGrp="1"/>
          </p:cNvSpPr>
          <p:nvPr/>
        </p:nvSpPr>
        <p:spPr>
          <a:xfrm>
            <a:off x="6343650" y="1847850"/>
            <a:ext cx="4762500" cy="228600"/>
          </a:xfrm>
          <a:prstGeom prst="rect">
            <a:avLst/>
          </a:prstGeom>
          <a:noFill/>
          <a:ln w="0">
            <a:noFill/>
            <a:prstDash val="solid"/>
          </a:ln>
        </p:spPr>
        <p:txBody>
          <a:bodyPr lIns="0" tIns="0" rIns="0" bIns="0" anchor="t">
            <a:normAutofit/>
          </a:bodyPr>
          <a:lstStyle/>
          <a:p>
            <a:pPr algn="l">
              <a:defRPr sz="1200" b="1">
                <a:solidFill>
                  <a:srgbClr val="6DCBF4"/>
                </a:solidFill>
                <a:latin typeface="Helvetica Neue"/>
                <a:ea typeface="Helvetica Neue"/>
                <a:cs typeface="Helvetica Neue"/>
              </a:defRPr>
            </a:pPr>
            <a:r>
              <a:rPr sz="1200" b="1">
                <a:solidFill>
                  <a:srgbClr val="6DCBF4"/>
                </a:solidFill>
                <a:latin typeface="Helvetica Neue"/>
                <a:ea typeface="Helvetica Neue"/>
                <a:cs typeface="Helvetica Neue"/>
              </a:rPr>
              <a:t>CONSEQUENCE</a:t>
            </a:r>
          </a:p>
        </p:txBody>
      </p:sp>
      <p:sp>
        <p:nvSpPr>
          <p:cNvPr id="17" name="Rectangle 16">
            <a:extLst>
              <a:ext uri="{FF2B5EF4-FFF2-40B4-BE49-F238E27FC236}">
                <a16:creationId xmlns:a16="http://schemas.microsoft.com/office/drawing/2014/main" id="{B8AE7657-1D61-4DFE-914C-A903A24B4153}"/>
              </a:ext>
            </a:extLst>
          </p:cNvPr>
          <p:cNvSpPr>
            <a:spLocks noGrp="1"/>
          </p:cNvSpPr>
          <p:nvPr/>
        </p:nvSpPr>
        <p:spPr>
          <a:xfrm>
            <a:off x="6343650" y="2343150"/>
            <a:ext cx="4762500" cy="914400"/>
          </a:xfrm>
          <a:prstGeom prst="rect">
            <a:avLst/>
          </a:prstGeom>
          <a:noFill/>
          <a:ln w="0">
            <a:noFill/>
            <a:prstDash val="solid"/>
          </a:ln>
        </p:spPr>
        <p:txBody>
          <a:bodyPr lIns="0" tIns="0" rIns="0" bIns="0" anchor="t">
            <a:normAutofit fontScale="92089" lnSpcReduction="10000"/>
          </a:bodyPr>
          <a:lstStyle/>
          <a:p>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Several individually plausible—but mutually incompatible—aquifer stories</a:t>
            </a:r>
          </a:p>
        </p:txBody>
      </p:sp>
      <p:sp>
        <p:nvSpPr>
          <p:cNvPr id="18" name="Rectangle 17">
            <a:extLst>
              <a:ext uri="{FF2B5EF4-FFF2-40B4-BE49-F238E27FC236}">
                <a16:creationId xmlns:a16="http://schemas.microsoft.com/office/drawing/2014/main" id="{9E787099-7584-48E8-B942-403498450159}"/>
              </a:ext>
            </a:extLst>
          </p:cNvPr>
          <p:cNvSpPr>
            <a:spLocks noGrp="1"/>
          </p:cNvSpPr>
          <p:nvPr/>
        </p:nvSpPr>
        <p:spPr>
          <a:xfrm>
            <a:off x="6572250" y="3486150"/>
            <a:ext cx="4305300" cy="285750"/>
          </a:xfrm>
          <a:prstGeom prst="rect">
            <a:avLst/>
          </a:prstGeom>
          <a:noFill/>
          <a:ln w="0">
            <a:noFill/>
            <a:prstDash val="solid"/>
          </a:ln>
        </p:spPr>
        <p:txBody>
          <a:bodyPr lIns="0" tIns="0" rIns="0" bIns="0" anchor="t">
            <a:normAutofit/>
          </a:bodyPr>
          <a:lstStyle/>
          <a:p>
            <a:pPr algn="ctr">
              <a:defRPr sz="1500" b="1">
                <a:solidFill>
                  <a:srgbClr val="6DCBF4"/>
                </a:solidFill>
                <a:latin typeface="Helvetica Neue"/>
                <a:ea typeface="Helvetica Neue"/>
                <a:cs typeface="Helvetica Neue"/>
              </a:defRPr>
            </a:pPr>
            <a:r>
              <a:rPr sz="1500" b="1">
                <a:solidFill>
                  <a:srgbClr val="6DCBF4"/>
                </a:solidFill>
                <a:latin typeface="Helvetica Neue"/>
                <a:ea typeface="Helvetica Neue"/>
                <a:cs typeface="Helvetica Neue"/>
              </a:rPr>
              <a:t>Confidence may increase while accuracy falls.</a:t>
            </a:r>
          </a:p>
        </p:txBody>
      </p:sp>
      <p:sp>
        <p:nvSpPr>
          <p:cNvPr id="19" name="Rectangle: Rounded Corners 18">
            <a:extLst>
              <a:ext uri="{FF2B5EF4-FFF2-40B4-BE49-F238E27FC236}">
                <a16:creationId xmlns:a16="http://schemas.microsoft.com/office/drawing/2014/main" id="{539F9F16-90BE-45BB-AF6B-41F58B8BF2FB}"/>
              </a:ext>
            </a:extLst>
          </p:cNvPr>
          <p:cNvSpPr>
            <a:spLocks noGrp="1"/>
          </p:cNvSpPr>
          <p:nvPr/>
        </p:nvSpPr>
        <p:spPr>
          <a:xfrm>
            <a:off x="6000750" y="4343400"/>
            <a:ext cx="5410200" cy="1466850"/>
          </a:xfrm>
          <a:prstGeom prst="roundRect">
            <a:avLst>
              <a:gd name="adj" fmla="val 7792"/>
            </a:avLst>
          </a:prstGeom>
          <a:solidFill>
            <a:srgbClr val="E9F4FF"/>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C5B15725-D802-400B-8AAA-EC2DBCCDEBAE}"/>
              </a:ext>
            </a:extLst>
          </p:cNvPr>
          <p:cNvSpPr>
            <a:spLocks noGrp="1"/>
          </p:cNvSpPr>
          <p:nvPr/>
        </p:nvSpPr>
        <p:spPr>
          <a:xfrm>
            <a:off x="6286500" y="4552950"/>
            <a:ext cx="4838700" cy="228600"/>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WHAT WAS NEEDED</a:t>
            </a:r>
          </a:p>
        </p:txBody>
      </p:sp>
      <p:sp>
        <p:nvSpPr>
          <p:cNvPr id="21" name="Rectangle 20">
            <a:extLst>
              <a:ext uri="{FF2B5EF4-FFF2-40B4-BE49-F238E27FC236}">
                <a16:creationId xmlns:a16="http://schemas.microsoft.com/office/drawing/2014/main" id="{9C534851-26D7-4A89-A0D7-32CC49DD75D9}"/>
              </a:ext>
            </a:extLst>
          </p:cNvPr>
          <p:cNvSpPr>
            <a:spLocks noGrp="1"/>
          </p:cNvSpPr>
          <p:nvPr/>
        </p:nvSpPr>
        <p:spPr>
          <a:xfrm>
            <a:off x="6286500" y="4953000"/>
            <a:ext cx="4838700" cy="647700"/>
          </a:xfrm>
          <a:prstGeom prst="rect">
            <a:avLst/>
          </a:prstGeom>
          <a:noFill/>
          <a:ln w="0">
            <a:noFill/>
            <a:prstDash val="solid"/>
          </a:ln>
        </p:spPr>
        <p:txBody>
          <a:bodyPr lIns="0" tIns="0" rIns="0" bIns="0" anchor="t">
            <a:normAutofit fontScale="89626" lnSpcReduction="10000"/>
          </a:bodyPr>
          <a:lstStyle/>
          <a:p>
            <a:pPr algn="ctr">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A framework that couples uncertain evidence, tests global compatibility, measures incremental information and reports non-identifiability.</a:t>
            </a:r>
          </a:p>
        </p:txBody>
      </p:sp>
    </p:spTree>
    <p:extLst>
      <p:ext uri="{BB962C8B-B14F-4D97-AF65-F5344CB8AC3E}">
        <p14:creationId xmlns:p14="http://schemas.microsoft.com/office/powerpoint/2010/main" val="66716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F6765ED-EC3C-43F4-A29A-1B74C0F1F8AC}"/>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SCIENTIFIC GAP</a:t>
            </a:r>
          </a:p>
        </p:txBody>
      </p:sp>
      <p:sp>
        <p:nvSpPr>
          <p:cNvPr id="2" name="Rectangle 1">
            <a:extLst>
              <a:ext uri="{FF2B5EF4-FFF2-40B4-BE49-F238E27FC236}">
                <a16:creationId xmlns:a16="http://schemas.microsoft.com/office/drawing/2014/main" id="{80F8FD72-6720-4CD5-837C-3C2F10F36CA6}"/>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The unknowns are coupled—but usually inferred separately</a:t>
            </a:r>
          </a:p>
        </p:txBody>
      </p:sp>
      <p:sp>
        <p:nvSpPr>
          <p:cNvPr id="3" name="Rectangle 2">
            <a:extLst>
              <a:ext uri="{FF2B5EF4-FFF2-40B4-BE49-F238E27FC236}">
                <a16:creationId xmlns:a16="http://schemas.microsoft.com/office/drawing/2014/main" id="{7591EE2B-6768-4042-93DD-160997B5E501}"/>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A9947097-10A3-4101-86F3-9F158C1F2890}"/>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Problem</a:t>
            </a:r>
          </a:p>
        </p:txBody>
      </p:sp>
      <p:sp>
        <p:nvSpPr>
          <p:cNvPr id="5" name="Rectangle 4">
            <a:extLst>
              <a:ext uri="{FF2B5EF4-FFF2-40B4-BE49-F238E27FC236}">
                <a16:creationId xmlns:a16="http://schemas.microsoft.com/office/drawing/2014/main" id="{3DF90AF6-3B17-4248-BBD3-2A94873D7EA9}"/>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04</a:t>
            </a:r>
          </a:p>
        </p:txBody>
      </p:sp>
      <p:sp>
        <p:nvSpPr>
          <p:cNvPr id="6" name="Rectangle: Rounded Corners 5">
            <a:extLst>
              <a:ext uri="{FF2B5EF4-FFF2-40B4-BE49-F238E27FC236}">
                <a16:creationId xmlns:a16="http://schemas.microsoft.com/office/drawing/2014/main" id="{4C1C196C-4D84-4A26-AB77-02C69279D322}"/>
              </a:ext>
            </a:extLst>
          </p:cNvPr>
          <p:cNvSpPr>
            <a:spLocks noGrp="1"/>
          </p:cNvSpPr>
          <p:nvPr/>
        </p:nvSpPr>
        <p:spPr>
          <a:xfrm>
            <a:off x="857250" y="2000250"/>
            <a:ext cx="2857500" cy="2190750"/>
          </a:xfrm>
          <a:prstGeom prst="roundRect">
            <a:avLst>
              <a:gd name="adj" fmla="val 5217"/>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5ACA428D-AEEC-4E59-9486-8B47E19D7DEF}"/>
              </a:ext>
            </a:extLst>
          </p:cNvPr>
          <p:cNvSpPr>
            <a:spLocks noGrp="1"/>
          </p:cNvSpPr>
          <p:nvPr/>
        </p:nvSpPr>
        <p:spPr>
          <a:xfrm>
            <a:off x="1085850" y="2247900"/>
            <a:ext cx="2400300" cy="381000"/>
          </a:xfrm>
          <a:prstGeom prst="rect">
            <a:avLst/>
          </a:prstGeom>
          <a:noFill/>
          <a:ln w="0">
            <a:noFill/>
            <a:prstDash val="solid"/>
          </a:ln>
        </p:spPr>
        <p:txBody>
          <a:bodyPr lIns="0" tIns="0" rIns="0" bIns="0" anchor="t">
            <a:normAutofit/>
          </a:bodyPr>
          <a:lstStyle/>
          <a:p>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AGE</a:t>
            </a:r>
          </a:p>
        </p:txBody>
      </p:sp>
      <p:sp>
        <p:nvSpPr>
          <p:cNvPr id="8" name="Rectangle 7">
            <a:extLst>
              <a:ext uri="{FF2B5EF4-FFF2-40B4-BE49-F238E27FC236}">
                <a16:creationId xmlns:a16="http://schemas.microsoft.com/office/drawing/2014/main" id="{6EA3B61B-8667-46E6-9365-56DC0C342CDA}"/>
              </a:ext>
            </a:extLst>
          </p:cNvPr>
          <p:cNvSpPr>
            <a:spLocks noGrp="1"/>
          </p:cNvSpPr>
          <p:nvPr/>
        </p:nvSpPr>
        <p:spPr>
          <a:xfrm>
            <a:off x="1190625" y="2905125"/>
            <a:ext cx="2190750" cy="647700"/>
          </a:xfrm>
          <a:prstGeom prst="rect">
            <a:avLst/>
          </a:prstGeom>
          <a:noFill/>
          <a:ln w="0">
            <a:noFill/>
            <a:prstDash val="solid"/>
          </a:ln>
        </p:spPr>
        <p:txBody>
          <a:bodyPr lIns="0" tIns="0" rIns="0" bIns="0" anchor="t">
            <a:normAutofit/>
          </a:bodyPr>
          <a:lstStyle/>
          <a:p>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Tracer history and mixing</a:t>
            </a:r>
          </a:p>
        </p:txBody>
      </p:sp>
      <p:sp>
        <p:nvSpPr>
          <p:cNvPr id="9" name="Rectangle: Rounded Corners 8">
            <a:extLst>
              <a:ext uri="{FF2B5EF4-FFF2-40B4-BE49-F238E27FC236}">
                <a16:creationId xmlns:a16="http://schemas.microsoft.com/office/drawing/2014/main" id="{5C94C650-F3ED-4F1F-98E9-A17150D94BE7}"/>
              </a:ext>
            </a:extLst>
          </p:cNvPr>
          <p:cNvSpPr>
            <a:spLocks noGrp="1"/>
          </p:cNvSpPr>
          <p:nvPr/>
        </p:nvSpPr>
        <p:spPr>
          <a:xfrm>
            <a:off x="4381500" y="2000250"/>
            <a:ext cx="2857500" cy="2190750"/>
          </a:xfrm>
          <a:prstGeom prst="roundRect">
            <a:avLst>
              <a:gd name="adj" fmla="val 5217"/>
            </a:avLst>
          </a:prstGeom>
          <a:solidFill>
            <a:srgbClr val="F2F3F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9410442-8381-48DE-BD66-37C0F8D7A99D}"/>
              </a:ext>
            </a:extLst>
          </p:cNvPr>
          <p:cNvSpPr>
            <a:spLocks noGrp="1"/>
          </p:cNvSpPr>
          <p:nvPr/>
        </p:nvSpPr>
        <p:spPr>
          <a:xfrm>
            <a:off x="4610100" y="2247900"/>
            <a:ext cx="2400300" cy="381000"/>
          </a:xfrm>
          <a:prstGeom prst="rect">
            <a:avLst/>
          </a:prstGeom>
          <a:noFill/>
          <a:ln w="0">
            <a:noFill/>
            <a:prstDash val="solid"/>
          </a:ln>
        </p:spPr>
        <p:txBody>
          <a:bodyPr lIns="0" tIns="0" rIns="0" bIns="0" anchor="t">
            <a:normAutofit/>
          </a:bodyPr>
          <a:lstStyle/>
          <a:p>
            <a:pPr algn="ctr">
              <a:defRPr sz="2100" b="1">
                <a:solidFill>
                  <a:srgbClr val="149A84"/>
                </a:solidFill>
                <a:latin typeface="Helvetica Neue"/>
                <a:ea typeface="Helvetica Neue"/>
                <a:cs typeface="Helvetica Neue"/>
              </a:defRPr>
            </a:pPr>
            <a:r>
              <a:rPr sz="2100" b="1">
                <a:solidFill>
                  <a:srgbClr val="149A84"/>
                </a:solidFill>
                <a:latin typeface="Helvetica Neue"/>
                <a:ea typeface="Helvetica Neue"/>
                <a:cs typeface="Helvetica Neue"/>
              </a:rPr>
              <a:t>TOPOLOGY</a:t>
            </a:r>
          </a:p>
        </p:txBody>
      </p:sp>
      <p:sp>
        <p:nvSpPr>
          <p:cNvPr id="11" name="Rectangle 10">
            <a:extLst>
              <a:ext uri="{FF2B5EF4-FFF2-40B4-BE49-F238E27FC236}">
                <a16:creationId xmlns:a16="http://schemas.microsoft.com/office/drawing/2014/main" id="{F7979DFD-7416-4695-88E6-75076E84BCD1}"/>
              </a:ext>
            </a:extLst>
          </p:cNvPr>
          <p:cNvSpPr>
            <a:spLocks noGrp="1"/>
          </p:cNvSpPr>
          <p:nvPr/>
        </p:nvSpPr>
        <p:spPr>
          <a:xfrm>
            <a:off x="4714875" y="2905125"/>
            <a:ext cx="2190750" cy="647700"/>
          </a:xfrm>
          <a:prstGeom prst="rect">
            <a:avLst/>
          </a:prstGeom>
          <a:noFill/>
          <a:ln w="0">
            <a:noFill/>
            <a:prstDash val="solid"/>
          </a:ln>
        </p:spPr>
        <p:txBody>
          <a:bodyPr lIns="0" tIns="0" rIns="0" bIns="0" anchor="t">
            <a:normAutofit/>
          </a:bodyPr>
          <a:lstStyle/>
          <a:p>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Directed flow paths</a:t>
            </a:r>
          </a:p>
        </p:txBody>
      </p:sp>
      <p:sp>
        <p:nvSpPr>
          <p:cNvPr id="12" name="Rectangle: Rounded Corners 11">
            <a:extLst>
              <a:ext uri="{FF2B5EF4-FFF2-40B4-BE49-F238E27FC236}">
                <a16:creationId xmlns:a16="http://schemas.microsoft.com/office/drawing/2014/main" id="{8B003ACD-2C60-4A42-A73E-1FA9DC472F6A}"/>
              </a:ext>
            </a:extLst>
          </p:cNvPr>
          <p:cNvSpPr>
            <a:spLocks noGrp="1"/>
          </p:cNvSpPr>
          <p:nvPr/>
        </p:nvSpPr>
        <p:spPr>
          <a:xfrm>
            <a:off x="7905750" y="2000250"/>
            <a:ext cx="2857500" cy="2190750"/>
          </a:xfrm>
          <a:prstGeom prst="roundRect">
            <a:avLst>
              <a:gd name="adj" fmla="val 5217"/>
            </a:avLst>
          </a:prstGeom>
          <a:solidFill>
            <a:srgbClr val="F2F3F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6712E246-CE45-4EDF-8E30-1107D4D79807}"/>
              </a:ext>
            </a:extLst>
          </p:cNvPr>
          <p:cNvSpPr>
            <a:spLocks noGrp="1"/>
          </p:cNvSpPr>
          <p:nvPr/>
        </p:nvSpPr>
        <p:spPr>
          <a:xfrm>
            <a:off x="8134350" y="2247900"/>
            <a:ext cx="2400300" cy="381000"/>
          </a:xfrm>
          <a:prstGeom prst="rect">
            <a:avLst/>
          </a:prstGeom>
          <a:noFill/>
          <a:ln w="0">
            <a:noFill/>
            <a:prstDash val="solid"/>
          </a:ln>
        </p:spPr>
        <p:txBody>
          <a:bodyPr lIns="0" tIns="0" rIns="0" bIns="0" anchor="t">
            <a:normAutofit/>
          </a:bodyPr>
          <a:lstStyle/>
          <a:p>
            <a:pPr algn="ctr">
              <a:defRPr sz="2100" b="1">
                <a:solidFill>
                  <a:srgbClr val="D97706"/>
                </a:solidFill>
                <a:latin typeface="Helvetica Neue"/>
                <a:ea typeface="Helvetica Neue"/>
                <a:cs typeface="Helvetica Neue"/>
              </a:defRPr>
            </a:pPr>
            <a:r>
              <a:rPr sz="2100" b="1">
                <a:solidFill>
                  <a:srgbClr val="D97706"/>
                </a:solidFill>
                <a:latin typeface="Helvetica Neue"/>
                <a:ea typeface="Helvetica Neue"/>
                <a:cs typeface="Helvetica Neue"/>
              </a:rPr>
              <a:t>CHEMISTRY</a:t>
            </a:r>
          </a:p>
        </p:txBody>
      </p:sp>
      <p:sp>
        <p:nvSpPr>
          <p:cNvPr id="14" name="Rectangle 13">
            <a:extLst>
              <a:ext uri="{FF2B5EF4-FFF2-40B4-BE49-F238E27FC236}">
                <a16:creationId xmlns:a16="http://schemas.microsoft.com/office/drawing/2014/main" id="{71D7F191-0B0C-4E03-B2F0-C38332442DB3}"/>
              </a:ext>
            </a:extLst>
          </p:cNvPr>
          <p:cNvSpPr>
            <a:spLocks noGrp="1"/>
          </p:cNvSpPr>
          <p:nvPr/>
        </p:nvSpPr>
        <p:spPr>
          <a:xfrm>
            <a:off x="8239125" y="2905125"/>
            <a:ext cx="2190750" cy="647700"/>
          </a:xfrm>
          <a:prstGeom prst="rect">
            <a:avLst/>
          </a:prstGeom>
          <a:noFill/>
          <a:ln w="0">
            <a:noFill/>
            <a:prstDash val="solid"/>
          </a:ln>
        </p:spPr>
        <p:txBody>
          <a:bodyPr lIns="0" tIns="0" rIns="0" bIns="0" anchor="t">
            <a:normAutofit/>
          </a:bodyPr>
          <a:lstStyle/>
          <a:p>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Reaction families and extents</a:t>
            </a:r>
          </a:p>
        </p:txBody>
      </p:sp>
      <p:sp>
        <p:nvSpPr>
          <p:cNvPr id="15" name="Rectangle 14">
            <a:extLst>
              <a:ext uri="{FF2B5EF4-FFF2-40B4-BE49-F238E27FC236}">
                <a16:creationId xmlns:a16="http://schemas.microsoft.com/office/drawing/2014/main" id="{A6611981-C32F-44C7-96B4-3847AFF07AF0}"/>
              </a:ext>
            </a:extLst>
          </p:cNvPr>
          <p:cNvSpPr>
            <a:spLocks noGrp="1"/>
          </p:cNvSpPr>
          <p:nvPr/>
        </p:nvSpPr>
        <p:spPr>
          <a:xfrm>
            <a:off x="3781425" y="2762250"/>
            <a:ext cx="571500" cy="476250"/>
          </a:xfrm>
          <a:prstGeom prst="rect">
            <a:avLst/>
          </a:prstGeom>
          <a:noFill/>
          <a:ln w="0">
            <a:noFill/>
            <a:prstDash val="solid"/>
          </a:ln>
        </p:spPr>
        <p:txBody>
          <a:bodyPr lIns="0" tIns="0" rIns="0" bIns="0" anchor="t">
            <a:normAutofit fontScale="94697"/>
          </a:bodyPr>
          <a:lstStyle/>
          <a:p>
            <a:pPr algn="ctr">
              <a:defRPr sz="3300" b="1">
                <a:solidFill>
                  <a:srgbClr val="111318"/>
                </a:solidFill>
                <a:latin typeface="Helvetica Neue"/>
                <a:ea typeface="Helvetica Neue"/>
                <a:cs typeface="Helvetica Neue"/>
              </a:defRPr>
            </a:pPr>
            <a:r>
              <a:rPr sz="3300" b="1">
                <a:solidFill>
                  <a:srgbClr val="111318"/>
                </a:solidFill>
                <a:latin typeface="Helvetica Neue"/>
                <a:ea typeface="Helvetica Neue"/>
                <a:cs typeface="Helvetica Neue"/>
              </a:rPr>
              <a:t>↔</a:t>
            </a:r>
          </a:p>
        </p:txBody>
      </p:sp>
      <p:sp>
        <p:nvSpPr>
          <p:cNvPr id="16" name="Rectangle 15">
            <a:extLst>
              <a:ext uri="{FF2B5EF4-FFF2-40B4-BE49-F238E27FC236}">
                <a16:creationId xmlns:a16="http://schemas.microsoft.com/office/drawing/2014/main" id="{672BF6AC-E1B9-430C-95F2-618C377CA620}"/>
              </a:ext>
            </a:extLst>
          </p:cNvPr>
          <p:cNvSpPr>
            <a:spLocks noGrp="1"/>
          </p:cNvSpPr>
          <p:nvPr/>
        </p:nvSpPr>
        <p:spPr>
          <a:xfrm>
            <a:off x="7305675" y="2762250"/>
            <a:ext cx="571500" cy="476250"/>
          </a:xfrm>
          <a:prstGeom prst="rect">
            <a:avLst/>
          </a:prstGeom>
          <a:noFill/>
          <a:ln w="0">
            <a:noFill/>
            <a:prstDash val="solid"/>
          </a:ln>
        </p:spPr>
        <p:txBody>
          <a:bodyPr lIns="0" tIns="0" rIns="0" bIns="0" anchor="t">
            <a:normAutofit fontScale="94697"/>
          </a:bodyPr>
          <a:lstStyle/>
          <a:p>
            <a:pPr algn="ctr">
              <a:defRPr sz="3300" b="1">
                <a:solidFill>
                  <a:srgbClr val="111318"/>
                </a:solidFill>
                <a:latin typeface="Helvetica Neue"/>
                <a:ea typeface="Helvetica Neue"/>
                <a:cs typeface="Helvetica Neue"/>
              </a:defRPr>
            </a:pPr>
            <a:r>
              <a:rPr sz="3300" b="1">
                <a:solidFill>
                  <a:srgbClr val="111318"/>
                </a:solidFill>
                <a:latin typeface="Helvetica Neue"/>
                <a:ea typeface="Helvetica Neue"/>
                <a:cs typeface="Helvetica Neue"/>
              </a:rPr>
              <a:t>↔</a:t>
            </a:r>
          </a:p>
        </p:txBody>
      </p:sp>
      <p:sp>
        <p:nvSpPr>
          <p:cNvPr id="17" name="Rectangle: Rounded Corners 16">
            <a:extLst>
              <a:ext uri="{FF2B5EF4-FFF2-40B4-BE49-F238E27FC236}">
                <a16:creationId xmlns:a16="http://schemas.microsoft.com/office/drawing/2014/main" id="{0F220AEB-40FC-40D2-A7E8-279C37DFE68A}"/>
              </a:ext>
            </a:extLst>
          </p:cNvPr>
          <p:cNvSpPr>
            <a:spLocks noGrp="1"/>
          </p:cNvSpPr>
          <p:nvPr/>
        </p:nvSpPr>
        <p:spPr>
          <a:xfrm>
            <a:off x="2047875" y="4686300"/>
            <a:ext cx="8096250" cy="876300"/>
          </a:xfrm>
          <a:prstGeom prst="roundRect">
            <a:avLst>
              <a:gd name="adj" fmla="val 13043"/>
            </a:avLst>
          </a:prstGeom>
          <a:solidFill>
            <a:srgbClr val="E9F4FF"/>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D219B6B4-F871-4B10-A00F-ABAADEFB699B}"/>
              </a:ext>
            </a:extLst>
          </p:cNvPr>
          <p:cNvSpPr>
            <a:spLocks noGrp="1"/>
          </p:cNvSpPr>
          <p:nvPr/>
        </p:nvSpPr>
        <p:spPr>
          <a:xfrm>
            <a:off x="2428875" y="4905375"/>
            <a:ext cx="7334250" cy="476250"/>
          </a:xfrm>
          <a:prstGeom prst="rect">
            <a:avLst/>
          </a:prstGeom>
          <a:noFill/>
          <a:ln w="0">
            <a:noFill/>
            <a:prstDash val="solid"/>
          </a:ln>
        </p:spPr>
        <p:txBody>
          <a:bodyPr lIns="0" tIns="0" rIns="0" bIns="0" anchor="t">
            <a:normAutofit fontScale="83333" lnSpcReduction="10000"/>
          </a:bodyPr>
          <a:lstStyle/>
          <a:p>
            <a:pPr algn="ctr">
              <a:defRPr sz="1875" b="1">
                <a:solidFill>
                  <a:srgbClr val="153A63"/>
                </a:solidFill>
                <a:latin typeface="Helvetica Neue"/>
                <a:ea typeface="Helvetica Neue"/>
                <a:cs typeface="Helvetica Neue"/>
              </a:defRPr>
            </a:pPr>
            <a:r>
              <a:rPr sz="1875" b="1">
                <a:solidFill>
                  <a:srgbClr val="153A63"/>
                </a:solidFill>
                <a:latin typeface="Helvetica Neue"/>
                <a:ea typeface="Helvetica Neue"/>
                <a:cs typeface="Helvetica Neue"/>
              </a:rPr>
              <a:t>HydroSheaf asks whether locally plausible relations compose into a globally compatible groundwater interpretation.</a:t>
            </a:r>
          </a:p>
        </p:txBody>
      </p:sp>
    </p:spTree>
    <p:extLst>
      <p:ext uri="{BB962C8B-B14F-4D97-AF65-F5344CB8AC3E}">
        <p14:creationId xmlns:p14="http://schemas.microsoft.com/office/powerpoint/2010/main" val="896015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30F8320-CE03-46B3-A483-33DD593B81EB}"/>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AIM</a:t>
            </a:r>
          </a:p>
        </p:txBody>
      </p:sp>
      <p:sp>
        <p:nvSpPr>
          <p:cNvPr id="2" name="Rectangle 1">
            <a:extLst>
              <a:ext uri="{FF2B5EF4-FFF2-40B4-BE49-F238E27FC236}">
                <a16:creationId xmlns:a16="http://schemas.microsoft.com/office/drawing/2014/main" id="{C494E4F3-CC9B-4166-9FA4-0511EAC8ACE1}"/>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Aim of the study</a:t>
            </a:r>
          </a:p>
        </p:txBody>
      </p:sp>
      <p:sp>
        <p:nvSpPr>
          <p:cNvPr id="3" name="Rectangle 2">
            <a:extLst>
              <a:ext uri="{FF2B5EF4-FFF2-40B4-BE49-F238E27FC236}">
                <a16:creationId xmlns:a16="http://schemas.microsoft.com/office/drawing/2014/main" id="{CED1E0F2-9E68-4AFB-A011-39B33FD469CD}"/>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C18F9287-9A6D-47EA-B739-7D2232B6A821}"/>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Introduction</a:t>
            </a:r>
          </a:p>
        </p:txBody>
      </p:sp>
      <p:sp>
        <p:nvSpPr>
          <p:cNvPr id="5" name="Rectangle 4">
            <a:extLst>
              <a:ext uri="{FF2B5EF4-FFF2-40B4-BE49-F238E27FC236}">
                <a16:creationId xmlns:a16="http://schemas.microsoft.com/office/drawing/2014/main" id="{1BF0E4E5-09E3-4E76-AD0A-FA14132673FC}"/>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05</a:t>
            </a:r>
          </a:p>
        </p:txBody>
      </p:sp>
      <p:sp>
        <p:nvSpPr>
          <p:cNvPr id="6" name="Rectangle: Rounded Corners 5">
            <a:extLst>
              <a:ext uri="{FF2B5EF4-FFF2-40B4-BE49-F238E27FC236}">
                <a16:creationId xmlns:a16="http://schemas.microsoft.com/office/drawing/2014/main" id="{EE8F80E4-EE0B-4EAE-9800-EC19022628C1}"/>
              </a:ext>
            </a:extLst>
          </p:cNvPr>
          <p:cNvSpPr>
            <a:spLocks noGrp="1"/>
          </p:cNvSpPr>
          <p:nvPr/>
        </p:nvSpPr>
        <p:spPr>
          <a:xfrm>
            <a:off x="857250" y="1762125"/>
            <a:ext cx="10477500" cy="2857500"/>
          </a:xfrm>
          <a:prstGeom prst="roundRect">
            <a:avLst>
              <a:gd name="adj" fmla="val 4000"/>
            </a:avLst>
          </a:prstGeom>
          <a:solidFill>
            <a:srgbClr val="153A63"/>
          </a:solidFill>
          <a:ln w="0">
            <a:noFill/>
            <a:prstDash val="solid"/>
          </a:ln>
        </p:spPr>
        <p:txBody>
          <a:bodyPr/>
          <a:lstStyle/>
          <a:p>
            <a:endParaRPr lang="en-US"/>
          </a:p>
        </p:txBody>
      </p:sp>
      <p:sp>
        <p:nvSpPr>
          <p:cNvPr id="7" name="Rectangle 6">
            <a:extLst>
              <a:ext uri="{FF2B5EF4-FFF2-40B4-BE49-F238E27FC236}">
                <a16:creationId xmlns:a16="http://schemas.microsoft.com/office/drawing/2014/main" id="{37D0214F-5852-4F71-BA57-070AB0AC1A03}"/>
              </a:ext>
            </a:extLst>
          </p:cNvPr>
          <p:cNvSpPr>
            <a:spLocks noGrp="1"/>
          </p:cNvSpPr>
          <p:nvPr/>
        </p:nvSpPr>
        <p:spPr>
          <a:xfrm>
            <a:off x="1381125" y="2324100"/>
            <a:ext cx="9429750" cy="1714500"/>
          </a:xfrm>
          <a:prstGeom prst="rect">
            <a:avLst/>
          </a:prstGeom>
          <a:noFill/>
          <a:ln w="0">
            <a:noFill/>
            <a:prstDash val="solid"/>
          </a:ln>
        </p:spPr>
        <p:txBody>
          <a:bodyPr lIns="0" tIns="0" rIns="0" bIns="0" anchor="t">
            <a:normAutofit fontScale="99711" lnSpcReduction="10000"/>
          </a:bodyPr>
          <a:lstStyle/>
          <a:p>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Develop, benchmark and apply HydroSheaf, an uncertainty-aware framework that integrates environmental and nuclear tracers, directed groundwater topology and inverse hydrogeochemistry to diagnose groundwater residence time and evolution in data-limited semi-arid aquifers.</a:t>
            </a:r>
          </a:p>
        </p:txBody>
      </p:sp>
      <p:sp>
        <p:nvSpPr>
          <p:cNvPr id="8" name="Rectangle: Rounded Corners 7">
            <a:extLst>
              <a:ext uri="{FF2B5EF4-FFF2-40B4-BE49-F238E27FC236}">
                <a16:creationId xmlns:a16="http://schemas.microsoft.com/office/drawing/2014/main" id="{CE48BC3D-CF1F-4AE1-87BE-BC56ED019CA3}"/>
              </a:ext>
            </a:extLst>
          </p:cNvPr>
          <p:cNvSpPr>
            <a:spLocks noGrp="1"/>
          </p:cNvSpPr>
          <p:nvPr/>
        </p:nvSpPr>
        <p:spPr>
          <a:xfrm>
            <a:off x="2381250" y="5000625"/>
            <a:ext cx="7429500" cy="647700"/>
          </a:xfrm>
          <a:prstGeom prst="roundRect">
            <a:avLst>
              <a:gd name="adj" fmla="val 17647"/>
            </a:avLst>
          </a:prstGeom>
          <a:solidFill>
            <a:srgbClr val="E7F7F3"/>
          </a:solidFill>
          <a:ln w="0">
            <a:noFill/>
            <a:prstDash val="solid"/>
          </a:ln>
        </p:spPr>
        <p:txBody>
          <a:bodyPr/>
          <a:lstStyle/>
          <a:p>
            <a:endParaRPr lang="en-US"/>
          </a:p>
        </p:txBody>
      </p:sp>
      <p:sp>
        <p:nvSpPr>
          <p:cNvPr id="9" name="Rectangle 8">
            <a:extLst>
              <a:ext uri="{FF2B5EF4-FFF2-40B4-BE49-F238E27FC236}">
                <a16:creationId xmlns:a16="http://schemas.microsoft.com/office/drawing/2014/main" id="{C70A9939-BAD3-4780-97DB-22EB3B1401C1}"/>
              </a:ext>
            </a:extLst>
          </p:cNvPr>
          <p:cNvSpPr>
            <a:spLocks noGrp="1"/>
          </p:cNvSpPr>
          <p:nvPr/>
        </p:nvSpPr>
        <p:spPr>
          <a:xfrm>
            <a:off x="2667000" y="5200650"/>
            <a:ext cx="6858000" cy="266700"/>
          </a:xfrm>
          <a:prstGeom prst="rect">
            <a:avLst/>
          </a:prstGeom>
          <a:noFill/>
          <a:ln w="0">
            <a:noFill/>
            <a:prstDash val="solid"/>
          </a:ln>
        </p:spPr>
        <p:txBody>
          <a:bodyPr lIns="0" tIns="0" rIns="0" bIns="0" anchor="t">
            <a:normAutofit/>
          </a:bodyPr>
          <a:lstStyle/>
          <a:p>
            <a:pPr algn="ctr">
              <a:defRPr sz="1650" b="1">
                <a:solidFill>
                  <a:srgbClr val="153A63"/>
                </a:solidFill>
                <a:latin typeface="Helvetica Neue"/>
                <a:ea typeface="Helvetica Neue"/>
                <a:cs typeface="Helvetica Neue"/>
              </a:defRPr>
            </a:pPr>
            <a:r>
              <a:rPr sz="1650" b="1">
                <a:solidFill>
                  <a:srgbClr val="153A63"/>
                </a:solidFill>
                <a:latin typeface="Helvetica Neue"/>
                <a:ea typeface="Helvetica Neue"/>
                <a:cs typeface="Helvetica Neue"/>
              </a:rPr>
              <a:t>One aim · six distinct objectives · one falsifiable integration question</a:t>
            </a:r>
          </a:p>
        </p:txBody>
      </p:sp>
    </p:spTree>
    <p:extLst>
      <p:ext uri="{BB962C8B-B14F-4D97-AF65-F5344CB8AC3E}">
        <p14:creationId xmlns:p14="http://schemas.microsoft.com/office/powerpoint/2010/main" val="1796099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1350E6A-B4CE-4B86-A6A2-FE2DAB3EC06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OBJECTIVES</a:t>
            </a:r>
          </a:p>
        </p:txBody>
      </p:sp>
      <p:sp>
        <p:nvSpPr>
          <p:cNvPr id="2" name="Rectangle 1">
            <a:extLst>
              <a:ext uri="{FF2B5EF4-FFF2-40B4-BE49-F238E27FC236}">
                <a16:creationId xmlns:a16="http://schemas.microsoft.com/office/drawing/2014/main" id="{F029C693-4487-4F85-A4B3-6EA2516E0A56}"/>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Specific objectives 1–3: establish, build and benchmark</a:t>
            </a:r>
          </a:p>
        </p:txBody>
      </p:sp>
      <p:sp>
        <p:nvSpPr>
          <p:cNvPr id="3" name="Rectangle 2">
            <a:extLst>
              <a:ext uri="{FF2B5EF4-FFF2-40B4-BE49-F238E27FC236}">
                <a16:creationId xmlns:a16="http://schemas.microsoft.com/office/drawing/2014/main" id="{342EE279-2799-4E70-8123-24E250C3A9AF}"/>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39C239D8-49A4-4718-8F52-2A55AF50C865}"/>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Introduction</a:t>
            </a:r>
          </a:p>
        </p:txBody>
      </p:sp>
      <p:sp>
        <p:nvSpPr>
          <p:cNvPr id="5" name="Rectangle 4">
            <a:extLst>
              <a:ext uri="{FF2B5EF4-FFF2-40B4-BE49-F238E27FC236}">
                <a16:creationId xmlns:a16="http://schemas.microsoft.com/office/drawing/2014/main" id="{D145EF0C-9F7B-46BD-B2CE-7F9D039ADA92}"/>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06</a:t>
            </a:r>
          </a:p>
        </p:txBody>
      </p:sp>
      <p:sp>
        <p:nvSpPr>
          <p:cNvPr id="6" name="Rectangle: Rounded Corners 5">
            <a:extLst>
              <a:ext uri="{FF2B5EF4-FFF2-40B4-BE49-F238E27FC236}">
                <a16:creationId xmlns:a16="http://schemas.microsoft.com/office/drawing/2014/main" id="{EF930CEA-157C-455C-8D66-30E33F8984D6}"/>
              </a:ext>
            </a:extLst>
          </p:cNvPr>
          <p:cNvSpPr>
            <a:spLocks noGrp="1"/>
          </p:cNvSpPr>
          <p:nvPr/>
        </p:nvSpPr>
        <p:spPr>
          <a:xfrm>
            <a:off x="400050" y="1581150"/>
            <a:ext cx="11391900" cy="1162050"/>
          </a:xfrm>
          <a:prstGeom prst="roundRect">
            <a:avLst>
              <a:gd name="adj" fmla="val 9836"/>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FD74198F-F4BE-4914-8269-9A6779D43A0F}"/>
              </a:ext>
            </a:extLst>
          </p:cNvPr>
          <p:cNvSpPr>
            <a:spLocks noGrp="1"/>
          </p:cNvSpPr>
          <p:nvPr/>
        </p:nvSpPr>
        <p:spPr>
          <a:xfrm>
            <a:off x="628650" y="1828800"/>
            <a:ext cx="619125" cy="457200"/>
          </a:xfrm>
          <a:prstGeom prst="rect">
            <a:avLst/>
          </a:prstGeom>
          <a:noFill/>
          <a:ln w="0">
            <a:noFill/>
            <a:prstDash val="solid"/>
          </a:ln>
        </p:spPr>
        <p:txBody>
          <a:bodyPr lIns="0" tIns="0" rIns="0" bIns="0" anchor="t">
            <a:normAutofit/>
          </a:bodyPr>
          <a:lstStyle/>
          <a:p>
            <a:pPr algn="ctr">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01</a:t>
            </a:r>
          </a:p>
        </p:txBody>
      </p:sp>
      <p:sp>
        <p:nvSpPr>
          <p:cNvPr id="8" name="Rectangle 7">
            <a:extLst>
              <a:ext uri="{FF2B5EF4-FFF2-40B4-BE49-F238E27FC236}">
                <a16:creationId xmlns:a16="http://schemas.microsoft.com/office/drawing/2014/main" id="{875613B6-5718-4A16-B33B-0A676D019D87}"/>
              </a:ext>
            </a:extLst>
          </p:cNvPr>
          <p:cNvSpPr>
            <a:spLocks noGrp="1"/>
          </p:cNvSpPr>
          <p:nvPr/>
        </p:nvSpPr>
        <p:spPr>
          <a:xfrm>
            <a:off x="1524000" y="1790700"/>
            <a:ext cx="2476500" cy="266700"/>
          </a:xfrm>
          <a:prstGeom prst="rect">
            <a:avLst/>
          </a:prstGeom>
          <a:noFill/>
          <a:ln w="0">
            <a:noFill/>
            <a:prstDash val="solid"/>
          </a:ln>
        </p:spPr>
        <p:txBody>
          <a:bodyPr lIns="0" tIns="0" rIns="0" bIns="0" anchor="t">
            <a:normAutofit/>
          </a:bodyPr>
          <a:lstStyle/>
          <a:p>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REVIEW</a:t>
            </a:r>
          </a:p>
        </p:txBody>
      </p:sp>
      <p:sp>
        <p:nvSpPr>
          <p:cNvPr id="9" name="Rectangle 8">
            <a:extLst>
              <a:ext uri="{FF2B5EF4-FFF2-40B4-BE49-F238E27FC236}">
                <a16:creationId xmlns:a16="http://schemas.microsoft.com/office/drawing/2014/main" id="{8AEFAC40-8DBB-41E3-AD12-8198B04837A1}"/>
              </a:ext>
            </a:extLst>
          </p:cNvPr>
          <p:cNvSpPr>
            <a:spLocks noGrp="1"/>
          </p:cNvSpPr>
          <p:nvPr/>
        </p:nvSpPr>
        <p:spPr>
          <a:xfrm>
            <a:off x="4191000" y="1771650"/>
            <a:ext cx="7124700" cy="685800"/>
          </a:xfrm>
          <a:prstGeom prst="rect">
            <a:avLst/>
          </a:prstGeom>
          <a:noFill/>
          <a:ln w="0">
            <a:noFill/>
            <a:prstDash val="solid"/>
          </a:ln>
        </p:spPr>
        <p:txBody>
          <a:bodyPr lIns="0" tIns="0" rIns="0" bIns="0" anchor="t">
            <a:normAutofit lnSpcReduction="10000"/>
          </a:bodyPr>
          <a:lstStyle/>
          <a:p>
            <a:pPr>
              <a:defRPr sz="1575" b="1">
                <a:solidFill>
                  <a:srgbClr val="111318"/>
                </a:solidFill>
                <a:latin typeface="Helvetica Neue"/>
                <a:ea typeface="Helvetica Neue"/>
                <a:cs typeface="Helvetica Neue"/>
              </a:defRPr>
            </a:pPr>
            <a:r>
              <a:rPr lang="en-GB" sz="1575" b="1" dirty="0"/>
              <a:t>To critically review the methods for groundwater residence time estimation, connectivity and hydrogeochemical evolution in data-limited aquifers</a:t>
            </a:r>
            <a:r>
              <a:rPr sz="1575" b="1" dirty="0">
                <a:solidFill>
                  <a:srgbClr val="111318"/>
                </a:solidFill>
                <a:latin typeface="Helvetica Neue"/>
                <a:ea typeface="Helvetica Neue"/>
                <a:cs typeface="Helvetica Neue"/>
              </a:rPr>
              <a:t>.</a:t>
            </a:r>
          </a:p>
        </p:txBody>
      </p:sp>
      <p:sp>
        <p:nvSpPr>
          <p:cNvPr id="10" name="Rectangle: Rounded Corners 9">
            <a:extLst>
              <a:ext uri="{FF2B5EF4-FFF2-40B4-BE49-F238E27FC236}">
                <a16:creationId xmlns:a16="http://schemas.microsoft.com/office/drawing/2014/main" id="{A05D4289-0D9D-4331-AFB0-411435F201B8}"/>
              </a:ext>
            </a:extLst>
          </p:cNvPr>
          <p:cNvSpPr>
            <a:spLocks noGrp="1"/>
          </p:cNvSpPr>
          <p:nvPr/>
        </p:nvSpPr>
        <p:spPr>
          <a:xfrm>
            <a:off x="400050" y="2990850"/>
            <a:ext cx="11391900" cy="1162050"/>
          </a:xfrm>
          <a:prstGeom prst="roundRect">
            <a:avLst>
              <a:gd name="adj" fmla="val 9836"/>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8632528-880F-424F-AFCA-F070F461FF98}"/>
              </a:ext>
            </a:extLst>
          </p:cNvPr>
          <p:cNvSpPr>
            <a:spLocks noGrp="1"/>
          </p:cNvSpPr>
          <p:nvPr/>
        </p:nvSpPr>
        <p:spPr>
          <a:xfrm>
            <a:off x="628650" y="3238500"/>
            <a:ext cx="619125" cy="457200"/>
          </a:xfrm>
          <a:prstGeom prst="rect">
            <a:avLst/>
          </a:prstGeom>
          <a:noFill/>
          <a:ln w="0">
            <a:noFill/>
            <a:prstDash val="solid"/>
          </a:ln>
        </p:spPr>
        <p:txBody>
          <a:bodyPr lIns="0" tIns="0" rIns="0" bIns="0" anchor="t">
            <a:normAutofit/>
          </a:bodyPr>
          <a:lstStyle/>
          <a:p>
            <a:pPr algn="ctr">
              <a:defRPr sz="2550" b="1">
                <a:solidFill>
                  <a:srgbClr val="149A84"/>
                </a:solidFill>
                <a:latin typeface="Helvetica Neue"/>
                <a:ea typeface="Helvetica Neue"/>
                <a:cs typeface="Helvetica Neue"/>
              </a:defRPr>
            </a:pPr>
            <a:r>
              <a:rPr sz="2550" b="1">
                <a:solidFill>
                  <a:srgbClr val="149A84"/>
                </a:solidFill>
                <a:latin typeface="Helvetica Neue"/>
                <a:ea typeface="Helvetica Neue"/>
                <a:cs typeface="Helvetica Neue"/>
              </a:rPr>
              <a:t>02</a:t>
            </a:r>
          </a:p>
        </p:txBody>
      </p:sp>
      <p:sp>
        <p:nvSpPr>
          <p:cNvPr id="12" name="Rectangle 11">
            <a:extLst>
              <a:ext uri="{FF2B5EF4-FFF2-40B4-BE49-F238E27FC236}">
                <a16:creationId xmlns:a16="http://schemas.microsoft.com/office/drawing/2014/main" id="{B6F67AA3-48A5-42DD-AAA7-265E1DC777A3}"/>
              </a:ext>
            </a:extLst>
          </p:cNvPr>
          <p:cNvSpPr>
            <a:spLocks noGrp="1"/>
          </p:cNvSpPr>
          <p:nvPr/>
        </p:nvSpPr>
        <p:spPr>
          <a:xfrm>
            <a:off x="1524000" y="3200400"/>
            <a:ext cx="2476500" cy="266700"/>
          </a:xfrm>
          <a:prstGeom prst="rect">
            <a:avLst/>
          </a:prstGeom>
          <a:noFill/>
          <a:ln w="0">
            <a:noFill/>
            <a:prstDash val="solid"/>
          </a:ln>
        </p:spPr>
        <p:txBody>
          <a:bodyPr lIns="0" tIns="0" rIns="0" bIns="0" anchor="t">
            <a:normAutofit/>
          </a:bodyPr>
          <a:lstStyle/>
          <a:p>
            <a:pPr algn="l">
              <a:defRPr sz="1275" b="1">
                <a:solidFill>
                  <a:srgbClr val="149A84"/>
                </a:solidFill>
                <a:latin typeface="Helvetica Neue"/>
                <a:ea typeface="Helvetica Neue"/>
                <a:cs typeface="Helvetica Neue"/>
              </a:defRPr>
            </a:pPr>
            <a:r>
              <a:rPr sz="1275" b="1">
                <a:solidFill>
                  <a:srgbClr val="149A84"/>
                </a:solidFill>
                <a:latin typeface="Helvetica Neue"/>
                <a:ea typeface="Helvetica Neue"/>
                <a:cs typeface="Helvetica Neue"/>
              </a:rPr>
              <a:t>DEVELOP</a:t>
            </a:r>
          </a:p>
        </p:txBody>
      </p:sp>
      <p:sp>
        <p:nvSpPr>
          <p:cNvPr id="13" name="Rectangle 12">
            <a:extLst>
              <a:ext uri="{FF2B5EF4-FFF2-40B4-BE49-F238E27FC236}">
                <a16:creationId xmlns:a16="http://schemas.microsoft.com/office/drawing/2014/main" id="{CF8B0664-D524-4916-8977-E0EC769D04E6}"/>
              </a:ext>
            </a:extLst>
          </p:cNvPr>
          <p:cNvSpPr>
            <a:spLocks noGrp="1"/>
          </p:cNvSpPr>
          <p:nvPr/>
        </p:nvSpPr>
        <p:spPr>
          <a:xfrm>
            <a:off x="4191000" y="3181350"/>
            <a:ext cx="7124700" cy="685800"/>
          </a:xfrm>
          <a:prstGeom prst="rect">
            <a:avLst/>
          </a:prstGeom>
          <a:noFill/>
          <a:ln w="0">
            <a:noFill/>
            <a:prstDash val="solid"/>
          </a:ln>
        </p:spPr>
        <p:txBody>
          <a:bodyPr lIns="0" tIns="0" rIns="0" bIns="0" anchor="t">
            <a:normAutofit/>
          </a:bodyPr>
          <a:lstStyle/>
          <a:p>
            <a:pPr>
              <a:defRPr sz="1575" b="1">
                <a:solidFill>
                  <a:srgbClr val="111318"/>
                </a:solidFill>
                <a:latin typeface="Helvetica Neue"/>
                <a:ea typeface="Helvetica Neue"/>
                <a:cs typeface="Helvetica Neue"/>
              </a:defRPr>
            </a:pPr>
            <a:r>
              <a:rPr lang="en-GB" sz="1575" b="1" dirty="0"/>
              <a:t>To develop a computational framework (</a:t>
            </a:r>
            <a:r>
              <a:rPr lang="en-GB" sz="1575" b="1" dirty="0" err="1"/>
              <a:t>HydroSheaf</a:t>
            </a:r>
            <a:r>
              <a:rPr lang="en-GB" sz="1575" b="1" dirty="0"/>
              <a:t>) to integrate tracer, groundwater-connectivity and inverse hydrogeochemical modelling</a:t>
            </a:r>
            <a:r>
              <a:rPr sz="1575" b="1" dirty="0">
                <a:solidFill>
                  <a:srgbClr val="111318"/>
                </a:solidFill>
                <a:latin typeface="Helvetica Neue"/>
                <a:ea typeface="Helvetica Neue"/>
                <a:cs typeface="Helvetica Neue"/>
              </a:rPr>
              <a:t>.</a:t>
            </a:r>
          </a:p>
        </p:txBody>
      </p:sp>
      <p:sp>
        <p:nvSpPr>
          <p:cNvPr id="14" name="Rectangle: Rounded Corners 13">
            <a:extLst>
              <a:ext uri="{FF2B5EF4-FFF2-40B4-BE49-F238E27FC236}">
                <a16:creationId xmlns:a16="http://schemas.microsoft.com/office/drawing/2014/main" id="{F4697536-E20F-427D-A945-0A66D9A5E792}"/>
              </a:ext>
            </a:extLst>
          </p:cNvPr>
          <p:cNvSpPr>
            <a:spLocks noGrp="1"/>
          </p:cNvSpPr>
          <p:nvPr/>
        </p:nvSpPr>
        <p:spPr>
          <a:xfrm>
            <a:off x="400050" y="4400550"/>
            <a:ext cx="11391900" cy="1162050"/>
          </a:xfrm>
          <a:prstGeom prst="roundRect">
            <a:avLst>
              <a:gd name="adj" fmla="val 9836"/>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8863E3CF-1F6C-4DA0-B8F3-ED3A73481406}"/>
              </a:ext>
            </a:extLst>
          </p:cNvPr>
          <p:cNvSpPr>
            <a:spLocks noGrp="1"/>
          </p:cNvSpPr>
          <p:nvPr/>
        </p:nvSpPr>
        <p:spPr>
          <a:xfrm>
            <a:off x="628650" y="4648200"/>
            <a:ext cx="619125" cy="457200"/>
          </a:xfrm>
          <a:prstGeom prst="rect">
            <a:avLst/>
          </a:prstGeom>
          <a:noFill/>
          <a:ln w="0">
            <a:noFill/>
            <a:prstDash val="solid"/>
          </a:ln>
        </p:spPr>
        <p:txBody>
          <a:bodyPr lIns="0" tIns="0" rIns="0" bIns="0" anchor="t">
            <a:normAutofit/>
          </a:bodyPr>
          <a:lstStyle/>
          <a:p>
            <a:pPr algn="ctr">
              <a:defRPr sz="2550" b="1">
                <a:solidFill>
                  <a:srgbClr val="D97706"/>
                </a:solidFill>
                <a:latin typeface="Helvetica Neue"/>
                <a:ea typeface="Helvetica Neue"/>
                <a:cs typeface="Helvetica Neue"/>
              </a:defRPr>
            </a:pPr>
            <a:r>
              <a:rPr sz="2550" b="1">
                <a:solidFill>
                  <a:srgbClr val="D97706"/>
                </a:solidFill>
                <a:latin typeface="Helvetica Neue"/>
                <a:ea typeface="Helvetica Neue"/>
                <a:cs typeface="Helvetica Neue"/>
              </a:rPr>
              <a:t>03</a:t>
            </a:r>
          </a:p>
        </p:txBody>
      </p:sp>
      <p:sp>
        <p:nvSpPr>
          <p:cNvPr id="16" name="Rectangle 15">
            <a:extLst>
              <a:ext uri="{FF2B5EF4-FFF2-40B4-BE49-F238E27FC236}">
                <a16:creationId xmlns:a16="http://schemas.microsoft.com/office/drawing/2014/main" id="{A641E3D3-39EA-4FDE-B129-E70CF5A7B70F}"/>
              </a:ext>
            </a:extLst>
          </p:cNvPr>
          <p:cNvSpPr>
            <a:spLocks noGrp="1"/>
          </p:cNvSpPr>
          <p:nvPr/>
        </p:nvSpPr>
        <p:spPr>
          <a:xfrm>
            <a:off x="1524000" y="4610100"/>
            <a:ext cx="2476500" cy="266700"/>
          </a:xfrm>
          <a:prstGeom prst="rect">
            <a:avLst/>
          </a:prstGeom>
          <a:noFill/>
          <a:ln w="0">
            <a:noFill/>
            <a:prstDash val="solid"/>
          </a:ln>
        </p:spPr>
        <p:txBody>
          <a:bodyPr lIns="0" tIns="0" rIns="0" bIns="0" anchor="t">
            <a:normAutofit/>
          </a:bodyPr>
          <a:lstStyle/>
          <a:p>
            <a:pPr algn="l">
              <a:defRPr sz="1275" b="1">
                <a:solidFill>
                  <a:srgbClr val="D97706"/>
                </a:solidFill>
                <a:latin typeface="Helvetica Neue"/>
                <a:ea typeface="Helvetica Neue"/>
                <a:cs typeface="Helvetica Neue"/>
              </a:defRPr>
            </a:pPr>
            <a:r>
              <a:rPr sz="1275" b="1">
                <a:solidFill>
                  <a:srgbClr val="D97706"/>
                </a:solidFill>
                <a:latin typeface="Helvetica Neue"/>
                <a:ea typeface="Helvetica Neue"/>
                <a:cs typeface="Helvetica Neue"/>
              </a:rPr>
              <a:t>BENCHMARK COMPONENTS</a:t>
            </a:r>
          </a:p>
        </p:txBody>
      </p:sp>
      <p:sp>
        <p:nvSpPr>
          <p:cNvPr id="17" name="Rectangle 16">
            <a:extLst>
              <a:ext uri="{FF2B5EF4-FFF2-40B4-BE49-F238E27FC236}">
                <a16:creationId xmlns:a16="http://schemas.microsoft.com/office/drawing/2014/main" id="{3A33918E-CC0A-4E2F-A59A-A4F3225F172B}"/>
              </a:ext>
            </a:extLst>
          </p:cNvPr>
          <p:cNvSpPr>
            <a:spLocks noGrp="1"/>
          </p:cNvSpPr>
          <p:nvPr/>
        </p:nvSpPr>
        <p:spPr>
          <a:xfrm>
            <a:off x="4191000" y="4591050"/>
            <a:ext cx="7124700" cy="685800"/>
          </a:xfrm>
          <a:prstGeom prst="rect">
            <a:avLst/>
          </a:prstGeom>
          <a:noFill/>
          <a:ln w="0">
            <a:noFill/>
            <a:prstDash val="solid"/>
          </a:ln>
        </p:spPr>
        <p:txBody>
          <a:bodyPr lIns="0" tIns="0" rIns="0" bIns="0" anchor="t">
            <a:normAutofit/>
          </a:bodyPr>
          <a:lstStyle/>
          <a:p>
            <a:pPr>
              <a:defRPr sz="1575" b="1">
                <a:solidFill>
                  <a:srgbClr val="111318"/>
                </a:solidFill>
                <a:latin typeface="Helvetica Neue"/>
                <a:ea typeface="Helvetica Neue"/>
                <a:cs typeface="Helvetica Neue"/>
              </a:defRPr>
            </a:pPr>
            <a:r>
              <a:rPr lang="en-GB" sz="1575" b="1" dirty="0"/>
              <a:t>To benchmark the residence-time, connectivity and reaction-inference components of the framework</a:t>
            </a:r>
            <a:r>
              <a:rPr sz="1575" b="1" dirty="0">
                <a:solidFill>
                  <a:srgbClr val="111318"/>
                </a:solidFill>
                <a:latin typeface="Helvetica Neue"/>
                <a:ea typeface="Helvetica Neue"/>
                <a:cs typeface="Helvetica Neue"/>
              </a:rPr>
              <a:t>.</a:t>
            </a:r>
          </a:p>
        </p:txBody>
      </p:sp>
    </p:spTree>
    <p:extLst>
      <p:ext uri="{BB962C8B-B14F-4D97-AF65-F5344CB8AC3E}">
        <p14:creationId xmlns:p14="http://schemas.microsoft.com/office/powerpoint/2010/main" val="1665755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1C5C29F-5017-45DA-BB26-BAEB377D296A}"/>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OBJECTIVES</a:t>
            </a:r>
          </a:p>
        </p:txBody>
      </p:sp>
      <p:sp>
        <p:nvSpPr>
          <p:cNvPr id="2" name="Rectangle 1">
            <a:extLst>
              <a:ext uri="{FF2B5EF4-FFF2-40B4-BE49-F238E27FC236}">
                <a16:creationId xmlns:a16="http://schemas.microsoft.com/office/drawing/2014/main" id="{02670A7B-D5CA-4F17-A661-FC3C6CF74F49}"/>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Specific objectives 4–6: challenge, integrate and apply</a:t>
            </a:r>
          </a:p>
        </p:txBody>
      </p:sp>
      <p:sp>
        <p:nvSpPr>
          <p:cNvPr id="3" name="Rectangle 2">
            <a:extLst>
              <a:ext uri="{FF2B5EF4-FFF2-40B4-BE49-F238E27FC236}">
                <a16:creationId xmlns:a16="http://schemas.microsoft.com/office/drawing/2014/main" id="{CAC7BB56-BA32-4051-B1C7-F06424A32D70}"/>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4DB9E8B9-1D0C-47AE-B505-4198F256CB36}"/>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Introduction</a:t>
            </a:r>
          </a:p>
        </p:txBody>
      </p:sp>
      <p:sp>
        <p:nvSpPr>
          <p:cNvPr id="5" name="Rectangle 4">
            <a:extLst>
              <a:ext uri="{FF2B5EF4-FFF2-40B4-BE49-F238E27FC236}">
                <a16:creationId xmlns:a16="http://schemas.microsoft.com/office/drawing/2014/main" id="{7C3ACCE4-E876-4DF1-A356-81CB84A48ECE}"/>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07</a:t>
            </a:r>
          </a:p>
        </p:txBody>
      </p:sp>
      <p:sp>
        <p:nvSpPr>
          <p:cNvPr id="6" name="Rectangle: Rounded Corners 5">
            <a:extLst>
              <a:ext uri="{FF2B5EF4-FFF2-40B4-BE49-F238E27FC236}">
                <a16:creationId xmlns:a16="http://schemas.microsoft.com/office/drawing/2014/main" id="{FC82A8A7-7EC4-4A14-8B05-735CD147EC23}"/>
              </a:ext>
            </a:extLst>
          </p:cNvPr>
          <p:cNvSpPr>
            <a:spLocks noGrp="1"/>
          </p:cNvSpPr>
          <p:nvPr/>
        </p:nvSpPr>
        <p:spPr>
          <a:xfrm>
            <a:off x="400050" y="1581150"/>
            <a:ext cx="11391900" cy="1162050"/>
          </a:xfrm>
          <a:prstGeom prst="roundRect">
            <a:avLst>
              <a:gd name="adj" fmla="val 9836"/>
            </a:avLst>
          </a:prstGeom>
          <a:solidFill>
            <a:srgbClr val="FDE8E8"/>
          </a:solidFill>
          <a:ln w="0">
            <a:noFill/>
            <a:prstDash val="solid"/>
          </a:ln>
        </p:spPr>
        <p:txBody>
          <a:bodyPr/>
          <a:lstStyle/>
          <a:p>
            <a:endParaRPr lang="en-US"/>
          </a:p>
        </p:txBody>
      </p:sp>
      <p:sp>
        <p:nvSpPr>
          <p:cNvPr id="7" name="Rectangle 6">
            <a:extLst>
              <a:ext uri="{FF2B5EF4-FFF2-40B4-BE49-F238E27FC236}">
                <a16:creationId xmlns:a16="http://schemas.microsoft.com/office/drawing/2014/main" id="{635D1712-1CC6-40A0-A56E-2E7372A34D81}"/>
              </a:ext>
            </a:extLst>
          </p:cNvPr>
          <p:cNvSpPr>
            <a:spLocks noGrp="1"/>
          </p:cNvSpPr>
          <p:nvPr/>
        </p:nvSpPr>
        <p:spPr>
          <a:xfrm>
            <a:off x="628650" y="1828800"/>
            <a:ext cx="619125" cy="457200"/>
          </a:xfrm>
          <a:prstGeom prst="rect">
            <a:avLst/>
          </a:prstGeom>
          <a:noFill/>
          <a:ln w="0">
            <a:noFill/>
            <a:prstDash val="solid"/>
          </a:ln>
        </p:spPr>
        <p:txBody>
          <a:bodyPr lIns="0" tIns="0" rIns="0" bIns="0" anchor="t">
            <a:normAutofit/>
          </a:bodyPr>
          <a:lstStyle/>
          <a:p>
            <a:pPr algn="ctr">
              <a:defRPr sz="2550" b="1">
                <a:solidFill>
                  <a:srgbClr val="C53030"/>
                </a:solidFill>
                <a:latin typeface="Helvetica Neue"/>
                <a:ea typeface="Helvetica Neue"/>
                <a:cs typeface="Helvetica Neue"/>
              </a:defRPr>
            </a:pPr>
            <a:r>
              <a:rPr sz="2550" b="1">
                <a:solidFill>
                  <a:srgbClr val="C53030"/>
                </a:solidFill>
                <a:latin typeface="Helvetica Neue"/>
                <a:ea typeface="Helvetica Neue"/>
                <a:cs typeface="Helvetica Neue"/>
              </a:rPr>
              <a:t>04</a:t>
            </a:r>
          </a:p>
        </p:txBody>
      </p:sp>
      <p:sp>
        <p:nvSpPr>
          <p:cNvPr id="8" name="Rectangle 7">
            <a:extLst>
              <a:ext uri="{FF2B5EF4-FFF2-40B4-BE49-F238E27FC236}">
                <a16:creationId xmlns:a16="http://schemas.microsoft.com/office/drawing/2014/main" id="{3F844829-F633-4CF7-B249-309F56FDE53D}"/>
              </a:ext>
            </a:extLst>
          </p:cNvPr>
          <p:cNvSpPr>
            <a:spLocks noGrp="1"/>
          </p:cNvSpPr>
          <p:nvPr/>
        </p:nvSpPr>
        <p:spPr>
          <a:xfrm>
            <a:off x="1524000" y="1790700"/>
            <a:ext cx="2571750" cy="266700"/>
          </a:xfrm>
          <a:prstGeom prst="rect">
            <a:avLst/>
          </a:prstGeom>
          <a:noFill/>
          <a:ln w="0">
            <a:noFill/>
            <a:prstDash val="solid"/>
          </a:ln>
        </p:spPr>
        <p:txBody>
          <a:bodyPr lIns="0" tIns="0" rIns="0" bIns="0" anchor="t">
            <a:normAutofit/>
          </a:bodyPr>
          <a:lstStyle/>
          <a:p>
            <a:pPr algn="l">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TEST ROBUSTNESS</a:t>
            </a:r>
          </a:p>
        </p:txBody>
      </p:sp>
      <p:sp>
        <p:nvSpPr>
          <p:cNvPr id="9" name="Rectangle 8">
            <a:extLst>
              <a:ext uri="{FF2B5EF4-FFF2-40B4-BE49-F238E27FC236}">
                <a16:creationId xmlns:a16="http://schemas.microsoft.com/office/drawing/2014/main" id="{41E89E44-810A-47F3-B685-24D686F5D891}"/>
              </a:ext>
            </a:extLst>
          </p:cNvPr>
          <p:cNvSpPr>
            <a:spLocks noGrp="1"/>
          </p:cNvSpPr>
          <p:nvPr/>
        </p:nvSpPr>
        <p:spPr>
          <a:xfrm>
            <a:off x="4286250" y="1771650"/>
            <a:ext cx="7029450" cy="685800"/>
          </a:xfrm>
          <a:prstGeom prst="rect">
            <a:avLst/>
          </a:prstGeom>
          <a:noFill/>
          <a:ln w="0">
            <a:noFill/>
            <a:prstDash val="solid"/>
          </a:ln>
        </p:spPr>
        <p:txBody>
          <a:bodyPr lIns="0" tIns="0" rIns="0" bIns="0" anchor="t">
            <a:normAutofit/>
          </a:bodyPr>
          <a:lstStyle/>
          <a:p>
            <a:pPr>
              <a:defRPr sz="1575" b="1">
                <a:solidFill>
                  <a:srgbClr val="111318"/>
                </a:solidFill>
                <a:latin typeface="Helvetica Neue"/>
                <a:ea typeface="Helvetica Neue"/>
                <a:cs typeface="Helvetica Neue"/>
              </a:defRPr>
            </a:pPr>
            <a:r>
              <a:rPr lang="en-GB" sz="1575" b="1" dirty="0"/>
              <a:t>To assess the uncertainty and robustness of the framework under different assumptions and data limitations</a:t>
            </a:r>
            <a:r>
              <a:rPr sz="1575" b="1" dirty="0">
                <a:solidFill>
                  <a:srgbClr val="111318"/>
                </a:solidFill>
                <a:latin typeface="Helvetica Neue"/>
                <a:ea typeface="Helvetica Neue"/>
                <a:cs typeface="Helvetica Neue"/>
              </a:rPr>
              <a:t>.</a:t>
            </a:r>
          </a:p>
        </p:txBody>
      </p:sp>
      <p:sp>
        <p:nvSpPr>
          <p:cNvPr id="10" name="Rectangle: Rounded Corners 9">
            <a:extLst>
              <a:ext uri="{FF2B5EF4-FFF2-40B4-BE49-F238E27FC236}">
                <a16:creationId xmlns:a16="http://schemas.microsoft.com/office/drawing/2014/main" id="{31C88F10-C7D9-4612-807F-811302206A61}"/>
              </a:ext>
            </a:extLst>
          </p:cNvPr>
          <p:cNvSpPr>
            <a:spLocks noGrp="1"/>
          </p:cNvSpPr>
          <p:nvPr/>
        </p:nvSpPr>
        <p:spPr>
          <a:xfrm>
            <a:off x="400050" y="2990850"/>
            <a:ext cx="11391900" cy="1162050"/>
          </a:xfrm>
          <a:prstGeom prst="roundRect">
            <a:avLst>
              <a:gd name="adj" fmla="val 9836"/>
            </a:avLst>
          </a:prstGeom>
          <a:solidFill>
            <a:srgbClr val="E7F7F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54B62A2B-1237-48C1-86BB-7333620CC8C6}"/>
              </a:ext>
            </a:extLst>
          </p:cNvPr>
          <p:cNvSpPr>
            <a:spLocks noGrp="1"/>
          </p:cNvSpPr>
          <p:nvPr/>
        </p:nvSpPr>
        <p:spPr>
          <a:xfrm>
            <a:off x="628650" y="3238500"/>
            <a:ext cx="619125" cy="457200"/>
          </a:xfrm>
          <a:prstGeom prst="rect">
            <a:avLst/>
          </a:prstGeom>
          <a:noFill/>
          <a:ln w="0">
            <a:noFill/>
            <a:prstDash val="solid"/>
          </a:ln>
        </p:spPr>
        <p:txBody>
          <a:bodyPr lIns="0" tIns="0" rIns="0" bIns="0" anchor="t">
            <a:normAutofit/>
          </a:bodyPr>
          <a:lstStyle/>
          <a:p>
            <a:pPr algn="ctr">
              <a:defRPr sz="2550" b="1">
                <a:solidFill>
                  <a:srgbClr val="149A84"/>
                </a:solidFill>
                <a:latin typeface="Helvetica Neue"/>
                <a:ea typeface="Helvetica Neue"/>
                <a:cs typeface="Helvetica Neue"/>
              </a:defRPr>
            </a:pPr>
            <a:r>
              <a:rPr sz="2550" b="1">
                <a:solidFill>
                  <a:srgbClr val="149A84"/>
                </a:solidFill>
                <a:latin typeface="Helvetica Neue"/>
                <a:ea typeface="Helvetica Neue"/>
                <a:cs typeface="Helvetica Neue"/>
              </a:rPr>
              <a:t>05</a:t>
            </a:r>
          </a:p>
        </p:txBody>
      </p:sp>
      <p:sp>
        <p:nvSpPr>
          <p:cNvPr id="12" name="Rectangle 11">
            <a:extLst>
              <a:ext uri="{FF2B5EF4-FFF2-40B4-BE49-F238E27FC236}">
                <a16:creationId xmlns:a16="http://schemas.microsoft.com/office/drawing/2014/main" id="{A6E2597E-3EB9-48F4-940D-7A1AECED66DC}"/>
              </a:ext>
            </a:extLst>
          </p:cNvPr>
          <p:cNvSpPr>
            <a:spLocks noGrp="1"/>
          </p:cNvSpPr>
          <p:nvPr/>
        </p:nvSpPr>
        <p:spPr>
          <a:xfrm>
            <a:off x="1524000" y="3200400"/>
            <a:ext cx="2571750" cy="266700"/>
          </a:xfrm>
          <a:prstGeom prst="rect">
            <a:avLst/>
          </a:prstGeom>
          <a:noFill/>
          <a:ln w="0">
            <a:noFill/>
            <a:prstDash val="solid"/>
          </a:ln>
        </p:spPr>
        <p:txBody>
          <a:bodyPr lIns="0" tIns="0" rIns="0" bIns="0" anchor="t">
            <a:normAutofit/>
          </a:bodyPr>
          <a:lstStyle/>
          <a:p>
            <a:pPr algn="l">
              <a:defRPr sz="1275" b="1">
                <a:solidFill>
                  <a:srgbClr val="149A84"/>
                </a:solidFill>
                <a:latin typeface="Helvetica Neue"/>
                <a:ea typeface="Helvetica Neue"/>
                <a:cs typeface="Helvetica Neue"/>
              </a:defRPr>
            </a:pPr>
            <a:r>
              <a:rPr sz="1275" b="1">
                <a:solidFill>
                  <a:srgbClr val="149A84"/>
                </a:solidFill>
                <a:latin typeface="Helvetica Neue"/>
                <a:ea typeface="Helvetica Neue"/>
                <a:cs typeface="Helvetica Neue"/>
              </a:rPr>
              <a:t>EVALUATE INTEGRATION</a:t>
            </a:r>
          </a:p>
        </p:txBody>
      </p:sp>
      <p:sp>
        <p:nvSpPr>
          <p:cNvPr id="13" name="Rectangle 12">
            <a:extLst>
              <a:ext uri="{FF2B5EF4-FFF2-40B4-BE49-F238E27FC236}">
                <a16:creationId xmlns:a16="http://schemas.microsoft.com/office/drawing/2014/main" id="{73DDCFB9-7A1D-4F12-AC0D-05E5BE992831}"/>
              </a:ext>
            </a:extLst>
          </p:cNvPr>
          <p:cNvSpPr>
            <a:spLocks noGrp="1"/>
          </p:cNvSpPr>
          <p:nvPr/>
        </p:nvSpPr>
        <p:spPr>
          <a:xfrm>
            <a:off x="4286250" y="3181350"/>
            <a:ext cx="7029450" cy="685800"/>
          </a:xfrm>
          <a:prstGeom prst="rect">
            <a:avLst/>
          </a:prstGeom>
          <a:noFill/>
          <a:ln w="0">
            <a:noFill/>
            <a:prstDash val="solid"/>
          </a:ln>
        </p:spPr>
        <p:txBody>
          <a:bodyPr lIns="0" tIns="0" rIns="0" bIns="0" anchor="t">
            <a:normAutofit/>
          </a:bodyPr>
          <a:lstStyle/>
          <a:p>
            <a:pPr>
              <a:defRPr sz="1575" b="1">
                <a:solidFill>
                  <a:srgbClr val="111318"/>
                </a:solidFill>
                <a:latin typeface="Helvetica Neue"/>
                <a:ea typeface="Helvetica Neue"/>
                <a:cs typeface="Helvetica Neue"/>
              </a:defRPr>
            </a:pPr>
            <a:r>
              <a:rPr lang="en-GB" sz="1575" b="1" dirty="0"/>
              <a:t>To determine when integrating hydraulic, tracer and chemical evidence improve, adds no value to, or weakens groundwater inference</a:t>
            </a:r>
            <a:r>
              <a:rPr sz="1575" b="1" dirty="0">
                <a:solidFill>
                  <a:srgbClr val="111318"/>
                </a:solidFill>
                <a:latin typeface="Helvetica Neue"/>
                <a:ea typeface="Helvetica Neue"/>
                <a:cs typeface="Helvetica Neue"/>
              </a:rPr>
              <a:t>.</a:t>
            </a:r>
          </a:p>
        </p:txBody>
      </p:sp>
      <p:sp>
        <p:nvSpPr>
          <p:cNvPr id="14" name="Rectangle: Rounded Corners 13">
            <a:extLst>
              <a:ext uri="{FF2B5EF4-FFF2-40B4-BE49-F238E27FC236}">
                <a16:creationId xmlns:a16="http://schemas.microsoft.com/office/drawing/2014/main" id="{96F0D759-44E6-4A03-B752-9AD96D1DEC35}"/>
              </a:ext>
            </a:extLst>
          </p:cNvPr>
          <p:cNvSpPr>
            <a:spLocks noGrp="1"/>
          </p:cNvSpPr>
          <p:nvPr/>
        </p:nvSpPr>
        <p:spPr>
          <a:xfrm>
            <a:off x="400050" y="4400550"/>
            <a:ext cx="11391900" cy="1162050"/>
          </a:xfrm>
          <a:prstGeom prst="roundRect">
            <a:avLst>
              <a:gd name="adj" fmla="val 9836"/>
            </a:avLst>
          </a:prstGeom>
          <a:solidFill>
            <a:srgbClr val="E9F4FF"/>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2D2AEEFB-12E3-4D2A-9469-D81DC8A896E7}"/>
              </a:ext>
            </a:extLst>
          </p:cNvPr>
          <p:cNvSpPr>
            <a:spLocks noGrp="1"/>
          </p:cNvSpPr>
          <p:nvPr/>
        </p:nvSpPr>
        <p:spPr>
          <a:xfrm>
            <a:off x="628650" y="4648200"/>
            <a:ext cx="619125" cy="457200"/>
          </a:xfrm>
          <a:prstGeom prst="rect">
            <a:avLst/>
          </a:prstGeom>
          <a:noFill/>
          <a:ln w="0">
            <a:noFill/>
            <a:prstDash val="solid"/>
          </a:ln>
        </p:spPr>
        <p:txBody>
          <a:bodyPr lIns="0" tIns="0" rIns="0" bIns="0" anchor="t">
            <a:normAutofit/>
          </a:bodyPr>
          <a:lstStyle/>
          <a:p>
            <a:pPr algn="ctr">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06</a:t>
            </a:r>
          </a:p>
        </p:txBody>
      </p:sp>
      <p:sp>
        <p:nvSpPr>
          <p:cNvPr id="16" name="Rectangle 15">
            <a:extLst>
              <a:ext uri="{FF2B5EF4-FFF2-40B4-BE49-F238E27FC236}">
                <a16:creationId xmlns:a16="http://schemas.microsoft.com/office/drawing/2014/main" id="{508593EC-6593-481E-943F-3189EA4AAF46}"/>
              </a:ext>
            </a:extLst>
          </p:cNvPr>
          <p:cNvSpPr>
            <a:spLocks noGrp="1"/>
          </p:cNvSpPr>
          <p:nvPr/>
        </p:nvSpPr>
        <p:spPr>
          <a:xfrm>
            <a:off x="1524000" y="4610100"/>
            <a:ext cx="2571750" cy="266700"/>
          </a:xfrm>
          <a:prstGeom prst="rect">
            <a:avLst/>
          </a:prstGeom>
          <a:noFill/>
          <a:ln w="0">
            <a:noFill/>
            <a:prstDash val="solid"/>
          </a:ln>
        </p:spPr>
        <p:txBody>
          <a:bodyPr lIns="0" tIns="0" rIns="0" bIns="0" anchor="t">
            <a:normAutofit/>
          </a:bodyPr>
          <a:lstStyle/>
          <a:p>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APPLY TO GHANA</a:t>
            </a:r>
          </a:p>
        </p:txBody>
      </p:sp>
      <p:sp>
        <p:nvSpPr>
          <p:cNvPr id="17" name="Rectangle 16">
            <a:extLst>
              <a:ext uri="{FF2B5EF4-FFF2-40B4-BE49-F238E27FC236}">
                <a16:creationId xmlns:a16="http://schemas.microsoft.com/office/drawing/2014/main" id="{05A6DEF9-0584-4BF7-A746-6A43FD090ADC}"/>
              </a:ext>
            </a:extLst>
          </p:cNvPr>
          <p:cNvSpPr>
            <a:spLocks noGrp="1"/>
          </p:cNvSpPr>
          <p:nvPr/>
        </p:nvSpPr>
        <p:spPr>
          <a:xfrm>
            <a:off x="4286250" y="4591050"/>
            <a:ext cx="7029450" cy="685800"/>
          </a:xfrm>
          <a:prstGeom prst="rect">
            <a:avLst/>
          </a:prstGeom>
          <a:noFill/>
          <a:ln w="0">
            <a:noFill/>
            <a:prstDash val="solid"/>
          </a:ln>
        </p:spPr>
        <p:txBody>
          <a:bodyPr lIns="0" tIns="0" rIns="0" bIns="0" anchor="t">
            <a:normAutofit/>
          </a:bodyPr>
          <a:lstStyle/>
          <a:p>
            <a:pPr>
              <a:defRPr sz="1575" b="1">
                <a:solidFill>
                  <a:srgbClr val="111318"/>
                </a:solidFill>
                <a:latin typeface="Helvetica Neue"/>
                <a:ea typeface="Helvetica Neue"/>
                <a:cs typeface="Helvetica Neue"/>
              </a:defRPr>
            </a:pPr>
            <a:r>
              <a:rPr lang="en-GB" sz="1575" b="1" dirty="0"/>
              <a:t>To apply the framework to Ghanaian aquifers and determine which interpretations are supported by the available data</a:t>
            </a:r>
            <a:r>
              <a:rPr sz="1575" b="1" dirty="0">
                <a:solidFill>
                  <a:srgbClr val="111318"/>
                </a:solidFill>
                <a:latin typeface="Helvetica Neue"/>
                <a:ea typeface="Helvetica Neue"/>
                <a:cs typeface="Helvetica Neue"/>
              </a:rPr>
              <a:t>.</a:t>
            </a:r>
          </a:p>
        </p:txBody>
      </p:sp>
      <p:sp>
        <p:nvSpPr>
          <p:cNvPr id="18" name="Rectangle 17">
            <a:extLst>
              <a:ext uri="{FF2B5EF4-FFF2-40B4-BE49-F238E27FC236}">
                <a16:creationId xmlns:a16="http://schemas.microsoft.com/office/drawing/2014/main" id="{7ECE8E77-24E2-4ED7-987D-2FDECF7447E0}"/>
              </a:ext>
            </a:extLst>
          </p:cNvPr>
          <p:cNvSpPr>
            <a:spLocks noGrp="1"/>
          </p:cNvSpPr>
          <p:nvPr/>
        </p:nvSpPr>
        <p:spPr>
          <a:xfrm>
            <a:off x="400050" y="5953125"/>
            <a:ext cx="11391900" cy="266700"/>
          </a:xfrm>
          <a:prstGeom prst="rect">
            <a:avLst/>
          </a:prstGeom>
          <a:noFill/>
          <a:ln w="0">
            <a:noFill/>
            <a:prstDash val="solid"/>
          </a:ln>
        </p:spPr>
        <p:txBody>
          <a:bodyPr lIns="0" tIns="0" rIns="0" bIns="0" anchor="t">
            <a:normAutofit/>
          </a:bodyPr>
          <a:lstStyle/>
          <a:p>
            <a:pPr algn="ctr">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Review → develop → benchmark components → test robustness → evaluate integration → apply to Ghana</a:t>
            </a:r>
          </a:p>
        </p:txBody>
      </p:sp>
    </p:spTree>
    <p:extLst>
      <p:ext uri="{BB962C8B-B14F-4D97-AF65-F5344CB8AC3E}">
        <p14:creationId xmlns:p14="http://schemas.microsoft.com/office/powerpoint/2010/main" val="728428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62140A7-988E-4B2C-BEF7-6CF7E10D51B2}"/>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WHAT IS NEW</a:t>
            </a:r>
          </a:p>
        </p:txBody>
      </p:sp>
      <p:sp>
        <p:nvSpPr>
          <p:cNvPr id="2" name="Rectangle 1">
            <a:extLst>
              <a:ext uri="{FF2B5EF4-FFF2-40B4-BE49-F238E27FC236}">
                <a16:creationId xmlns:a16="http://schemas.microsoft.com/office/drawing/2014/main" id="{2B3895D6-AA04-44A6-9DA4-BBA9090438A7}"/>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novelty is the coupling and the validation logic</a:t>
            </a:r>
          </a:p>
        </p:txBody>
      </p:sp>
      <p:sp>
        <p:nvSpPr>
          <p:cNvPr id="3" name="Rectangle 2">
            <a:extLst>
              <a:ext uri="{FF2B5EF4-FFF2-40B4-BE49-F238E27FC236}">
                <a16:creationId xmlns:a16="http://schemas.microsoft.com/office/drawing/2014/main" id="{29584BCA-85A0-42F2-B6D4-484987DA42AF}"/>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3DBD5A6A-D98D-489C-9315-D078AC5BE935}"/>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Contribution</a:t>
            </a:r>
          </a:p>
        </p:txBody>
      </p:sp>
      <p:sp>
        <p:nvSpPr>
          <p:cNvPr id="5" name="Rectangle 4">
            <a:extLst>
              <a:ext uri="{FF2B5EF4-FFF2-40B4-BE49-F238E27FC236}">
                <a16:creationId xmlns:a16="http://schemas.microsoft.com/office/drawing/2014/main" id="{2B957C90-B5DB-429B-B67D-C7C69161DBA0}"/>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08</a:t>
            </a:r>
          </a:p>
        </p:txBody>
      </p:sp>
      <p:sp>
        <p:nvSpPr>
          <p:cNvPr id="6" name="Rectangle 5">
            <a:extLst>
              <a:ext uri="{FF2B5EF4-FFF2-40B4-BE49-F238E27FC236}">
                <a16:creationId xmlns:a16="http://schemas.microsoft.com/office/drawing/2014/main" id="{4663B06B-805B-4EBD-B676-2EAE0A2D0518}"/>
              </a:ext>
            </a:extLst>
          </p:cNvPr>
          <p:cNvSpPr>
            <a:spLocks noGrp="1"/>
          </p:cNvSpPr>
          <p:nvPr/>
        </p:nvSpPr>
        <p:spPr>
          <a:xfrm>
            <a:off x="400050" y="1638300"/>
            <a:ext cx="4762500" cy="323850"/>
          </a:xfrm>
          <a:prstGeom prst="rect">
            <a:avLst/>
          </a:prstGeom>
          <a:noFill/>
          <a:ln w="0">
            <a:noFill/>
            <a:prstDash val="solid"/>
          </a:ln>
        </p:spPr>
        <p:txBody>
          <a:bodyPr lIns="0" tIns="0" rIns="0" bIns="0" anchor="t">
            <a:normAutofit/>
          </a:bodyPr>
          <a:lstStyle/>
          <a:p>
            <a:pPr algn="l">
              <a:defRPr sz="1800" b="1">
                <a:solidFill>
                  <a:srgbClr val="5D6470"/>
                </a:solidFill>
                <a:latin typeface="Helvetica Neue"/>
                <a:ea typeface="Helvetica Neue"/>
                <a:cs typeface="Helvetica Neue"/>
              </a:defRPr>
            </a:pPr>
            <a:r>
              <a:rPr sz="1800" b="1">
                <a:solidFill>
                  <a:srgbClr val="5D6470"/>
                </a:solidFill>
                <a:latin typeface="Helvetica Neue"/>
                <a:ea typeface="Helvetica Neue"/>
                <a:cs typeface="Helvetica Neue"/>
              </a:rPr>
              <a:t>Inherited foundations</a:t>
            </a:r>
          </a:p>
        </p:txBody>
      </p:sp>
      <p:sp>
        <p:nvSpPr>
          <p:cNvPr id="7" name="Rectangle: Rounded Corners 6">
            <a:extLst>
              <a:ext uri="{FF2B5EF4-FFF2-40B4-BE49-F238E27FC236}">
                <a16:creationId xmlns:a16="http://schemas.microsoft.com/office/drawing/2014/main" id="{DCA142DC-40F5-42E8-AE2B-85DC60FBD25D}"/>
              </a:ext>
            </a:extLst>
          </p:cNvPr>
          <p:cNvSpPr>
            <a:spLocks noGrp="1"/>
          </p:cNvSpPr>
          <p:nvPr/>
        </p:nvSpPr>
        <p:spPr>
          <a:xfrm>
            <a:off x="400050" y="2095500"/>
            <a:ext cx="4762500" cy="495300"/>
          </a:xfrm>
          <a:prstGeom prst="roundRect">
            <a:avLst>
              <a:gd name="adj" fmla="val 23077"/>
            </a:avLst>
          </a:prstGeom>
          <a:solidFill>
            <a:srgbClr val="F2F3F5"/>
          </a:solidFill>
          <a:ln w="0">
            <a:noFill/>
            <a:prstDash val="solid"/>
          </a:ln>
        </p:spPr>
        <p:txBody>
          <a:bodyPr/>
          <a:lstStyle/>
          <a:p>
            <a:endParaRPr lang="en-US"/>
          </a:p>
        </p:txBody>
      </p:sp>
      <p:sp>
        <p:nvSpPr>
          <p:cNvPr id="8" name="Rectangle 7">
            <a:extLst>
              <a:ext uri="{FF2B5EF4-FFF2-40B4-BE49-F238E27FC236}">
                <a16:creationId xmlns:a16="http://schemas.microsoft.com/office/drawing/2014/main" id="{4F47ADEC-45CE-4363-91A8-E8C05577626C}"/>
              </a:ext>
            </a:extLst>
          </p:cNvPr>
          <p:cNvSpPr>
            <a:spLocks noGrp="1"/>
          </p:cNvSpPr>
          <p:nvPr/>
        </p:nvSpPr>
        <p:spPr>
          <a:xfrm>
            <a:off x="590550" y="2228850"/>
            <a:ext cx="4381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Tracer dating and lumped-parameter models</a:t>
            </a:r>
          </a:p>
        </p:txBody>
      </p:sp>
      <p:sp>
        <p:nvSpPr>
          <p:cNvPr id="9" name="Rectangle: Rounded Corners 8">
            <a:extLst>
              <a:ext uri="{FF2B5EF4-FFF2-40B4-BE49-F238E27FC236}">
                <a16:creationId xmlns:a16="http://schemas.microsoft.com/office/drawing/2014/main" id="{5AC304E9-FC23-429E-A8BA-9FC5685418D8}"/>
              </a:ext>
            </a:extLst>
          </p:cNvPr>
          <p:cNvSpPr>
            <a:spLocks noGrp="1"/>
          </p:cNvSpPr>
          <p:nvPr/>
        </p:nvSpPr>
        <p:spPr>
          <a:xfrm>
            <a:off x="400050" y="2762250"/>
            <a:ext cx="4762500" cy="495300"/>
          </a:xfrm>
          <a:prstGeom prst="roundRect">
            <a:avLst>
              <a:gd name="adj" fmla="val 23077"/>
            </a:avLst>
          </a:prstGeom>
          <a:solidFill>
            <a:srgbClr val="F2F3F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C4F0494C-06CE-4B4E-8ED7-514F475A96A4}"/>
              </a:ext>
            </a:extLst>
          </p:cNvPr>
          <p:cNvSpPr>
            <a:spLocks noGrp="1"/>
          </p:cNvSpPr>
          <p:nvPr/>
        </p:nvSpPr>
        <p:spPr>
          <a:xfrm>
            <a:off x="590550" y="2895600"/>
            <a:ext cx="4381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Directed weighted graphs</a:t>
            </a:r>
          </a:p>
        </p:txBody>
      </p:sp>
      <p:sp>
        <p:nvSpPr>
          <p:cNvPr id="11" name="Rectangle: Rounded Corners 10">
            <a:extLst>
              <a:ext uri="{FF2B5EF4-FFF2-40B4-BE49-F238E27FC236}">
                <a16:creationId xmlns:a16="http://schemas.microsoft.com/office/drawing/2014/main" id="{10ECEB94-D62B-4F18-9797-B806C9C434CC}"/>
              </a:ext>
            </a:extLst>
          </p:cNvPr>
          <p:cNvSpPr>
            <a:spLocks noGrp="1"/>
          </p:cNvSpPr>
          <p:nvPr/>
        </p:nvSpPr>
        <p:spPr>
          <a:xfrm>
            <a:off x="400050" y="3429000"/>
            <a:ext cx="4762500" cy="495300"/>
          </a:xfrm>
          <a:prstGeom prst="roundRect">
            <a:avLst>
              <a:gd name="adj" fmla="val 23077"/>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68557CCD-1456-4AB8-B12C-5D9C8B7B9D35}"/>
              </a:ext>
            </a:extLst>
          </p:cNvPr>
          <p:cNvSpPr>
            <a:spLocks noGrp="1"/>
          </p:cNvSpPr>
          <p:nvPr/>
        </p:nvSpPr>
        <p:spPr>
          <a:xfrm>
            <a:off x="590550" y="3562350"/>
            <a:ext cx="4381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Sheaf-theoretic compatibility</a:t>
            </a:r>
          </a:p>
        </p:txBody>
      </p:sp>
      <p:sp>
        <p:nvSpPr>
          <p:cNvPr id="13" name="Rectangle: Rounded Corners 12">
            <a:extLst>
              <a:ext uri="{FF2B5EF4-FFF2-40B4-BE49-F238E27FC236}">
                <a16:creationId xmlns:a16="http://schemas.microsoft.com/office/drawing/2014/main" id="{09433D50-8217-4A4A-B788-56003B4EE510}"/>
              </a:ext>
            </a:extLst>
          </p:cNvPr>
          <p:cNvSpPr>
            <a:spLocks noGrp="1"/>
          </p:cNvSpPr>
          <p:nvPr/>
        </p:nvSpPr>
        <p:spPr>
          <a:xfrm>
            <a:off x="400050" y="4095750"/>
            <a:ext cx="4762500" cy="495300"/>
          </a:xfrm>
          <a:prstGeom prst="roundRect">
            <a:avLst>
              <a:gd name="adj" fmla="val 23077"/>
            </a:avLst>
          </a:prstGeom>
          <a:solidFill>
            <a:srgbClr val="F2F3F5"/>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71A3705-BC9D-4EA3-9E80-65EA0E7D817B}"/>
              </a:ext>
            </a:extLst>
          </p:cNvPr>
          <p:cNvSpPr>
            <a:spLocks noGrp="1"/>
          </p:cNvSpPr>
          <p:nvPr/>
        </p:nvSpPr>
        <p:spPr>
          <a:xfrm>
            <a:off x="590550" y="4229100"/>
            <a:ext cx="4381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PHREEQC inverse modelling</a:t>
            </a:r>
          </a:p>
        </p:txBody>
      </p:sp>
      <p:sp>
        <p:nvSpPr>
          <p:cNvPr id="15" name="Rectangle: Rounded Corners 14">
            <a:extLst>
              <a:ext uri="{FF2B5EF4-FFF2-40B4-BE49-F238E27FC236}">
                <a16:creationId xmlns:a16="http://schemas.microsoft.com/office/drawing/2014/main" id="{86A3A69D-3A28-424A-8921-64F91BE7A70E}"/>
              </a:ext>
            </a:extLst>
          </p:cNvPr>
          <p:cNvSpPr>
            <a:spLocks noGrp="1"/>
          </p:cNvSpPr>
          <p:nvPr/>
        </p:nvSpPr>
        <p:spPr>
          <a:xfrm>
            <a:off x="400050" y="4762500"/>
            <a:ext cx="4762500" cy="495300"/>
          </a:xfrm>
          <a:prstGeom prst="roundRect">
            <a:avLst>
              <a:gd name="adj" fmla="val 23077"/>
            </a:avLst>
          </a:prstGeom>
          <a:solidFill>
            <a:srgbClr val="F2F3F5"/>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EEB1767B-5D8A-41AE-8514-08F20BF186AA}"/>
              </a:ext>
            </a:extLst>
          </p:cNvPr>
          <p:cNvSpPr>
            <a:spLocks noGrp="1"/>
          </p:cNvSpPr>
          <p:nvPr/>
        </p:nvSpPr>
        <p:spPr>
          <a:xfrm>
            <a:off x="590550" y="4895850"/>
            <a:ext cx="4381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MODFLOW / MODPATH reference transport</a:t>
            </a:r>
          </a:p>
        </p:txBody>
      </p:sp>
      <p:sp>
        <p:nvSpPr>
          <p:cNvPr id="17" name="Rectangle 16">
            <a:extLst>
              <a:ext uri="{FF2B5EF4-FFF2-40B4-BE49-F238E27FC236}">
                <a16:creationId xmlns:a16="http://schemas.microsoft.com/office/drawing/2014/main" id="{1FF10180-E5C7-42EB-8F37-4B7F232EDAFB}"/>
              </a:ext>
            </a:extLst>
          </p:cNvPr>
          <p:cNvSpPr>
            <a:spLocks noGrp="1"/>
          </p:cNvSpPr>
          <p:nvPr/>
        </p:nvSpPr>
        <p:spPr>
          <a:xfrm>
            <a:off x="6429375" y="1638300"/>
            <a:ext cx="4762500" cy="323850"/>
          </a:xfrm>
          <a:prstGeom prst="rect">
            <a:avLst/>
          </a:prstGeom>
          <a:noFill/>
          <a:ln w="0">
            <a:noFill/>
            <a:prstDash val="solid"/>
          </a:ln>
        </p:spPr>
        <p:txBody>
          <a:bodyPr lIns="0" tIns="0" rIns="0" bIns="0" anchor="t">
            <a:normAutofit/>
          </a:bodyPr>
          <a:lstStyle/>
          <a:p>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Thesis contributions</a:t>
            </a:r>
          </a:p>
        </p:txBody>
      </p:sp>
      <p:sp>
        <p:nvSpPr>
          <p:cNvPr id="18" name="Rectangle: Rounded Corners 17">
            <a:extLst>
              <a:ext uri="{FF2B5EF4-FFF2-40B4-BE49-F238E27FC236}">
                <a16:creationId xmlns:a16="http://schemas.microsoft.com/office/drawing/2014/main" id="{D8949445-A6DF-4780-92D8-08EB9F64EBCD}"/>
              </a:ext>
            </a:extLst>
          </p:cNvPr>
          <p:cNvSpPr>
            <a:spLocks noGrp="1"/>
          </p:cNvSpPr>
          <p:nvPr/>
        </p:nvSpPr>
        <p:spPr>
          <a:xfrm>
            <a:off x="6429375" y="2095500"/>
            <a:ext cx="4762500" cy="495300"/>
          </a:xfrm>
          <a:prstGeom prst="roundRect">
            <a:avLst>
              <a:gd name="adj" fmla="val 23077"/>
            </a:avLst>
          </a:prstGeom>
          <a:solidFill>
            <a:srgbClr val="E9F4F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1DD5799F-58E7-4459-8F14-13A940E0BE5D}"/>
              </a:ext>
            </a:extLst>
          </p:cNvPr>
          <p:cNvSpPr>
            <a:spLocks noGrp="1"/>
          </p:cNvSpPr>
          <p:nvPr/>
        </p:nvSpPr>
        <p:spPr>
          <a:xfrm>
            <a:off x="6619875" y="2228850"/>
            <a:ext cx="4381500" cy="247650"/>
          </a:xfrm>
          <a:prstGeom prst="rect">
            <a:avLst/>
          </a:prstGeom>
          <a:noFill/>
          <a:ln w="0">
            <a:noFill/>
            <a:prstDash val="solid"/>
          </a:ln>
        </p:spPr>
        <p:txBody>
          <a:bodyPr lIns="0" tIns="0" rIns="0" bIns="0" anchor="t">
            <a:normAutofit/>
          </a:bodyPr>
          <a:lstStyle/>
          <a:p>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Groundwater-specific executable coupling</a:t>
            </a:r>
          </a:p>
        </p:txBody>
      </p:sp>
      <p:sp>
        <p:nvSpPr>
          <p:cNvPr id="20" name="Rectangle: Rounded Corners 19">
            <a:extLst>
              <a:ext uri="{FF2B5EF4-FFF2-40B4-BE49-F238E27FC236}">
                <a16:creationId xmlns:a16="http://schemas.microsoft.com/office/drawing/2014/main" id="{49FA5179-45D3-4A86-A828-A697E14223DA}"/>
              </a:ext>
            </a:extLst>
          </p:cNvPr>
          <p:cNvSpPr>
            <a:spLocks noGrp="1"/>
          </p:cNvSpPr>
          <p:nvPr/>
        </p:nvSpPr>
        <p:spPr>
          <a:xfrm>
            <a:off x="6429375" y="2762250"/>
            <a:ext cx="4762500" cy="495300"/>
          </a:xfrm>
          <a:prstGeom prst="roundRect">
            <a:avLst>
              <a:gd name="adj" fmla="val 23077"/>
            </a:avLst>
          </a:prstGeom>
          <a:solidFill>
            <a:srgbClr val="E9F4FF"/>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2C501E1A-5DA0-455B-88B8-B2672EFDE11B}"/>
              </a:ext>
            </a:extLst>
          </p:cNvPr>
          <p:cNvSpPr>
            <a:spLocks noGrp="1"/>
          </p:cNvSpPr>
          <p:nvPr/>
        </p:nvSpPr>
        <p:spPr>
          <a:xfrm>
            <a:off x="6619875" y="2895600"/>
            <a:ext cx="4381500" cy="247650"/>
          </a:xfrm>
          <a:prstGeom prst="rect">
            <a:avLst/>
          </a:prstGeom>
          <a:noFill/>
          <a:ln w="0">
            <a:noFill/>
            <a:prstDash val="solid"/>
          </a:ln>
        </p:spPr>
        <p:txBody>
          <a:bodyPr lIns="0" tIns="0" rIns="0" bIns="0" anchor="t">
            <a:normAutofit/>
          </a:bodyPr>
          <a:lstStyle/>
          <a:p>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Uncertainty and identifiability as outputs</a:t>
            </a:r>
          </a:p>
        </p:txBody>
      </p:sp>
      <p:sp>
        <p:nvSpPr>
          <p:cNvPr id="22" name="Rectangle: Rounded Corners 21">
            <a:extLst>
              <a:ext uri="{FF2B5EF4-FFF2-40B4-BE49-F238E27FC236}">
                <a16:creationId xmlns:a16="http://schemas.microsoft.com/office/drawing/2014/main" id="{0D2FDEB6-8EB9-4470-97B7-157F2FAA4277}"/>
              </a:ext>
            </a:extLst>
          </p:cNvPr>
          <p:cNvSpPr>
            <a:spLocks noGrp="1"/>
          </p:cNvSpPr>
          <p:nvPr/>
        </p:nvSpPr>
        <p:spPr>
          <a:xfrm>
            <a:off x="6429375" y="3429000"/>
            <a:ext cx="4762500" cy="495300"/>
          </a:xfrm>
          <a:prstGeom prst="roundRect">
            <a:avLst>
              <a:gd name="adj" fmla="val 23077"/>
            </a:avLst>
          </a:prstGeom>
          <a:solidFill>
            <a:srgbClr val="E9F4FF"/>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98481EC0-FDD9-46F2-BB46-C718116DBCFA}"/>
              </a:ext>
            </a:extLst>
          </p:cNvPr>
          <p:cNvSpPr>
            <a:spLocks noGrp="1"/>
          </p:cNvSpPr>
          <p:nvPr/>
        </p:nvSpPr>
        <p:spPr>
          <a:xfrm>
            <a:off x="6619875" y="3562350"/>
            <a:ext cx="4381500" cy="247650"/>
          </a:xfrm>
          <a:prstGeom prst="rect">
            <a:avLst/>
          </a:prstGeom>
          <a:noFill/>
          <a:ln w="0">
            <a:noFill/>
            <a:prstDash val="solid"/>
          </a:ln>
        </p:spPr>
        <p:txBody>
          <a:bodyPr lIns="0" tIns="0" rIns="0" bIns="0" anchor="t">
            <a:normAutofit/>
          </a:bodyPr>
          <a:lstStyle/>
          <a:p>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Adverse controls for false confidence</a:t>
            </a:r>
          </a:p>
        </p:txBody>
      </p:sp>
      <p:sp>
        <p:nvSpPr>
          <p:cNvPr id="24" name="Rectangle: Rounded Corners 23">
            <a:extLst>
              <a:ext uri="{FF2B5EF4-FFF2-40B4-BE49-F238E27FC236}">
                <a16:creationId xmlns:a16="http://schemas.microsoft.com/office/drawing/2014/main" id="{2ED07E24-7076-48A0-86EC-34922A61B7B7}"/>
              </a:ext>
            </a:extLst>
          </p:cNvPr>
          <p:cNvSpPr>
            <a:spLocks noGrp="1"/>
          </p:cNvSpPr>
          <p:nvPr/>
        </p:nvSpPr>
        <p:spPr>
          <a:xfrm>
            <a:off x="6429375" y="4095750"/>
            <a:ext cx="4762500" cy="495300"/>
          </a:xfrm>
          <a:prstGeom prst="roundRect">
            <a:avLst>
              <a:gd name="adj" fmla="val 23077"/>
            </a:avLst>
          </a:prstGeom>
          <a:solidFill>
            <a:srgbClr val="E9F4FF"/>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3EB7928A-8D6E-4BFF-8771-9176DCF5E305}"/>
              </a:ext>
            </a:extLst>
          </p:cNvPr>
          <p:cNvSpPr>
            <a:spLocks noGrp="1"/>
          </p:cNvSpPr>
          <p:nvPr/>
        </p:nvSpPr>
        <p:spPr>
          <a:xfrm>
            <a:off x="6619875" y="4229100"/>
            <a:ext cx="4381500" cy="247650"/>
          </a:xfrm>
          <a:prstGeom prst="rect">
            <a:avLst/>
          </a:prstGeom>
          <a:noFill/>
          <a:ln w="0">
            <a:noFill/>
            <a:prstDash val="solid"/>
          </a:ln>
        </p:spPr>
        <p:txBody>
          <a:bodyPr lIns="0" tIns="0" rIns="0" bIns="0" anchor="t">
            <a:normAutofit/>
          </a:bodyPr>
          <a:lstStyle/>
          <a:p>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Locked claim-decision protocols</a:t>
            </a:r>
          </a:p>
        </p:txBody>
      </p:sp>
      <p:sp>
        <p:nvSpPr>
          <p:cNvPr id="26" name="Rectangle: Rounded Corners 25">
            <a:extLst>
              <a:ext uri="{FF2B5EF4-FFF2-40B4-BE49-F238E27FC236}">
                <a16:creationId xmlns:a16="http://schemas.microsoft.com/office/drawing/2014/main" id="{8EEF0C1C-A303-4106-9ED1-8FBAD2B34BEE}"/>
              </a:ext>
            </a:extLst>
          </p:cNvPr>
          <p:cNvSpPr>
            <a:spLocks noGrp="1"/>
          </p:cNvSpPr>
          <p:nvPr/>
        </p:nvSpPr>
        <p:spPr>
          <a:xfrm>
            <a:off x="6429375" y="4762500"/>
            <a:ext cx="4762500" cy="495300"/>
          </a:xfrm>
          <a:prstGeom prst="roundRect">
            <a:avLst>
              <a:gd name="adj" fmla="val 23077"/>
            </a:avLst>
          </a:prstGeom>
          <a:solidFill>
            <a:srgbClr val="E9F4FF"/>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B86B895D-9B54-48C2-A578-DC537F0385CB}"/>
              </a:ext>
            </a:extLst>
          </p:cNvPr>
          <p:cNvSpPr>
            <a:spLocks noGrp="1"/>
          </p:cNvSpPr>
          <p:nvPr/>
        </p:nvSpPr>
        <p:spPr>
          <a:xfrm>
            <a:off x="6619875" y="4895850"/>
            <a:ext cx="4381500" cy="247650"/>
          </a:xfrm>
          <a:prstGeom prst="rect">
            <a:avLst/>
          </a:prstGeom>
          <a:noFill/>
          <a:ln w="0">
            <a:noFill/>
            <a:prstDash val="solid"/>
          </a:ln>
        </p:spPr>
        <p:txBody>
          <a:bodyPr lIns="0" tIns="0" rIns="0" bIns="0" anchor="t">
            <a:normAutofit/>
          </a:bodyPr>
          <a:lstStyle/>
          <a:p>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Field evidence-ceiling diagnostics</a:t>
            </a:r>
          </a:p>
        </p:txBody>
      </p:sp>
    </p:spTree>
    <p:extLst>
      <p:ext uri="{BB962C8B-B14F-4D97-AF65-F5344CB8AC3E}">
        <p14:creationId xmlns:p14="http://schemas.microsoft.com/office/powerpoint/2010/main" val="550134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FF8D393-7C30-497B-B382-5F6B796E8550}"/>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RESEARCH DESIGN</a:t>
            </a:r>
          </a:p>
        </p:txBody>
      </p:sp>
      <p:sp>
        <p:nvSpPr>
          <p:cNvPr id="2" name="Rectangle 1">
            <a:extLst>
              <a:ext uri="{FF2B5EF4-FFF2-40B4-BE49-F238E27FC236}">
                <a16:creationId xmlns:a16="http://schemas.microsoft.com/office/drawing/2014/main" id="{1D8FF6AA-EEBC-4199-A157-62A508075E3D}"/>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Methodology: a staged, adversarial evaluation design</a:t>
            </a:r>
          </a:p>
        </p:txBody>
      </p:sp>
      <p:sp>
        <p:nvSpPr>
          <p:cNvPr id="3" name="Rectangle 2">
            <a:extLst>
              <a:ext uri="{FF2B5EF4-FFF2-40B4-BE49-F238E27FC236}">
                <a16:creationId xmlns:a16="http://schemas.microsoft.com/office/drawing/2014/main" id="{767B51A7-0D36-4755-8406-E9ABE6AB676E}"/>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D8ECD676-C7CA-4715-B72C-5CB64BD5FEDB}"/>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Methodology</a:t>
            </a:r>
          </a:p>
        </p:txBody>
      </p:sp>
      <p:sp>
        <p:nvSpPr>
          <p:cNvPr id="5" name="Rectangle 4">
            <a:extLst>
              <a:ext uri="{FF2B5EF4-FFF2-40B4-BE49-F238E27FC236}">
                <a16:creationId xmlns:a16="http://schemas.microsoft.com/office/drawing/2014/main" id="{70B750A9-C18B-4753-A341-A69A7BA8C3E5}"/>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09</a:t>
            </a:r>
          </a:p>
        </p:txBody>
      </p:sp>
      <p:sp>
        <p:nvSpPr>
          <p:cNvPr id="6" name="Rectangle: Rounded Corners 5">
            <a:extLst>
              <a:ext uri="{FF2B5EF4-FFF2-40B4-BE49-F238E27FC236}">
                <a16:creationId xmlns:a16="http://schemas.microsoft.com/office/drawing/2014/main" id="{EE51B5B0-E9DD-4BC9-B27F-D7C47A5CE2CD}"/>
              </a:ext>
            </a:extLst>
          </p:cNvPr>
          <p:cNvSpPr>
            <a:spLocks noGrp="1"/>
          </p:cNvSpPr>
          <p:nvPr/>
        </p:nvSpPr>
        <p:spPr>
          <a:xfrm>
            <a:off x="400050" y="1666875"/>
            <a:ext cx="3543300" cy="1571625"/>
          </a:xfrm>
          <a:prstGeom prst="roundRect">
            <a:avLst>
              <a:gd name="adj" fmla="val 7273"/>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92095A92-0692-4543-9724-CAD10FE35A1C}"/>
              </a:ext>
            </a:extLst>
          </p:cNvPr>
          <p:cNvSpPr>
            <a:spLocks noGrp="1"/>
          </p:cNvSpPr>
          <p:nvPr/>
        </p:nvSpPr>
        <p:spPr>
          <a:xfrm>
            <a:off x="590550" y="1838325"/>
            <a:ext cx="457200" cy="361950"/>
          </a:xfrm>
          <a:prstGeom prst="rect">
            <a:avLst/>
          </a:prstGeom>
          <a:noFill/>
          <a:ln w="0">
            <a:noFill/>
            <a:prstDash val="solid"/>
          </a:ln>
        </p:spPr>
        <p:txBody>
          <a:bodyPr lIns="0" tIns="0" rIns="0" bIns="0" anchor="t">
            <a:normAutofit/>
          </a:bodyPr>
          <a:lstStyle/>
          <a:p>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1</a:t>
            </a:r>
          </a:p>
        </p:txBody>
      </p:sp>
      <p:sp>
        <p:nvSpPr>
          <p:cNvPr id="8" name="Rectangle 7">
            <a:extLst>
              <a:ext uri="{FF2B5EF4-FFF2-40B4-BE49-F238E27FC236}">
                <a16:creationId xmlns:a16="http://schemas.microsoft.com/office/drawing/2014/main" id="{C9246E03-1653-44A7-9186-1769306708CF}"/>
              </a:ext>
            </a:extLst>
          </p:cNvPr>
          <p:cNvSpPr>
            <a:spLocks noGrp="1"/>
          </p:cNvSpPr>
          <p:nvPr/>
        </p:nvSpPr>
        <p:spPr>
          <a:xfrm>
            <a:off x="1181100" y="1876425"/>
            <a:ext cx="2381250" cy="238125"/>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REVIEW</a:t>
            </a:r>
          </a:p>
        </p:txBody>
      </p:sp>
      <p:sp>
        <p:nvSpPr>
          <p:cNvPr id="9" name="Rectangle 8">
            <a:extLst>
              <a:ext uri="{FF2B5EF4-FFF2-40B4-BE49-F238E27FC236}">
                <a16:creationId xmlns:a16="http://schemas.microsoft.com/office/drawing/2014/main" id="{946EB94A-FB82-4051-9322-159F3361C868}"/>
              </a:ext>
            </a:extLst>
          </p:cNvPr>
          <p:cNvSpPr>
            <a:spLocks noGrp="1"/>
          </p:cNvSpPr>
          <p:nvPr/>
        </p:nvSpPr>
        <p:spPr>
          <a:xfrm>
            <a:off x="666750" y="2409825"/>
            <a:ext cx="3009900" cy="590550"/>
          </a:xfrm>
          <a:prstGeom prst="rect">
            <a:avLst/>
          </a:prstGeom>
          <a:noFill/>
          <a:ln w="0">
            <a:noFill/>
            <a:prstDash val="solid"/>
          </a:ln>
        </p:spPr>
        <p:txBody>
          <a:bodyPr lIns="0" tIns="0" rIns="0" bIns="0" anchor="t">
            <a:normAutofit/>
          </a:bodyPr>
          <a:lstStyle/>
          <a:p>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Define the scientific gap and claim boundaries</a:t>
            </a:r>
          </a:p>
        </p:txBody>
      </p:sp>
      <p:sp>
        <p:nvSpPr>
          <p:cNvPr id="10" name="Rectangle: Rounded Corners 9">
            <a:extLst>
              <a:ext uri="{FF2B5EF4-FFF2-40B4-BE49-F238E27FC236}">
                <a16:creationId xmlns:a16="http://schemas.microsoft.com/office/drawing/2014/main" id="{1D049461-123F-437E-860C-4323FBE58D3F}"/>
              </a:ext>
            </a:extLst>
          </p:cNvPr>
          <p:cNvSpPr>
            <a:spLocks noGrp="1"/>
          </p:cNvSpPr>
          <p:nvPr/>
        </p:nvSpPr>
        <p:spPr>
          <a:xfrm>
            <a:off x="4257675" y="1666875"/>
            <a:ext cx="3543300" cy="1571625"/>
          </a:xfrm>
          <a:prstGeom prst="roundRect">
            <a:avLst>
              <a:gd name="adj" fmla="val 7273"/>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CE3DFB03-5664-45F6-910E-EE3B6DF47786}"/>
              </a:ext>
            </a:extLst>
          </p:cNvPr>
          <p:cNvSpPr>
            <a:spLocks noGrp="1"/>
          </p:cNvSpPr>
          <p:nvPr/>
        </p:nvSpPr>
        <p:spPr>
          <a:xfrm>
            <a:off x="4448175" y="1838325"/>
            <a:ext cx="457200" cy="361950"/>
          </a:xfrm>
          <a:prstGeom prst="rect">
            <a:avLst/>
          </a:prstGeom>
          <a:noFill/>
          <a:ln w="0">
            <a:noFill/>
            <a:prstDash val="solid"/>
          </a:ln>
        </p:spPr>
        <p:txBody>
          <a:bodyPr lIns="0" tIns="0" rIns="0" bIns="0" anchor="t">
            <a:normAutofit/>
          </a:bodyPr>
          <a:lstStyle/>
          <a:p>
            <a:pPr algn="l">
              <a:defRPr sz="2250" b="1">
                <a:solidFill>
                  <a:srgbClr val="149A84"/>
                </a:solidFill>
                <a:latin typeface="Helvetica Neue"/>
                <a:ea typeface="Helvetica Neue"/>
                <a:cs typeface="Helvetica Neue"/>
              </a:defRPr>
            </a:pPr>
            <a:r>
              <a:rPr sz="2250" b="1">
                <a:solidFill>
                  <a:srgbClr val="149A84"/>
                </a:solidFill>
                <a:latin typeface="Helvetica Neue"/>
                <a:ea typeface="Helvetica Neue"/>
                <a:cs typeface="Helvetica Neue"/>
              </a:rPr>
              <a:t>2</a:t>
            </a:r>
          </a:p>
        </p:txBody>
      </p:sp>
      <p:sp>
        <p:nvSpPr>
          <p:cNvPr id="12" name="Rectangle 11">
            <a:extLst>
              <a:ext uri="{FF2B5EF4-FFF2-40B4-BE49-F238E27FC236}">
                <a16:creationId xmlns:a16="http://schemas.microsoft.com/office/drawing/2014/main" id="{74F70BD9-366F-40BD-BEED-BDA6A01BF267}"/>
              </a:ext>
            </a:extLst>
          </p:cNvPr>
          <p:cNvSpPr>
            <a:spLocks noGrp="1"/>
          </p:cNvSpPr>
          <p:nvPr/>
        </p:nvSpPr>
        <p:spPr>
          <a:xfrm>
            <a:off x="5038725" y="1876425"/>
            <a:ext cx="2381250" cy="238125"/>
          </a:xfrm>
          <a:prstGeom prst="rect">
            <a:avLst/>
          </a:prstGeom>
          <a:noFill/>
          <a:ln w="0">
            <a:noFill/>
            <a:prstDash val="solid"/>
          </a:ln>
        </p:spPr>
        <p:txBody>
          <a:bodyPr lIns="0" tIns="0" rIns="0" bIns="0" anchor="t">
            <a:normAutofit/>
          </a:bodyPr>
          <a:lstStyle/>
          <a:p>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FORMALISE</a:t>
            </a:r>
          </a:p>
        </p:txBody>
      </p:sp>
      <p:sp>
        <p:nvSpPr>
          <p:cNvPr id="13" name="Rectangle 12">
            <a:extLst>
              <a:ext uri="{FF2B5EF4-FFF2-40B4-BE49-F238E27FC236}">
                <a16:creationId xmlns:a16="http://schemas.microsoft.com/office/drawing/2014/main" id="{D71B5FDC-873B-4D48-97CB-4FD948007DA4}"/>
              </a:ext>
            </a:extLst>
          </p:cNvPr>
          <p:cNvSpPr>
            <a:spLocks noGrp="1"/>
          </p:cNvSpPr>
          <p:nvPr/>
        </p:nvSpPr>
        <p:spPr>
          <a:xfrm>
            <a:off x="4524375" y="2409825"/>
            <a:ext cx="3009900" cy="590550"/>
          </a:xfrm>
          <a:prstGeom prst="rect">
            <a:avLst/>
          </a:prstGeom>
          <a:noFill/>
          <a:ln w="0">
            <a:noFill/>
            <a:prstDash val="solid"/>
          </a:ln>
        </p:spPr>
        <p:txBody>
          <a:bodyPr lIns="0" tIns="0" rIns="0" bIns="0" anchor="t">
            <a:normAutofit/>
          </a:bodyPr>
          <a:lstStyle/>
          <a:p>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Represent age, topology and chemistry as uncertain relations</a:t>
            </a:r>
          </a:p>
        </p:txBody>
      </p:sp>
      <p:sp>
        <p:nvSpPr>
          <p:cNvPr id="14" name="Rectangle: Rounded Corners 13">
            <a:extLst>
              <a:ext uri="{FF2B5EF4-FFF2-40B4-BE49-F238E27FC236}">
                <a16:creationId xmlns:a16="http://schemas.microsoft.com/office/drawing/2014/main" id="{56F79922-EF86-498F-8041-4AB830778424}"/>
              </a:ext>
            </a:extLst>
          </p:cNvPr>
          <p:cNvSpPr>
            <a:spLocks noGrp="1"/>
          </p:cNvSpPr>
          <p:nvPr/>
        </p:nvSpPr>
        <p:spPr>
          <a:xfrm>
            <a:off x="8115300" y="1666875"/>
            <a:ext cx="3543300" cy="1571625"/>
          </a:xfrm>
          <a:prstGeom prst="roundRect">
            <a:avLst>
              <a:gd name="adj" fmla="val 7273"/>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9391DE20-CDEF-42F1-A8FE-30FA9205A59C}"/>
              </a:ext>
            </a:extLst>
          </p:cNvPr>
          <p:cNvSpPr>
            <a:spLocks noGrp="1"/>
          </p:cNvSpPr>
          <p:nvPr/>
        </p:nvSpPr>
        <p:spPr>
          <a:xfrm>
            <a:off x="8305800" y="1838325"/>
            <a:ext cx="457200" cy="361950"/>
          </a:xfrm>
          <a:prstGeom prst="rect">
            <a:avLst/>
          </a:prstGeom>
          <a:noFill/>
          <a:ln w="0">
            <a:noFill/>
            <a:prstDash val="solid"/>
          </a:ln>
        </p:spPr>
        <p:txBody>
          <a:bodyPr lIns="0" tIns="0" rIns="0" bIns="0" anchor="t">
            <a:normAutofit/>
          </a:bodyPr>
          <a:lstStyle/>
          <a:p>
            <a:pPr algn="l">
              <a:defRPr sz="2250" b="1">
                <a:solidFill>
                  <a:srgbClr val="D97706"/>
                </a:solidFill>
                <a:latin typeface="Helvetica Neue"/>
                <a:ea typeface="Helvetica Neue"/>
                <a:cs typeface="Helvetica Neue"/>
              </a:defRPr>
            </a:pPr>
            <a:r>
              <a:rPr sz="2250" b="1">
                <a:solidFill>
                  <a:srgbClr val="D97706"/>
                </a:solidFill>
                <a:latin typeface="Helvetica Neue"/>
                <a:ea typeface="Helvetica Neue"/>
                <a:cs typeface="Helvetica Neue"/>
              </a:rPr>
              <a:t>3</a:t>
            </a:r>
          </a:p>
        </p:txBody>
      </p:sp>
      <p:sp>
        <p:nvSpPr>
          <p:cNvPr id="16" name="Rectangle 15">
            <a:extLst>
              <a:ext uri="{FF2B5EF4-FFF2-40B4-BE49-F238E27FC236}">
                <a16:creationId xmlns:a16="http://schemas.microsoft.com/office/drawing/2014/main" id="{60B4019F-4AC8-4DBF-9048-30D4A2BF5468}"/>
              </a:ext>
            </a:extLst>
          </p:cNvPr>
          <p:cNvSpPr>
            <a:spLocks noGrp="1"/>
          </p:cNvSpPr>
          <p:nvPr/>
        </p:nvSpPr>
        <p:spPr>
          <a:xfrm>
            <a:off x="8896350" y="1876425"/>
            <a:ext cx="2381250" cy="238125"/>
          </a:xfrm>
          <a:prstGeom prst="rect">
            <a:avLst/>
          </a:prstGeom>
          <a:noFill/>
          <a:ln w="0">
            <a:noFill/>
            <a:prstDash val="solid"/>
          </a:ln>
        </p:spPr>
        <p:txBody>
          <a:bodyPr lIns="0" tIns="0" rIns="0" bIns="0" anchor="t">
            <a:normAutofit/>
          </a:bodyPr>
          <a:lstStyle/>
          <a:p>
            <a:pPr algn="l">
              <a:defRPr sz="1200" b="1">
                <a:solidFill>
                  <a:srgbClr val="D97706"/>
                </a:solidFill>
                <a:latin typeface="Helvetica Neue"/>
                <a:ea typeface="Helvetica Neue"/>
                <a:cs typeface="Helvetica Neue"/>
              </a:defRPr>
            </a:pPr>
            <a:r>
              <a:rPr sz="1200" b="1">
                <a:solidFill>
                  <a:srgbClr val="D97706"/>
                </a:solidFill>
                <a:latin typeface="Helvetica Neue"/>
                <a:ea typeface="Helvetica Neue"/>
                <a:cs typeface="Helvetica Neue"/>
              </a:rPr>
              <a:t>BENCHMARK</a:t>
            </a:r>
          </a:p>
        </p:txBody>
      </p:sp>
      <p:sp>
        <p:nvSpPr>
          <p:cNvPr id="17" name="Rectangle 16">
            <a:extLst>
              <a:ext uri="{FF2B5EF4-FFF2-40B4-BE49-F238E27FC236}">
                <a16:creationId xmlns:a16="http://schemas.microsoft.com/office/drawing/2014/main" id="{A4AFA2D0-AD87-4C85-B16B-0241E3062275}"/>
              </a:ext>
            </a:extLst>
          </p:cNvPr>
          <p:cNvSpPr>
            <a:spLocks noGrp="1"/>
          </p:cNvSpPr>
          <p:nvPr/>
        </p:nvSpPr>
        <p:spPr>
          <a:xfrm>
            <a:off x="8382000" y="2409825"/>
            <a:ext cx="3009900" cy="590550"/>
          </a:xfrm>
          <a:prstGeom prst="rect">
            <a:avLst/>
          </a:prstGeom>
          <a:noFill/>
          <a:ln w="0">
            <a:noFill/>
            <a:prstDash val="solid"/>
          </a:ln>
        </p:spPr>
        <p:txBody>
          <a:bodyPr lIns="0" tIns="0" rIns="0" bIns="0" anchor="t">
            <a:normAutofit/>
          </a:bodyPr>
          <a:lstStyle/>
          <a:p>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Test each component against public or controlled references</a:t>
            </a:r>
          </a:p>
        </p:txBody>
      </p:sp>
      <p:sp>
        <p:nvSpPr>
          <p:cNvPr id="18" name="Rectangle: Rounded Corners 17">
            <a:extLst>
              <a:ext uri="{FF2B5EF4-FFF2-40B4-BE49-F238E27FC236}">
                <a16:creationId xmlns:a16="http://schemas.microsoft.com/office/drawing/2014/main" id="{D22697A8-9F4D-418D-A6F8-7570D0D74009}"/>
              </a:ext>
            </a:extLst>
          </p:cNvPr>
          <p:cNvSpPr>
            <a:spLocks noGrp="1"/>
          </p:cNvSpPr>
          <p:nvPr/>
        </p:nvSpPr>
        <p:spPr>
          <a:xfrm>
            <a:off x="400050" y="3619500"/>
            <a:ext cx="3543300" cy="1571625"/>
          </a:xfrm>
          <a:prstGeom prst="roundRect">
            <a:avLst>
              <a:gd name="adj" fmla="val 7273"/>
            </a:avLst>
          </a:prstGeom>
          <a:solidFill>
            <a:srgbClr val="FDE8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EE420432-2CC1-4369-B0D2-9BAB62FFCF48}"/>
              </a:ext>
            </a:extLst>
          </p:cNvPr>
          <p:cNvSpPr>
            <a:spLocks noGrp="1"/>
          </p:cNvSpPr>
          <p:nvPr/>
        </p:nvSpPr>
        <p:spPr>
          <a:xfrm>
            <a:off x="590550" y="3790950"/>
            <a:ext cx="457200" cy="361950"/>
          </a:xfrm>
          <a:prstGeom prst="rect">
            <a:avLst/>
          </a:prstGeom>
          <a:noFill/>
          <a:ln w="0">
            <a:noFill/>
            <a:prstDash val="solid"/>
          </a:ln>
        </p:spPr>
        <p:txBody>
          <a:bodyPr lIns="0" tIns="0" rIns="0" bIns="0" anchor="t">
            <a:normAutofit/>
          </a:bodyPr>
          <a:lstStyle/>
          <a:p>
            <a:pPr algn="l">
              <a:defRPr sz="2250" b="1">
                <a:solidFill>
                  <a:srgbClr val="C53030"/>
                </a:solidFill>
                <a:latin typeface="Helvetica Neue"/>
                <a:ea typeface="Helvetica Neue"/>
                <a:cs typeface="Helvetica Neue"/>
              </a:defRPr>
            </a:pPr>
            <a:r>
              <a:rPr sz="2250" b="1">
                <a:solidFill>
                  <a:srgbClr val="C53030"/>
                </a:solidFill>
                <a:latin typeface="Helvetica Neue"/>
                <a:ea typeface="Helvetica Neue"/>
                <a:cs typeface="Helvetica Neue"/>
              </a:rPr>
              <a:t>4</a:t>
            </a:r>
          </a:p>
        </p:txBody>
      </p:sp>
      <p:sp>
        <p:nvSpPr>
          <p:cNvPr id="20" name="Rectangle 19">
            <a:extLst>
              <a:ext uri="{FF2B5EF4-FFF2-40B4-BE49-F238E27FC236}">
                <a16:creationId xmlns:a16="http://schemas.microsoft.com/office/drawing/2014/main" id="{9C571385-2C05-4F5E-B57B-953A158E6A16}"/>
              </a:ext>
            </a:extLst>
          </p:cNvPr>
          <p:cNvSpPr>
            <a:spLocks noGrp="1"/>
          </p:cNvSpPr>
          <p:nvPr/>
        </p:nvSpPr>
        <p:spPr>
          <a:xfrm>
            <a:off x="1181100" y="3829050"/>
            <a:ext cx="2381250" cy="238125"/>
          </a:xfrm>
          <a:prstGeom prst="rect">
            <a:avLst/>
          </a:prstGeom>
          <a:noFill/>
          <a:ln w="0">
            <a:noFill/>
            <a:prstDash val="solid"/>
          </a:ln>
        </p:spPr>
        <p:txBody>
          <a:bodyPr lIns="0" tIns="0" rIns="0" bIns="0" anchor="t">
            <a:normAutofit/>
          </a:bodyPr>
          <a:lstStyle/>
          <a:p>
            <a:pPr algn="l">
              <a:defRPr sz="1200" b="1">
                <a:solidFill>
                  <a:srgbClr val="C53030"/>
                </a:solidFill>
                <a:latin typeface="Helvetica Neue"/>
                <a:ea typeface="Helvetica Neue"/>
                <a:cs typeface="Helvetica Neue"/>
              </a:defRPr>
            </a:pPr>
            <a:r>
              <a:rPr sz="1200" b="1">
                <a:solidFill>
                  <a:srgbClr val="C53030"/>
                </a:solidFill>
                <a:latin typeface="Helvetica Neue"/>
                <a:ea typeface="Helvetica Neue"/>
                <a:cs typeface="Helvetica Neue"/>
              </a:rPr>
              <a:t>STRESS TEST</a:t>
            </a:r>
          </a:p>
        </p:txBody>
      </p:sp>
      <p:sp>
        <p:nvSpPr>
          <p:cNvPr id="21" name="Rectangle 20">
            <a:extLst>
              <a:ext uri="{FF2B5EF4-FFF2-40B4-BE49-F238E27FC236}">
                <a16:creationId xmlns:a16="http://schemas.microsoft.com/office/drawing/2014/main" id="{6F23ABCF-66BE-4C21-A755-5BEFF2D4E489}"/>
              </a:ext>
            </a:extLst>
          </p:cNvPr>
          <p:cNvSpPr>
            <a:spLocks noGrp="1"/>
          </p:cNvSpPr>
          <p:nvPr/>
        </p:nvSpPr>
        <p:spPr>
          <a:xfrm>
            <a:off x="666750" y="4362450"/>
            <a:ext cx="3009900" cy="590550"/>
          </a:xfrm>
          <a:prstGeom prst="rect">
            <a:avLst/>
          </a:prstGeom>
          <a:noFill/>
          <a:ln w="0">
            <a:noFill/>
            <a:prstDash val="solid"/>
          </a:ln>
        </p:spPr>
        <p:txBody>
          <a:bodyPr lIns="0" tIns="0" rIns="0" bIns="0" anchor="t">
            <a:normAutofit/>
          </a:bodyPr>
          <a:lstStyle/>
          <a:p>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Perturb assumptions, remove evidence and introduce conflicts</a:t>
            </a:r>
          </a:p>
        </p:txBody>
      </p:sp>
      <p:sp>
        <p:nvSpPr>
          <p:cNvPr id="22" name="Rectangle: Rounded Corners 21">
            <a:extLst>
              <a:ext uri="{FF2B5EF4-FFF2-40B4-BE49-F238E27FC236}">
                <a16:creationId xmlns:a16="http://schemas.microsoft.com/office/drawing/2014/main" id="{094D43D7-D558-4DE6-92F9-16580A0CFB54}"/>
              </a:ext>
            </a:extLst>
          </p:cNvPr>
          <p:cNvSpPr>
            <a:spLocks noGrp="1"/>
          </p:cNvSpPr>
          <p:nvPr/>
        </p:nvSpPr>
        <p:spPr>
          <a:xfrm>
            <a:off x="4257675" y="3619500"/>
            <a:ext cx="3543300" cy="1571625"/>
          </a:xfrm>
          <a:prstGeom prst="roundRect">
            <a:avLst>
              <a:gd name="adj" fmla="val 7273"/>
            </a:avLst>
          </a:prstGeom>
          <a:solidFill>
            <a:srgbClr val="F2F3F5"/>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42130D1C-FA06-4BE0-95E4-6B0B06D5FDDC}"/>
              </a:ext>
            </a:extLst>
          </p:cNvPr>
          <p:cNvSpPr>
            <a:spLocks noGrp="1"/>
          </p:cNvSpPr>
          <p:nvPr/>
        </p:nvSpPr>
        <p:spPr>
          <a:xfrm>
            <a:off x="4448175" y="3790950"/>
            <a:ext cx="457200" cy="361950"/>
          </a:xfrm>
          <a:prstGeom prst="rect">
            <a:avLst/>
          </a:prstGeom>
          <a:noFill/>
          <a:ln w="0">
            <a:noFill/>
            <a:prstDash val="solid"/>
          </a:ln>
        </p:spPr>
        <p:txBody>
          <a:bodyPr lIns="0" tIns="0" rIns="0" bIns="0" anchor="t">
            <a:normAutofit/>
          </a:bodyPr>
          <a:lstStyle/>
          <a:p>
            <a:pPr algn="l">
              <a:defRPr sz="2250" b="1">
                <a:solidFill>
                  <a:srgbClr val="149A84"/>
                </a:solidFill>
                <a:latin typeface="Helvetica Neue"/>
                <a:ea typeface="Helvetica Neue"/>
                <a:cs typeface="Helvetica Neue"/>
              </a:defRPr>
            </a:pPr>
            <a:r>
              <a:rPr sz="2250" b="1">
                <a:solidFill>
                  <a:srgbClr val="149A84"/>
                </a:solidFill>
                <a:latin typeface="Helvetica Neue"/>
                <a:ea typeface="Helvetica Neue"/>
                <a:cs typeface="Helvetica Neue"/>
              </a:rPr>
              <a:t>5</a:t>
            </a:r>
          </a:p>
        </p:txBody>
      </p:sp>
      <p:sp>
        <p:nvSpPr>
          <p:cNvPr id="24" name="Rectangle 23">
            <a:extLst>
              <a:ext uri="{FF2B5EF4-FFF2-40B4-BE49-F238E27FC236}">
                <a16:creationId xmlns:a16="http://schemas.microsoft.com/office/drawing/2014/main" id="{FD64125C-AB6A-44A7-B967-A8D2F89ADB2D}"/>
              </a:ext>
            </a:extLst>
          </p:cNvPr>
          <p:cNvSpPr>
            <a:spLocks noGrp="1"/>
          </p:cNvSpPr>
          <p:nvPr/>
        </p:nvSpPr>
        <p:spPr>
          <a:xfrm>
            <a:off x="5038725" y="3829050"/>
            <a:ext cx="2381250" cy="238125"/>
          </a:xfrm>
          <a:prstGeom prst="rect">
            <a:avLst/>
          </a:prstGeom>
          <a:noFill/>
          <a:ln w="0">
            <a:noFill/>
            <a:prstDash val="solid"/>
          </a:ln>
        </p:spPr>
        <p:txBody>
          <a:bodyPr lIns="0" tIns="0" rIns="0" bIns="0" anchor="t">
            <a:normAutofit/>
          </a:bodyPr>
          <a:lstStyle/>
          <a:p>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INTEGRATE</a:t>
            </a:r>
          </a:p>
        </p:txBody>
      </p:sp>
      <p:sp>
        <p:nvSpPr>
          <p:cNvPr id="25" name="Rectangle 24">
            <a:extLst>
              <a:ext uri="{FF2B5EF4-FFF2-40B4-BE49-F238E27FC236}">
                <a16:creationId xmlns:a16="http://schemas.microsoft.com/office/drawing/2014/main" id="{8030CF7E-448A-4AB9-BDBD-BA6BDEE76524}"/>
              </a:ext>
            </a:extLst>
          </p:cNvPr>
          <p:cNvSpPr>
            <a:spLocks noGrp="1"/>
          </p:cNvSpPr>
          <p:nvPr/>
        </p:nvSpPr>
        <p:spPr>
          <a:xfrm>
            <a:off x="4524375" y="4362450"/>
            <a:ext cx="3009900" cy="590550"/>
          </a:xfrm>
          <a:prstGeom prst="rect">
            <a:avLst/>
          </a:prstGeom>
          <a:noFill/>
          <a:ln w="0">
            <a:noFill/>
            <a:prstDash val="solid"/>
          </a:ln>
        </p:spPr>
        <p:txBody>
          <a:bodyPr lIns="0" tIns="0" rIns="0" bIns="0" anchor="t">
            <a:normAutofit fontScale="92500"/>
          </a:bodyPr>
          <a:lstStyle/>
          <a:p>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Measure incremental value, redundancy and negative transfer</a:t>
            </a:r>
          </a:p>
        </p:txBody>
      </p:sp>
      <p:sp>
        <p:nvSpPr>
          <p:cNvPr id="26" name="Rectangle: Rounded Corners 25">
            <a:extLst>
              <a:ext uri="{FF2B5EF4-FFF2-40B4-BE49-F238E27FC236}">
                <a16:creationId xmlns:a16="http://schemas.microsoft.com/office/drawing/2014/main" id="{BC754812-85A9-467B-BE66-17F26F32EE6E}"/>
              </a:ext>
            </a:extLst>
          </p:cNvPr>
          <p:cNvSpPr>
            <a:spLocks noGrp="1"/>
          </p:cNvSpPr>
          <p:nvPr/>
        </p:nvSpPr>
        <p:spPr>
          <a:xfrm>
            <a:off x="8115300" y="3619500"/>
            <a:ext cx="3543300" cy="1571625"/>
          </a:xfrm>
          <a:prstGeom prst="roundRect">
            <a:avLst>
              <a:gd name="adj" fmla="val 7273"/>
            </a:avLst>
          </a:prstGeom>
          <a:solidFill>
            <a:srgbClr val="F2F3F5"/>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39772C76-6656-4CB1-A44A-7A7AE815E561}"/>
              </a:ext>
            </a:extLst>
          </p:cNvPr>
          <p:cNvSpPr>
            <a:spLocks noGrp="1"/>
          </p:cNvSpPr>
          <p:nvPr/>
        </p:nvSpPr>
        <p:spPr>
          <a:xfrm>
            <a:off x="8305800" y="3790950"/>
            <a:ext cx="457200" cy="361950"/>
          </a:xfrm>
          <a:prstGeom prst="rect">
            <a:avLst/>
          </a:prstGeom>
          <a:noFill/>
          <a:ln w="0">
            <a:noFill/>
            <a:prstDash val="solid"/>
          </a:ln>
        </p:spPr>
        <p:txBody>
          <a:bodyPr lIns="0" tIns="0" rIns="0" bIns="0" anchor="t">
            <a:normAutofit/>
          </a:bodyPr>
          <a:lstStyle/>
          <a:p>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6</a:t>
            </a:r>
          </a:p>
        </p:txBody>
      </p:sp>
      <p:sp>
        <p:nvSpPr>
          <p:cNvPr id="28" name="Rectangle 27">
            <a:extLst>
              <a:ext uri="{FF2B5EF4-FFF2-40B4-BE49-F238E27FC236}">
                <a16:creationId xmlns:a16="http://schemas.microsoft.com/office/drawing/2014/main" id="{99DADDB8-A50B-419F-9A2A-9A99C84A5B74}"/>
              </a:ext>
            </a:extLst>
          </p:cNvPr>
          <p:cNvSpPr>
            <a:spLocks noGrp="1"/>
          </p:cNvSpPr>
          <p:nvPr/>
        </p:nvSpPr>
        <p:spPr>
          <a:xfrm>
            <a:off x="8896350" y="3829050"/>
            <a:ext cx="2381250" cy="238125"/>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TRANSFER</a:t>
            </a:r>
          </a:p>
        </p:txBody>
      </p:sp>
      <p:sp>
        <p:nvSpPr>
          <p:cNvPr id="29" name="Rectangle 28">
            <a:extLst>
              <a:ext uri="{FF2B5EF4-FFF2-40B4-BE49-F238E27FC236}">
                <a16:creationId xmlns:a16="http://schemas.microsoft.com/office/drawing/2014/main" id="{F1C71BCC-00DD-4AD0-9CE2-1746275C881E}"/>
              </a:ext>
            </a:extLst>
          </p:cNvPr>
          <p:cNvSpPr>
            <a:spLocks noGrp="1"/>
          </p:cNvSpPr>
          <p:nvPr/>
        </p:nvSpPr>
        <p:spPr>
          <a:xfrm>
            <a:off x="8382000" y="4362450"/>
            <a:ext cx="3009900" cy="590550"/>
          </a:xfrm>
          <a:prstGeom prst="rect">
            <a:avLst/>
          </a:prstGeom>
          <a:noFill/>
          <a:ln w="0">
            <a:noFill/>
            <a:prstDash val="solid"/>
          </a:ln>
        </p:spPr>
        <p:txBody>
          <a:bodyPr lIns="0" tIns="0" rIns="0" bIns="0" anchor="t">
            <a:normAutofit/>
          </a:bodyPr>
          <a:lstStyle/>
          <a:p>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Apply evidence-ceiling diagnostics to Ghana datasets</a:t>
            </a:r>
          </a:p>
        </p:txBody>
      </p:sp>
      <p:sp>
        <p:nvSpPr>
          <p:cNvPr id="30" name="Rectangle 29">
            <a:extLst>
              <a:ext uri="{FF2B5EF4-FFF2-40B4-BE49-F238E27FC236}">
                <a16:creationId xmlns:a16="http://schemas.microsoft.com/office/drawing/2014/main" id="{5ACA0140-618E-4565-A758-B76688DB8D61}"/>
              </a:ext>
            </a:extLst>
          </p:cNvPr>
          <p:cNvSpPr>
            <a:spLocks noGrp="1"/>
          </p:cNvSpPr>
          <p:nvPr/>
        </p:nvSpPr>
        <p:spPr>
          <a:xfrm>
            <a:off x="1428750" y="5772150"/>
            <a:ext cx="9334500" cy="323850"/>
          </a:xfrm>
          <a:prstGeom prst="rect">
            <a:avLst/>
          </a:prstGeom>
          <a:noFill/>
          <a:ln w="0">
            <a:noFill/>
            <a:prstDash val="solid"/>
          </a:ln>
        </p:spPr>
        <p:txBody>
          <a:bodyPr lIns="0" tIns="0" rIns="0" bIns="0" anchor="t">
            <a:normAutofit fontScale="92500"/>
          </a:bodyPr>
          <a:lstStyle/>
          <a:p>
            <a:pPr algn="ctr">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Primary principle: every claim is matched to the strongest evidence that can actually test it.</a:t>
            </a:r>
          </a:p>
        </p:txBody>
      </p:sp>
    </p:spTree>
    <p:extLst>
      <p:ext uri="{BB962C8B-B14F-4D97-AF65-F5344CB8AC3E}">
        <p14:creationId xmlns:p14="http://schemas.microsoft.com/office/powerpoint/2010/main" val="1311344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870990B-388F-4362-AC86-9B67B37021C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MECHANISM</a:t>
            </a:r>
          </a:p>
        </p:txBody>
      </p:sp>
      <p:sp>
        <p:nvSpPr>
          <p:cNvPr id="2" name="Rectangle 1">
            <a:extLst>
              <a:ext uri="{FF2B5EF4-FFF2-40B4-BE49-F238E27FC236}">
                <a16:creationId xmlns:a16="http://schemas.microsoft.com/office/drawing/2014/main" id="{3D54C6A6-3989-466F-A822-2C3CEE82CAAC}"/>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 sheaf represents how evidence changes across an edge</a:t>
            </a:r>
          </a:p>
        </p:txBody>
      </p:sp>
      <p:sp>
        <p:nvSpPr>
          <p:cNvPr id="3" name="Rectangle 2">
            <a:extLst>
              <a:ext uri="{FF2B5EF4-FFF2-40B4-BE49-F238E27FC236}">
                <a16:creationId xmlns:a16="http://schemas.microsoft.com/office/drawing/2014/main" id="{0F580BF9-231A-4A38-B065-746FE8EA5878}"/>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1BEFB18D-1F93-4CFD-964F-CEA8C8E26DF0}"/>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Method</a:t>
            </a:r>
          </a:p>
        </p:txBody>
      </p:sp>
      <p:sp>
        <p:nvSpPr>
          <p:cNvPr id="5" name="Rectangle 4">
            <a:extLst>
              <a:ext uri="{FF2B5EF4-FFF2-40B4-BE49-F238E27FC236}">
                <a16:creationId xmlns:a16="http://schemas.microsoft.com/office/drawing/2014/main" id="{257A500D-C367-4081-BE9D-5F9EB6574C5E}"/>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10</a:t>
            </a:r>
          </a:p>
        </p:txBody>
      </p:sp>
      <p:sp>
        <p:nvSpPr>
          <p:cNvPr id="6" name="Rectangle: Rounded Corners 5">
            <a:extLst>
              <a:ext uri="{FF2B5EF4-FFF2-40B4-BE49-F238E27FC236}">
                <a16:creationId xmlns:a16="http://schemas.microsoft.com/office/drawing/2014/main" id="{4889F5B4-4402-4B13-87EA-554F5DE732EA}"/>
              </a:ext>
            </a:extLst>
          </p:cNvPr>
          <p:cNvSpPr>
            <a:spLocks noGrp="1"/>
          </p:cNvSpPr>
          <p:nvPr/>
        </p:nvSpPr>
        <p:spPr>
          <a:xfrm>
            <a:off x="400050" y="1581150"/>
            <a:ext cx="5048250" cy="4095750"/>
          </a:xfrm>
          <a:prstGeom prst="roundRect">
            <a:avLst>
              <a:gd name="adj" fmla="val 2791"/>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9EF76E93-1510-4BE8-BCE3-167506280198}"/>
              </a:ext>
            </a:extLst>
          </p:cNvPr>
          <p:cNvSpPr>
            <a:spLocks noGrp="1"/>
          </p:cNvSpPr>
          <p:nvPr/>
        </p:nvSpPr>
        <p:spPr>
          <a:xfrm>
            <a:off x="685800" y="1847850"/>
            <a:ext cx="4476750" cy="342900"/>
          </a:xfrm>
          <a:prstGeom prst="rect">
            <a:avLst/>
          </a:prstGeom>
          <a:noFill/>
          <a:ln w="0">
            <a:noFill/>
            <a:prstDash val="solid"/>
          </a:ln>
        </p:spPr>
        <p:txBody>
          <a:bodyPr lIns="0" tIns="0" rIns="0" bIns="0" anchor="t">
            <a:norm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Weighted graph</a:t>
            </a:r>
          </a:p>
        </p:txBody>
      </p:sp>
      <p:sp>
        <p:nvSpPr>
          <p:cNvPr id="8" name="Rectangle 7">
            <a:extLst>
              <a:ext uri="{FF2B5EF4-FFF2-40B4-BE49-F238E27FC236}">
                <a16:creationId xmlns:a16="http://schemas.microsoft.com/office/drawing/2014/main" id="{6A38E413-AE44-4BDF-8F99-AB7BD1FE4AD1}"/>
              </a:ext>
            </a:extLst>
          </p:cNvPr>
          <p:cNvSpPr>
            <a:spLocks noGrp="1"/>
          </p:cNvSpPr>
          <p:nvPr/>
        </p:nvSpPr>
        <p:spPr>
          <a:xfrm>
            <a:off x="857250" y="2990850"/>
            <a:ext cx="1381125" cy="381000"/>
          </a:xfrm>
          <a:prstGeom prst="rect">
            <a:avLst/>
          </a:prstGeom>
          <a:noFill/>
          <a:ln w="0">
            <a:noFill/>
            <a:prstDash val="solid"/>
          </a:ln>
        </p:spPr>
        <p:txBody>
          <a:bodyPr lIns="0" tIns="0" rIns="0" bIns="0" anchor="t">
            <a:normAutofit/>
          </a:bodyPr>
          <a:lstStyle/>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NODE A</a:t>
            </a:r>
          </a:p>
        </p:txBody>
      </p:sp>
      <p:sp>
        <p:nvSpPr>
          <p:cNvPr id="9" name="Rectangle 8">
            <a:extLst>
              <a:ext uri="{FF2B5EF4-FFF2-40B4-BE49-F238E27FC236}">
                <a16:creationId xmlns:a16="http://schemas.microsoft.com/office/drawing/2014/main" id="{44B941C1-721D-4AB1-B42C-F0EC4732819B}"/>
              </a:ext>
            </a:extLst>
          </p:cNvPr>
          <p:cNvSpPr>
            <a:spLocks noGrp="1"/>
          </p:cNvSpPr>
          <p:nvPr/>
        </p:nvSpPr>
        <p:spPr>
          <a:xfrm>
            <a:off x="3667125" y="2990850"/>
            <a:ext cx="1381125" cy="381000"/>
          </a:xfrm>
          <a:prstGeom prst="rect">
            <a:avLst/>
          </a:prstGeom>
          <a:noFill/>
          <a:ln w="0">
            <a:noFill/>
            <a:prstDash val="solid"/>
          </a:ln>
        </p:spPr>
        <p:txBody>
          <a:bodyPr lIns="0" tIns="0" rIns="0" bIns="0" anchor="t">
            <a:normAutofit/>
          </a:bodyPr>
          <a:lstStyle/>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NODE B</a:t>
            </a:r>
          </a:p>
        </p:txBody>
      </p:sp>
      <p:sp>
        <p:nvSpPr>
          <p:cNvPr id="10" name="Rectangle: Rounded Corners 9">
            <a:extLst>
              <a:ext uri="{FF2B5EF4-FFF2-40B4-BE49-F238E27FC236}">
                <a16:creationId xmlns:a16="http://schemas.microsoft.com/office/drawing/2014/main" id="{ED28B70B-B484-4AD0-A84B-3BF91C77E10F}"/>
              </a:ext>
            </a:extLst>
          </p:cNvPr>
          <p:cNvSpPr>
            <a:spLocks noGrp="1"/>
          </p:cNvSpPr>
          <p:nvPr/>
        </p:nvSpPr>
        <p:spPr>
          <a:xfrm>
            <a:off x="876300" y="2609850"/>
            <a:ext cx="1333500" cy="1123950"/>
          </a:xfrm>
          <a:prstGeom prst="roundRect">
            <a:avLst>
              <a:gd name="adj" fmla="val 10169"/>
            </a:avLst>
          </a:prstGeom>
          <a:solidFill>
            <a:srgbClr val="FFFFFF"/>
          </a:solidFill>
          <a:ln w="9525">
            <a:solidFill>
              <a:srgbClr val="B8BCC4"/>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79CF18DB-414D-4674-B943-80C73EC487C0}"/>
              </a:ext>
            </a:extLst>
          </p:cNvPr>
          <p:cNvSpPr>
            <a:spLocks noGrp="1"/>
          </p:cNvSpPr>
          <p:nvPr/>
        </p:nvSpPr>
        <p:spPr>
          <a:xfrm>
            <a:off x="3686175" y="2609850"/>
            <a:ext cx="1333500" cy="1123950"/>
          </a:xfrm>
          <a:prstGeom prst="roundRect">
            <a:avLst>
              <a:gd name="adj" fmla="val 10169"/>
            </a:avLst>
          </a:prstGeom>
          <a:solidFill>
            <a:srgbClr val="FFFFFF"/>
          </a:solidFill>
          <a:ln w="9525">
            <a:solidFill>
              <a:srgbClr val="B8BCC4"/>
            </a:solidFill>
            <a:prstDash val="solid"/>
          </a:ln>
        </p:spPr>
        <p:txBody>
          <a:bodyPr/>
          <a:lstStyle/>
          <a:p>
            <a:endParaRPr lang="en-US"/>
          </a:p>
        </p:txBody>
      </p:sp>
      <p:sp>
        <p:nvSpPr>
          <p:cNvPr id="12" name="Rectangle 11">
            <a:extLst>
              <a:ext uri="{FF2B5EF4-FFF2-40B4-BE49-F238E27FC236}">
                <a16:creationId xmlns:a16="http://schemas.microsoft.com/office/drawing/2014/main" id="{F463CBFE-B341-4E59-A6C6-944BAF256DD6}"/>
              </a:ext>
            </a:extLst>
          </p:cNvPr>
          <p:cNvSpPr>
            <a:spLocks noGrp="1"/>
          </p:cNvSpPr>
          <p:nvPr/>
        </p:nvSpPr>
        <p:spPr>
          <a:xfrm>
            <a:off x="2247900" y="3028950"/>
            <a:ext cx="1428750" cy="304800"/>
          </a:xfrm>
          <a:prstGeom prst="rect">
            <a:avLst/>
          </a:prstGeom>
          <a:noFill/>
          <a:ln w="0">
            <a:noFill/>
            <a:prstDash val="solid"/>
          </a:ln>
        </p:spPr>
        <p:txBody>
          <a:bodyPr lIns="0" tIns="0" rIns="0" bIns="0" anchor="t">
            <a:normAutofit/>
          </a:bodyPr>
          <a:lstStyle/>
          <a:p>
            <a:pPr algn="ctr">
              <a:defRPr sz="1800" b="1">
                <a:solidFill>
                  <a:srgbClr val="149A84"/>
                </a:solidFill>
                <a:latin typeface="Helvetica Neue"/>
                <a:ea typeface="Helvetica Neue"/>
                <a:cs typeface="Helvetica Neue"/>
              </a:defRPr>
            </a:pPr>
            <a:r>
              <a:rPr sz="1800" b="1">
                <a:solidFill>
                  <a:srgbClr val="149A84"/>
                </a:solidFill>
                <a:latin typeface="Helvetica Neue"/>
                <a:ea typeface="Helvetica Neue"/>
                <a:cs typeface="Helvetica Neue"/>
              </a:rPr>
              <a:t>——  w  ——</a:t>
            </a:r>
          </a:p>
        </p:txBody>
      </p:sp>
      <p:sp>
        <p:nvSpPr>
          <p:cNvPr id="13" name="Rectangle 12">
            <a:extLst>
              <a:ext uri="{FF2B5EF4-FFF2-40B4-BE49-F238E27FC236}">
                <a16:creationId xmlns:a16="http://schemas.microsoft.com/office/drawing/2014/main" id="{E9AF87E2-E598-4CFB-B393-ACC9B4933385}"/>
              </a:ext>
            </a:extLst>
          </p:cNvPr>
          <p:cNvSpPr>
            <a:spLocks noGrp="1"/>
          </p:cNvSpPr>
          <p:nvPr/>
        </p:nvSpPr>
        <p:spPr>
          <a:xfrm>
            <a:off x="800100" y="4333875"/>
            <a:ext cx="4238625" cy="704850"/>
          </a:xfrm>
          <a:prstGeom prst="rect">
            <a:avLst/>
          </a:prstGeom>
          <a:noFill/>
          <a:ln w="0">
            <a:noFill/>
            <a:prstDash val="solid"/>
          </a:ln>
        </p:spPr>
        <p:txBody>
          <a:bodyPr lIns="0" tIns="0" rIns="0" bIns="0" anchor="t">
            <a:normAutofit/>
          </a:bodyPr>
          <a:lstStyle/>
          <a:p>
            <a:pPr algn="ctr">
              <a:defRPr sz="1650" b="0">
                <a:solidFill>
                  <a:srgbClr val="111318"/>
                </a:solidFill>
                <a:latin typeface="Helvetica Neue"/>
                <a:ea typeface="Helvetica Neue"/>
                <a:cs typeface="Helvetica Neue"/>
              </a:defRPr>
            </a:pPr>
            <a:r>
              <a:rPr sz="1650" b="0">
                <a:solidFill>
                  <a:srgbClr val="111318"/>
                </a:solidFill>
                <a:latin typeface="Helvetica Neue"/>
                <a:ea typeface="Helvetica Neue"/>
                <a:cs typeface="Helvetica Neue"/>
              </a:rPr>
              <a:t>One scalar edge weight says how strongly nodes are related.</a:t>
            </a:r>
          </a:p>
        </p:txBody>
      </p:sp>
      <p:sp>
        <p:nvSpPr>
          <p:cNvPr id="14" name="Rectangle: Rounded Corners 13">
            <a:extLst>
              <a:ext uri="{FF2B5EF4-FFF2-40B4-BE49-F238E27FC236}">
                <a16:creationId xmlns:a16="http://schemas.microsoft.com/office/drawing/2014/main" id="{9A98C3B9-2FF7-417C-9BA4-A9BACB7B4865}"/>
              </a:ext>
            </a:extLst>
          </p:cNvPr>
          <p:cNvSpPr>
            <a:spLocks noGrp="1"/>
          </p:cNvSpPr>
          <p:nvPr/>
        </p:nvSpPr>
        <p:spPr>
          <a:xfrm>
            <a:off x="5905500" y="1581150"/>
            <a:ext cx="5886450" cy="4095750"/>
          </a:xfrm>
          <a:prstGeom prst="roundRect">
            <a:avLst>
              <a:gd name="adj" fmla="val 2791"/>
            </a:avLst>
          </a:prstGeom>
          <a:solidFill>
            <a:srgbClr val="E9F4FF"/>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B442496C-02DA-4A88-A450-18A49E30ED4A}"/>
              </a:ext>
            </a:extLst>
          </p:cNvPr>
          <p:cNvSpPr>
            <a:spLocks noGrp="1"/>
          </p:cNvSpPr>
          <p:nvPr/>
        </p:nvSpPr>
        <p:spPr>
          <a:xfrm>
            <a:off x="6191250" y="1847850"/>
            <a:ext cx="5314950" cy="342900"/>
          </a:xfrm>
          <a:prstGeom prst="rect">
            <a:avLst/>
          </a:prstGeom>
          <a:noFill/>
          <a:ln w="0">
            <a:noFill/>
            <a:prstDash val="solid"/>
          </a:ln>
        </p:spPr>
        <p:txBody>
          <a:bodyPr lIns="0" tIns="0" rIns="0" bIns="0" anchor="t">
            <a:normAutofit/>
          </a:bodyPr>
          <a:lstStyle/>
          <a:p>
            <a:pPr algn="l">
              <a:defRPr sz="1875" b="1">
                <a:solidFill>
                  <a:srgbClr val="153A63"/>
                </a:solidFill>
                <a:latin typeface="Helvetica Neue"/>
                <a:ea typeface="Helvetica Neue"/>
                <a:cs typeface="Helvetica Neue"/>
              </a:defRPr>
            </a:pPr>
            <a:r>
              <a:rPr sz="1875" b="1">
                <a:solidFill>
                  <a:srgbClr val="153A63"/>
                </a:solidFill>
                <a:latin typeface="Helvetica Neue"/>
                <a:ea typeface="Helvetica Neue"/>
                <a:cs typeface="Helvetica Neue"/>
              </a:rPr>
              <a:t>Affine sheaf</a:t>
            </a:r>
          </a:p>
        </p:txBody>
      </p:sp>
      <p:sp>
        <p:nvSpPr>
          <p:cNvPr id="16" name="Rectangle 15">
            <a:extLst>
              <a:ext uri="{FF2B5EF4-FFF2-40B4-BE49-F238E27FC236}">
                <a16:creationId xmlns:a16="http://schemas.microsoft.com/office/drawing/2014/main" id="{9C0A4709-3CAC-407B-A67B-F8C36A608437}"/>
              </a:ext>
            </a:extLst>
          </p:cNvPr>
          <p:cNvSpPr>
            <a:spLocks noGrp="1"/>
          </p:cNvSpPr>
          <p:nvPr/>
        </p:nvSpPr>
        <p:spPr>
          <a:xfrm>
            <a:off x="6429375" y="2238375"/>
            <a:ext cx="4838700" cy="228600"/>
          </a:xfrm>
          <a:prstGeom prst="rect">
            <a:avLst/>
          </a:prstGeom>
          <a:noFill/>
          <a:ln w="0">
            <a:noFill/>
            <a:prstDash val="solid"/>
          </a:ln>
        </p:spPr>
        <p:txBody>
          <a:bodyPr lIns="0" tIns="0" rIns="0" bIns="0" anchor="t">
            <a:normAutofit/>
          </a:bodyPr>
          <a:lstStyle/>
          <a:p>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Scalar-affine benchmark evidence</a:t>
            </a:r>
          </a:p>
        </p:txBody>
      </p:sp>
      <p:sp>
        <p:nvSpPr>
          <p:cNvPr id="17" name="Rectangle: Rounded Corners 16">
            <a:extLst>
              <a:ext uri="{FF2B5EF4-FFF2-40B4-BE49-F238E27FC236}">
                <a16:creationId xmlns:a16="http://schemas.microsoft.com/office/drawing/2014/main" id="{A60C581D-534A-4562-B549-BE5AA6D8D46D}"/>
              </a:ext>
            </a:extLst>
          </p:cNvPr>
          <p:cNvSpPr>
            <a:spLocks noGrp="1"/>
          </p:cNvSpPr>
          <p:nvPr/>
        </p:nvSpPr>
        <p:spPr>
          <a:xfrm>
            <a:off x="6429375" y="2695575"/>
            <a:ext cx="1476375" cy="1047750"/>
          </a:xfrm>
          <a:prstGeom prst="roundRect">
            <a:avLst>
              <a:gd name="adj" fmla="val 10909"/>
            </a:avLst>
          </a:prstGeom>
          <a:solidFill>
            <a:srgbClr val="FFFFFF"/>
          </a:solidFill>
          <a:ln w="9525">
            <a:solidFill>
              <a:srgbClr val="3D8DFF"/>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D35C0E15-5E30-4F5A-8ADB-09A44F85CDE1}"/>
              </a:ext>
            </a:extLst>
          </p:cNvPr>
          <p:cNvSpPr>
            <a:spLocks noGrp="1"/>
          </p:cNvSpPr>
          <p:nvPr/>
        </p:nvSpPr>
        <p:spPr>
          <a:xfrm>
            <a:off x="9744075" y="2695575"/>
            <a:ext cx="1476375" cy="1047750"/>
          </a:xfrm>
          <a:prstGeom prst="roundRect">
            <a:avLst>
              <a:gd name="adj" fmla="val 10909"/>
            </a:avLst>
          </a:prstGeom>
          <a:solidFill>
            <a:srgbClr val="FFFFFF"/>
          </a:solidFill>
          <a:ln w="9525">
            <a:solidFill>
              <a:srgbClr val="3D8DFF"/>
            </a:solidFill>
            <a:prstDash val="solid"/>
          </a:ln>
        </p:spPr>
        <p:txBody>
          <a:bodyPr/>
          <a:lstStyle/>
          <a:p>
            <a:endParaRPr lang="en-US"/>
          </a:p>
        </p:txBody>
      </p:sp>
      <p:sp>
        <p:nvSpPr>
          <p:cNvPr id="19" name="Rectangle 18">
            <a:extLst>
              <a:ext uri="{FF2B5EF4-FFF2-40B4-BE49-F238E27FC236}">
                <a16:creationId xmlns:a16="http://schemas.microsoft.com/office/drawing/2014/main" id="{42DC2DD2-0263-4B55-883D-CEE0776D0E24}"/>
              </a:ext>
            </a:extLst>
          </p:cNvPr>
          <p:cNvSpPr>
            <a:spLocks noGrp="1"/>
          </p:cNvSpPr>
          <p:nvPr/>
        </p:nvSpPr>
        <p:spPr>
          <a:xfrm>
            <a:off x="6534150" y="2981325"/>
            <a:ext cx="1266825" cy="400050"/>
          </a:xfrm>
          <a:prstGeom prst="rect">
            <a:avLst/>
          </a:prstGeom>
          <a:noFill/>
          <a:ln w="0">
            <a:noFill/>
            <a:prstDash val="solid"/>
          </a:ln>
        </p:spPr>
        <p:txBody>
          <a:bodyPr lIns="0" tIns="0" rIns="0" bIns="0" anchor="t">
            <a:normAutofit/>
          </a:bodyPr>
          <a:lstStyle/>
          <a:p>
            <a:pPr algn="ctr">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xᵤ</a:t>
            </a:r>
          </a:p>
        </p:txBody>
      </p:sp>
      <p:sp>
        <p:nvSpPr>
          <p:cNvPr id="20" name="Rectangle 19">
            <a:extLst>
              <a:ext uri="{FF2B5EF4-FFF2-40B4-BE49-F238E27FC236}">
                <a16:creationId xmlns:a16="http://schemas.microsoft.com/office/drawing/2014/main" id="{1AD2C498-5058-4D42-9030-C3D4DDB120FC}"/>
              </a:ext>
            </a:extLst>
          </p:cNvPr>
          <p:cNvSpPr>
            <a:spLocks noGrp="1"/>
          </p:cNvSpPr>
          <p:nvPr/>
        </p:nvSpPr>
        <p:spPr>
          <a:xfrm>
            <a:off x="9848850" y="2981325"/>
            <a:ext cx="1266825" cy="400050"/>
          </a:xfrm>
          <a:prstGeom prst="rect">
            <a:avLst/>
          </a:prstGeom>
          <a:noFill/>
          <a:ln w="0">
            <a:noFill/>
            <a:prstDash val="solid"/>
          </a:ln>
        </p:spPr>
        <p:txBody>
          <a:bodyPr lIns="0" tIns="0" rIns="0" bIns="0" anchor="t">
            <a:normAutofit/>
          </a:bodyPr>
          <a:lstStyle/>
          <a:p>
            <a:pPr algn="ctr">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xᵥ</a:t>
            </a:r>
          </a:p>
        </p:txBody>
      </p:sp>
      <p:sp>
        <p:nvSpPr>
          <p:cNvPr id="21" name="Rectangle 20">
            <a:extLst>
              <a:ext uri="{FF2B5EF4-FFF2-40B4-BE49-F238E27FC236}">
                <a16:creationId xmlns:a16="http://schemas.microsoft.com/office/drawing/2014/main" id="{EF5376EC-6400-4789-9520-649F1964CD6C}"/>
              </a:ext>
            </a:extLst>
          </p:cNvPr>
          <p:cNvSpPr>
            <a:spLocks noGrp="1"/>
          </p:cNvSpPr>
          <p:nvPr/>
        </p:nvSpPr>
        <p:spPr>
          <a:xfrm>
            <a:off x="7981950" y="3019425"/>
            <a:ext cx="1695450" cy="361950"/>
          </a:xfrm>
          <a:prstGeom prst="rect">
            <a:avLst/>
          </a:prstGeom>
          <a:noFill/>
          <a:ln w="0">
            <a:noFill/>
            <a:prstDash val="solid"/>
          </a:ln>
        </p:spPr>
        <p:txBody>
          <a:bodyPr lIns="0" tIns="0" rIns="0" bIns="0" anchor="t">
            <a:normAutofit/>
          </a:bodyPr>
          <a:lstStyle/>
          <a:p>
            <a:pPr algn="ctr">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xᵥ ≈ αₑxᵤ + bₑ</a:t>
            </a:r>
          </a:p>
        </p:txBody>
      </p:sp>
      <p:sp>
        <p:nvSpPr>
          <p:cNvPr id="22" name="Rectangle 21">
            <a:extLst>
              <a:ext uri="{FF2B5EF4-FFF2-40B4-BE49-F238E27FC236}">
                <a16:creationId xmlns:a16="http://schemas.microsoft.com/office/drawing/2014/main" id="{FC3B417C-D2BF-421C-9836-F195A9CD8653}"/>
              </a:ext>
            </a:extLst>
          </p:cNvPr>
          <p:cNvSpPr>
            <a:spLocks noGrp="1"/>
          </p:cNvSpPr>
          <p:nvPr/>
        </p:nvSpPr>
        <p:spPr>
          <a:xfrm>
            <a:off x="6429375" y="4095750"/>
            <a:ext cx="4838700" cy="571500"/>
          </a:xfrm>
          <a:prstGeom prst="rect">
            <a:avLst/>
          </a:prstGeom>
          <a:noFill/>
          <a:ln w="0">
            <a:noFill/>
            <a:prstDash val="solid"/>
          </a:ln>
        </p:spPr>
        <p:txBody>
          <a:bodyPr lIns="0" tIns="0" rIns="0" bIns="0" anchor="t">
            <a:normAutofit/>
          </a:bodyPr>
          <a:lstStyle/>
          <a:p>
            <a:pPr algn="ctr">
              <a:defRPr sz="1650" b="1">
                <a:solidFill>
                  <a:srgbClr val="153A63"/>
                </a:solidFill>
                <a:latin typeface="Helvetica Neue"/>
                <a:ea typeface="Helvetica Neue"/>
                <a:cs typeface="Helvetica Neue"/>
              </a:defRPr>
            </a:pPr>
            <a:r>
              <a:rPr sz="1650" b="1">
                <a:solidFill>
                  <a:srgbClr val="153A63"/>
                </a:solidFill>
                <a:latin typeface="Helvetica Neue"/>
                <a:ea typeface="Helvetica Neue"/>
                <a:cs typeface="Helvetica Neue"/>
              </a:rPr>
              <a:t>Edge-specific gain and offset; global inconsistency localises conflict.</a:t>
            </a:r>
          </a:p>
        </p:txBody>
      </p:sp>
      <p:sp>
        <p:nvSpPr>
          <p:cNvPr id="23" name="Rectangle 22">
            <a:extLst>
              <a:ext uri="{FF2B5EF4-FFF2-40B4-BE49-F238E27FC236}">
                <a16:creationId xmlns:a16="http://schemas.microsoft.com/office/drawing/2014/main" id="{791CC570-3FCB-4956-849C-A81EAB5BC5C7}"/>
              </a:ext>
            </a:extLst>
          </p:cNvPr>
          <p:cNvSpPr>
            <a:spLocks noGrp="1"/>
          </p:cNvSpPr>
          <p:nvPr/>
        </p:nvSpPr>
        <p:spPr>
          <a:xfrm>
            <a:off x="6429375" y="4867275"/>
            <a:ext cx="4838700" cy="304800"/>
          </a:xfrm>
          <a:prstGeom prst="rect">
            <a:avLst/>
          </a:prstGeom>
          <a:noFill/>
          <a:ln w="0">
            <a:noFill/>
            <a:prstDash val="solid"/>
          </a:ln>
        </p:spPr>
        <p:txBody>
          <a:bodyPr lIns="0" tIns="0" rIns="0" bIns="0" anchor="t">
            <a:normAutofit/>
          </a:bodyPr>
          <a:lstStyle/>
          <a:p>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Multivariate vector-stalk performance remains unvalidated.</a:t>
            </a:r>
          </a:p>
        </p:txBody>
      </p:sp>
    </p:spTree>
    <p:extLst>
      <p:ext uri="{BB962C8B-B14F-4D97-AF65-F5344CB8AC3E}">
        <p14:creationId xmlns:p14="http://schemas.microsoft.com/office/powerpoint/2010/main" val="125267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3E41BED-C652-4D77-849C-B5FB9E2D365C}"/>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LOCKED EVALUATION</a:t>
            </a:r>
          </a:p>
        </p:txBody>
      </p:sp>
      <p:sp>
        <p:nvSpPr>
          <p:cNvPr id="2" name="Rectangle 1">
            <a:extLst>
              <a:ext uri="{FF2B5EF4-FFF2-40B4-BE49-F238E27FC236}">
                <a16:creationId xmlns:a16="http://schemas.microsoft.com/office/drawing/2014/main" id="{305CAF71-ABC3-4EAC-902C-E24655A94137}"/>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Claims were matched to an evidence ladder</a:t>
            </a:r>
          </a:p>
        </p:txBody>
      </p:sp>
      <p:sp>
        <p:nvSpPr>
          <p:cNvPr id="3" name="Rectangle 2">
            <a:extLst>
              <a:ext uri="{FF2B5EF4-FFF2-40B4-BE49-F238E27FC236}">
                <a16:creationId xmlns:a16="http://schemas.microsoft.com/office/drawing/2014/main" id="{7F43534A-620F-46D1-9830-6861AACBBE04}"/>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61A30438-9955-46E6-BA15-9BD69DDA9E42}"/>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Validation</a:t>
            </a:r>
          </a:p>
        </p:txBody>
      </p:sp>
      <p:sp>
        <p:nvSpPr>
          <p:cNvPr id="5" name="Rectangle 4">
            <a:extLst>
              <a:ext uri="{FF2B5EF4-FFF2-40B4-BE49-F238E27FC236}">
                <a16:creationId xmlns:a16="http://schemas.microsoft.com/office/drawing/2014/main" id="{DF79A813-24EC-48C0-A657-3BABF9D9A1A8}"/>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11</a:t>
            </a:r>
          </a:p>
        </p:txBody>
      </p:sp>
      <p:sp>
        <p:nvSpPr>
          <p:cNvPr id="6" name="Rectangle: Rounded Corners 5">
            <a:extLst>
              <a:ext uri="{FF2B5EF4-FFF2-40B4-BE49-F238E27FC236}">
                <a16:creationId xmlns:a16="http://schemas.microsoft.com/office/drawing/2014/main" id="{1A0C8EEB-2BB4-4DEC-97EC-C74D83DD3133}"/>
              </a:ext>
            </a:extLst>
          </p:cNvPr>
          <p:cNvSpPr>
            <a:spLocks noGrp="1"/>
          </p:cNvSpPr>
          <p:nvPr/>
        </p:nvSpPr>
        <p:spPr>
          <a:xfrm>
            <a:off x="400050" y="1466850"/>
            <a:ext cx="11391900" cy="685800"/>
          </a:xfrm>
          <a:prstGeom prst="roundRect">
            <a:avLst>
              <a:gd name="adj" fmla="val 16667"/>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A6F17830-C993-4CB7-B8D4-3044A1F50751}"/>
              </a:ext>
            </a:extLst>
          </p:cNvPr>
          <p:cNvSpPr>
            <a:spLocks noGrp="1"/>
          </p:cNvSpPr>
          <p:nvPr/>
        </p:nvSpPr>
        <p:spPr>
          <a:xfrm>
            <a:off x="552450" y="1609725"/>
            <a:ext cx="495300" cy="361950"/>
          </a:xfrm>
          <a:prstGeom prst="rect">
            <a:avLst/>
          </a:prstGeom>
          <a:noFill/>
          <a:ln w="0">
            <a:noFill/>
            <a:prstDash val="solid"/>
          </a:ln>
        </p:spPr>
        <p:txBody>
          <a:bodyPr lIns="0" tIns="0" rIns="0" bIns="0" anchor="t">
            <a:normAutofit/>
          </a:bodyPr>
          <a:lstStyle/>
          <a:p>
            <a:pPr algn="ctr">
              <a:defRPr sz="2025" b="1">
                <a:solidFill>
                  <a:srgbClr val="5D6470"/>
                </a:solidFill>
                <a:latin typeface="Helvetica Neue"/>
                <a:ea typeface="Helvetica Neue"/>
                <a:cs typeface="Helvetica Neue"/>
              </a:defRPr>
            </a:pPr>
            <a:r>
              <a:rPr sz="2025" b="1">
                <a:solidFill>
                  <a:srgbClr val="5D6470"/>
                </a:solidFill>
                <a:latin typeface="Helvetica Neue"/>
                <a:ea typeface="Helvetica Neue"/>
                <a:cs typeface="Helvetica Neue"/>
              </a:rPr>
              <a:t>1</a:t>
            </a:r>
          </a:p>
        </p:txBody>
      </p:sp>
      <p:sp>
        <p:nvSpPr>
          <p:cNvPr id="8" name="Rectangle 7">
            <a:extLst>
              <a:ext uri="{FF2B5EF4-FFF2-40B4-BE49-F238E27FC236}">
                <a16:creationId xmlns:a16="http://schemas.microsoft.com/office/drawing/2014/main" id="{7231E29F-9AE9-416D-9956-5FC4FC08C618}"/>
              </a:ext>
            </a:extLst>
          </p:cNvPr>
          <p:cNvSpPr>
            <a:spLocks noGrp="1"/>
          </p:cNvSpPr>
          <p:nvPr/>
        </p:nvSpPr>
        <p:spPr>
          <a:xfrm>
            <a:off x="1209675" y="1590675"/>
            <a:ext cx="3714750" cy="2857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Unit and conversion verification</a:t>
            </a:r>
          </a:p>
        </p:txBody>
      </p:sp>
      <p:sp>
        <p:nvSpPr>
          <p:cNvPr id="9" name="Rectangle 8">
            <a:extLst>
              <a:ext uri="{FF2B5EF4-FFF2-40B4-BE49-F238E27FC236}">
                <a16:creationId xmlns:a16="http://schemas.microsoft.com/office/drawing/2014/main" id="{D91832A1-48E9-4E32-ABFA-6FF5A5111A5A}"/>
              </a:ext>
            </a:extLst>
          </p:cNvPr>
          <p:cNvSpPr>
            <a:spLocks noGrp="1"/>
          </p:cNvSpPr>
          <p:nvPr/>
        </p:nvSpPr>
        <p:spPr>
          <a:xfrm>
            <a:off x="5095875" y="1609725"/>
            <a:ext cx="6381750" cy="32385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Does the implementation reproduce its declared input?</a:t>
            </a:r>
          </a:p>
        </p:txBody>
      </p:sp>
      <p:sp>
        <p:nvSpPr>
          <p:cNvPr id="10" name="Rectangle: Rounded Corners 9">
            <a:extLst>
              <a:ext uri="{FF2B5EF4-FFF2-40B4-BE49-F238E27FC236}">
                <a16:creationId xmlns:a16="http://schemas.microsoft.com/office/drawing/2014/main" id="{B6E95137-A1DC-4363-8004-AABF86BDA499}"/>
              </a:ext>
            </a:extLst>
          </p:cNvPr>
          <p:cNvSpPr>
            <a:spLocks noGrp="1"/>
          </p:cNvSpPr>
          <p:nvPr/>
        </p:nvSpPr>
        <p:spPr>
          <a:xfrm>
            <a:off x="400050" y="2343150"/>
            <a:ext cx="11391900" cy="685800"/>
          </a:xfrm>
          <a:prstGeom prst="roundRect">
            <a:avLst>
              <a:gd name="adj" fmla="val 16667"/>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A63DAF4-1C07-4A6F-8E2C-D58E7DE017C1}"/>
              </a:ext>
            </a:extLst>
          </p:cNvPr>
          <p:cNvSpPr>
            <a:spLocks noGrp="1"/>
          </p:cNvSpPr>
          <p:nvPr/>
        </p:nvSpPr>
        <p:spPr>
          <a:xfrm>
            <a:off x="552450" y="2486025"/>
            <a:ext cx="495300" cy="361950"/>
          </a:xfrm>
          <a:prstGeom prst="rect">
            <a:avLst/>
          </a:prstGeom>
          <a:noFill/>
          <a:ln w="0">
            <a:noFill/>
            <a:prstDash val="solid"/>
          </a:ln>
        </p:spPr>
        <p:txBody>
          <a:bodyPr lIns="0" tIns="0" rIns="0" bIns="0" anchor="t">
            <a:normAutofit/>
          </a:bodyPr>
          <a:lstStyle/>
          <a:p>
            <a:pPr algn="ctr">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2</a:t>
            </a:r>
          </a:p>
        </p:txBody>
      </p:sp>
      <p:sp>
        <p:nvSpPr>
          <p:cNvPr id="12" name="Rectangle 11">
            <a:extLst>
              <a:ext uri="{FF2B5EF4-FFF2-40B4-BE49-F238E27FC236}">
                <a16:creationId xmlns:a16="http://schemas.microsoft.com/office/drawing/2014/main" id="{03BD5F99-2046-4319-9768-9257DF6CE780}"/>
              </a:ext>
            </a:extLst>
          </p:cNvPr>
          <p:cNvSpPr>
            <a:spLocks noGrp="1"/>
          </p:cNvSpPr>
          <p:nvPr/>
        </p:nvSpPr>
        <p:spPr>
          <a:xfrm>
            <a:off x="1209675" y="2466975"/>
            <a:ext cx="3714750" cy="2857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Reference emulation</a:t>
            </a:r>
          </a:p>
        </p:txBody>
      </p:sp>
      <p:sp>
        <p:nvSpPr>
          <p:cNvPr id="13" name="Rectangle 12">
            <a:extLst>
              <a:ext uri="{FF2B5EF4-FFF2-40B4-BE49-F238E27FC236}">
                <a16:creationId xmlns:a16="http://schemas.microsoft.com/office/drawing/2014/main" id="{B8A7DAB3-F69C-4B6E-A602-40CE6EDC1384}"/>
              </a:ext>
            </a:extLst>
          </p:cNvPr>
          <p:cNvSpPr>
            <a:spLocks noGrp="1"/>
          </p:cNvSpPr>
          <p:nvPr/>
        </p:nvSpPr>
        <p:spPr>
          <a:xfrm>
            <a:off x="5095875" y="2486025"/>
            <a:ext cx="6381750" cy="32385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Does it agree with an established public workflow?</a:t>
            </a:r>
          </a:p>
        </p:txBody>
      </p:sp>
      <p:sp>
        <p:nvSpPr>
          <p:cNvPr id="14" name="Rectangle: Rounded Corners 13">
            <a:extLst>
              <a:ext uri="{FF2B5EF4-FFF2-40B4-BE49-F238E27FC236}">
                <a16:creationId xmlns:a16="http://schemas.microsoft.com/office/drawing/2014/main" id="{734DBA18-0317-47F2-B6FB-6B2DD6920667}"/>
              </a:ext>
            </a:extLst>
          </p:cNvPr>
          <p:cNvSpPr>
            <a:spLocks noGrp="1"/>
          </p:cNvSpPr>
          <p:nvPr/>
        </p:nvSpPr>
        <p:spPr>
          <a:xfrm>
            <a:off x="400050" y="3219450"/>
            <a:ext cx="11391900" cy="685800"/>
          </a:xfrm>
          <a:prstGeom prst="roundRect">
            <a:avLst>
              <a:gd name="adj" fmla="val 16667"/>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C928CE12-C368-43B2-9D35-64B3FA583D1F}"/>
              </a:ext>
            </a:extLst>
          </p:cNvPr>
          <p:cNvSpPr>
            <a:spLocks noGrp="1"/>
          </p:cNvSpPr>
          <p:nvPr/>
        </p:nvSpPr>
        <p:spPr>
          <a:xfrm>
            <a:off x="552450" y="3362325"/>
            <a:ext cx="495300" cy="361950"/>
          </a:xfrm>
          <a:prstGeom prst="rect">
            <a:avLst/>
          </a:prstGeom>
          <a:noFill/>
          <a:ln w="0">
            <a:noFill/>
            <a:prstDash val="solid"/>
          </a:ln>
        </p:spPr>
        <p:txBody>
          <a:bodyPr lIns="0" tIns="0" rIns="0" bIns="0" anchor="t">
            <a:normAutofit/>
          </a:bodyPr>
          <a:lstStyle/>
          <a:p>
            <a:pPr algn="ctr">
              <a:defRPr sz="2025" b="1">
                <a:solidFill>
                  <a:srgbClr val="149A84"/>
                </a:solidFill>
                <a:latin typeface="Helvetica Neue"/>
                <a:ea typeface="Helvetica Neue"/>
                <a:cs typeface="Helvetica Neue"/>
              </a:defRPr>
            </a:pPr>
            <a:r>
              <a:rPr sz="2025" b="1">
                <a:solidFill>
                  <a:srgbClr val="149A84"/>
                </a:solidFill>
                <a:latin typeface="Helvetica Neue"/>
                <a:ea typeface="Helvetica Neue"/>
                <a:cs typeface="Helvetica Neue"/>
              </a:rPr>
              <a:t>3</a:t>
            </a:r>
          </a:p>
        </p:txBody>
      </p:sp>
      <p:sp>
        <p:nvSpPr>
          <p:cNvPr id="16" name="Rectangle 15">
            <a:extLst>
              <a:ext uri="{FF2B5EF4-FFF2-40B4-BE49-F238E27FC236}">
                <a16:creationId xmlns:a16="http://schemas.microsoft.com/office/drawing/2014/main" id="{48AE4BF2-13F4-4CD0-A31C-5F2B0CD93499}"/>
              </a:ext>
            </a:extLst>
          </p:cNvPr>
          <p:cNvSpPr>
            <a:spLocks noGrp="1"/>
          </p:cNvSpPr>
          <p:nvPr/>
        </p:nvSpPr>
        <p:spPr>
          <a:xfrm>
            <a:off x="1209675" y="3343275"/>
            <a:ext cx="3714750" cy="2857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Controlled known-truth benchmarks</a:t>
            </a:r>
          </a:p>
        </p:txBody>
      </p:sp>
      <p:sp>
        <p:nvSpPr>
          <p:cNvPr id="17" name="Rectangle 16">
            <a:extLst>
              <a:ext uri="{FF2B5EF4-FFF2-40B4-BE49-F238E27FC236}">
                <a16:creationId xmlns:a16="http://schemas.microsoft.com/office/drawing/2014/main" id="{6E3D311A-1F55-45A5-9767-05AC142DD8CC}"/>
              </a:ext>
            </a:extLst>
          </p:cNvPr>
          <p:cNvSpPr>
            <a:spLocks noGrp="1"/>
          </p:cNvSpPr>
          <p:nvPr/>
        </p:nvSpPr>
        <p:spPr>
          <a:xfrm>
            <a:off x="5095875" y="3362325"/>
            <a:ext cx="6381750" cy="32385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Can it recover planted topology, age and reactions?</a:t>
            </a:r>
          </a:p>
        </p:txBody>
      </p:sp>
      <p:sp>
        <p:nvSpPr>
          <p:cNvPr id="18" name="Rectangle: Rounded Corners 17">
            <a:extLst>
              <a:ext uri="{FF2B5EF4-FFF2-40B4-BE49-F238E27FC236}">
                <a16:creationId xmlns:a16="http://schemas.microsoft.com/office/drawing/2014/main" id="{3751ECA4-B135-4915-9233-2EB744DD9408}"/>
              </a:ext>
            </a:extLst>
          </p:cNvPr>
          <p:cNvSpPr>
            <a:spLocks noGrp="1"/>
          </p:cNvSpPr>
          <p:nvPr/>
        </p:nvSpPr>
        <p:spPr>
          <a:xfrm>
            <a:off x="400050" y="4095750"/>
            <a:ext cx="11391900" cy="685800"/>
          </a:xfrm>
          <a:prstGeom prst="roundRect">
            <a:avLst>
              <a:gd name="adj" fmla="val 16667"/>
            </a:avLst>
          </a:prstGeom>
          <a:solidFill>
            <a:srgbClr val="F2F3F5"/>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43488920-A9D7-4253-A03B-49E43CA9F02F}"/>
              </a:ext>
            </a:extLst>
          </p:cNvPr>
          <p:cNvSpPr>
            <a:spLocks noGrp="1"/>
          </p:cNvSpPr>
          <p:nvPr/>
        </p:nvSpPr>
        <p:spPr>
          <a:xfrm>
            <a:off x="552450" y="4238625"/>
            <a:ext cx="495300" cy="361950"/>
          </a:xfrm>
          <a:prstGeom prst="rect">
            <a:avLst/>
          </a:prstGeom>
          <a:noFill/>
          <a:ln w="0">
            <a:noFill/>
            <a:prstDash val="solid"/>
          </a:ln>
        </p:spPr>
        <p:txBody>
          <a:bodyPr lIns="0" tIns="0" rIns="0" bIns="0" anchor="t">
            <a:normAutofit/>
          </a:bodyPr>
          <a:lstStyle/>
          <a:p>
            <a:pPr algn="ctr">
              <a:defRPr sz="2025" b="1">
                <a:solidFill>
                  <a:srgbClr val="D97706"/>
                </a:solidFill>
                <a:latin typeface="Helvetica Neue"/>
                <a:ea typeface="Helvetica Neue"/>
                <a:cs typeface="Helvetica Neue"/>
              </a:defRPr>
            </a:pPr>
            <a:r>
              <a:rPr sz="2025" b="1">
                <a:solidFill>
                  <a:srgbClr val="D97706"/>
                </a:solidFill>
                <a:latin typeface="Helvetica Neue"/>
                <a:ea typeface="Helvetica Neue"/>
                <a:cs typeface="Helvetica Neue"/>
              </a:rPr>
              <a:t>4</a:t>
            </a:r>
          </a:p>
        </p:txBody>
      </p:sp>
      <p:sp>
        <p:nvSpPr>
          <p:cNvPr id="20" name="Rectangle 19">
            <a:extLst>
              <a:ext uri="{FF2B5EF4-FFF2-40B4-BE49-F238E27FC236}">
                <a16:creationId xmlns:a16="http://schemas.microsoft.com/office/drawing/2014/main" id="{A8AF76C1-7857-45C9-B01A-E7AE34306EB7}"/>
              </a:ext>
            </a:extLst>
          </p:cNvPr>
          <p:cNvSpPr>
            <a:spLocks noGrp="1"/>
          </p:cNvSpPr>
          <p:nvPr/>
        </p:nvSpPr>
        <p:spPr>
          <a:xfrm>
            <a:off x="1209675" y="4219575"/>
            <a:ext cx="3714750" cy="2857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Field transfer and supportability</a:t>
            </a:r>
          </a:p>
        </p:txBody>
      </p:sp>
      <p:sp>
        <p:nvSpPr>
          <p:cNvPr id="21" name="Rectangle 20">
            <a:extLst>
              <a:ext uri="{FF2B5EF4-FFF2-40B4-BE49-F238E27FC236}">
                <a16:creationId xmlns:a16="http://schemas.microsoft.com/office/drawing/2014/main" id="{8B8287A2-AE4F-4821-833F-8948DFCFD1B6}"/>
              </a:ext>
            </a:extLst>
          </p:cNvPr>
          <p:cNvSpPr>
            <a:spLocks noGrp="1"/>
          </p:cNvSpPr>
          <p:nvPr/>
        </p:nvSpPr>
        <p:spPr>
          <a:xfrm>
            <a:off x="5095875" y="4238625"/>
            <a:ext cx="6381750" cy="32385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What do real data permit without known truth?</a:t>
            </a:r>
          </a:p>
        </p:txBody>
      </p:sp>
      <p:sp>
        <p:nvSpPr>
          <p:cNvPr id="22" name="Rectangle: Rounded Corners 21">
            <a:extLst>
              <a:ext uri="{FF2B5EF4-FFF2-40B4-BE49-F238E27FC236}">
                <a16:creationId xmlns:a16="http://schemas.microsoft.com/office/drawing/2014/main" id="{10210152-F388-4001-BE0C-FEF021B68E57}"/>
              </a:ext>
            </a:extLst>
          </p:cNvPr>
          <p:cNvSpPr>
            <a:spLocks noGrp="1"/>
          </p:cNvSpPr>
          <p:nvPr/>
        </p:nvSpPr>
        <p:spPr>
          <a:xfrm>
            <a:off x="400050" y="4972050"/>
            <a:ext cx="11391900" cy="685800"/>
          </a:xfrm>
          <a:prstGeom prst="roundRect">
            <a:avLst>
              <a:gd name="adj" fmla="val 16667"/>
            </a:avLst>
          </a:prstGeom>
          <a:solidFill>
            <a:srgbClr val="FDE8E8"/>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FCFB7117-6DD7-48D7-BA16-B3B8DF639FE3}"/>
              </a:ext>
            </a:extLst>
          </p:cNvPr>
          <p:cNvSpPr>
            <a:spLocks noGrp="1"/>
          </p:cNvSpPr>
          <p:nvPr/>
        </p:nvSpPr>
        <p:spPr>
          <a:xfrm>
            <a:off x="552450" y="5114925"/>
            <a:ext cx="495300" cy="361950"/>
          </a:xfrm>
          <a:prstGeom prst="rect">
            <a:avLst/>
          </a:prstGeom>
          <a:noFill/>
          <a:ln w="0">
            <a:noFill/>
            <a:prstDash val="solid"/>
          </a:ln>
        </p:spPr>
        <p:txBody>
          <a:bodyPr lIns="0" tIns="0" rIns="0" bIns="0" anchor="t">
            <a:normAutofit/>
          </a:bodyPr>
          <a:lstStyle/>
          <a:p>
            <a:pPr algn="ctr">
              <a:defRPr sz="2025" b="1">
                <a:solidFill>
                  <a:srgbClr val="C53030"/>
                </a:solidFill>
                <a:latin typeface="Helvetica Neue"/>
                <a:ea typeface="Helvetica Neue"/>
                <a:cs typeface="Helvetica Neue"/>
              </a:defRPr>
            </a:pPr>
            <a:r>
              <a:rPr sz="2025" b="1">
                <a:solidFill>
                  <a:srgbClr val="C53030"/>
                </a:solidFill>
                <a:latin typeface="Helvetica Neue"/>
                <a:ea typeface="Helvetica Neue"/>
                <a:cs typeface="Helvetica Neue"/>
              </a:rPr>
              <a:t>5</a:t>
            </a:r>
          </a:p>
        </p:txBody>
      </p:sp>
      <p:sp>
        <p:nvSpPr>
          <p:cNvPr id="24" name="Rectangle 23">
            <a:extLst>
              <a:ext uri="{FF2B5EF4-FFF2-40B4-BE49-F238E27FC236}">
                <a16:creationId xmlns:a16="http://schemas.microsoft.com/office/drawing/2014/main" id="{F0EEFD6E-3B2A-4503-BCF8-9CC730C357F8}"/>
              </a:ext>
            </a:extLst>
          </p:cNvPr>
          <p:cNvSpPr>
            <a:spLocks noGrp="1"/>
          </p:cNvSpPr>
          <p:nvPr/>
        </p:nvSpPr>
        <p:spPr>
          <a:xfrm>
            <a:off x="1209675" y="5095875"/>
            <a:ext cx="3714750" cy="2857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Matched end-to-end field truth</a:t>
            </a:r>
          </a:p>
        </p:txBody>
      </p:sp>
      <p:sp>
        <p:nvSpPr>
          <p:cNvPr id="25" name="Rectangle 24">
            <a:extLst>
              <a:ext uri="{FF2B5EF4-FFF2-40B4-BE49-F238E27FC236}">
                <a16:creationId xmlns:a16="http://schemas.microsoft.com/office/drawing/2014/main" id="{CDE10B1A-BE75-46AA-B8A6-8A663213DD07}"/>
              </a:ext>
            </a:extLst>
          </p:cNvPr>
          <p:cNvSpPr>
            <a:spLocks noGrp="1"/>
          </p:cNvSpPr>
          <p:nvPr/>
        </p:nvSpPr>
        <p:spPr>
          <a:xfrm>
            <a:off x="5095875" y="5114925"/>
            <a:ext cx="6381750" cy="323850"/>
          </a:xfrm>
          <a:prstGeom prst="rect">
            <a:avLst/>
          </a:prstGeom>
          <a:noFill/>
          <a:ln w="0">
            <a:noFill/>
            <a:prstDash val="solid"/>
          </a:ln>
        </p:spPr>
        <p:txBody>
          <a:bodyPr lIns="0" tIns="0" rIns="0" bIns="0" anchor="t">
            <a:normAutofit/>
          </a:bodyPr>
          <a:lstStyle/>
          <a:p>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Still missing: age + repeated heads + chemistry + connectivity</a:t>
            </a:r>
          </a:p>
        </p:txBody>
      </p:sp>
    </p:spTree>
    <p:extLst>
      <p:ext uri="{BB962C8B-B14F-4D97-AF65-F5344CB8AC3E}">
        <p14:creationId xmlns:p14="http://schemas.microsoft.com/office/powerpoint/2010/main" val="412561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582F1E1-66D7-4E06-9E22-5E1D0EC0FE1C}"/>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1 · REVIEW</a:t>
            </a:r>
          </a:p>
        </p:txBody>
      </p:sp>
      <p:sp>
        <p:nvSpPr>
          <p:cNvPr id="2" name="Rectangle 1">
            <a:extLst>
              <a:ext uri="{FF2B5EF4-FFF2-40B4-BE49-F238E27FC236}">
                <a16:creationId xmlns:a16="http://schemas.microsoft.com/office/drawing/2014/main" id="{A79BEDF1-E8B8-45ED-B8DD-2A3380CB39D9}"/>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1: the review identified an integration-and-validation gap</a:t>
            </a:r>
          </a:p>
        </p:txBody>
      </p:sp>
      <p:sp>
        <p:nvSpPr>
          <p:cNvPr id="3" name="Rectangle 2">
            <a:extLst>
              <a:ext uri="{FF2B5EF4-FFF2-40B4-BE49-F238E27FC236}">
                <a16:creationId xmlns:a16="http://schemas.microsoft.com/office/drawing/2014/main" id="{A85FACAA-2C24-453D-9C6A-30EE913343D3}"/>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652C8531-2690-4D84-ADB4-50666DC5F58B}"/>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1D5ECD80-CF92-4768-B4A0-0EA9019BE11C}"/>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12</a:t>
            </a:r>
          </a:p>
        </p:txBody>
      </p:sp>
      <p:sp>
        <p:nvSpPr>
          <p:cNvPr id="6" name="Rectangle: Rounded Corners 5">
            <a:extLst>
              <a:ext uri="{FF2B5EF4-FFF2-40B4-BE49-F238E27FC236}">
                <a16:creationId xmlns:a16="http://schemas.microsoft.com/office/drawing/2014/main" id="{B64F05E0-AFEB-4EDE-ABF3-379505E80391}"/>
              </a:ext>
            </a:extLst>
          </p:cNvPr>
          <p:cNvSpPr>
            <a:spLocks noGrp="1"/>
          </p:cNvSpPr>
          <p:nvPr/>
        </p:nvSpPr>
        <p:spPr>
          <a:xfrm>
            <a:off x="400050" y="1571625"/>
            <a:ext cx="5429250" cy="1428750"/>
          </a:xfrm>
          <a:prstGeom prst="roundRect">
            <a:avLst>
              <a:gd name="adj" fmla="val 8000"/>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D0416358-0BA9-45C6-B5BA-A753391B3521}"/>
              </a:ext>
            </a:extLst>
          </p:cNvPr>
          <p:cNvSpPr>
            <a:spLocks noGrp="1"/>
          </p:cNvSpPr>
          <p:nvPr/>
        </p:nvSpPr>
        <p:spPr>
          <a:xfrm>
            <a:off x="666750" y="1800225"/>
            <a:ext cx="4857750" cy="247650"/>
          </a:xfrm>
          <a:prstGeom prst="rect">
            <a:avLst/>
          </a:prstGeom>
          <a:noFill/>
          <a:ln w="0">
            <a:noFill/>
            <a:prstDash val="solid"/>
          </a:ln>
        </p:spPr>
        <p:txBody>
          <a:bodyPr lIns="0" tIns="0" rIns="0" bIns="0" anchor="t">
            <a:normAutofit/>
          </a:bodyPr>
          <a:lstStyle/>
          <a:p>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FRAGMENTED INFERENCE</a:t>
            </a:r>
          </a:p>
        </p:txBody>
      </p:sp>
      <p:sp>
        <p:nvSpPr>
          <p:cNvPr id="8" name="Rectangle 7">
            <a:extLst>
              <a:ext uri="{FF2B5EF4-FFF2-40B4-BE49-F238E27FC236}">
                <a16:creationId xmlns:a16="http://schemas.microsoft.com/office/drawing/2014/main" id="{48F0DF76-FC5F-4C29-9F4B-D1B1A5D468C8}"/>
              </a:ext>
            </a:extLst>
          </p:cNvPr>
          <p:cNvSpPr>
            <a:spLocks noGrp="1"/>
          </p:cNvSpPr>
          <p:nvPr/>
        </p:nvSpPr>
        <p:spPr>
          <a:xfrm>
            <a:off x="666750" y="2238375"/>
            <a:ext cx="4857750" cy="5524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Age, connectivity and reaction models were commonly assessed in separate workflows.</a:t>
            </a:r>
          </a:p>
        </p:txBody>
      </p:sp>
      <p:sp>
        <p:nvSpPr>
          <p:cNvPr id="9" name="Rectangle: Rounded Corners 8">
            <a:extLst>
              <a:ext uri="{FF2B5EF4-FFF2-40B4-BE49-F238E27FC236}">
                <a16:creationId xmlns:a16="http://schemas.microsoft.com/office/drawing/2014/main" id="{AD964273-E9D1-411B-81BA-D917C78B4834}"/>
              </a:ext>
            </a:extLst>
          </p:cNvPr>
          <p:cNvSpPr>
            <a:spLocks noGrp="1"/>
          </p:cNvSpPr>
          <p:nvPr/>
        </p:nvSpPr>
        <p:spPr>
          <a:xfrm>
            <a:off x="6191250" y="1571625"/>
            <a:ext cx="5429250" cy="1428750"/>
          </a:xfrm>
          <a:prstGeom prst="roundRect">
            <a:avLst>
              <a:gd name="adj" fmla="val 8000"/>
            </a:avLst>
          </a:prstGeom>
          <a:solidFill>
            <a:srgbClr val="F2F3F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E7EF047-8605-41C9-AA1F-2C83212D58CA}"/>
              </a:ext>
            </a:extLst>
          </p:cNvPr>
          <p:cNvSpPr>
            <a:spLocks noGrp="1"/>
          </p:cNvSpPr>
          <p:nvPr/>
        </p:nvSpPr>
        <p:spPr>
          <a:xfrm>
            <a:off x="6457950" y="1800225"/>
            <a:ext cx="4857750" cy="247650"/>
          </a:xfrm>
          <a:prstGeom prst="rect">
            <a:avLst/>
          </a:prstGeom>
          <a:noFill/>
          <a:ln w="0">
            <a:noFill/>
            <a:prstDash val="solid"/>
          </a:ln>
        </p:spPr>
        <p:txBody>
          <a:bodyPr lIns="0" tIns="0" rIns="0" bIns="0" anchor="t">
            <a:normAutofit/>
          </a:bodyPr>
          <a:lstStyle/>
          <a:p>
            <a:pPr algn="l">
              <a:defRPr sz="1275" b="1">
                <a:solidFill>
                  <a:srgbClr val="D97706"/>
                </a:solidFill>
                <a:latin typeface="Helvetica Neue"/>
                <a:ea typeface="Helvetica Neue"/>
                <a:cs typeface="Helvetica Neue"/>
              </a:defRPr>
            </a:pPr>
            <a:r>
              <a:rPr sz="1275" b="1">
                <a:solidFill>
                  <a:srgbClr val="D97706"/>
                </a:solidFill>
                <a:latin typeface="Helvetica Neue"/>
                <a:ea typeface="Helvetica Neue"/>
                <a:cs typeface="Helvetica Neue"/>
              </a:rPr>
              <a:t>NON-UNIQUENESS</a:t>
            </a:r>
          </a:p>
        </p:txBody>
      </p:sp>
      <p:sp>
        <p:nvSpPr>
          <p:cNvPr id="11" name="Rectangle 10">
            <a:extLst>
              <a:ext uri="{FF2B5EF4-FFF2-40B4-BE49-F238E27FC236}">
                <a16:creationId xmlns:a16="http://schemas.microsoft.com/office/drawing/2014/main" id="{DDAB3179-EF73-4643-ABCF-01B1A913632F}"/>
              </a:ext>
            </a:extLst>
          </p:cNvPr>
          <p:cNvSpPr>
            <a:spLocks noGrp="1"/>
          </p:cNvSpPr>
          <p:nvPr/>
        </p:nvSpPr>
        <p:spPr>
          <a:xfrm>
            <a:off x="6457950" y="2238375"/>
            <a:ext cx="4857750" cy="5524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Several parameterisations or mechanisms could explain the same sparse observations.</a:t>
            </a:r>
          </a:p>
        </p:txBody>
      </p:sp>
      <p:sp>
        <p:nvSpPr>
          <p:cNvPr id="12" name="Rectangle: Rounded Corners 11">
            <a:extLst>
              <a:ext uri="{FF2B5EF4-FFF2-40B4-BE49-F238E27FC236}">
                <a16:creationId xmlns:a16="http://schemas.microsoft.com/office/drawing/2014/main" id="{0BD1585E-9DAA-4A85-BDD8-83B9EC014E2A}"/>
              </a:ext>
            </a:extLst>
          </p:cNvPr>
          <p:cNvSpPr>
            <a:spLocks noGrp="1"/>
          </p:cNvSpPr>
          <p:nvPr/>
        </p:nvSpPr>
        <p:spPr>
          <a:xfrm>
            <a:off x="400050" y="3333750"/>
            <a:ext cx="5429250" cy="1428750"/>
          </a:xfrm>
          <a:prstGeom prst="roundRect">
            <a:avLst>
              <a:gd name="adj" fmla="val 8000"/>
            </a:avLst>
          </a:prstGeom>
          <a:solidFill>
            <a:srgbClr val="F2F3F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81198FAE-837B-4017-9DC9-EDE22552FC61}"/>
              </a:ext>
            </a:extLst>
          </p:cNvPr>
          <p:cNvSpPr>
            <a:spLocks noGrp="1"/>
          </p:cNvSpPr>
          <p:nvPr/>
        </p:nvSpPr>
        <p:spPr>
          <a:xfrm>
            <a:off x="666750" y="3562350"/>
            <a:ext cx="4857750" cy="247650"/>
          </a:xfrm>
          <a:prstGeom prst="rect">
            <a:avLst/>
          </a:prstGeom>
          <a:noFill/>
          <a:ln w="0">
            <a:noFill/>
            <a:prstDash val="solid"/>
          </a:ln>
        </p:spPr>
        <p:txBody>
          <a:bodyPr lIns="0" tIns="0" rIns="0" bIns="0" anchor="t">
            <a:normAutofit/>
          </a:bodyPr>
          <a:lstStyle/>
          <a:p>
            <a:pPr algn="l">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FIT ≠ TRUTH</a:t>
            </a:r>
          </a:p>
        </p:txBody>
      </p:sp>
      <p:sp>
        <p:nvSpPr>
          <p:cNvPr id="14" name="Rectangle 13">
            <a:extLst>
              <a:ext uri="{FF2B5EF4-FFF2-40B4-BE49-F238E27FC236}">
                <a16:creationId xmlns:a16="http://schemas.microsoft.com/office/drawing/2014/main" id="{39C34639-6231-404A-B580-00A4CE84EE37}"/>
              </a:ext>
            </a:extLst>
          </p:cNvPr>
          <p:cNvSpPr>
            <a:spLocks noGrp="1"/>
          </p:cNvSpPr>
          <p:nvPr/>
        </p:nvSpPr>
        <p:spPr>
          <a:xfrm>
            <a:off x="666750" y="4000500"/>
            <a:ext cx="4857750" cy="5524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Agreement with observations did not necessarily identify the correct process or pathway.</a:t>
            </a:r>
          </a:p>
        </p:txBody>
      </p:sp>
      <p:sp>
        <p:nvSpPr>
          <p:cNvPr id="15" name="Rectangle: Rounded Corners 14">
            <a:extLst>
              <a:ext uri="{FF2B5EF4-FFF2-40B4-BE49-F238E27FC236}">
                <a16:creationId xmlns:a16="http://schemas.microsoft.com/office/drawing/2014/main" id="{AEE3787D-1BC7-48D5-91FE-F30AF11B4883}"/>
              </a:ext>
            </a:extLst>
          </p:cNvPr>
          <p:cNvSpPr>
            <a:spLocks noGrp="1"/>
          </p:cNvSpPr>
          <p:nvPr/>
        </p:nvSpPr>
        <p:spPr>
          <a:xfrm>
            <a:off x="6191250" y="3333750"/>
            <a:ext cx="5429250" cy="1428750"/>
          </a:xfrm>
          <a:prstGeom prst="roundRect">
            <a:avLst>
              <a:gd name="adj" fmla="val 8000"/>
            </a:avLst>
          </a:prstGeom>
          <a:solidFill>
            <a:srgbClr val="F2F3F5"/>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FD83D72-F788-4FB1-89DA-09AC9325927F}"/>
              </a:ext>
            </a:extLst>
          </p:cNvPr>
          <p:cNvSpPr>
            <a:spLocks noGrp="1"/>
          </p:cNvSpPr>
          <p:nvPr/>
        </p:nvSpPr>
        <p:spPr>
          <a:xfrm>
            <a:off x="6457950" y="3562350"/>
            <a:ext cx="4857750" cy="247650"/>
          </a:xfrm>
          <a:prstGeom prst="rect">
            <a:avLst/>
          </a:prstGeom>
          <a:noFill/>
          <a:ln w="0">
            <a:noFill/>
            <a:prstDash val="solid"/>
          </a:ln>
        </p:spPr>
        <p:txBody>
          <a:bodyPr lIns="0" tIns="0" rIns="0" bIns="0" anchor="t">
            <a:normAutofit/>
          </a:bodyPr>
          <a:lstStyle/>
          <a:p>
            <a:pPr algn="l">
              <a:defRPr sz="1275" b="1">
                <a:solidFill>
                  <a:srgbClr val="149A84"/>
                </a:solidFill>
                <a:latin typeface="Helvetica Neue"/>
                <a:ea typeface="Helvetica Neue"/>
                <a:cs typeface="Helvetica Neue"/>
              </a:defRPr>
            </a:pPr>
            <a:r>
              <a:rPr sz="1275" b="1">
                <a:solidFill>
                  <a:srgbClr val="149A84"/>
                </a:solidFill>
                <a:latin typeface="Helvetica Neue"/>
                <a:ea typeface="Helvetica Neue"/>
                <a:cs typeface="Helvetica Neue"/>
              </a:rPr>
              <a:t>INTEGRATION ASSUMED</a:t>
            </a:r>
          </a:p>
        </p:txBody>
      </p:sp>
      <p:sp>
        <p:nvSpPr>
          <p:cNvPr id="17" name="Rectangle 16">
            <a:extLst>
              <a:ext uri="{FF2B5EF4-FFF2-40B4-BE49-F238E27FC236}">
                <a16:creationId xmlns:a16="http://schemas.microsoft.com/office/drawing/2014/main" id="{E5BD2D9A-22AA-4113-96B2-DDE398A68C64}"/>
              </a:ext>
            </a:extLst>
          </p:cNvPr>
          <p:cNvSpPr>
            <a:spLocks noGrp="1"/>
          </p:cNvSpPr>
          <p:nvPr/>
        </p:nvSpPr>
        <p:spPr>
          <a:xfrm>
            <a:off x="6457950" y="4000500"/>
            <a:ext cx="4857750" cy="5524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Additional evidence was often treated as automatically beneficial rather than tested.</a:t>
            </a:r>
          </a:p>
        </p:txBody>
      </p:sp>
      <p:sp>
        <p:nvSpPr>
          <p:cNvPr id="18" name="Rectangle: Rounded Corners 17">
            <a:extLst>
              <a:ext uri="{FF2B5EF4-FFF2-40B4-BE49-F238E27FC236}">
                <a16:creationId xmlns:a16="http://schemas.microsoft.com/office/drawing/2014/main" id="{C6CA3DFD-6D86-47D8-8FD3-54B6C3772E88}"/>
              </a:ext>
            </a:extLst>
          </p:cNvPr>
          <p:cNvSpPr>
            <a:spLocks noGrp="1"/>
          </p:cNvSpPr>
          <p:nvPr/>
        </p:nvSpPr>
        <p:spPr>
          <a:xfrm>
            <a:off x="1381125" y="5286375"/>
            <a:ext cx="9429750" cy="685800"/>
          </a:xfrm>
          <a:prstGeom prst="roundRect">
            <a:avLst>
              <a:gd name="adj" fmla="val 16667"/>
            </a:avLst>
          </a:prstGeom>
          <a:solidFill>
            <a:srgbClr val="E9F4F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42662AD5-7981-4D5A-A3A0-53CD8CD98AC2}"/>
              </a:ext>
            </a:extLst>
          </p:cNvPr>
          <p:cNvSpPr>
            <a:spLocks noGrp="1"/>
          </p:cNvSpPr>
          <p:nvPr/>
        </p:nvSpPr>
        <p:spPr>
          <a:xfrm>
            <a:off x="1714500" y="5476875"/>
            <a:ext cx="8763000" cy="342900"/>
          </a:xfrm>
          <a:prstGeom prst="rect">
            <a:avLst/>
          </a:prstGeom>
          <a:noFill/>
          <a:ln w="0">
            <a:noFill/>
            <a:prstDash val="solid"/>
          </a:ln>
        </p:spPr>
        <p:txBody>
          <a:bodyPr lIns="0" tIns="0" rIns="0" bIns="0" anchor="t">
            <a:normAutofit fontScale="78929" lnSpcReduction="10000"/>
          </a:bodyPr>
          <a:lstStyle/>
          <a:p>
            <a:pPr algn="ctr">
              <a:defRPr sz="1575" b="1">
                <a:solidFill>
                  <a:srgbClr val="153A63"/>
                </a:solidFill>
                <a:latin typeface="Helvetica Neue"/>
                <a:ea typeface="Helvetica Neue"/>
                <a:cs typeface="Helvetica Neue"/>
              </a:defRPr>
            </a:pPr>
            <a:r>
              <a:rPr sz="1575" b="1">
                <a:solidFill>
                  <a:srgbClr val="153A63"/>
                </a:solidFill>
                <a:latin typeface="Helvetica Neue"/>
                <a:ea typeface="Helvetica Neue"/>
                <a:cs typeface="Helvetica Neue"/>
              </a:rPr>
              <a:t>Discussion: the missing contribution was not another isolated model, but a falsifiable way to test whether uncertain relations remain globally compatible.</a:t>
            </a:r>
          </a:p>
        </p:txBody>
      </p:sp>
    </p:spTree>
    <p:extLst>
      <p:ext uri="{BB962C8B-B14F-4D97-AF65-F5344CB8AC3E}">
        <p14:creationId xmlns:p14="http://schemas.microsoft.com/office/powerpoint/2010/main" val="1597977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8BD3573-8503-43CA-A0E3-F2D78A81AF3C}"/>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2 · DEVELOP</a:t>
            </a:r>
          </a:p>
        </p:txBody>
      </p:sp>
      <p:sp>
        <p:nvSpPr>
          <p:cNvPr id="2" name="Rectangle 1">
            <a:extLst>
              <a:ext uri="{FF2B5EF4-FFF2-40B4-BE49-F238E27FC236}">
                <a16:creationId xmlns:a16="http://schemas.microsoft.com/office/drawing/2014/main" id="{63CAE65E-097A-44B7-8D61-0B1061B1473A}"/>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2: HydroSheaf made the coupling executable and auditable</a:t>
            </a:r>
          </a:p>
        </p:txBody>
      </p:sp>
      <p:sp>
        <p:nvSpPr>
          <p:cNvPr id="3" name="Rectangle 2">
            <a:extLst>
              <a:ext uri="{FF2B5EF4-FFF2-40B4-BE49-F238E27FC236}">
                <a16:creationId xmlns:a16="http://schemas.microsoft.com/office/drawing/2014/main" id="{4D8CE013-AF90-46D4-AD6D-019CEF874EF2}"/>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0F89CDF3-484B-41C6-B67E-18CB33497BBF}"/>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30EA4E34-9775-40A2-86ED-EB3059E108BE}"/>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13</a:t>
            </a:r>
          </a:p>
        </p:txBody>
      </p:sp>
      <p:sp>
        <p:nvSpPr>
          <p:cNvPr id="6" name="Rectangle: Rounded Corners 5">
            <a:extLst>
              <a:ext uri="{FF2B5EF4-FFF2-40B4-BE49-F238E27FC236}">
                <a16:creationId xmlns:a16="http://schemas.microsoft.com/office/drawing/2014/main" id="{9FA1425E-034B-460C-A208-0FB1E6AA28EC}"/>
              </a:ext>
            </a:extLst>
          </p:cNvPr>
          <p:cNvSpPr>
            <a:spLocks noGrp="1"/>
          </p:cNvSpPr>
          <p:nvPr/>
        </p:nvSpPr>
        <p:spPr>
          <a:xfrm>
            <a:off x="400050" y="1809750"/>
            <a:ext cx="2571750" cy="2857500"/>
          </a:xfrm>
          <a:prstGeom prst="roundRect">
            <a:avLst>
              <a:gd name="adj" fmla="val 4444"/>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2B0DB577-5B54-4D18-B144-C071A2835212}"/>
              </a:ext>
            </a:extLst>
          </p:cNvPr>
          <p:cNvSpPr>
            <a:spLocks noGrp="1"/>
          </p:cNvSpPr>
          <p:nvPr/>
        </p:nvSpPr>
        <p:spPr>
          <a:xfrm>
            <a:off x="590550" y="2047875"/>
            <a:ext cx="2190750" cy="266700"/>
          </a:xfrm>
          <a:prstGeom prst="rect">
            <a:avLst/>
          </a:prstGeom>
          <a:noFill/>
          <a:ln w="0">
            <a:noFill/>
            <a:prstDash val="solid"/>
          </a:ln>
        </p:spPr>
        <p:txBody>
          <a:bodyPr lIns="0" tIns="0" rIns="0" bIns="0" anchor="t">
            <a:normAutofit/>
          </a:bodyPr>
          <a:lstStyle/>
          <a:p>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DOMAIN INFERENCE</a:t>
            </a:r>
          </a:p>
        </p:txBody>
      </p:sp>
      <p:sp>
        <p:nvSpPr>
          <p:cNvPr id="8" name="Rectangle 7">
            <a:extLst>
              <a:ext uri="{FF2B5EF4-FFF2-40B4-BE49-F238E27FC236}">
                <a16:creationId xmlns:a16="http://schemas.microsoft.com/office/drawing/2014/main" id="{8FC72C0F-9DFE-4616-AE2E-53202EA15FFD}"/>
              </a:ext>
            </a:extLst>
          </p:cNvPr>
          <p:cNvSpPr>
            <a:spLocks noGrp="1"/>
          </p:cNvSpPr>
          <p:nvPr/>
        </p:nvSpPr>
        <p:spPr>
          <a:xfrm>
            <a:off x="666750" y="2781300"/>
            <a:ext cx="2038350" cy="1123950"/>
          </a:xfrm>
          <a:prstGeom prst="rect">
            <a:avLst/>
          </a:prstGeom>
          <a:noFill/>
          <a:ln w="0">
            <a:noFill/>
            <a:prstDash val="solid"/>
          </a:ln>
        </p:spPr>
        <p:txBody>
          <a:bodyPr lIns="0" tIns="0" rIns="0" bIns="0" anchor="t">
            <a:normAutofit/>
          </a:bodyPr>
          <a:lstStyle/>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Tracer residence time</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Directed topology</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Inverse reactions</a:t>
            </a:r>
          </a:p>
        </p:txBody>
      </p:sp>
      <p:sp>
        <p:nvSpPr>
          <p:cNvPr id="9" name="Rectangle 8">
            <a:extLst>
              <a:ext uri="{FF2B5EF4-FFF2-40B4-BE49-F238E27FC236}">
                <a16:creationId xmlns:a16="http://schemas.microsoft.com/office/drawing/2014/main" id="{17F09856-73B8-411C-B09E-60AF2109D721}"/>
              </a:ext>
            </a:extLst>
          </p:cNvPr>
          <p:cNvSpPr>
            <a:spLocks noGrp="1"/>
          </p:cNvSpPr>
          <p:nvPr/>
        </p:nvSpPr>
        <p:spPr>
          <a:xfrm>
            <a:off x="2971800" y="3048000"/>
            <a:ext cx="304800" cy="381000"/>
          </a:xfrm>
          <a:prstGeom prst="rect">
            <a:avLst/>
          </a:prstGeom>
          <a:noFill/>
          <a:ln w="0">
            <a:noFill/>
            <a:prstDash val="solid"/>
          </a:ln>
        </p:spPr>
        <p:txBody>
          <a:bodyPr lIns="0" tIns="0" rIns="0" bIns="0" anchor="t">
            <a:normAutofit/>
          </a:bodyPr>
          <a:lstStyle/>
          <a:p>
            <a:pPr algn="ctr">
              <a:defRPr sz="2325" b="1">
                <a:solidFill>
                  <a:srgbClr val="3D8DFF"/>
                </a:solidFill>
                <a:latin typeface="Helvetica Neue"/>
                <a:ea typeface="Helvetica Neue"/>
                <a:cs typeface="Helvetica Neue"/>
              </a:defRPr>
            </a:pPr>
            <a:r>
              <a:rPr sz="2325" b="1">
                <a:solidFill>
                  <a:srgbClr val="3D8DFF"/>
                </a:solidFill>
                <a:latin typeface="Helvetica Neue"/>
                <a:ea typeface="Helvetica Neue"/>
                <a:cs typeface="Helvetica Neue"/>
              </a:rPr>
              <a:t>→</a:t>
            </a:r>
          </a:p>
        </p:txBody>
      </p:sp>
      <p:sp>
        <p:nvSpPr>
          <p:cNvPr id="10" name="Rectangle: Rounded Corners 9">
            <a:extLst>
              <a:ext uri="{FF2B5EF4-FFF2-40B4-BE49-F238E27FC236}">
                <a16:creationId xmlns:a16="http://schemas.microsoft.com/office/drawing/2014/main" id="{FBC86D50-4186-4C43-8FA3-938A08493BAF}"/>
              </a:ext>
            </a:extLst>
          </p:cNvPr>
          <p:cNvSpPr>
            <a:spLocks noGrp="1"/>
          </p:cNvSpPr>
          <p:nvPr/>
        </p:nvSpPr>
        <p:spPr>
          <a:xfrm>
            <a:off x="3276600" y="1809750"/>
            <a:ext cx="2571750" cy="2857500"/>
          </a:xfrm>
          <a:prstGeom prst="roundRect">
            <a:avLst>
              <a:gd name="adj" fmla="val 4444"/>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723274B9-5488-4441-808D-83BDDB9A015E}"/>
              </a:ext>
            </a:extLst>
          </p:cNvPr>
          <p:cNvSpPr>
            <a:spLocks noGrp="1"/>
          </p:cNvSpPr>
          <p:nvPr/>
        </p:nvSpPr>
        <p:spPr>
          <a:xfrm>
            <a:off x="3467100" y="2047875"/>
            <a:ext cx="2190750" cy="266700"/>
          </a:xfrm>
          <a:prstGeom prst="rect">
            <a:avLst/>
          </a:prstGeom>
          <a:noFill/>
          <a:ln w="0">
            <a:noFill/>
            <a:prstDash val="solid"/>
          </a:ln>
        </p:spPr>
        <p:txBody>
          <a:bodyPr lIns="0" tIns="0" rIns="0" bIns="0" anchor="t">
            <a:normAutofit/>
          </a:bodyPr>
          <a:lstStyle/>
          <a:p>
            <a:pPr algn="ctr">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RELATIONAL LAYER</a:t>
            </a:r>
          </a:p>
        </p:txBody>
      </p:sp>
      <p:sp>
        <p:nvSpPr>
          <p:cNvPr id="12" name="Rectangle 11">
            <a:extLst>
              <a:ext uri="{FF2B5EF4-FFF2-40B4-BE49-F238E27FC236}">
                <a16:creationId xmlns:a16="http://schemas.microsoft.com/office/drawing/2014/main" id="{A561BD1A-6E4C-4C1E-8208-D7CF2881E5FC}"/>
              </a:ext>
            </a:extLst>
          </p:cNvPr>
          <p:cNvSpPr>
            <a:spLocks noGrp="1"/>
          </p:cNvSpPr>
          <p:nvPr/>
        </p:nvSpPr>
        <p:spPr>
          <a:xfrm>
            <a:off x="3543300" y="2781300"/>
            <a:ext cx="2038350" cy="1123950"/>
          </a:xfrm>
          <a:prstGeom prst="rect">
            <a:avLst/>
          </a:prstGeom>
          <a:noFill/>
          <a:ln w="0">
            <a:noFill/>
            <a:prstDash val="solid"/>
          </a:ln>
        </p:spPr>
        <p:txBody>
          <a:bodyPr lIns="0" tIns="0" rIns="0" bIns="0" anchor="t">
            <a:normAutofit/>
          </a:bodyPr>
          <a:lstStyle/>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Directed edges</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Affine restriction maps</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Global sections</a:t>
            </a:r>
          </a:p>
        </p:txBody>
      </p:sp>
      <p:sp>
        <p:nvSpPr>
          <p:cNvPr id="13" name="Rectangle 12">
            <a:extLst>
              <a:ext uri="{FF2B5EF4-FFF2-40B4-BE49-F238E27FC236}">
                <a16:creationId xmlns:a16="http://schemas.microsoft.com/office/drawing/2014/main" id="{35925B30-0E06-4DCE-8E92-DD709327CDDF}"/>
              </a:ext>
            </a:extLst>
          </p:cNvPr>
          <p:cNvSpPr>
            <a:spLocks noGrp="1"/>
          </p:cNvSpPr>
          <p:nvPr/>
        </p:nvSpPr>
        <p:spPr>
          <a:xfrm>
            <a:off x="5848350" y="3048000"/>
            <a:ext cx="304800" cy="381000"/>
          </a:xfrm>
          <a:prstGeom prst="rect">
            <a:avLst/>
          </a:prstGeom>
          <a:noFill/>
          <a:ln w="0">
            <a:noFill/>
            <a:prstDash val="solid"/>
          </a:ln>
        </p:spPr>
        <p:txBody>
          <a:bodyPr lIns="0" tIns="0" rIns="0" bIns="0" anchor="t">
            <a:normAutofit/>
          </a:bodyPr>
          <a:lstStyle/>
          <a:p>
            <a:pPr algn="ctr">
              <a:defRPr sz="2325" b="1">
                <a:solidFill>
                  <a:srgbClr val="3D8DFF"/>
                </a:solidFill>
                <a:latin typeface="Helvetica Neue"/>
                <a:ea typeface="Helvetica Neue"/>
                <a:cs typeface="Helvetica Neue"/>
              </a:defRPr>
            </a:pPr>
            <a:r>
              <a:rPr sz="2325" b="1">
                <a:solidFill>
                  <a:srgbClr val="3D8DFF"/>
                </a:solidFill>
                <a:latin typeface="Helvetica Neue"/>
                <a:ea typeface="Helvetica Neue"/>
                <a:cs typeface="Helvetica Neue"/>
              </a:rPr>
              <a:t>→</a:t>
            </a:r>
          </a:p>
        </p:txBody>
      </p:sp>
      <p:sp>
        <p:nvSpPr>
          <p:cNvPr id="14" name="Rectangle: Rounded Corners 13">
            <a:extLst>
              <a:ext uri="{FF2B5EF4-FFF2-40B4-BE49-F238E27FC236}">
                <a16:creationId xmlns:a16="http://schemas.microsoft.com/office/drawing/2014/main" id="{FFDDBB25-911B-4F26-B01B-342BAFCD64B9}"/>
              </a:ext>
            </a:extLst>
          </p:cNvPr>
          <p:cNvSpPr>
            <a:spLocks noGrp="1"/>
          </p:cNvSpPr>
          <p:nvPr/>
        </p:nvSpPr>
        <p:spPr>
          <a:xfrm>
            <a:off x="6153150" y="1809750"/>
            <a:ext cx="2571750" cy="2857500"/>
          </a:xfrm>
          <a:prstGeom prst="roundRect">
            <a:avLst>
              <a:gd name="adj" fmla="val 4444"/>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5591D698-D750-40D1-8E84-D583F26F54D2}"/>
              </a:ext>
            </a:extLst>
          </p:cNvPr>
          <p:cNvSpPr>
            <a:spLocks noGrp="1"/>
          </p:cNvSpPr>
          <p:nvPr/>
        </p:nvSpPr>
        <p:spPr>
          <a:xfrm>
            <a:off x="6343650" y="2047875"/>
            <a:ext cx="2190750" cy="266700"/>
          </a:xfrm>
          <a:prstGeom prst="rect">
            <a:avLst/>
          </a:prstGeom>
          <a:noFill/>
          <a:ln w="0">
            <a:noFill/>
            <a:prstDash val="solid"/>
          </a:ln>
        </p:spPr>
        <p:txBody>
          <a:bodyPr lIns="0" tIns="0" rIns="0" bIns="0" anchor="t">
            <a:normAutofit/>
          </a:bodyPr>
          <a:lstStyle/>
          <a:p>
            <a:pPr algn="ctr">
              <a:defRPr sz="1200" b="1">
                <a:solidFill>
                  <a:srgbClr val="D97706"/>
                </a:solidFill>
                <a:latin typeface="Helvetica Neue"/>
                <a:ea typeface="Helvetica Neue"/>
                <a:cs typeface="Helvetica Neue"/>
              </a:defRPr>
            </a:pPr>
            <a:r>
              <a:rPr sz="1200" b="1">
                <a:solidFill>
                  <a:srgbClr val="D97706"/>
                </a:solidFill>
                <a:latin typeface="Helvetica Neue"/>
                <a:ea typeface="Helvetica Neue"/>
                <a:cs typeface="Helvetica Neue"/>
              </a:rPr>
              <a:t>DIAGNOSTICS</a:t>
            </a:r>
          </a:p>
        </p:txBody>
      </p:sp>
      <p:sp>
        <p:nvSpPr>
          <p:cNvPr id="16" name="Rectangle 15">
            <a:extLst>
              <a:ext uri="{FF2B5EF4-FFF2-40B4-BE49-F238E27FC236}">
                <a16:creationId xmlns:a16="http://schemas.microsoft.com/office/drawing/2014/main" id="{539EC114-A13F-4A20-B18B-CFB1F40DDF46}"/>
              </a:ext>
            </a:extLst>
          </p:cNvPr>
          <p:cNvSpPr>
            <a:spLocks noGrp="1"/>
          </p:cNvSpPr>
          <p:nvPr/>
        </p:nvSpPr>
        <p:spPr>
          <a:xfrm>
            <a:off x="6419850" y="2781300"/>
            <a:ext cx="2038350" cy="1123950"/>
          </a:xfrm>
          <a:prstGeom prst="rect">
            <a:avLst/>
          </a:prstGeom>
          <a:noFill/>
          <a:ln w="0">
            <a:noFill/>
            <a:prstDash val="solid"/>
          </a:ln>
        </p:spPr>
        <p:txBody>
          <a:bodyPr lIns="0" tIns="0" rIns="0" bIns="0" anchor="t">
            <a:normAutofit/>
          </a:bodyPr>
          <a:lstStyle/>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Uncertainty</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Identifiability</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Conflict localisation</a:t>
            </a:r>
          </a:p>
        </p:txBody>
      </p:sp>
      <p:sp>
        <p:nvSpPr>
          <p:cNvPr id="17" name="Rectangle 16">
            <a:extLst>
              <a:ext uri="{FF2B5EF4-FFF2-40B4-BE49-F238E27FC236}">
                <a16:creationId xmlns:a16="http://schemas.microsoft.com/office/drawing/2014/main" id="{7040F82E-436F-4E6C-AC96-7249FD46D08E}"/>
              </a:ext>
            </a:extLst>
          </p:cNvPr>
          <p:cNvSpPr>
            <a:spLocks noGrp="1"/>
          </p:cNvSpPr>
          <p:nvPr/>
        </p:nvSpPr>
        <p:spPr>
          <a:xfrm>
            <a:off x="8724900" y="3048000"/>
            <a:ext cx="304800" cy="381000"/>
          </a:xfrm>
          <a:prstGeom prst="rect">
            <a:avLst/>
          </a:prstGeom>
          <a:noFill/>
          <a:ln w="0">
            <a:noFill/>
            <a:prstDash val="solid"/>
          </a:ln>
        </p:spPr>
        <p:txBody>
          <a:bodyPr lIns="0" tIns="0" rIns="0" bIns="0" anchor="t">
            <a:normAutofit/>
          </a:bodyPr>
          <a:lstStyle/>
          <a:p>
            <a:pPr algn="ctr">
              <a:defRPr sz="2325" b="1">
                <a:solidFill>
                  <a:srgbClr val="3D8DFF"/>
                </a:solidFill>
                <a:latin typeface="Helvetica Neue"/>
                <a:ea typeface="Helvetica Neue"/>
                <a:cs typeface="Helvetica Neue"/>
              </a:defRPr>
            </a:pPr>
            <a:r>
              <a:rPr sz="2325" b="1">
                <a:solidFill>
                  <a:srgbClr val="3D8DFF"/>
                </a:solidFill>
                <a:latin typeface="Helvetica Neue"/>
                <a:ea typeface="Helvetica Neue"/>
                <a:cs typeface="Helvetica Neue"/>
              </a:rPr>
              <a:t>→</a:t>
            </a:r>
          </a:p>
        </p:txBody>
      </p:sp>
      <p:sp>
        <p:nvSpPr>
          <p:cNvPr id="18" name="Rectangle: Rounded Corners 17">
            <a:extLst>
              <a:ext uri="{FF2B5EF4-FFF2-40B4-BE49-F238E27FC236}">
                <a16:creationId xmlns:a16="http://schemas.microsoft.com/office/drawing/2014/main" id="{69C37333-E4F9-44A9-8765-74B1A0EB53F9}"/>
              </a:ext>
            </a:extLst>
          </p:cNvPr>
          <p:cNvSpPr>
            <a:spLocks noGrp="1"/>
          </p:cNvSpPr>
          <p:nvPr/>
        </p:nvSpPr>
        <p:spPr>
          <a:xfrm>
            <a:off x="9029700" y="1809750"/>
            <a:ext cx="2571750" cy="2857500"/>
          </a:xfrm>
          <a:prstGeom prst="roundRect">
            <a:avLst>
              <a:gd name="adj" fmla="val 4444"/>
            </a:avLst>
          </a:prstGeom>
          <a:solidFill>
            <a:srgbClr val="FDE8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DD95050D-D8EE-48E7-857D-20710E6E7680}"/>
              </a:ext>
            </a:extLst>
          </p:cNvPr>
          <p:cNvSpPr>
            <a:spLocks noGrp="1"/>
          </p:cNvSpPr>
          <p:nvPr/>
        </p:nvSpPr>
        <p:spPr>
          <a:xfrm>
            <a:off x="9220200" y="2047875"/>
            <a:ext cx="2190750" cy="266700"/>
          </a:xfrm>
          <a:prstGeom prst="rect">
            <a:avLst/>
          </a:prstGeom>
          <a:noFill/>
          <a:ln w="0">
            <a:noFill/>
            <a:prstDash val="solid"/>
          </a:ln>
        </p:spPr>
        <p:txBody>
          <a:bodyPr lIns="0" tIns="0" rIns="0" bIns="0" anchor="t">
            <a:normAutofit/>
          </a:bodyPr>
          <a:lstStyle/>
          <a:p>
            <a:pPr algn="ctr">
              <a:defRPr sz="1200" b="1">
                <a:solidFill>
                  <a:srgbClr val="C53030"/>
                </a:solidFill>
                <a:latin typeface="Helvetica Neue"/>
                <a:ea typeface="Helvetica Neue"/>
                <a:cs typeface="Helvetica Neue"/>
              </a:defRPr>
            </a:pPr>
            <a:r>
              <a:rPr sz="1200" b="1">
                <a:solidFill>
                  <a:srgbClr val="C53030"/>
                </a:solidFill>
                <a:latin typeface="Helvetica Neue"/>
                <a:ea typeface="Helvetica Neue"/>
                <a:cs typeface="Helvetica Neue"/>
              </a:rPr>
              <a:t>EVALUATION</a:t>
            </a:r>
          </a:p>
        </p:txBody>
      </p:sp>
      <p:sp>
        <p:nvSpPr>
          <p:cNvPr id="20" name="Rectangle 19">
            <a:extLst>
              <a:ext uri="{FF2B5EF4-FFF2-40B4-BE49-F238E27FC236}">
                <a16:creationId xmlns:a16="http://schemas.microsoft.com/office/drawing/2014/main" id="{5AA5AE37-0318-44A9-B6FC-1DB5269C4746}"/>
              </a:ext>
            </a:extLst>
          </p:cNvPr>
          <p:cNvSpPr>
            <a:spLocks noGrp="1"/>
          </p:cNvSpPr>
          <p:nvPr/>
        </p:nvSpPr>
        <p:spPr>
          <a:xfrm>
            <a:off x="9296400" y="2781300"/>
            <a:ext cx="2038350" cy="1123950"/>
          </a:xfrm>
          <a:prstGeom prst="rect">
            <a:avLst/>
          </a:prstGeom>
          <a:noFill/>
          <a:ln w="0">
            <a:noFill/>
            <a:prstDash val="solid"/>
          </a:ln>
        </p:spPr>
        <p:txBody>
          <a:bodyPr lIns="0" tIns="0" rIns="0" bIns="0" anchor="t">
            <a:normAutofit/>
          </a:bodyPr>
          <a:lstStyle/>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Locked tests</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Adverse controls</a:t>
            </a:r>
          </a:p>
          <a:p>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Claim decisions</a:t>
            </a:r>
          </a:p>
        </p:txBody>
      </p:sp>
      <p:sp>
        <p:nvSpPr>
          <p:cNvPr id="21" name="Rectangle: Rounded Corners 20">
            <a:extLst>
              <a:ext uri="{FF2B5EF4-FFF2-40B4-BE49-F238E27FC236}">
                <a16:creationId xmlns:a16="http://schemas.microsoft.com/office/drawing/2014/main" id="{D90511C0-256D-4964-9D19-87C82C06FD6D}"/>
              </a:ext>
            </a:extLst>
          </p:cNvPr>
          <p:cNvSpPr>
            <a:spLocks noGrp="1"/>
          </p:cNvSpPr>
          <p:nvPr/>
        </p:nvSpPr>
        <p:spPr>
          <a:xfrm>
            <a:off x="1524000" y="5048250"/>
            <a:ext cx="9144000" cy="781050"/>
          </a:xfrm>
          <a:prstGeom prst="roundRect">
            <a:avLst>
              <a:gd name="adj" fmla="val 14634"/>
            </a:avLst>
          </a:prstGeom>
          <a:solidFill>
            <a:srgbClr val="E7F7F3"/>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D4034EC6-DAB9-4A1F-BF06-B2DB4A3CD564}"/>
              </a:ext>
            </a:extLst>
          </p:cNvPr>
          <p:cNvSpPr>
            <a:spLocks noGrp="1"/>
          </p:cNvSpPr>
          <p:nvPr/>
        </p:nvSpPr>
        <p:spPr>
          <a:xfrm>
            <a:off x="1857375" y="5248275"/>
            <a:ext cx="8477250" cy="400050"/>
          </a:xfrm>
          <a:prstGeom prst="rect">
            <a:avLst/>
          </a:prstGeom>
          <a:noFill/>
          <a:ln w="0">
            <a:noFill/>
            <a:prstDash val="solid"/>
          </a:ln>
        </p:spPr>
        <p:txBody>
          <a:bodyPr lIns="0" tIns="0" rIns="0" bIns="0" anchor="t">
            <a:normAutofit fontScale="87045" lnSpcReduction="10000"/>
          </a:bodyPr>
          <a:lstStyle/>
          <a:p>
            <a:pPr algn="ctr">
              <a:defRPr sz="1650" b="1">
                <a:solidFill>
                  <a:srgbClr val="153A63"/>
                </a:solidFill>
                <a:latin typeface="Helvetica Neue"/>
                <a:ea typeface="Helvetica Neue"/>
                <a:cs typeface="Helvetica Neue"/>
              </a:defRPr>
            </a:pPr>
            <a:r>
              <a:rPr sz="1650" b="1">
                <a:solidFill>
                  <a:srgbClr val="153A63"/>
                </a:solidFill>
                <a:latin typeface="Helvetica Neue"/>
                <a:ea typeface="Helvetica Neue"/>
                <a:cs typeface="Helvetica Neue"/>
              </a:rPr>
              <a:t>Development result: one framework can carry relations and uncertainty across domains. Capability alone does not establish predictive superiority.</a:t>
            </a:r>
          </a:p>
        </p:txBody>
      </p:sp>
    </p:spTree>
    <p:extLst>
      <p:ext uri="{BB962C8B-B14F-4D97-AF65-F5344CB8AC3E}">
        <p14:creationId xmlns:p14="http://schemas.microsoft.com/office/powerpoint/2010/main" val="1751613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20E9D7C-D553-4D72-989E-EA5E4B5012B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3 · BENCHMARK COMPONENTS</a:t>
            </a:r>
          </a:p>
        </p:txBody>
      </p:sp>
      <p:sp>
        <p:nvSpPr>
          <p:cNvPr id="2" name="Rectangle 1">
            <a:extLst>
              <a:ext uri="{FF2B5EF4-FFF2-40B4-BE49-F238E27FC236}">
                <a16:creationId xmlns:a16="http://schemas.microsoft.com/office/drawing/2014/main" id="{0B67C95F-DA52-47F3-B586-30BA7E0DAF10}"/>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3: controlled foundations worked before novelty was tested</a:t>
            </a:r>
          </a:p>
        </p:txBody>
      </p:sp>
      <p:sp>
        <p:nvSpPr>
          <p:cNvPr id="3" name="Rectangle 2">
            <a:extLst>
              <a:ext uri="{FF2B5EF4-FFF2-40B4-BE49-F238E27FC236}">
                <a16:creationId xmlns:a16="http://schemas.microsoft.com/office/drawing/2014/main" id="{5FD72952-CBE8-4A6F-833F-D00BFFCED408}"/>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C680066C-0DBB-4164-AD00-7CFB5BBBC030}"/>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5D55DCE4-C2F6-424D-A54C-66A08F0E8DFC}"/>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14</a:t>
            </a:r>
          </a:p>
        </p:txBody>
      </p:sp>
      <p:sp>
        <p:nvSpPr>
          <p:cNvPr id="6" name="Rectangle: Rounded Corners 5">
            <a:extLst>
              <a:ext uri="{FF2B5EF4-FFF2-40B4-BE49-F238E27FC236}">
                <a16:creationId xmlns:a16="http://schemas.microsoft.com/office/drawing/2014/main" id="{90E33E53-0621-4D65-9EC0-71B84F4E852D}"/>
              </a:ext>
            </a:extLst>
          </p:cNvPr>
          <p:cNvSpPr>
            <a:spLocks noGrp="1"/>
          </p:cNvSpPr>
          <p:nvPr/>
        </p:nvSpPr>
        <p:spPr>
          <a:xfrm>
            <a:off x="400050" y="1619250"/>
            <a:ext cx="3333750" cy="1257300"/>
          </a:xfrm>
          <a:prstGeom prst="roundRect">
            <a:avLst>
              <a:gd name="adj" fmla="val 9091"/>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29B2A1A8-B76C-44EC-8979-046DD541275F}"/>
              </a:ext>
            </a:extLst>
          </p:cNvPr>
          <p:cNvSpPr>
            <a:spLocks noGrp="1"/>
          </p:cNvSpPr>
          <p:nvPr/>
        </p:nvSpPr>
        <p:spPr>
          <a:xfrm>
            <a:off x="400050" y="1619250"/>
            <a:ext cx="76200" cy="1257300"/>
          </a:xfrm>
          <a:prstGeom prst="rect">
            <a:avLst/>
          </a:prstGeom>
          <a:solidFill>
            <a:srgbClr val="3D8DFF"/>
          </a:solidFill>
          <a:ln w="0">
            <a:noFill/>
            <a:prstDash val="solid"/>
          </a:ln>
        </p:spPr>
        <p:txBody>
          <a:bodyPr/>
          <a:lstStyle/>
          <a:p>
            <a:endParaRPr lang="en-US"/>
          </a:p>
        </p:txBody>
      </p:sp>
      <p:sp>
        <p:nvSpPr>
          <p:cNvPr id="8" name="Rectangle 7">
            <a:extLst>
              <a:ext uri="{FF2B5EF4-FFF2-40B4-BE49-F238E27FC236}">
                <a16:creationId xmlns:a16="http://schemas.microsoft.com/office/drawing/2014/main" id="{1BDB0159-04CC-4EC9-881D-9E691B61ECE4}"/>
              </a:ext>
            </a:extLst>
          </p:cNvPr>
          <p:cNvSpPr>
            <a:spLocks noGrp="1"/>
          </p:cNvSpPr>
          <p:nvPr/>
        </p:nvSpPr>
        <p:spPr>
          <a:xfrm>
            <a:off x="590550" y="1771650"/>
            <a:ext cx="3009900" cy="476250"/>
          </a:xfrm>
          <a:prstGeom prst="rect">
            <a:avLst/>
          </a:prstGeom>
          <a:noFill/>
          <a:ln w="0">
            <a:noFill/>
            <a:prstDash val="solid"/>
          </a:ln>
        </p:spPr>
        <p:txBody>
          <a:bodyPr lIns="0" tIns="0" rIns="0" bIns="0" anchor="t">
            <a:normAutofit/>
          </a:bodyPr>
          <a:lstStyle/>
          <a:p>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100</a:t>
            </a:r>
          </a:p>
        </p:txBody>
      </p:sp>
      <p:sp>
        <p:nvSpPr>
          <p:cNvPr id="9" name="Rectangle 8">
            <a:extLst>
              <a:ext uri="{FF2B5EF4-FFF2-40B4-BE49-F238E27FC236}">
                <a16:creationId xmlns:a16="http://schemas.microsoft.com/office/drawing/2014/main" id="{79DF3F7C-F531-4F45-855B-E9D22B80291A}"/>
              </a:ext>
            </a:extLst>
          </p:cNvPr>
          <p:cNvSpPr>
            <a:spLocks noGrp="1"/>
          </p:cNvSpPr>
          <p:nvPr/>
        </p:nvSpPr>
        <p:spPr>
          <a:xfrm>
            <a:off x="590550" y="23050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controlled transport–reaction realisations</a:t>
            </a:r>
          </a:p>
        </p:txBody>
      </p:sp>
      <p:sp>
        <p:nvSpPr>
          <p:cNvPr id="10" name="Rectangle: Rounded Corners 9">
            <a:extLst>
              <a:ext uri="{FF2B5EF4-FFF2-40B4-BE49-F238E27FC236}">
                <a16:creationId xmlns:a16="http://schemas.microsoft.com/office/drawing/2014/main" id="{CC76B325-21BC-40B3-8CFC-84E89F94C795}"/>
              </a:ext>
            </a:extLst>
          </p:cNvPr>
          <p:cNvSpPr>
            <a:spLocks noGrp="1"/>
          </p:cNvSpPr>
          <p:nvPr/>
        </p:nvSpPr>
        <p:spPr>
          <a:xfrm>
            <a:off x="3943350" y="1619250"/>
            <a:ext cx="3333750" cy="1257300"/>
          </a:xfrm>
          <a:prstGeom prst="roundRect">
            <a:avLst>
              <a:gd name="adj" fmla="val 9091"/>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603D6770-2145-4856-8A25-04007BC7BBB0}"/>
              </a:ext>
            </a:extLst>
          </p:cNvPr>
          <p:cNvSpPr>
            <a:spLocks noGrp="1"/>
          </p:cNvSpPr>
          <p:nvPr/>
        </p:nvSpPr>
        <p:spPr>
          <a:xfrm>
            <a:off x="3943350" y="1619250"/>
            <a:ext cx="76200" cy="1257300"/>
          </a:xfrm>
          <a:prstGeom prst="rect">
            <a:avLst/>
          </a:prstGeom>
          <a:solidFill>
            <a:srgbClr val="149A8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622F69C-E87C-4E90-98FC-837FD9786B0A}"/>
              </a:ext>
            </a:extLst>
          </p:cNvPr>
          <p:cNvSpPr>
            <a:spLocks noGrp="1"/>
          </p:cNvSpPr>
          <p:nvPr/>
        </p:nvSpPr>
        <p:spPr>
          <a:xfrm>
            <a:off x="4133850" y="1771650"/>
            <a:ext cx="3009900" cy="476250"/>
          </a:xfrm>
          <a:prstGeom prst="rect">
            <a:avLst/>
          </a:prstGeom>
          <a:noFill/>
          <a:ln w="0">
            <a:noFill/>
            <a:prstDash val="solid"/>
          </a:ln>
        </p:spPr>
        <p:txBody>
          <a:bodyPr lIns="0" tIns="0" rIns="0" bIns="0" anchor="t">
            <a:normAutofit/>
          </a:bodyPr>
          <a:lstStyle/>
          <a:p>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0.058</a:t>
            </a:r>
          </a:p>
        </p:txBody>
      </p:sp>
      <p:sp>
        <p:nvSpPr>
          <p:cNvPr id="13" name="Rectangle 12">
            <a:extLst>
              <a:ext uri="{FF2B5EF4-FFF2-40B4-BE49-F238E27FC236}">
                <a16:creationId xmlns:a16="http://schemas.microsoft.com/office/drawing/2014/main" id="{C7E922D5-3D62-49E8-B4E3-445BDC0C8485}"/>
              </a:ext>
            </a:extLst>
          </p:cNvPr>
          <p:cNvSpPr>
            <a:spLocks noGrp="1"/>
          </p:cNvSpPr>
          <p:nvPr/>
        </p:nvSpPr>
        <p:spPr>
          <a:xfrm>
            <a:off x="4133850" y="23050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transport absolute error</a:t>
            </a:r>
          </a:p>
        </p:txBody>
      </p:sp>
      <p:sp>
        <p:nvSpPr>
          <p:cNvPr id="14" name="Rectangle: Rounded Corners 13">
            <a:extLst>
              <a:ext uri="{FF2B5EF4-FFF2-40B4-BE49-F238E27FC236}">
                <a16:creationId xmlns:a16="http://schemas.microsoft.com/office/drawing/2014/main" id="{94CE7F42-1639-4FE6-8B84-D0AAAB2BD867}"/>
              </a:ext>
            </a:extLst>
          </p:cNvPr>
          <p:cNvSpPr>
            <a:spLocks noGrp="1"/>
          </p:cNvSpPr>
          <p:nvPr/>
        </p:nvSpPr>
        <p:spPr>
          <a:xfrm>
            <a:off x="7486650" y="1619250"/>
            <a:ext cx="3333750" cy="1257300"/>
          </a:xfrm>
          <a:prstGeom prst="roundRect">
            <a:avLst>
              <a:gd name="adj" fmla="val 9091"/>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F226CC4C-1209-4268-A99A-198BF04C2B8B}"/>
              </a:ext>
            </a:extLst>
          </p:cNvPr>
          <p:cNvSpPr>
            <a:spLocks noGrp="1"/>
          </p:cNvSpPr>
          <p:nvPr/>
        </p:nvSpPr>
        <p:spPr>
          <a:xfrm>
            <a:off x="7486650" y="1619250"/>
            <a:ext cx="76200" cy="1257300"/>
          </a:xfrm>
          <a:prstGeom prst="rect">
            <a:avLst/>
          </a:prstGeom>
          <a:solidFill>
            <a:srgbClr val="D97706"/>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FD1CEE2-29F2-4377-AF4D-79D93A348EE1}"/>
              </a:ext>
            </a:extLst>
          </p:cNvPr>
          <p:cNvSpPr>
            <a:spLocks noGrp="1"/>
          </p:cNvSpPr>
          <p:nvPr/>
        </p:nvSpPr>
        <p:spPr>
          <a:xfrm>
            <a:off x="7677150" y="1771650"/>
            <a:ext cx="3009900" cy="476250"/>
          </a:xfrm>
          <a:prstGeom prst="rect">
            <a:avLst/>
          </a:prstGeom>
          <a:noFill/>
          <a:ln w="0">
            <a:noFill/>
            <a:prstDash val="solid"/>
          </a:ln>
        </p:spPr>
        <p:txBody>
          <a:bodyPr lIns="0" tIns="0" rIns="0" bIns="0" anchor="t">
            <a:normAutofit/>
          </a:bodyPr>
          <a:lstStyle/>
          <a:p>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0.112</a:t>
            </a:r>
          </a:p>
        </p:txBody>
      </p:sp>
      <p:sp>
        <p:nvSpPr>
          <p:cNvPr id="17" name="Rectangle 16">
            <a:extLst>
              <a:ext uri="{FF2B5EF4-FFF2-40B4-BE49-F238E27FC236}">
                <a16:creationId xmlns:a16="http://schemas.microsoft.com/office/drawing/2014/main" id="{948D315E-9591-4C67-A52F-B43F0FFAC94B}"/>
              </a:ext>
            </a:extLst>
          </p:cNvPr>
          <p:cNvSpPr>
            <a:spLocks noGrp="1"/>
          </p:cNvSpPr>
          <p:nvPr/>
        </p:nvSpPr>
        <p:spPr>
          <a:xfrm>
            <a:off x="7677150" y="23050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reaction error</a:t>
            </a:r>
          </a:p>
        </p:txBody>
      </p:sp>
      <p:sp>
        <p:nvSpPr>
          <p:cNvPr id="18" name="Rectangle: Rounded Corners 17">
            <a:extLst>
              <a:ext uri="{FF2B5EF4-FFF2-40B4-BE49-F238E27FC236}">
                <a16:creationId xmlns:a16="http://schemas.microsoft.com/office/drawing/2014/main" id="{CD2D4F1F-7946-4D86-B606-CC4366170A00}"/>
              </a:ext>
            </a:extLst>
          </p:cNvPr>
          <p:cNvSpPr>
            <a:spLocks noGrp="1"/>
          </p:cNvSpPr>
          <p:nvPr/>
        </p:nvSpPr>
        <p:spPr>
          <a:xfrm>
            <a:off x="400050" y="3276600"/>
            <a:ext cx="5238750" cy="2095500"/>
          </a:xfrm>
          <a:prstGeom prst="roundRect">
            <a:avLst>
              <a:gd name="adj" fmla="val 5455"/>
            </a:avLst>
          </a:prstGeom>
          <a:solidFill>
            <a:srgbClr val="F2F3F5"/>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907FB28F-D22F-4A42-8CF3-BDCB5718140F}"/>
              </a:ext>
            </a:extLst>
          </p:cNvPr>
          <p:cNvSpPr>
            <a:spLocks noGrp="1"/>
          </p:cNvSpPr>
          <p:nvPr/>
        </p:nvSpPr>
        <p:spPr>
          <a:xfrm>
            <a:off x="685800" y="3543300"/>
            <a:ext cx="4667250" cy="323850"/>
          </a:xfrm>
          <a:prstGeom prst="rect">
            <a:avLst/>
          </a:prstGeom>
          <a:noFill/>
          <a:ln w="0">
            <a:noFill/>
            <a:prstDash val="solid"/>
          </a:ln>
        </p:spPr>
        <p:txBody>
          <a:bodyPr lIns="0" tIns="0" rIns="0" bIns="0" anchor="t">
            <a:normAutofit/>
          </a:bodyPr>
          <a:lstStyle/>
          <a:p>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What this establishes</a:t>
            </a:r>
          </a:p>
        </p:txBody>
      </p:sp>
      <p:sp>
        <p:nvSpPr>
          <p:cNvPr id="20" name="Rectangle 19">
            <a:extLst>
              <a:ext uri="{FF2B5EF4-FFF2-40B4-BE49-F238E27FC236}">
                <a16:creationId xmlns:a16="http://schemas.microsoft.com/office/drawing/2014/main" id="{C886FD9D-31A0-4BB7-97CF-6AF4F9A8D3A6}"/>
              </a:ext>
            </a:extLst>
          </p:cNvPr>
          <p:cNvSpPr>
            <a:spLocks noGrp="1"/>
          </p:cNvSpPr>
          <p:nvPr/>
        </p:nvSpPr>
        <p:spPr>
          <a:xfrm>
            <a:off x="685800" y="4038600"/>
            <a:ext cx="4552950" cy="1047750"/>
          </a:xfrm>
          <a:prstGeom prst="rect">
            <a:avLst/>
          </a:prstGeom>
          <a:noFill/>
          <a:ln w="0">
            <a:noFill/>
            <a:prstDash val="solid"/>
          </a:ln>
        </p:spPr>
        <p:txBody>
          <a:bodyPr lIns="0" tIns="0" rIns="0" bIns="0" anchor="t">
            <a:normAutofit fontScale="97492" lnSpcReduction="10000"/>
          </a:bodyPr>
          <a:lstStyle/>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controlled recovery is operational</a:t>
            </a:r>
          </a:p>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MODPATH archives can be converted into reference graphs</a:t>
            </a:r>
          </a:p>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PHREEQC-compatible proxy executed; live PHREEQC validated later</a:t>
            </a:r>
          </a:p>
        </p:txBody>
      </p:sp>
      <p:sp>
        <p:nvSpPr>
          <p:cNvPr id="21" name="Rectangle: Rounded Corners 20">
            <a:extLst>
              <a:ext uri="{FF2B5EF4-FFF2-40B4-BE49-F238E27FC236}">
                <a16:creationId xmlns:a16="http://schemas.microsoft.com/office/drawing/2014/main" id="{06F15930-CDA4-4083-B951-DBA0F0191587}"/>
              </a:ext>
            </a:extLst>
          </p:cNvPr>
          <p:cNvSpPr>
            <a:spLocks noGrp="1"/>
          </p:cNvSpPr>
          <p:nvPr/>
        </p:nvSpPr>
        <p:spPr>
          <a:xfrm>
            <a:off x="5905500" y="3276600"/>
            <a:ext cx="5505450" cy="2095500"/>
          </a:xfrm>
          <a:prstGeom prst="roundRect">
            <a:avLst>
              <a:gd name="adj" fmla="val 5455"/>
            </a:avLst>
          </a:prstGeom>
          <a:solidFill>
            <a:srgbClr val="FDE8E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70E2B29B-3F9E-44BC-8BDB-79039166655C}"/>
              </a:ext>
            </a:extLst>
          </p:cNvPr>
          <p:cNvSpPr>
            <a:spLocks noGrp="1"/>
          </p:cNvSpPr>
          <p:nvPr/>
        </p:nvSpPr>
        <p:spPr>
          <a:xfrm>
            <a:off x="6191250" y="3543300"/>
            <a:ext cx="4933950" cy="323850"/>
          </a:xfrm>
          <a:prstGeom prst="rect">
            <a:avLst/>
          </a:prstGeom>
          <a:noFill/>
          <a:ln w="0">
            <a:noFill/>
            <a:prstDash val="solid"/>
          </a:ln>
        </p:spPr>
        <p:txBody>
          <a:bodyPr lIns="0" tIns="0" rIns="0" bIns="0" anchor="t">
            <a:normAutofit/>
          </a:bodyPr>
          <a:lstStyle/>
          <a:p>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What this does not establish</a:t>
            </a:r>
          </a:p>
        </p:txBody>
      </p:sp>
      <p:sp>
        <p:nvSpPr>
          <p:cNvPr id="23" name="Rectangle 22">
            <a:extLst>
              <a:ext uri="{FF2B5EF4-FFF2-40B4-BE49-F238E27FC236}">
                <a16:creationId xmlns:a16="http://schemas.microsoft.com/office/drawing/2014/main" id="{04439AB4-4614-4C71-8C07-6F215058FA4B}"/>
              </a:ext>
            </a:extLst>
          </p:cNvPr>
          <p:cNvSpPr>
            <a:spLocks noGrp="1"/>
          </p:cNvSpPr>
          <p:nvPr/>
        </p:nvSpPr>
        <p:spPr>
          <a:xfrm>
            <a:off x="6191250" y="4038600"/>
            <a:ext cx="4857750" cy="952500"/>
          </a:xfrm>
          <a:prstGeom prst="rect">
            <a:avLst/>
          </a:prstGeom>
          <a:noFill/>
          <a:ln w="0">
            <a:noFill/>
            <a:prstDash val="solid"/>
          </a:ln>
        </p:spPr>
        <p:txBody>
          <a:bodyPr lIns="0" tIns="0" rIns="0" bIns="0" anchor="t">
            <a:normAutofit/>
          </a:bodyPr>
          <a:lstStyle/>
          <a:p>
            <a:pPr algn="l">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F1 = 1.00 for archive conversion is verification of conversion—not perfect inference of an unknown topology.</a:t>
            </a:r>
          </a:p>
        </p:txBody>
      </p:sp>
    </p:spTree>
    <p:extLst>
      <p:ext uri="{BB962C8B-B14F-4D97-AF65-F5344CB8AC3E}">
        <p14:creationId xmlns:p14="http://schemas.microsoft.com/office/powerpoint/2010/main" val="1204750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D409B6DC-18DD-4CEF-B282-779352E5287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RESIDENCE-TIME BENCHMARK</a:t>
            </a:r>
          </a:p>
        </p:txBody>
      </p:sp>
      <p:sp>
        <p:nvSpPr>
          <p:cNvPr id="2" name="Rectangle 1">
            <a:extLst>
              <a:ext uri="{FF2B5EF4-FFF2-40B4-BE49-F238E27FC236}">
                <a16:creationId xmlns:a16="http://schemas.microsoft.com/office/drawing/2014/main" id="{99445A8C-5E58-4590-A4A0-FEFFA46C9C3A}"/>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3: age inference closely reproduced reported configurations</a:t>
            </a:r>
          </a:p>
        </p:txBody>
      </p:sp>
      <p:sp>
        <p:nvSpPr>
          <p:cNvPr id="3" name="Rectangle 2">
            <a:extLst>
              <a:ext uri="{FF2B5EF4-FFF2-40B4-BE49-F238E27FC236}">
                <a16:creationId xmlns:a16="http://schemas.microsoft.com/office/drawing/2014/main" id="{1C39D8E3-D45F-46CC-AEA6-4214247754F2}"/>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F3A6E05B-9E9A-44BA-91BD-717D23997589}"/>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D92D495E-08BC-4924-908A-45D414C7AF32}"/>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15</a:t>
            </a:r>
          </a:p>
        </p:txBody>
      </p:sp>
      <p:sp>
        <p:nvSpPr>
          <p:cNvPr id="6" name="Rectangle: Rounded Corners 5">
            <a:extLst>
              <a:ext uri="{FF2B5EF4-FFF2-40B4-BE49-F238E27FC236}">
                <a16:creationId xmlns:a16="http://schemas.microsoft.com/office/drawing/2014/main" id="{7077E834-E334-41B1-9303-CAF7A03BF814}"/>
              </a:ext>
            </a:extLst>
          </p:cNvPr>
          <p:cNvSpPr>
            <a:spLocks noGrp="1"/>
          </p:cNvSpPr>
          <p:nvPr/>
        </p:nvSpPr>
        <p:spPr>
          <a:xfrm>
            <a:off x="400050" y="1524000"/>
            <a:ext cx="2381250" cy="1257300"/>
          </a:xfrm>
          <a:prstGeom prst="roundRect">
            <a:avLst>
              <a:gd name="adj" fmla="val 9091"/>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F1B54AB0-64D8-45BE-9A1F-0BABAC7117B6}"/>
              </a:ext>
            </a:extLst>
          </p:cNvPr>
          <p:cNvSpPr>
            <a:spLocks noGrp="1"/>
          </p:cNvSpPr>
          <p:nvPr/>
        </p:nvSpPr>
        <p:spPr>
          <a:xfrm>
            <a:off x="400050" y="1524000"/>
            <a:ext cx="76200" cy="1257300"/>
          </a:xfrm>
          <a:prstGeom prst="rect">
            <a:avLst/>
          </a:prstGeom>
          <a:solidFill>
            <a:srgbClr val="3D8DFF"/>
          </a:solidFill>
          <a:ln w="0">
            <a:noFill/>
            <a:prstDash val="solid"/>
          </a:ln>
        </p:spPr>
        <p:txBody>
          <a:bodyPr/>
          <a:lstStyle/>
          <a:p>
            <a:endParaRPr lang="en-US"/>
          </a:p>
        </p:txBody>
      </p:sp>
      <p:sp>
        <p:nvSpPr>
          <p:cNvPr id="8" name="Rectangle 7">
            <a:extLst>
              <a:ext uri="{FF2B5EF4-FFF2-40B4-BE49-F238E27FC236}">
                <a16:creationId xmlns:a16="http://schemas.microsoft.com/office/drawing/2014/main" id="{5D5222D9-2807-4F2E-A7FB-F9F4700CA245}"/>
              </a:ext>
            </a:extLst>
          </p:cNvPr>
          <p:cNvSpPr>
            <a:spLocks noGrp="1"/>
          </p:cNvSpPr>
          <p:nvPr/>
        </p:nvSpPr>
        <p:spPr>
          <a:xfrm>
            <a:off x="590550" y="1676400"/>
            <a:ext cx="2057400" cy="476250"/>
          </a:xfrm>
          <a:prstGeom prst="rect">
            <a:avLst/>
          </a:prstGeom>
          <a:noFill/>
          <a:ln w="0">
            <a:noFill/>
            <a:prstDash val="solid"/>
          </a:ln>
        </p:spPr>
        <p:txBody>
          <a:bodyPr lIns="0" tIns="0" rIns="0" bIns="0" anchor="t">
            <a:normAutofit/>
          </a:bodyPr>
          <a:lstStyle/>
          <a:p>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329</a:t>
            </a:r>
          </a:p>
        </p:txBody>
      </p:sp>
      <p:sp>
        <p:nvSpPr>
          <p:cNvPr id="9" name="Rectangle 8">
            <a:extLst>
              <a:ext uri="{FF2B5EF4-FFF2-40B4-BE49-F238E27FC236}">
                <a16:creationId xmlns:a16="http://schemas.microsoft.com/office/drawing/2014/main" id="{B1099853-5488-4B8B-BB0D-926C478547FF}"/>
              </a:ext>
            </a:extLst>
          </p:cNvPr>
          <p:cNvSpPr>
            <a:spLocks noGrp="1"/>
          </p:cNvSpPr>
          <p:nvPr/>
        </p:nvSpPr>
        <p:spPr>
          <a:xfrm>
            <a:off x="590550" y="2209800"/>
            <a:ext cx="20574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strict reportable fits</a:t>
            </a:r>
          </a:p>
        </p:txBody>
      </p:sp>
      <p:sp>
        <p:nvSpPr>
          <p:cNvPr id="10" name="Rectangle: Rounded Corners 9">
            <a:extLst>
              <a:ext uri="{FF2B5EF4-FFF2-40B4-BE49-F238E27FC236}">
                <a16:creationId xmlns:a16="http://schemas.microsoft.com/office/drawing/2014/main" id="{0CB98D0D-8089-4A1F-92F0-BF632CB90903}"/>
              </a:ext>
            </a:extLst>
          </p:cNvPr>
          <p:cNvSpPr>
            <a:spLocks noGrp="1"/>
          </p:cNvSpPr>
          <p:nvPr/>
        </p:nvSpPr>
        <p:spPr>
          <a:xfrm>
            <a:off x="2971800" y="1524000"/>
            <a:ext cx="2381250" cy="1257300"/>
          </a:xfrm>
          <a:prstGeom prst="roundRect">
            <a:avLst>
              <a:gd name="adj" fmla="val 9091"/>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40FA9FBC-9EDE-482D-892F-AE753DEC81E4}"/>
              </a:ext>
            </a:extLst>
          </p:cNvPr>
          <p:cNvSpPr>
            <a:spLocks noGrp="1"/>
          </p:cNvSpPr>
          <p:nvPr/>
        </p:nvSpPr>
        <p:spPr>
          <a:xfrm>
            <a:off x="2971800" y="1524000"/>
            <a:ext cx="76200" cy="1257300"/>
          </a:xfrm>
          <a:prstGeom prst="rect">
            <a:avLst/>
          </a:prstGeom>
          <a:solidFill>
            <a:srgbClr val="3D8DFF"/>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376118B-A809-42F4-9746-F59811A94C90}"/>
              </a:ext>
            </a:extLst>
          </p:cNvPr>
          <p:cNvSpPr>
            <a:spLocks noGrp="1"/>
          </p:cNvSpPr>
          <p:nvPr/>
        </p:nvSpPr>
        <p:spPr>
          <a:xfrm>
            <a:off x="3162300" y="1676400"/>
            <a:ext cx="2057400" cy="476250"/>
          </a:xfrm>
          <a:prstGeom prst="rect">
            <a:avLst/>
          </a:prstGeom>
          <a:noFill/>
          <a:ln w="0">
            <a:noFill/>
            <a:prstDash val="solid"/>
          </a:ln>
        </p:spPr>
        <p:txBody>
          <a:bodyPr lIns="0" tIns="0" rIns="0" bIns="0" anchor="t">
            <a:normAutofit/>
          </a:bodyPr>
          <a:lstStyle/>
          <a:p>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0.0279</a:t>
            </a:r>
          </a:p>
        </p:txBody>
      </p:sp>
      <p:sp>
        <p:nvSpPr>
          <p:cNvPr id="13" name="Rectangle 12">
            <a:extLst>
              <a:ext uri="{FF2B5EF4-FFF2-40B4-BE49-F238E27FC236}">
                <a16:creationId xmlns:a16="http://schemas.microsoft.com/office/drawing/2014/main" id="{8FE9CF2E-E5FD-4A69-9C6D-9FC2A47B551F}"/>
              </a:ext>
            </a:extLst>
          </p:cNvPr>
          <p:cNvSpPr>
            <a:spLocks noGrp="1"/>
          </p:cNvSpPr>
          <p:nvPr/>
        </p:nvSpPr>
        <p:spPr>
          <a:xfrm>
            <a:off x="3162300" y="2209800"/>
            <a:ext cx="20574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|Δ log₁₀ age|</a:t>
            </a:r>
          </a:p>
        </p:txBody>
      </p:sp>
      <p:sp>
        <p:nvSpPr>
          <p:cNvPr id="14" name="Rectangle: Rounded Corners 13">
            <a:extLst>
              <a:ext uri="{FF2B5EF4-FFF2-40B4-BE49-F238E27FC236}">
                <a16:creationId xmlns:a16="http://schemas.microsoft.com/office/drawing/2014/main" id="{F0841A4C-5F31-4C4D-B382-CFA565C13BF6}"/>
              </a:ext>
            </a:extLst>
          </p:cNvPr>
          <p:cNvSpPr>
            <a:spLocks noGrp="1"/>
          </p:cNvSpPr>
          <p:nvPr/>
        </p:nvSpPr>
        <p:spPr>
          <a:xfrm>
            <a:off x="5543550" y="1524000"/>
            <a:ext cx="2381250" cy="1257300"/>
          </a:xfrm>
          <a:prstGeom prst="roundRect">
            <a:avLst>
              <a:gd name="adj" fmla="val 9091"/>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D7D3E3F2-0DBD-43B9-90D0-C4FDD1BE9BA4}"/>
              </a:ext>
            </a:extLst>
          </p:cNvPr>
          <p:cNvSpPr>
            <a:spLocks noGrp="1"/>
          </p:cNvSpPr>
          <p:nvPr/>
        </p:nvSpPr>
        <p:spPr>
          <a:xfrm>
            <a:off x="5543550" y="1524000"/>
            <a:ext cx="76200" cy="1257300"/>
          </a:xfrm>
          <a:prstGeom prst="rect">
            <a:avLst/>
          </a:prstGeom>
          <a:solidFill>
            <a:srgbClr val="3D8DFF"/>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E484CDB0-14F3-42FA-AF37-9FD94FA74308}"/>
              </a:ext>
            </a:extLst>
          </p:cNvPr>
          <p:cNvSpPr>
            <a:spLocks noGrp="1"/>
          </p:cNvSpPr>
          <p:nvPr/>
        </p:nvSpPr>
        <p:spPr>
          <a:xfrm>
            <a:off x="5734050" y="1676400"/>
            <a:ext cx="2057400" cy="476250"/>
          </a:xfrm>
          <a:prstGeom prst="rect">
            <a:avLst/>
          </a:prstGeom>
          <a:noFill/>
          <a:ln w="0">
            <a:noFill/>
            <a:prstDash val="solid"/>
          </a:ln>
        </p:spPr>
        <p:txBody>
          <a:bodyPr lIns="0" tIns="0" rIns="0" bIns="0" anchor="t">
            <a:normAutofit/>
          </a:bodyPr>
          <a:lstStyle/>
          <a:p>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0.937</a:t>
            </a:r>
          </a:p>
        </p:txBody>
      </p:sp>
      <p:sp>
        <p:nvSpPr>
          <p:cNvPr id="17" name="Rectangle 16">
            <a:extLst>
              <a:ext uri="{FF2B5EF4-FFF2-40B4-BE49-F238E27FC236}">
                <a16:creationId xmlns:a16="http://schemas.microsoft.com/office/drawing/2014/main" id="{39AC431E-62DC-43DD-8A3C-4D3DFE3D3535}"/>
              </a:ext>
            </a:extLst>
          </p:cNvPr>
          <p:cNvSpPr>
            <a:spLocks noGrp="1"/>
          </p:cNvSpPr>
          <p:nvPr/>
        </p:nvSpPr>
        <p:spPr>
          <a:xfrm>
            <a:off x="5734050" y="2209800"/>
            <a:ext cx="20574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R² against reported configuration</a:t>
            </a:r>
          </a:p>
        </p:txBody>
      </p:sp>
      <p:sp>
        <p:nvSpPr>
          <p:cNvPr id="18" name="Rectangle: Rounded Corners 17">
            <a:extLst>
              <a:ext uri="{FF2B5EF4-FFF2-40B4-BE49-F238E27FC236}">
                <a16:creationId xmlns:a16="http://schemas.microsoft.com/office/drawing/2014/main" id="{06966DE6-718B-4E3D-9580-059F5186BCDB}"/>
              </a:ext>
            </a:extLst>
          </p:cNvPr>
          <p:cNvSpPr>
            <a:spLocks noGrp="1"/>
          </p:cNvSpPr>
          <p:nvPr/>
        </p:nvSpPr>
        <p:spPr>
          <a:xfrm>
            <a:off x="8115300" y="1524000"/>
            <a:ext cx="2381250" cy="1257300"/>
          </a:xfrm>
          <a:prstGeom prst="roundRect">
            <a:avLst>
              <a:gd name="adj" fmla="val 9091"/>
            </a:avLst>
          </a:prstGeom>
          <a:solidFill>
            <a:srgbClr val="F2F3F5"/>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C470CAAB-1C34-4F66-9165-8EEA768FFF81}"/>
              </a:ext>
            </a:extLst>
          </p:cNvPr>
          <p:cNvSpPr>
            <a:spLocks noGrp="1"/>
          </p:cNvSpPr>
          <p:nvPr/>
        </p:nvSpPr>
        <p:spPr>
          <a:xfrm>
            <a:off x="8115300" y="1524000"/>
            <a:ext cx="76200" cy="1257300"/>
          </a:xfrm>
          <a:prstGeom prst="rect">
            <a:avLst/>
          </a:prstGeom>
          <a:solidFill>
            <a:srgbClr val="3D8DFF"/>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65391E90-600C-476D-B13E-4BC050E643CD}"/>
              </a:ext>
            </a:extLst>
          </p:cNvPr>
          <p:cNvSpPr>
            <a:spLocks noGrp="1"/>
          </p:cNvSpPr>
          <p:nvPr/>
        </p:nvSpPr>
        <p:spPr>
          <a:xfrm>
            <a:off x="8305800" y="1676400"/>
            <a:ext cx="2057400" cy="476250"/>
          </a:xfrm>
          <a:prstGeom prst="rect">
            <a:avLst/>
          </a:prstGeom>
          <a:noFill/>
          <a:ln w="0">
            <a:noFill/>
            <a:prstDash val="solid"/>
          </a:ln>
        </p:spPr>
        <p:txBody>
          <a:bodyPr lIns="0" tIns="0" rIns="0" bIns="0" anchor="t">
            <a:normAutofit/>
          </a:bodyPr>
          <a:lstStyle/>
          <a:p>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87.5%</a:t>
            </a:r>
          </a:p>
        </p:txBody>
      </p:sp>
      <p:sp>
        <p:nvSpPr>
          <p:cNvPr id="21" name="Rectangle 20">
            <a:extLst>
              <a:ext uri="{FF2B5EF4-FFF2-40B4-BE49-F238E27FC236}">
                <a16:creationId xmlns:a16="http://schemas.microsoft.com/office/drawing/2014/main" id="{7AC79F14-23B7-4468-B1F1-2F947ADE69D0}"/>
              </a:ext>
            </a:extLst>
          </p:cNvPr>
          <p:cNvSpPr>
            <a:spLocks noGrp="1"/>
          </p:cNvSpPr>
          <p:nvPr/>
        </p:nvSpPr>
        <p:spPr>
          <a:xfrm>
            <a:off x="8305800" y="2209800"/>
            <a:ext cx="20574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within factor two</a:t>
            </a:r>
          </a:p>
        </p:txBody>
      </p:sp>
      <p:sp>
        <p:nvSpPr>
          <p:cNvPr id="22" name="Rectangle: Rounded Corners 21">
            <a:extLst>
              <a:ext uri="{FF2B5EF4-FFF2-40B4-BE49-F238E27FC236}">
                <a16:creationId xmlns:a16="http://schemas.microsoft.com/office/drawing/2014/main" id="{467F115D-BB80-4C5A-B823-51092D5AFA1B}"/>
              </a:ext>
            </a:extLst>
          </p:cNvPr>
          <p:cNvSpPr>
            <a:spLocks noGrp="1"/>
          </p:cNvSpPr>
          <p:nvPr/>
        </p:nvSpPr>
        <p:spPr>
          <a:xfrm>
            <a:off x="400050" y="3143250"/>
            <a:ext cx="11391900" cy="2171700"/>
          </a:xfrm>
          <a:prstGeom prst="roundRect">
            <a:avLst>
              <a:gd name="adj" fmla="val 5263"/>
            </a:avLst>
          </a:prstGeom>
          <a:solidFill>
            <a:srgbClr val="F2F3F5"/>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C15382B1-B528-4AB1-B082-C75078D1F190}"/>
              </a:ext>
            </a:extLst>
          </p:cNvPr>
          <p:cNvSpPr>
            <a:spLocks noGrp="1"/>
          </p:cNvSpPr>
          <p:nvPr/>
        </p:nvSpPr>
        <p:spPr>
          <a:xfrm>
            <a:off x="685800" y="3429000"/>
            <a:ext cx="2857500" cy="323850"/>
          </a:xfrm>
          <a:prstGeom prst="rect">
            <a:avLst/>
          </a:prstGeom>
          <a:noFill/>
          <a:ln w="0">
            <a:noFill/>
            <a:prstDash val="solid"/>
          </a:ln>
        </p:spPr>
        <p:txBody>
          <a:bodyPr lIns="0" tIns="0" rIns="0" bIns="0" anchor="t">
            <a:normAutofit/>
          </a:bodyPr>
          <a:lstStyle/>
          <a:p>
            <a:pPr algn="l">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Topology stress test</a:t>
            </a:r>
          </a:p>
        </p:txBody>
      </p:sp>
      <p:sp>
        <p:nvSpPr>
          <p:cNvPr id="24" name="Rectangle 23">
            <a:extLst>
              <a:ext uri="{FF2B5EF4-FFF2-40B4-BE49-F238E27FC236}">
                <a16:creationId xmlns:a16="http://schemas.microsoft.com/office/drawing/2014/main" id="{230F20D6-BD76-4296-A2FF-58B9E7ECA479}"/>
              </a:ext>
            </a:extLst>
          </p:cNvPr>
          <p:cNvSpPr>
            <a:spLocks noGrp="1"/>
          </p:cNvSpPr>
          <p:nvPr/>
        </p:nvSpPr>
        <p:spPr>
          <a:xfrm>
            <a:off x="685800" y="3905250"/>
            <a:ext cx="2333625"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Weak hydraulic proxy</a:t>
            </a:r>
          </a:p>
        </p:txBody>
      </p:sp>
      <p:sp>
        <p:nvSpPr>
          <p:cNvPr id="25" name="Rectangle 24">
            <a:extLst>
              <a:ext uri="{FF2B5EF4-FFF2-40B4-BE49-F238E27FC236}">
                <a16:creationId xmlns:a16="http://schemas.microsoft.com/office/drawing/2014/main" id="{63DBB6C5-55B0-4369-974A-8B9FC3439A63}"/>
              </a:ext>
            </a:extLst>
          </p:cNvPr>
          <p:cNvSpPr>
            <a:spLocks noGrp="1"/>
          </p:cNvSpPr>
          <p:nvPr/>
        </p:nvSpPr>
        <p:spPr>
          <a:xfrm>
            <a:off x="3190875" y="3905250"/>
            <a:ext cx="1666875" cy="247650"/>
          </a:xfrm>
          <a:prstGeom prst="rect">
            <a:avLst/>
          </a:prstGeom>
          <a:noFill/>
          <a:ln w="0">
            <a:noFill/>
            <a:prstDash val="solid"/>
          </a:ln>
        </p:spPr>
        <p:txBody>
          <a:bodyPr lIns="0" tIns="0" rIns="0" bIns="0" anchor="t">
            <a:normAutofit/>
          </a:bodyPr>
          <a:lstStyle/>
          <a:p>
            <a:pPr algn="l">
              <a:defRPr sz="1350" b="0">
                <a:solidFill>
                  <a:srgbClr val="D97706"/>
                </a:solidFill>
                <a:latin typeface="Helvetica Neue"/>
                <a:ea typeface="Helvetica Neue"/>
                <a:cs typeface="Helvetica Neue"/>
              </a:defRPr>
            </a:pPr>
            <a:r>
              <a:rPr sz="1350" b="0">
                <a:solidFill>
                  <a:srgbClr val="D97706"/>
                </a:solidFill>
                <a:latin typeface="Helvetica Neue"/>
                <a:ea typeface="Helvetica Neue"/>
                <a:cs typeface="Helvetica Neue"/>
              </a:rPr>
              <a:t>−0.00135 RMSE</a:t>
            </a:r>
          </a:p>
        </p:txBody>
      </p:sp>
      <p:sp>
        <p:nvSpPr>
          <p:cNvPr id="26" name="Rectangle 25">
            <a:extLst>
              <a:ext uri="{FF2B5EF4-FFF2-40B4-BE49-F238E27FC236}">
                <a16:creationId xmlns:a16="http://schemas.microsoft.com/office/drawing/2014/main" id="{7776881A-93E8-4946-BA73-D803561518F2}"/>
              </a:ext>
            </a:extLst>
          </p:cNvPr>
          <p:cNvSpPr>
            <a:spLocks noGrp="1"/>
          </p:cNvSpPr>
          <p:nvPr/>
        </p:nvSpPr>
        <p:spPr>
          <a:xfrm>
            <a:off x="5095875" y="3905250"/>
            <a:ext cx="3238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factor-two agreement worsened</a:t>
            </a:r>
          </a:p>
        </p:txBody>
      </p:sp>
      <p:sp>
        <p:nvSpPr>
          <p:cNvPr id="27" name="Rectangle: Rounded Corners 26">
            <a:extLst>
              <a:ext uri="{FF2B5EF4-FFF2-40B4-BE49-F238E27FC236}">
                <a16:creationId xmlns:a16="http://schemas.microsoft.com/office/drawing/2014/main" id="{54C533FE-F670-4DC6-8612-E08151C1FCB2}"/>
              </a:ext>
            </a:extLst>
          </p:cNvPr>
          <p:cNvSpPr>
            <a:spLocks noGrp="1"/>
          </p:cNvSpPr>
          <p:nvPr/>
        </p:nvSpPr>
        <p:spPr>
          <a:xfrm>
            <a:off x="9048750" y="3867150"/>
            <a:ext cx="2000250" cy="323850"/>
          </a:xfrm>
          <a:prstGeom prst="roundRect">
            <a:avLst>
              <a:gd name="adj" fmla="val 50000"/>
            </a:avLst>
          </a:prstGeom>
          <a:solidFill>
            <a:srgbClr val="FFF3D9"/>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0823516C-C3A3-40A6-A21B-3A049D42978F}"/>
              </a:ext>
            </a:extLst>
          </p:cNvPr>
          <p:cNvSpPr>
            <a:spLocks noGrp="1"/>
          </p:cNvSpPr>
          <p:nvPr/>
        </p:nvSpPr>
        <p:spPr>
          <a:xfrm>
            <a:off x="9144000" y="3933825"/>
            <a:ext cx="1809750" cy="190500"/>
          </a:xfrm>
          <a:prstGeom prst="rect">
            <a:avLst/>
          </a:prstGeom>
          <a:noFill/>
          <a:ln w="0">
            <a:noFill/>
            <a:prstDash val="solid"/>
          </a:ln>
        </p:spPr>
        <p:txBody>
          <a:bodyPr lIns="0" tIns="0" rIns="0" bIns="0" anchor="t">
            <a:normAutofit/>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NO ROBUST GAIN</a:t>
            </a:r>
          </a:p>
        </p:txBody>
      </p:sp>
      <p:sp>
        <p:nvSpPr>
          <p:cNvPr id="29" name="Rectangle 28">
            <a:extLst>
              <a:ext uri="{FF2B5EF4-FFF2-40B4-BE49-F238E27FC236}">
                <a16:creationId xmlns:a16="http://schemas.microsoft.com/office/drawing/2014/main" id="{227924DF-E6B0-4ECC-83F7-2917DEEDCB84}"/>
              </a:ext>
            </a:extLst>
          </p:cNvPr>
          <p:cNvSpPr>
            <a:spLocks noGrp="1"/>
          </p:cNvSpPr>
          <p:nvPr/>
        </p:nvSpPr>
        <p:spPr>
          <a:xfrm>
            <a:off x="685800" y="4362450"/>
            <a:ext cx="2333625"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Wrong direction</a:t>
            </a:r>
          </a:p>
        </p:txBody>
      </p:sp>
      <p:sp>
        <p:nvSpPr>
          <p:cNvPr id="30" name="Rectangle 29">
            <a:extLst>
              <a:ext uri="{FF2B5EF4-FFF2-40B4-BE49-F238E27FC236}">
                <a16:creationId xmlns:a16="http://schemas.microsoft.com/office/drawing/2014/main" id="{842F0FF1-A93B-456F-B0D6-288E01332DCA}"/>
              </a:ext>
            </a:extLst>
          </p:cNvPr>
          <p:cNvSpPr>
            <a:spLocks noGrp="1"/>
          </p:cNvSpPr>
          <p:nvPr/>
        </p:nvSpPr>
        <p:spPr>
          <a:xfrm>
            <a:off x="3190875" y="4362450"/>
            <a:ext cx="1666875" cy="247650"/>
          </a:xfrm>
          <a:prstGeom prst="rect">
            <a:avLst/>
          </a:prstGeom>
          <a:noFill/>
          <a:ln w="0">
            <a:noFill/>
            <a:prstDash val="solid"/>
          </a:ln>
        </p:spPr>
        <p:txBody>
          <a:bodyPr lIns="0" tIns="0" rIns="0" bIns="0" anchor="t">
            <a:normAutofit/>
          </a:bodyPr>
          <a:lstStyle/>
          <a:p>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+0.1008 RMSE</a:t>
            </a:r>
          </a:p>
        </p:txBody>
      </p:sp>
      <p:sp>
        <p:nvSpPr>
          <p:cNvPr id="31" name="Rectangle 30">
            <a:extLst>
              <a:ext uri="{FF2B5EF4-FFF2-40B4-BE49-F238E27FC236}">
                <a16:creationId xmlns:a16="http://schemas.microsoft.com/office/drawing/2014/main" id="{5160A2BF-5FF4-426A-9E73-3E36D9EA61C4}"/>
              </a:ext>
            </a:extLst>
          </p:cNvPr>
          <p:cNvSpPr>
            <a:spLocks noGrp="1"/>
          </p:cNvSpPr>
          <p:nvPr/>
        </p:nvSpPr>
        <p:spPr>
          <a:xfrm>
            <a:off x="5095875" y="4362450"/>
            <a:ext cx="3238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clear negative transfer</a:t>
            </a:r>
          </a:p>
        </p:txBody>
      </p:sp>
      <p:sp>
        <p:nvSpPr>
          <p:cNvPr id="32" name="Rectangle: Rounded Corners 31">
            <a:extLst>
              <a:ext uri="{FF2B5EF4-FFF2-40B4-BE49-F238E27FC236}">
                <a16:creationId xmlns:a16="http://schemas.microsoft.com/office/drawing/2014/main" id="{2931781F-2582-4C1A-B485-5CA4B72EEE50}"/>
              </a:ext>
            </a:extLst>
          </p:cNvPr>
          <p:cNvSpPr>
            <a:spLocks noGrp="1"/>
          </p:cNvSpPr>
          <p:nvPr/>
        </p:nvSpPr>
        <p:spPr>
          <a:xfrm>
            <a:off x="9048750" y="4324350"/>
            <a:ext cx="2000250" cy="323850"/>
          </a:xfrm>
          <a:prstGeom prst="roundRect">
            <a:avLst>
              <a:gd name="adj" fmla="val 50000"/>
            </a:avLst>
          </a:prstGeom>
          <a:solidFill>
            <a:srgbClr val="FDE8E8"/>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E717F720-EA76-4B8A-9BDC-BCC47B9F5025}"/>
              </a:ext>
            </a:extLst>
          </p:cNvPr>
          <p:cNvSpPr>
            <a:spLocks noGrp="1"/>
          </p:cNvSpPr>
          <p:nvPr/>
        </p:nvSpPr>
        <p:spPr>
          <a:xfrm>
            <a:off x="9144000" y="4391025"/>
            <a:ext cx="1809750"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HARMFUL</a:t>
            </a:r>
          </a:p>
        </p:txBody>
      </p:sp>
      <p:sp>
        <p:nvSpPr>
          <p:cNvPr id="34" name="Rectangle 33">
            <a:extLst>
              <a:ext uri="{FF2B5EF4-FFF2-40B4-BE49-F238E27FC236}">
                <a16:creationId xmlns:a16="http://schemas.microsoft.com/office/drawing/2014/main" id="{47AAA88B-A9A6-403B-8E0D-C425FDC821AA}"/>
              </a:ext>
            </a:extLst>
          </p:cNvPr>
          <p:cNvSpPr>
            <a:spLocks noGrp="1"/>
          </p:cNvSpPr>
          <p:nvPr/>
        </p:nvSpPr>
        <p:spPr>
          <a:xfrm>
            <a:off x="685800" y="4819650"/>
            <a:ext cx="2333625"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Random graph</a:t>
            </a:r>
          </a:p>
        </p:txBody>
      </p:sp>
      <p:sp>
        <p:nvSpPr>
          <p:cNvPr id="35" name="Rectangle 34">
            <a:extLst>
              <a:ext uri="{FF2B5EF4-FFF2-40B4-BE49-F238E27FC236}">
                <a16:creationId xmlns:a16="http://schemas.microsoft.com/office/drawing/2014/main" id="{04D9D932-85B9-4A1E-8BC1-E3CCAF14DD35}"/>
              </a:ext>
            </a:extLst>
          </p:cNvPr>
          <p:cNvSpPr>
            <a:spLocks noGrp="1"/>
          </p:cNvSpPr>
          <p:nvPr/>
        </p:nvSpPr>
        <p:spPr>
          <a:xfrm>
            <a:off x="3190875" y="4819650"/>
            <a:ext cx="1666875" cy="247650"/>
          </a:xfrm>
          <a:prstGeom prst="rect">
            <a:avLst/>
          </a:prstGeom>
          <a:noFill/>
          <a:ln w="0">
            <a:noFill/>
            <a:prstDash val="solid"/>
          </a:ln>
        </p:spPr>
        <p:txBody>
          <a:bodyPr lIns="0" tIns="0" rIns="0" bIns="0" anchor="t">
            <a:normAutofit/>
          </a:bodyPr>
          <a:lstStyle/>
          <a:p>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+0.6550 RMSE</a:t>
            </a:r>
          </a:p>
        </p:txBody>
      </p:sp>
      <p:sp>
        <p:nvSpPr>
          <p:cNvPr id="36" name="Rectangle 35">
            <a:extLst>
              <a:ext uri="{FF2B5EF4-FFF2-40B4-BE49-F238E27FC236}">
                <a16:creationId xmlns:a16="http://schemas.microsoft.com/office/drawing/2014/main" id="{6C9A2D98-A6C2-42A4-A14E-419869620D0A}"/>
              </a:ext>
            </a:extLst>
          </p:cNvPr>
          <p:cNvSpPr>
            <a:spLocks noGrp="1"/>
          </p:cNvSpPr>
          <p:nvPr/>
        </p:nvSpPr>
        <p:spPr>
          <a:xfrm>
            <a:off x="5095875" y="4819650"/>
            <a:ext cx="3238500" cy="2476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severe negative transfer</a:t>
            </a:r>
          </a:p>
        </p:txBody>
      </p:sp>
      <p:sp>
        <p:nvSpPr>
          <p:cNvPr id="37" name="Rectangle: Rounded Corners 36">
            <a:extLst>
              <a:ext uri="{FF2B5EF4-FFF2-40B4-BE49-F238E27FC236}">
                <a16:creationId xmlns:a16="http://schemas.microsoft.com/office/drawing/2014/main" id="{291AB0B3-07A1-4FCA-B915-BFD5A63F4D3D}"/>
              </a:ext>
            </a:extLst>
          </p:cNvPr>
          <p:cNvSpPr>
            <a:spLocks noGrp="1"/>
          </p:cNvSpPr>
          <p:nvPr/>
        </p:nvSpPr>
        <p:spPr>
          <a:xfrm>
            <a:off x="9048750" y="4781550"/>
            <a:ext cx="2000250" cy="323850"/>
          </a:xfrm>
          <a:prstGeom prst="roundRect">
            <a:avLst>
              <a:gd name="adj" fmla="val 50000"/>
            </a:avLst>
          </a:prstGeom>
          <a:solidFill>
            <a:srgbClr val="FDE8E8"/>
          </a:solidFill>
          <a:ln w="0">
            <a:noFill/>
            <a:prstDash val="solid"/>
          </a:ln>
        </p:spPr>
        <p:txBody>
          <a:bodyPr/>
          <a:lstStyle/>
          <a:p>
            <a:endParaRPr lang="en-US"/>
          </a:p>
        </p:txBody>
      </p:sp>
      <p:sp>
        <p:nvSpPr>
          <p:cNvPr id="38" name="Rectangle 37">
            <a:extLst>
              <a:ext uri="{FF2B5EF4-FFF2-40B4-BE49-F238E27FC236}">
                <a16:creationId xmlns:a16="http://schemas.microsoft.com/office/drawing/2014/main" id="{BB245F1A-38DF-433C-89B6-30AC93780E55}"/>
              </a:ext>
            </a:extLst>
          </p:cNvPr>
          <p:cNvSpPr>
            <a:spLocks noGrp="1"/>
          </p:cNvSpPr>
          <p:nvPr/>
        </p:nvSpPr>
        <p:spPr>
          <a:xfrm>
            <a:off x="9144000" y="4848225"/>
            <a:ext cx="1809750"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HARMFUL</a:t>
            </a:r>
          </a:p>
        </p:txBody>
      </p:sp>
    </p:spTree>
    <p:extLst>
      <p:ext uri="{BB962C8B-B14F-4D97-AF65-F5344CB8AC3E}">
        <p14:creationId xmlns:p14="http://schemas.microsoft.com/office/powerpoint/2010/main" val="381984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439840B-5E91-4DB5-8310-3B5A90BA8557}"/>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DIRECTED-CONNECTIVITY BENCHMARK</a:t>
            </a:r>
          </a:p>
        </p:txBody>
      </p:sp>
      <p:sp>
        <p:nvSpPr>
          <p:cNvPr id="2" name="Rectangle 1">
            <a:extLst>
              <a:ext uri="{FF2B5EF4-FFF2-40B4-BE49-F238E27FC236}">
                <a16:creationId xmlns:a16="http://schemas.microsoft.com/office/drawing/2014/main" id="{8A23256C-9F3D-46D8-AB23-814793F6A874}"/>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Objective 3: topology skill was conditional, not perfect</a:t>
            </a:r>
          </a:p>
        </p:txBody>
      </p:sp>
      <p:sp>
        <p:nvSpPr>
          <p:cNvPr id="3" name="Rectangle 2">
            <a:extLst>
              <a:ext uri="{FF2B5EF4-FFF2-40B4-BE49-F238E27FC236}">
                <a16:creationId xmlns:a16="http://schemas.microsoft.com/office/drawing/2014/main" id="{875F8784-2930-44AE-B3FE-4D3C9BEE7132}"/>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C3EA8132-D272-4AB6-9D4F-541BDF8CD807}"/>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C9B9A312-33A7-46AC-84FB-07AE09BC7BC3}"/>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16</a:t>
            </a:r>
          </a:p>
        </p:txBody>
      </p:sp>
      <p:pic>
        <p:nvPicPr>
          <p:cNvPr id="21" name="Picture 20"/>
          <p:cNvPicPr>
            <a:picLocks noChangeAspect="1"/>
          </p:cNvPicPr>
          <p:nvPr/>
        </p:nvPicPr>
        <p:blipFill>
          <a:blip r:embed="rId3"/>
          <a:stretch/>
        </p:blipFill>
        <p:spPr>
          <a:xfrm>
            <a:off x="886144" y="1381125"/>
            <a:ext cx="5038406" cy="5010150"/>
          </a:xfrm>
          <a:prstGeom prst="rect">
            <a:avLst/>
          </a:prstGeom>
        </p:spPr>
      </p:pic>
      <p:sp>
        <p:nvSpPr>
          <p:cNvPr id="7" name="Rectangle: Rounded Corners 6">
            <a:extLst>
              <a:ext uri="{FF2B5EF4-FFF2-40B4-BE49-F238E27FC236}">
                <a16:creationId xmlns:a16="http://schemas.microsoft.com/office/drawing/2014/main" id="{E7742E3E-4689-445D-A9AC-FEEB1F80F5F5}"/>
              </a:ext>
            </a:extLst>
          </p:cNvPr>
          <p:cNvSpPr>
            <a:spLocks noGrp="1"/>
          </p:cNvSpPr>
          <p:nvPr/>
        </p:nvSpPr>
        <p:spPr>
          <a:xfrm>
            <a:off x="7334250" y="1543050"/>
            <a:ext cx="4095750" cy="1524000"/>
          </a:xfrm>
          <a:prstGeom prst="roundRect">
            <a:avLst>
              <a:gd name="adj" fmla="val 7500"/>
            </a:avLst>
          </a:prstGeom>
          <a:solidFill>
            <a:srgbClr val="E7F7F3"/>
          </a:solidFill>
          <a:ln w="0">
            <a:noFill/>
            <a:prstDash val="solid"/>
          </a:ln>
        </p:spPr>
        <p:txBody>
          <a:bodyPr/>
          <a:lstStyle/>
          <a:p>
            <a:endParaRPr lang="en-US"/>
          </a:p>
        </p:txBody>
      </p:sp>
      <p:sp>
        <p:nvSpPr>
          <p:cNvPr id="8" name="Rectangle 7">
            <a:extLst>
              <a:ext uri="{FF2B5EF4-FFF2-40B4-BE49-F238E27FC236}">
                <a16:creationId xmlns:a16="http://schemas.microsoft.com/office/drawing/2014/main" id="{0185D3C6-9AAD-4098-8B28-CFCCBC7FBF99}"/>
              </a:ext>
            </a:extLst>
          </p:cNvPr>
          <p:cNvSpPr>
            <a:spLocks noGrp="1"/>
          </p:cNvSpPr>
          <p:nvPr/>
        </p:nvSpPr>
        <p:spPr>
          <a:xfrm>
            <a:off x="7620000" y="1762125"/>
            <a:ext cx="3524250" cy="285750"/>
          </a:xfrm>
          <a:prstGeom prst="rect">
            <a:avLst/>
          </a:prstGeom>
          <a:noFill/>
          <a:ln w="0">
            <a:noFill/>
            <a:prstDash val="solid"/>
          </a:ln>
        </p:spPr>
        <p:txBody>
          <a:bodyPr lIns="0" tIns="0" rIns="0" bIns="0" anchor="t">
            <a:normAutofit/>
          </a:bodyPr>
          <a:lstStyle/>
          <a:p>
            <a:pPr algn="l">
              <a:defRPr sz="1725" b="1">
                <a:solidFill>
                  <a:srgbClr val="149A84"/>
                </a:solidFill>
                <a:latin typeface="Helvetica Neue"/>
                <a:ea typeface="Helvetica Neue"/>
                <a:cs typeface="Helvetica Neue"/>
              </a:defRPr>
            </a:pPr>
            <a:r>
              <a:rPr sz="1725" b="1">
                <a:solidFill>
                  <a:srgbClr val="149A84"/>
                </a:solidFill>
                <a:latin typeface="Helvetica Neue"/>
                <a:ea typeface="Helvetica Neue"/>
                <a:cs typeface="Helvetica Neue"/>
              </a:rPr>
              <a:t>Head-gradient inference</a:t>
            </a:r>
          </a:p>
        </p:txBody>
      </p:sp>
      <p:sp>
        <p:nvSpPr>
          <p:cNvPr id="9" name="Rectangle 8">
            <a:extLst>
              <a:ext uri="{FF2B5EF4-FFF2-40B4-BE49-F238E27FC236}">
                <a16:creationId xmlns:a16="http://schemas.microsoft.com/office/drawing/2014/main" id="{095C00A3-799C-4A71-9CFC-6BE3657502C9}"/>
              </a:ext>
            </a:extLst>
          </p:cNvPr>
          <p:cNvSpPr>
            <a:spLocks noGrp="1"/>
          </p:cNvSpPr>
          <p:nvPr/>
        </p:nvSpPr>
        <p:spPr>
          <a:xfrm>
            <a:off x="7620000" y="2305050"/>
            <a:ext cx="3524250" cy="381000"/>
          </a:xfrm>
          <a:prstGeom prst="rect">
            <a:avLst/>
          </a:prstGeom>
          <a:noFill/>
          <a:ln w="0">
            <a:noFill/>
            <a:prstDash val="solid"/>
          </a:ln>
        </p:spPr>
        <p:txBody>
          <a:bodyPr lIns="0" tIns="0" rIns="0" bIns="0" anchor="t">
            <a:normAutofit/>
          </a:bodyPr>
          <a:lstStyle/>
          <a:p>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P 0.49  ·  R 0.84  ·  F1 0.62</a:t>
            </a:r>
          </a:p>
        </p:txBody>
      </p:sp>
      <p:sp>
        <p:nvSpPr>
          <p:cNvPr id="10" name="Rectangle: Rounded Corners 9">
            <a:extLst>
              <a:ext uri="{FF2B5EF4-FFF2-40B4-BE49-F238E27FC236}">
                <a16:creationId xmlns:a16="http://schemas.microsoft.com/office/drawing/2014/main" id="{A3D0033E-ACCB-476A-BD96-8BF6B1437246}"/>
              </a:ext>
            </a:extLst>
          </p:cNvPr>
          <p:cNvSpPr>
            <a:spLocks noGrp="1"/>
          </p:cNvSpPr>
          <p:nvPr/>
        </p:nvSpPr>
        <p:spPr>
          <a:xfrm>
            <a:off x="7334250" y="3257550"/>
            <a:ext cx="4095750" cy="1066800"/>
          </a:xfrm>
          <a:prstGeom prst="roundRect">
            <a:avLst>
              <a:gd name="adj" fmla="val 10714"/>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47D6C9D9-F361-40AC-9E5B-6CEF44B39786}"/>
              </a:ext>
            </a:extLst>
          </p:cNvPr>
          <p:cNvSpPr>
            <a:spLocks noGrp="1"/>
          </p:cNvSpPr>
          <p:nvPr/>
        </p:nvSpPr>
        <p:spPr>
          <a:xfrm>
            <a:off x="7620000" y="3448050"/>
            <a:ext cx="3524250" cy="26670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Independent scenarios</a:t>
            </a:r>
          </a:p>
        </p:txBody>
      </p:sp>
      <p:sp>
        <p:nvSpPr>
          <p:cNvPr id="12" name="Rectangle 11">
            <a:extLst>
              <a:ext uri="{FF2B5EF4-FFF2-40B4-BE49-F238E27FC236}">
                <a16:creationId xmlns:a16="http://schemas.microsoft.com/office/drawing/2014/main" id="{DCA1D0D2-8E4D-444A-B010-255773FEACC6}"/>
              </a:ext>
            </a:extLst>
          </p:cNvPr>
          <p:cNvSpPr>
            <a:spLocks noGrp="1"/>
          </p:cNvSpPr>
          <p:nvPr/>
        </p:nvSpPr>
        <p:spPr>
          <a:xfrm>
            <a:off x="7620000" y="3848100"/>
            <a:ext cx="3524250" cy="285750"/>
          </a:xfrm>
          <a:prstGeom prst="rect">
            <a:avLst/>
          </a:prstGeom>
          <a:noFill/>
          <a:ln w="0">
            <a:noFill/>
            <a:prstDash val="solid"/>
          </a:ln>
        </p:spPr>
        <p:txBody>
          <a:bodyPr lIns="0" tIns="0" rIns="0" bIns="0" anchor="t">
            <a:normAutofit/>
          </a:bodyPr>
          <a:lstStyle/>
          <a:p>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1 perfect · 3 with FP/FN · 2 scale mismatches</a:t>
            </a:r>
          </a:p>
        </p:txBody>
      </p:sp>
      <p:sp>
        <p:nvSpPr>
          <p:cNvPr id="13" name="Rectangle: Rounded Corners 12">
            <a:extLst>
              <a:ext uri="{FF2B5EF4-FFF2-40B4-BE49-F238E27FC236}">
                <a16:creationId xmlns:a16="http://schemas.microsoft.com/office/drawing/2014/main" id="{93B2759D-60DD-4DAC-A30B-09808AB1A51C}"/>
              </a:ext>
            </a:extLst>
          </p:cNvPr>
          <p:cNvSpPr>
            <a:spLocks noGrp="1"/>
          </p:cNvSpPr>
          <p:nvPr/>
        </p:nvSpPr>
        <p:spPr>
          <a:xfrm>
            <a:off x="7334250" y="4514850"/>
            <a:ext cx="4095750" cy="1066800"/>
          </a:xfrm>
          <a:prstGeom prst="roundRect">
            <a:avLst>
              <a:gd name="adj" fmla="val 10714"/>
            </a:avLst>
          </a:prstGeom>
          <a:solidFill>
            <a:srgbClr val="FDE8E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AB8A425C-E6B0-4FA4-8948-B619D9E3093C}"/>
              </a:ext>
            </a:extLst>
          </p:cNvPr>
          <p:cNvSpPr>
            <a:spLocks noGrp="1"/>
          </p:cNvSpPr>
          <p:nvPr/>
        </p:nvSpPr>
        <p:spPr>
          <a:xfrm>
            <a:off x="7620000" y="4705350"/>
            <a:ext cx="3524250" cy="2667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Guardrail</a:t>
            </a:r>
          </a:p>
        </p:txBody>
      </p:sp>
      <p:sp>
        <p:nvSpPr>
          <p:cNvPr id="15" name="Rectangle 14">
            <a:extLst>
              <a:ext uri="{FF2B5EF4-FFF2-40B4-BE49-F238E27FC236}">
                <a16:creationId xmlns:a16="http://schemas.microsoft.com/office/drawing/2014/main" id="{3EC08AD3-2AE6-44DF-9BBD-476142AC3D87}"/>
              </a:ext>
            </a:extLst>
          </p:cNvPr>
          <p:cNvSpPr>
            <a:spLocks noGrp="1"/>
          </p:cNvSpPr>
          <p:nvPr/>
        </p:nvSpPr>
        <p:spPr>
          <a:xfrm>
            <a:off x="7620000" y="5105400"/>
            <a:ext cx="3524250" cy="342900"/>
          </a:xfrm>
          <a:prstGeom prst="rect">
            <a:avLst/>
          </a:prstGeom>
          <a:noFill/>
          <a:ln w="0">
            <a:noFill/>
            <a:prstDash val="solid"/>
          </a:ln>
        </p:spPr>
        <p:txBody>
          <a:bodyPr lIns="0" tIns="0" rIns="0" bIns="0" anchor="t">
            <a:normAutofit fontScale="90833" lnSpcReduction="10000"/>
          </a:bodyPr>
          <a:lstStyle/>
          <a:p>
            <a:pPr algn="l">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Model-conditioned MODPATH topology ≠ field connectivity truth</a:t>
            </a:r>
          </a:p>
        </p:txBody>
      </p:sp>
    </p:spTree>
    <p:extLst>
      <p:ext uri="{BB962C8B-B14F-4D97-AF65-F5344CB8AC3E}">
        <p14:creationId xmlns:p14="http://schemas.microsoft.com/office/powerpoint/2010/main" val="1941727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AEA343C-D842-4EBC-87FE-AD0CB9AD2054}"/>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REACTION-INFERENCE BENCHMARK</a:t>
            </a:r>
          </a:p>
        </p:txBody>
      </p:sp>
      <p:sp>
        <p:nvSpPr>
          <p:cNvPr id="2" name="Rectangle 1">
            <a:extLst>
              <a:ext uri="{FF2B5EF4-FFF2-40B4-BE49-F238E27FC236}">
                <a16:creationId xmlns:a16="http://schemas.microsoft.com/office/drawing/2014/main" id="{6E8E6ABB-59AE-4F9D-93DC-129CCB091EC3}"/>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3: low residuals did not identify unique reaction mechanisms</a:t>
            </a:r>
          </a:p>
        </p:txBody>
      </p:sp>
      <p:sp>
        <p:nvSpPr>
          <p:cNvPr id="3" name="Rectangle 2">
            <a:extLst>
              <a:ext uri="{FF2B5EF4-FFF2-40B4-BE49-F238E27FC236}">
                <a16:creationId xmlns:a16="http://schemas.microsoft.com/office/drawing/2014/main" id="{4FABCE5D-7933-4164-9050-1B0CC8FA8D67}"/>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4D264882-877D-47BC-A599-BC02C86368B1}"/>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3A38D493-A4A2-4C0C-A641-4D38956B00DB}"/>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17</a:t>
            </a:r>
          </a:p>
        </p:txBody>
      </p:sp>
      <p:pic>
        <p:nvPicPr>
          <p:cNvPr id="23" name="Picture 22"/>
          <p:cNvPicPr>
            <a:picLocks noChangeAspect="1"/>
          </p:cNvPicPr>
          <p:nvPr/>
        </p:nvPicPr>
        <p:blipFill>
          <a:blip r:embed="rId3"/>
          <a:stretch/>
        </p:blipFill>
        <p:spPr>
          <a:xfrm>
            <a:off x="839743" y="1381125"/>
            <a:ext cx="6454865" cy="4810125"/>
          </a:xfrm>
          <a:prstGeom prst="rect">
            <a:avLst/>
          </a:prstGeom>
        </p:spPr>
      </p:pic>
      <p:sp>
        <p:nvSpPr>
          <p:cNvPr id="7" name="Rectangle: Rounded Corners 6">
            <a:extLst>
              <a:ext uri="{FF2B5EF4-FFF2-40B4-BE49-F238E27FC236}">
                <a16:creationId xmlns:a16="http://schemas.microsoft.com/office/drawing/2014/main" id="{D6DF7CD8-E0D2-432A-BE5F-D22098DB3EC9}"/>
              </a:ext>
            </a:extLst>
          </p:cNvPr>
          <p:cNvSpPr>
            <a:spLocks noGrp="1"/>
          </p:cNvSpPr>
          <p:nvPr/>
        </p:nvSpPr>
        <p:spPr>
          <a:xfrm>
            <a:off x="8048625" y="1543050"/>
            <a:ext cx="3333750" cy="1257300"/>
          </a:xfrm>
          <a:prstGeom prst="roundRect">
            <a:avLst>
              <a:gd name="adj" fmla="val 9091"/>
            </a:avLst>
          </a:prstGeom>
          <a:solidFill>
            <a:srgbClr val="F2F3F5"/>
          </a:solidFill>
          <a:ln w="0">
            <a:noFill/>
            <a:prstDash val="solid"/>
          </a:ln>
        </p:spPr>
        <p:txBody>
          <a:bodyPr/>
          <a:lstStyle/>
          <a:p>
            <a:endParaRPr lang="en-US"/>
          </a:p>
        </p:txBody>
      </p:sp>
      <p:sp>
        <p:nvSpPr>
          <p:cNvPr id="8" name="Rectangle 7">
            <a:extLst>
              <a:ext uri="{FF2B5EF4-FFF2-40B4-BE49-F238E27FC236}">
                <a16:creationId xmlns:a16="http://schemas.microsoft.com/office/drawing/2014/main" id="{33183D93-71B7-4F74-A31C-7094B9482589}"/>
              </a:ext>
            </a:extLst>
          </p:cNvPr>
          <p:cNvSpPr>
            <a:spLocks noGrp="1"/>
          </p:cNvSpPr>
          <p:nvPr/>
        </p:nvSpPr>
        <p:spPr>
          <a:xfrm>
            <a:off x="8048625" y="1543050"/>
            <a:ext cx="76200" cy="1257300"/>
          </a:xfrm>
          <a:prstGeom prst="rect">
            <a:avLst/>
          </a:prstGeom>
          <a:solidFill>
            <a:srgbClr val="D97706"/>
          </a:solidFill>
          <a:ln w="0">
            <a:noFill/>
            <a:prstDash val="solid"/>
          </a:ln>
        </p:spPr>
        <p:txBody>
          <a:bodyPr/>
          <a:lstStyle/>
          <a:p>
            <a:endParaRPr lang="en-US"/>
          </a:p>
        </p:txBody>
      </p:sp>
      <p:sp>
        <p:nvSpPr>
          <p:cNvPr id="9" name="Rectangle 8">
            <a:extLst>
              <a:ext uri="{FF2B5EF4-FFF2-40B4-BE49-F238E27FC236}">
                <a16:creationId xmlns:a16="http://schemas.microsoft.com/office/drawing/2014/main" id="{599EED18-2B18-4797-A07C-3DAD5760972E}"/>
              </a:ext>
            </a:extLst>
          </p:cNvPr>
          <p:cNvSpPr>
            <a:spLocks noGrp="1"/>
          </p:cNvSpPr>
          <p:nvPr/>
        </p:nvSpPr>
        <p:spPr>
          <a:xfrm>
            <a:off x="8239125" y="1695450"/>
            <a:ext cx="3009900" cy="476250"/>
          </a:xfrm>
          <a:prstGeom prst="rect">
            <a:avLst/>
          </a:prstGeom>
          <a:noFill/>
          <a:ln w="0">
            <a:noFill/>
            <a:prstDash val="solid"/>
          </a:ln>
        </p:spPr>
        <p:txBody>
          <a:bodyPr lIns="0" tIns="0" rIns="0" bIns="0" anchor="t">
            <a:normAutofit/>
          </a:bodyPr>
          <a:lstStyle/>
          <a:p>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185.78</a:t>
            </a:r>
          </a:p>
        </p:txBody>
      </p:sp>
      <p:sp>
        <p:nvSpPr>
          <p:cNvPr id="10" name="Rectangle 9">
            <a:extLst>
              <a:ext uri="{FF2B5EF4-FFF2-40B4-BE49-F238E27FC236}">
                <a16:creationId xmlns:a16="http://schemas.microsoft.com/office/drawing/2014/main" id="{2F7A4D45-9DAF-48B6-9F0B-284E20CCE685}"/>
              </a:ext>
            </a:extLst>
          </p:cNvPr>
          <p:cNvSpPr>
            <a:spLocks noGrp="1"/>
          </p:cNvSpPr>
          <p:nvPr/>
        </p:nvSpPr>
        <p:spPr>
          <a:xfrm>
            <a:off x="8239125" y="22288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mean feasible PHREEQC models / scenario</a:t>
            </a:r>
          </a:p>
        </p:txBody>
      </p:sp>
      <p:sp>
        <p:nvSpPr>
          <p:cNvPr id="11" name="Rectangle: Rounded Corners 10">
            <a:extLst>
              <a:ext uri="{FF2B5EF4-FFF2-40B4-BE49-F238E27FC236}">
                <a16:creationId xmlns:a16="http://schemas.microsoft.com/office/drawing/2014/main" id="{43E42F92-B629-48F0-9C40-16B0BBAA3B75}"/>
              </a:ext>
            </a:extLst>
          </p:cNvPr>
          <p:cNvSpPr>
            <a:spLocks noGrp="1"/>
          </p:cNvSpPr>
          <p:nvPr/>
        </p:nvSpPr>
        <p:spPr>
          <a:xfrm>
            <a:off x="8048625" y="2990850"/>
            <a:ext cx="3333750" cy="1257300"/>
          </a:xfrm>
          <a:prstGeom prst="roundRect">
            <a:avLst>
              <a:gd name="adj" fmla="val 9091"/>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9AA31AC-E6E5-4137-B2F0-DCA586D09C45}"/>
              </a:ext>
            </a:extLst>
          </p:cNvPr>
          <p:cNvSpPr>
            <a:spLocks noGrp="1"/>
          </p:cNvSpPr>
          <p:nvPr/>
        </p:nvSpPr>
        <p:spPr>
          <a:xfrm>
            <a:off x="8048625" y="2990850"/>
            <a:ext cx="76200" cy="1257300"/>
          </a:xfrm>
          <a:prstGeom prst="rect">
            <a:avLst/>
          </a:prstGeom>
          <a:solidFill>
            <a:srgbClr val="D97706"/>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2AFF9A3-6A91-4F02-987D-19C0C015AEC6}"/>
              </a:ext>
            </a:extLst>
          </p:cNvPr>
          <p:cNvSpPr>
            <a:spLocks noGrp="1"/>
          </p:cNvSpPr>
          <p:nvPr/>
        </p:nvSpPr>
        <p:spPr>
          <a:xfrm>
            <a:off x="8239125" y="3143250"/>
            <a:ext cx="3009900" cy="476250"/>
          </a:xfrm>
          <a:prstGeom prst="rect">
            <a:avLst/>
          </a:prstGeom>
          <a:noFill/>
          <a:ln w="0">
            <a:noFill/>
            <a:prstDash val="solid"/>
          </a:ln>
        </p:spPr>
        <p:txBody>
          <a:bodyPr lIns="0" tIns="0" rIns="0" bIns="0" anchor="t">
            <a:normAutofit/>
          </a:bodyPr>
          <a:lstStyle/>
          <a:p>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6.79</a:t>
            </a:r>
          </a:p>
        </p:txBody>
      </p:sp>
      <p:sp>
        <p:nvSpPr>
          <p:cNvPr id="14" name="Rectangle 13">
            <a:extLst>
              <a:ext uri="{FF2B5EF4-FFF2-40B4-BE49-F238E27FC236}">
                <a16:creationId xmlns:a16="http://schemas.microsoft.com/office/drawing/2014/main" id="{7A97A1B4-2304-4784-AA35-B99C3C38CEFB}"/>
              </a:ext>
            </a:extLst>
          </p:cNvPr>
          <p:cNvSpPr>
            <a:spLocks noGrp="1"/>
          </p:cNvSpPr>
          <p:nvPr/>
        </p:nvSpPr>
        <p:spPr>
          <a:xfrm>
            <a:off x="8239125" y="36766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mean minimal models / scenario</a:t>
            </a:r>
          </a:p>
        </p:txBody>
      </p:sp>
      <p:sp>
        <p:nvSpPr>
          <p:cNvPr id="15" name="Rectangle: Rounded Corners 14">
            <a:extLst>
              <a:ext uri="{FF2B5EF4-FFF2-40B4-BE49-F238E27FC236}">
                <a16:creationId xmlns:a16="http://schemas.microsoft.com/office/drawing/2014/main" id="{FB5E8F52-1059-4469-AB12-CC18840EAF56}"/>
              </a:ext>
            </a:extLst>
          </p:cNvPr>
          <p:cNvSpPr>
            <a:spLocks noGrp="1"/>
          </p:cNvSpPr>
          <p:nvPr/>
        </p:nvSpPr>
        <p:spPr>
          <a:xfrm>
            <a:off x="8048625" y="4438650"/>
            <a:ext cx="3333750" cy="1238250"/>
          </a:xfrm>
          <a:prstGeom prst="roundRect">
            <a:avLst>
              <a:gd name="adj" fmla="val 9231"/>
            </a:avLst>
          </a:prstGeom>
          <a:solidFill>
            <a:srgbClr val="E9F4FF"/>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A3F5FE83-9CA4-4731-86F8-6DEA54D2713B}"/>
              </a:ext>
            </a:extLst>
          </p:cNvPr>
          <p:cNvSpPr>
            <a:spLocks noGrp="1"/>
          </p:cNvSpPr>
          <p:nvPr/>
        </p:nvSpPr>
        <p:spPr>
          <a:xfrm>
            <a:off x="8267700" y="4629150"/>
            <a:ext cx="2905125" cy="266700"/>
          </a:xfrm>
          <a:prstGeom prst="rect">
            <a:avLst/>
          </a:prstGeom>
          <a:noFill/>
          <a:ln w="0">
            <a:noFill/>
            <a:prstDash val="solid"/>
          </a:ln>
        </p:spPr>
        <p:txBody>
          <a:bodyPr lIns="0" tIns="0" rIns="0" bIns="0" anchor="t">
            <a:normAutofit/>
          </a:bodyPr>
          <a:lstStyle/>
          <a:p>
            <a:pPr algn="l">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Primary guarded result</a:t>
            </a:r>
          </a:p>
        </p:txBody>
      </p:sp>
      <p:sp>
        <p:nvSpPr>
          <p:cNvPr id="17" name="Rectangle 16">
            <a:extLst>
              <a:ext uri="{FF2B5EF4-FFF2-40B4-BE49-F238E27FC236}">
                <a16:creationId xmlns:a16="http://schemas.microsoft.com/office/drawing/2014/main" id="{B0A3A028-C7B5-4F60-811E-F2DB2B9397AD}"/>
              </a:ext>
            </a:extLst>
          </p:cNvPr>
          <p:cNvSpPr>
            <a:spLocks noGrp="1"/>
          </p:cNvSpPr>
          <p:nvPr/>
        </p:nvSpPr>
        <p:spPr>
          <a:xfrm>
            <a:off x="8267700" y="5000625"/>
            <a:ext cx="2905125" cy="552450"/>
          </a:xfrm>
          <a:prstGeom prst="rect">
            <a:avLst/>
          </a:prstGeom>
          <a:noFill/>
          <a:ln w="0">
            <a:noFill/>
            <a:prstDash val="solid"/>
          </a:ln>
        </p:spPr>
        <p:txBody>
          <a:bodyPr lIns="0" tIns="0" rIns="0" bIns="0" anchor="t">
            <a:normAutofit fontScale="88055" lnSpcReduction="10000"/>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Phase F1 0.563</a:t>
            </a:r>
          </a:p>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Equivalence-class F1 0.609</a:t>
            </a:r>
          </a:p>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FDR 0.361</a:t>
            </a:r>
          </a:p>
        </p:txBody>
      </p:sp>
    </p:spTree>
    <p:extLst>
      <p:ext uri="{BB962C8B-B14F-4D97-AF65-F5344CB8AC3E}">
        <p14:creationId xmlns:p14="http://schemas.microsoft.com/office/powerpoint/2010/main" val="503507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7D7219D-FEF2-407A-8FFD-4BE162CA1CA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4 · ROBUSTNESS AND IDENTIFIABILITY</a:t>
            </a:r>
          </a:p>
        </p:txBody>
      </p:sp>
      <p:sp>
        <p:nvSpPr>
          <p:cNvPr id="2" name="Rectangle 1">
            <a:extLst>
              <a:ext uri="{FF2B5EF4-FFF2-40B4-BE49-F238E27FC236}">
                <a16:creationId xmlns:a16="http://schemas.microsoft.com/office/drawing/2014/main" id="{A877250C-A4E4-4068-BCC0-5664AE1C9889}"/>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Objective 4: robustness depended on evidence quality</a:t>
            </a:r>
          </a:p>
        </p:txBody>
      </p:sp>
      <p:sp>
        <p:nvSpPr>
          <p:cNvPr id="3" name="Rectangle 2">
            <a:extLst>
              <a:ext uri="{FF2B5EF4-FFF2-40B4-BE49-F238E27FC236}">
                <a16:creationId xmlns:a16="http://schemas.microsoft.com/office/drawing/2014/main" id="{BCE4FDF5-E823-47EB-9DE8-D40DABC6E7F3}"/>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7C2EFA29-B9B1-4056-BA6D-386B7C4B05EF}"/>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1C73DB8A-AAA1-4E23-9325-2CEA9F6ADFAE}"/>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18</a:t>
            </a:r>
          </a:p>
        </p:txBody>
      </p:sp>
      <p:sp>
        <p:nvSpPr>
          <p:cNvPr id="6" name="Rectangle: Rounded Corners 5">
            <a:extLst>
              <a:ext uri="{FF2B5EF4-FFF2-40B4-BE49-F238E27FC236}">
                <a16:creationId xmlns:a16="http://schemas.microsoft.com/office/drawing/2014/main" id="{CE4FB094-2B40-4DE4-BFE0-A589283717AA}"/>
              </a:ext>
            </a:extLst>
          </p:cNvPr>
          <p:cNvSpPr>
            <a:spLocks noGrp="1"/>
          </p:cNvSpPr>
          <p:nvPr/>
        </p:nvSpPr>
        <p:spPr>
          <a:xfrm>
            <a:off x="400050" y="1524000"/>
            <a:ext cx="11391900" cy="781050"/>
          </a:xfrm>
          <a:prstGeom prst="roundRect">
            <a:avLst>
              <a:gd name="adj" fmla="val 14634"/>
            </a:avLst>
          </a:prstGeom>
          <a:solidFill>
            <a:srgbClr val="FDE8E8"/>
          </a:solidFill>
          <a:ln w="0">
            <a:noFill/>
            <a:prstDash val="solid"/>
          </a:ln>
        </p:spPr>
        <p:txBody>
          <a:bodyPr/>
          <a:lstStyle/>
          <a:p>
            <a:endParaRPr lang="en-US"/>
          </a:p>
        </p:txBody>
      </p:sp>
      <p:sp>
        <p:nvSpPr>
          <p:cNvPr id="7" name="Rectangle 6">
            <a:extLst>
              <a:ext uri="{FF2B5EF4-FFF2-40B4-BE49-F238E27FC236}">
                <a16:creationId xmlns:a16="http://schemas.microsoft.com/office/drawing/2014/main" id="{DE8A13B1-EE66-4482-B18E-43FB6C732237}"/>
              </a:ext>
            </a:extLst>
          </p:cNvPr>
          <p:cNvSpPr>
            <a:spLocks noGrp="1"/>
          </p:cNvSpPr>
          <p:nvPr/>
        </p:nvSpPr>
        <p:spPr>
          <a:xfrm>
            <a:off x="647700" y="1676400"/>
            <a:ext cx="2857500" cy="228600"/>
          </a:xfrm>
          <a:prstGeom prst="rect">
            <a:avLst/>
          </a:prstGeom>
          <a:noFill/>
          <a:ln w="0">
            <a:noFill/>
            <a:prstDash val="solid"/>
          </a:ln>
        </p:spPr>
        <p:txBody>
          <a:bodyPr lIns="0" tIns="0" rIns="0" bIns="0" anchor="t">
            <a:normAutofit/>
          </a:bodyPr>
          <a:lstStyle/>
          <a:p>
            <a:pPr algn="l">
              <a:defRPr sz="1200" b="1">
                <a:solidFill>
                  <a:srgbClr val="C53030"/>
                </a:solidFill>
                <a:latin typeface="Helvetica Neue"/>
                <a:ea typeface="Helvetica Neue"/>
                <a:cs typeface="Helvetica Neue"/>
              </a:defRPr>
            </a:pPr>
            <a:r>
              <a:rPr sz="1200" b="1">
                <a:solidFill>
                  <a:srgbClr val="C53030"/>
                </a:solidFill>
                <a:latin typeface="Helvetica Neue"/>
                <a:ea typeface="Helvetica Neue"/>
                <a:cs typeface="Helvetica Neue"/>
              </a:rPr>
              <a:t>ALTERNATIVE ASSUMPTIONS</a:t>
            </a:r>
          </a:p>
        </p:txBody>
      </p:sp>
      <p:sp>
        <p:nvSpPr>
          <p:cNvPr id="8" name="Rectangle 7">
            <a:extLst>
              <a:ext uri="{FF2B5EF4-FFF2-40B4-BE49-F238E27FC236}">
                <a16:creationId xmlns:a16="http://schemas.microsoft.com/office/drawing/2014/main" id="{B1AC5C26-A5FA-439F-A286-1AF20CE8FA8E}"/>
              </a:ext>
            </a:extLst>
          </p:cNvPr>
          <p:cNvSpPr>
            <a:spLocks noGrp="1"/>
          </p:cNvSpPr>
          <p:nvPr/>
        </p:nvSpPr>
        <p:spPr>
          <a:xfrm>
            <a:off x="3714750" y="1666875"/>
            <a:ext cx="7620000" cy="428625"/>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Old-water prior withdrawn; estimator choice changed calibration.</a:t>
            </a:r>
          </a:p>
        </p:txBody>
      </p:sp>
      <p:sp>
        <p:nvSpPr>
          <p:cNvPr id="9" name="Rectangle: Rounded Corners 8">
            <a:extLst>
              <a:ext uri="{FF2B5EF4-FFF2-40B4-BE49-F238E27FC236}">
                <a16:creationId xmlns:a16="http://schemas.microsoft.com/office/drawing/2014/main" id="{461CBB0B-0F1A-4336-A3F8-46A2366E18E1}"/>
              </a:ext>
            </a:extLst>
          </p:cNvPr>
          <p:cNvSpPr>
            <a:spLocks noGrp="1"/>
          </p:cNvSpPr>
          <p:nvPr/>
        </p:nvSpPr>
        <p:spPr>
          <a:xfrm>
            <a:off x="400050" y="2514600"/>
            <a:ext cx="11391900" cy="781050"/>
          </a:xfrm>
          <a:prstGeom prst="roundRect">
            <a:avLst>
              <a:gd name="adj" fmla="val 14634"/>
            </a:avLst>
          </a:prstGeom>
          <a:solidFill>
            <a:srgbClr val="F2F3F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B7E549C-CF58-4A89-9509-6A45066D19C6}"/>
              </a:ext>
            </a:extLst>
          </p:cNvPr>
          <p:cNvSpPr>
            <a:spLocks noGrp="1"/>
          </p:cNvSpPr>
          <p:nvPr/>
        </p:nvSpPr>
        <p:spPr>
          <a:xfrm>
            <a:off x="647700" y="2667000"/>
            <a:ext cx="2857500" cy="228600"/>
          </a:xfrm>
          <a:prstGeom prst="rect">
            <a:avLst/>
          </a:prstGeom>
          <a:noFill/>
          <a:ln w="0">
            <a:noFill/>
            <a:prstDash val="solid"/>
          </a:ln>
        </p:spPr>
        <p:txBody>
          <a:bodyPr lIns="0" tIns="0" rIns="0" bIns="0" anchor="t">
            <a:normAutofit/>
          </a:bodyPr>
          <a:lstStyle/>
          <a:p>
            <a:pPr algn="l">
              <a:defRPr sz="1200" b="1">
                <a:solidFill>
                  <a:srgbClr val="D97706"/>
                </a:solidFill>
                <a:latin typeface="Helvetica Neue"/>
                <a:ea typeface="Helvetica Neue"/>
                <a:cs typeface="Helvetica Neue"/>
              </a:defRPr>
            </a:pPr>
            <a:r>
              <a:rPr sz="1200" b="1">
                <a:solidFill>
                  <a:srgbClr val="D97706"/>
                </a:solidFill>
                <a:latin typeface="Helvetica Neue"/>
                <a:ea typeface="Helvetica Neue"/>
                <a:cs typeface="Helvetica Neue"/>
              </a:rPr>
              <a:t>CONFLICTING EVIDENCE</a:t>
            </a:r>
          </a:p>
        </p:txBody>
      </p:sp>
      <p:sp>
        <p:nvSpPr>
          <p:cNvPr id="11" name="Rectangle 10">
            <a:extLst>
              <a:ext uri="{FF2B5EF4-FFF2-40B4-BE49-F238E27FC236}">
                <a16:creationId xmlns:a16="http://schemas.microsoft.com/office/drawing/2014/main" id="{3EAD62A1-AD7B-4B02-A880-C2EC24B5E7D7}"/>
              </a:ext>
            </a:extLst>
          </p:cNvPr>
          <p:cNvSpPr>
            <a:spLocks noGrp="1"/>
          </p:cNvSpPr>
          <p:nvPr/>
        </p:nvSpPr>
        <p:spPr>
          <a:xfrm>
            <a:off x="3714750" y="2657475"/>
            <a:ext cx="7620000" cy="428625"/>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Wrong, random and permuted relations produced measurable negative transfer.</a:t>
            </a:r>
          </a:p>
        </p:txBody>
      </p:sp>
      <p:sp>
        <p:nvSpPr>
          <p:cNvPr id="12" name="Rectangle: Rounded Corners 11">
            <a:extLst>
              <a:ext uri="{FF2B5EF4-FFF2-40B4-BE49-F238E27FC236}">
                <a16:creationId xmlns:a16="http://schemas.microsoft.com/office/drawing/2014/main" id="{72C9D481-3DCF-439F-AD36-B0A2ADC1A0C8}"/>
              </a:ext>
            </a:extLst>
          </p:cNvPr>
          <p:cNvSpPr>
            <a:spLocks noGrp="1"/>
          </p:cNvSpPr>
          <p:nvPr/>
        </p:nvSpPr>
        <p:spPr>
          <a:xfrm>
            <a:off x="400050" y="3505200"/>
            <a:ext cx="11391900" cy="781050"/>
          </a:xfrm>
          <a:prstGeom prst="roundRect">
            <a:avLst>
              <a:gd name="adj" fmla="val 14634"/>
            </a:avLst>
          </a:prstGeom>
          <a:solidFill>
            <a:srgbClr val="F2F3F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1012B9C-87B0-4DBF-B060-64BC9077F0E6}"/>
              </a:ext>
            </a:extLst>
          </p:cNvPr>
          <p:cNvSpPr>
            <a:spLocks noGrp="1"/>
          </p:cNvSpPr>
          <p:nvPr/>
        </p:nvSpPr>
        <p:spPr>
          <a:xfrm>
            <a:off x="647700" y="3657600"/>
            <a:ext cx="2857500" cy="228600"/>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MEASUREMENT UNCERTAINTY</a:t>
            </a:r>
          </a:p>
        </p:txBody>
      </p:sp>
      <p:sp>
        <p:nvSpPr>
          <p:cNvPr id="14" name="Rectangle 13">
            <a:extLst>
              <a:ext uri="{FF2B5EF4-FFF2-40B4-BE49-F238E27FC236}">
                <a16:creationId xmlns:a16="http://schemas.microsoft.com/office/drawing/2014/main" id="{E237E89E-3CDB-41A9-9EDF-0F5F18FA9ED1}"/>
              </a:ext>
            </a:extLst>
          </p:cNvPr>
          <p:cNvSpPr>
            <a:spLocks noGrp="1"/>
          </p:cNvSpPr>
          <p:nvPr/>
        </p:nvSpPr>
        <p:spPr>
          <a:xfrm>
            <a:off x="3714750" y="3648075"/>
            <a:ext cx="7620000" cy="428625"/>
          </a:xfrm>
          <a:prstGeom prst="rect">
            <a:avLst/>
          </a:prstGeom>
          <a:noFill/>
          <a:ln w="0">
            <a:noFill/>
            <a:prstDash val="solid"/>
          </a:ln>
        </p:spPr>
        <p:txBody>
          <a:bodyPr lIns="0" tIns="0" rIns="0" bIns="0" anchor="t">
            <a:normAutofit fontScale="92500"/>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Intervals and resampling quantified uncertainty but did not guarantee correctness.</a:t>
            </a:r>
          </a:p>
        </p:txBody>
      </p:sp>
      <p:sp>
        <p:nvSpPr>
          <p:cNvPr id="15" name="Rectangle: Rounded Corners 14">
            <a:extLst>
              <a:ext uri="{FF2B5EF4-FFF2-40B4-BE49-F238E27FC236}">
                <a16:creationId xmlns:a16="http://schemas.microsoft.com/office/drawing/2014/main" id="{CB7EABF6-A421-43A0-9EBC-D49751D00453}"/>
              </a:ext>
            </a:extLst>
          </p:cNvPr>
          <p:cNvSpPr>
            <a:spLocks noGrp="1"/>
          </p:cNvSpPr>
          <p:nvPr/>
        </p:nvSpPr>
        <p:spPr>
          <a:xfrm>
            <a:off x="400050" y="4495800"/>
            <a:ext cx="11391900" cy="781050"/>
          </a:xfrm>
          <a:prstGeom prst="roundRect">
            <a:avLst>
              <a:gd name="adj" fmla="val 14634"/>
            </a:avLst>
          </a:prstGeom>
          <a:solidFill>
            <a:srgbClr val="F2F3F5"/>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6F65F491-4F7A-44CC-8A2C-329D5056709E}"/>
              </a:ext>
            </a:extLst>
          </p:cNvPr>
          <p:cNvSpPr>
            <a:spLocks noGrp="1"/>
          </p:cNvSpPr>
          <p:nvPr/>
        </p:nvSpPr>
        <p:spPr>
          <a:xfrm>
            <a:off x="647700" y="4648200"/>
            <a:ext cx="2857500" cy="228600"/>
          </a:xfrm>
          <a:prstGeom prst="rect">
            <a:avLst/>
          </a:prstGeom>
          <a:noFill/>
          <a:ln w="0">
            <a:noFill/>
            <a:prstDash val="solid"/>
          </a:ln>
        </p:spPr>
        <p:txBody>
          <a:bodyPr lIns="0" tIns="0" rIns="0" bIns="0" anchor="t">
            <a:normAutofit/>
          </a:bodyPr>
          <a:lstStyle/>
          <a:p>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MISSING DATA</a:t>
            </a:r>
          </a:p>
        </p:txBody>
      </p:sp>
      <p:sp>
        <p:nvSpPr>
          <p:cNvPr id="17" name="Rectangle 16">
            <a:extLst>
              <a:ext uri="{FF2B5EF4-FFF2-40B4-BE49-F238E27FC236}">
                <a16:creationId xmlns:a16="http://schemas.microsoft.com/office/drawing/2014/main" id="{6716AEA8-3677-4D1F-A260-ED5588615796}"/>
              </a:ext>
            </a:extLst>
          </p:cNvPr>
          <p:cNvSpPr>
            <a:spLocks noGrp="1"/>
          </p:cNvSpPr>
          <p:nvPr/>
        </p:nvSpPr>
        <p:spPr>
          <a:xfrm>
            <a:off x="3714750" y="4638675"/>
            <a:ext cx="7620000" cy="428625"/>
          </a:xfrm>
          <a:prstGeom prst="rect">
            <a:avLst/>
          </a:prstGeom>
          <a:noFill/>
          <a:ln w="0">
            <a:noFill/>
            <a:prstDash val="solid"/>
          </a:ln>
        </p:spPr>
        <p:txBody>
          <a:bodyPr lIns="0" tIns="0" rIns="0" bIns="0" anchor="t">
            <a:normAutofit fontScale="92500"/>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Removing key chemical tracers collapsed identifiability while fit remained stable.</a:t>
            </a:r>
          </a:p>
        </p:txBody>
      </p:sp>
      <p:sp>
        <p:nvSpPr>
          <p:cNvPr id="18" name="Rectangle: Rounded Corners 17">
            <a:extLst>
              <a:ext uri="{FF2B5EF4-FFF2-40B4-BE49-F238E27FC236}">
                <a16:creationId xmlns:a16="http://schemas.microsoft.com/office/drawing/2014/main" id="{34D54842-9048-4DF6-B6BE-D2FADCAA1F12}"/>
              </a:ext>
            </a:extLst>
          </p:cNvPr>
          <p:cNvSpPr>
            <a:spLocks noGrp="1"/>
          </p:cNvSpPr>
          <p:nvPr/>
        </p:nvSpPr>
        <p:spPr>
          <a:xfrm>
            <a:off x="1619250" y="5619750"/>
            <a:ext cx="8953500" cy="523875"/>
          </a:xfrm>
          <a:prstGeom prst="roundRect">
            <a:avLst>
              <a:gd name="adj" fmla="val 21818"/>
            </a:avLst>
          </a:prstGeom>
          <a:solidFill>
            <a:srgbClr val="E9F4F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3720103C-46EF-469D-980A-4DE01B7D5DA5}"/>
              </a:ext>
            </a:extLst>
          </p:cNvPr>
          <p:cNvSpPr>
            <a:spLocks noGrp="1"/>
          </p:cNvSpPr>
          <p:nvPr/>
        </p:nvSpPr>
        <p:spPr>
          <a:xfrm>
            <a:off x="1952625" y="5772150"/>
            <a:ext cx="8286750" cy="247650"/>
          </a:xfrm>
          <a:prstGeom prst="rect">
            <a:avLst/>
          </a:prstGeom>
          <a:noFill/>
          <a:ln w="0">
            <a:noFill/>
            <a:prstDash val="solid"/>
          </a:ln>
        </p:spPr>
        <p:txBody>
          <a:bodyPr lIns="0" tIns="0" rIns="0" bIns="0" anchor="t">
            <a:normAutofit fontScale="85000" lnSpcReduction="10000"/>
          </a:bodyPr>
          <a:lstStyle/>
          <a:p>
            <a:pPr algn="ctr">
              <a:defRPr sz="1575" b="1">
                <a:solidFill>
                  <a:srgbClr val="153A63"/>
                </a:solidFill>
                <a:latin typeface="Helvetica Neue"/>
                <a:ea typeface="Helvetica Neue"/>
                <a:cs typeface="Helvetica Neue"/>
              </a:defRPr>
            </a:pPr>
            <a:r>
              <a:rPr sz="1575" b="1">
                <a:solidFill>
                  <a:srgbClr val="153A63"/>
                </a:solidFill>
                <a:latin typeface="Helvetica Neue"/>
                <a:ea typeface="Helvetica Neue"/>
                <a:cs typeface="Helvetica Neue"/>
              </a:rPr>
              <a:t>Discussion: narrower uncertainty is valuable only when discrimination and calibration also improve.</a:t>
            </a:r>
          </a:p>
        </p:txBody>
      </p:sp>
    </p:spTree>
    <p:extLst>
      <p:ext uri="{BB962C8B-B14F-4D97-AF65-F5344CB8AC3E}">
        <p14:creationId xmlns:p14="http://schemas.microsoft.com/office/powerpoint/2010/main" val="835799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58D5AD9-142F-44A2-A245-40C7F2E51689}"/>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5 · EVALUATE INTEGRATION</a:t>
            </a:r>
          </a:p>
        </p:txBody>
      </p:sp>
      <p:sp>
        <p:nvSpPr>
          <p:cNvPr id="2" name="Rectangle 1">
            <a:extLst>
              <a:ext uri="{FF2B5EF4-FFF2-40B4-BE49-F238E27FC236}">
                <a16:creationId xmlns:a16="http://schemas.microsoft.com/office/drawing/2014/main" id="{5E3380E0-04BA-4CBE-8954-58C8A22EF2A3}"/>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5: only chemistry delivered a robust topology-ranking gain</a:t>
            </a:r>
          </a:p>
        </p:txBody>
      </p:sp>
      <p:sp>
        <p:nvSpPr>
          <p:cNvPr id="3" name="Rectangle 2">
            <a:extLst>
              <a:ext uri="{FF2B5EF4-FFF2-40B4-BE49-F238E27FC236}">
                <a16:creationId xmlns:a16="http://schemas.microsoft.com/office/drawing/2014/main" id="{07A71D44-33F5-4C0B-9DAC-35B6D9CFA4FF}"/>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37E59938-0466-4227-B62B-E777FCD99DFD}"/>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AF59EC7E-9AD3-43AF-8386-51C0776251CC}"/>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19</a:t>
            </a:r>
          </a:p>
        </p:txBody>
      </p:sp>
      <p:pic>
        <p:nvPicPr>
          <p:cNvPr id="24" name="Picture 23"/>
          <p:cNvPicPr>
            <a:picLocks noChangeAspect="1"/>
          </p:cNvPicPr>
          <p:nvPr/>
        </p:nvPicPr>
        <p:blipFill>
          <a:blip r:embed="rId3"/>
          <a:stretch/>
        </p:blipFill>
        <p:spPr>
          <a:xfrm>
            <a:off x="631202" y="1381125"/>
            <a:ext cx="7062446" cy="4810125"/>
          </a:xfrm>
          <a:prstGeom prst="rect">
            <a:avLst/>
          </a:prstGeom>
        </p:spPr>
      </p:pic>
      <p:sp>
        <p:nvSpPr>
          <p:cNvPr id="7" name="Rectangle: Rounded Corners 6">
            <a:extLst>
              <a:ext uri="{FF2B5EF4-FFF2-40B4-BE49-F238E27FC236}">
                <a16:creationId xmlns:a16="http://schemas.microsoft.com/office/drawing/2014/main" id="{4C7B4AA0-B826-4858-9D73-01B886C63B74}"/>
              </a:ext>
            </a:extLst>
          </p:cNvPr>
          <p:cNvSpPr>
            <a:spLocks noGrp="1"/>
          </p:cNvSpPr>
          <p:nvPr/>
        </p:nvSpPr>
        <p:spPr>
          <a:xfrm>
            <a:off x="8191500" y="1428750"/>
            <a:ext cx="3219450" cy="1200150"/>
          </a:xfrm>
          <a:prstGeom prst="roundRect">
            <a:avLst>
              <a:gd name="adj" fmla="val 9524"/>
            </a:avLst>
          </a:prstGeom>
          <a:solidFill>
            <a:srgbClr val="E7F7F3"/>
          </a:solidFill>
          <a:ln w="0">
            <a:noFill/>
            <a:prstDash val="solid"/>
          </a:ln>
        </p:spPr>
        <p:txBody>
          <a:bodyPr/>
          <a:lstStyle/>
          <a:p>
            <a:endParaRPr lang="en-US"/>
          </a:p>
        </p:txBody>
      </p:sp>
      <p:sp>
        <p:nvSpPr>
          <p:cNvPr id="8" name="Rectangle 7">
            <a:extLst>
              <a:ext uri="{FF2B5EF4-FFF2-40B4-BE49-F238E27FC236}">
                <a16:creationId xmlns:a16="http://schemas.microsoft.com/office/drawing/2014/main" id="{E09BF193-BADB-41B2-B427-F4490D5F16CE}"/>
              </a:ext>
            </a:extLst>
          </p:cNvPr>
          <p:cNvSpPr>
            <a:spLocks noGrp="1"/>
          </p:cNvSpPr>
          <p:nvPr/>
        </p:nvSpPr>
        <p:spPr>
          <a:xfrm>
            <a:off x="8401050" y="1619250"/>
            <a:ext cx="2800350" cy="209550"/>
          </a:xfrm>
          <a:prstGeom prst="rect">
            <a:avLst/>
          </a:prstGeom>
          <a:noFill/>
          <a:ln w="0">
            <a:noFill/>
            <a:prstDash val="solid"/>
          </a:ln>
        </p:spPr>
        <p:txBody>
          <a:bodyPr lIns="0" tIns="0" rIns="0" bIns="0" anchor="t">
            <a:normAutofit fontScale="85000" lnSpcReduction="10000"/>
          </a:bodyPr>
          <a:lstStyle/>
          <a:p>
            <a:pPr algn="l">
              <a:defRPr sz="1050" b="1">
                <a:solidFill>
                  <a:srgbClr val="149A84"/>
                </a:solidFill>
                <a:latin typeface="Helvetica Neue"/>
                <a:ea typeface="Helvetica Neue"/>
                <a:cs typeface="Helvetica Neue"/>
              </a:defRPr>
            </a:pPr>
            <a:r>
              <a:rPr sz="1050" b="1">
                <a:solidFill>
                  <a:srgbClr val="149A84"/>
                </a:solidFill>
                <a:latin typeface="Helvetica Neue"/>
                <a:ea typeface="Helvetica Neue"/>
                <a:cs typeface="Helvetica Neue"/>
              </a:rPr>
              <a:t>CHEMISTRY ADDED · SURVIVES CORRECTION</a:t>
            </a:r>
          </a:p>
        </p:txBody>
      </p:sp>
      <p:sp>
        <p:nvSpPr>
          <p:cNvPr id="9" name="Rectangle 8">
            <a:extLst>
              <a:ext uri="{FF2B5EF4-FFF2-40B4-BE49-F238E27FC236}">
                <a16:creationId xmlns:a16="http://schemas.microsoft.com/office/drawing/2014/main" id="{FB3E650D-0A55-413D-9048-A4D058D9CAF8}"/>
              </a:ext>
            </a:extLst>
          </p:cNvPr>
          <p:cNvSpPr>
            <a:spLocks noGrp="1"/>
          </p:cNvSpPr>
          <p:nvPr/>
        </p:nvSpPr>
        <p:spPr>
          <a:xfrm>
            <a:off x="8401050" y="1971675"/>
            <a:ext cx="2800350" cy="304800"/>
          </a:xfrm>
          <a:prstGeom prst="rect">
            <a:avLst/>
          </a:prstGeom>
          <a:noFill/>
          <a:ln w="0">
            <a:noFill/>
            <a:prstDash val="solid"/>
          </a:ln>
        </p:spPr>
        <p:txBody>
          <a:bodyPr lIns="0" tIns="0" rIns="0" bIns="0" anchor="t">
            <a:normAutofit fontScale="99454" lnSpcReduction="10000"/>
          </a:bodyPr>
          <a:lstStyle/>
          <a:p>
            <a:pPr algn="l">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+0.447 PR-AUC</a:t>
            </a:r>
          </a:p>
        </p:txBody>
      </p:sp>
      <p:sp>
        <p:nvSpPr>
          <p:cNvPr id="10" name="Rectangle: Rounded Corners 9">
            <a:extLst>
              <a:ext uri="{FF2B5EF4-FFF2-40B4-BE49-F238E27FC236}">
                <a16:creationId xmlns:a16="http://schemas.microsoft.com/office/drawing/2014/main" id="{A7B99DEA-4565-47D4-AFBC-1CBB1166E102}"/>
              </a:ext>
            </a:extLst>
          </p:cNvPr>
          <p:cNvSpPr>
            <a:spLocks noGrp="1"/>
          </p:cNvSpPr>
          <p:nvPr/>
        </p:nvSpPr>
        <p:spPr>
          <a:xfrm>
            <a:off x="8191500" y="2781300"/>
            <a:ext cx="3219450" cy="1200150"/>
          </a:xfrm>
          <a:prstGeom prst="roundRect">
            <a:avLst>
              <a:gd name="adj" fmla="val 9524"/>
            </a:avLst>
          </a:prstGeom>
          <a:solidFill>
            <a:srgbClr val="E9F4FF"/>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EBA0DFC1-7D5C-4BC8-939C-C632814626EA}"/>
              </a:ext>
            </a:extLst>
          </p:cNvPr>
          <p:cNvSpPr>
            <a:spLocks noGrp="1"/>
          </p:cNvSpPr>
          <p:nvPr/>
        </p:nvSpPr>
        <p:spPr>
          <a:xfrm>
            <a:off x="8401050" y="2971800"/>
            <a:ext cx="2800350" cy="209550"/>
          </a:xfrm>
          <a:prstGeom prst="rect">
            <a:avLst/>
          </a:prstGeom>
          <a:noFill/>
          <a:ln w="0">
            <a:noFill/>
            <a:prstDash val="solid"/>
          </a:ln>
        </p:spPr>
        <p:txBody>
          <a:bodyPr lIns="0" tIns="0" rIns="0" bIns="0" anchor="t">
            <a:normAutofit/>
          </a:bodyPr>
          <a:lstStyle/>
          <a:p>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HYDRAULICS ADDED</a:t>
            </a:r>
          </a:p>
        </p:txBody>
      </p:sp>
      <p:sp>
        <p:nvSpPr>
          <p:cNvPr id="12" name="Rectangle 11">
            <a:extLst>
              <a:ext uri="{FF2B5EF4-FFF2-40B4-BE49-F238E27FC236}">
                <a16:creationId xmlns:a16="http://schemas.microsoft.com/office/drawing/2014/main" id="{716213DE-2CAA-4BF7-9D80-3550AA99AF76}"/>
              </a:ext>
            </a:extLst>
          </p:cNvPr>
          <p:cNvSpPr>
            <a:spLocks noGrp="1"/>
          </p:cNvSpPr>
          <p:nvPr/>
        </p:nvSpPr>
        <p:spPr>
          <a:xfrm>
            <a:off x="8401050" y="3305175"/>
            <a:ext cx="2800350" cy="304800"/>
          </a:xfrm>
          <a:prstGeom prst="rect">
            <a:avLst/>
          </a:prstGeom>
          <a:noFill/>
          <a:ln w="0">
            <a:noFill/>
            <a:prstDash val="solid"/>
          </a:ln>
        </p:spPr>
        <p:txBody>
          <a:bodyPr lIns="0" tIns="0" rIns="0" bIns="0" anchor="t">
            <a:normAutofit fontScale="98765"/>
          </a:bodyPr>
          <a:lstStyle/>
          <a:p>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+0.0091 PR-AUC</a:t>
            </a:r>
          </a:p>
        </p:txBody>
      </p:sp>
      <p:sp>
        <p:nvSpPr>
          <p:cNvPr id="13" name="Rectangle 12">
            <a:extLst>
              <a:ext uri="{FF2B5EF4-FFF2-40B4-BE49-F238E27FC236}">
                <a16:creationId xmlns:a16="http://schemas.microsoft.com/office/drawing/2014/main" id="{05046C81-45BC-4B3E-8204-331C8EFDDC30}"/>
              </a:ext>
            </a:extLst>
          </p:cNvPr>
          <p:cNvSpPr>
            <a:spLocks noGrp="1"/>
          </p:cNvSpPr>
          <p:nvPr/>
        </p:nvSpPr>
        <p:spPr>
          <a:xfrm>
            <a:off x="8401050" y="3657600"/>
            <a:ext cx="2800350" cy="190500"/>
          </a:xfrm>
          <a:prstGeom prst="rect">
            <a:avLst/>
          </a:prstGeom>
          <a:noFill/>
          <a:ln w="0">
            <a:noFill/>
            <a:prstDash val="solid"/>
          </a:ln>
        </p:spPr>
        <p:txBody>
          <a:bodyPr lIns="0" tIns="0" rIns="0" bIns="0" anchor="t">
            <a:normAutofit/>
          </a:bodyPr>
          <a:lstStyle/>
          <a:p>
            <a:pPr algn="l">
              <a:defRPr sz="1050" b="0">
                <a:solidFill>
                  <a:srgbClr val="5D6470"/>
                </a:solidFill>
                <a:latin typeface="Helvetica Neue"/>
                <a:ea typeface="Helvetica Neue"/>
                <a:cs typeface="Helvetica Neue"/>
              </a:defRPr>
            </a:pPr>
            <a:r>
              <a:rPr sz="1050" b="0">
                <a:solidFill>
                  <a:srgbClr val="5D6470"/>
                </a:solidFill>
                <a:latin typeface="Helvetica Neue"/>
                <a:ea typeface="Helvetica Neue"/>
                <a:cs typeface="Helvetica Neue"/>
              </a:rPr>
              <a:t>not multiplicity-significant (adjusted p = 0.070)</a:t>
            </a:r>
          </a:p>
        </p:txBody>
      </p:sp>
      <p:sp>
        <p:nvSpPr>
          <p:cNvPr id="14" name="Rectangle: Rounded Corners 13">
            <a:extLst>
              <a:ext uri="{FF2B5EF4-FFF2-40B4-BE49-F238E27FC236}">
                <a16:creationId xmlns:a16="http://schemas.microsoft.com/office/drawing/2014/main" id="{A21242C3-3DE8-4A71-AA1B-A5D971732378}"/>
              </a:ext>
            </a:extLst>
          </p:cNvPr>
          <p:cNvSpPr>
            <a:spLocks noGrp="1"/>
          </p:cNvSpPr>
          <p:nvPr/>
        </p:nvSpPr>
        <p:spPr>
          <a:xfrm>
            <a:off x="8191500" y="4133850"/>
            <a:ext cx="3219450" cy="1200150"/>
          </a:xfrm>
          <a:prstGeom prst="roundRect">
            <a:avLst>
              <a:gd name="adj" fmla="val 9524"/>
            </a:avLst>
          </a:prstGeom>
          <a:solidFill>
            <a:srgbClr val="FDE8E8"/>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87E6B0E9-BEAF-4E7E-9264-272ADE0B380F}"/>
              </a:ext>
            </a:extLst>
          </p:cNvPr>
          <p:cNvSpPr>
            <a:spLocks noGrp="1"/>
          </p:cNvSpPr>
          <p:nvPr/>
        </p:nvSpPr>
        <p:spPr>
          <a:xfrm>
            <a:off x="8401050" y="4324350"/>
            <a:ext cx="2800350" cy="209550"/>
          </a:xfrm>
          <a:prstGeom prst="rect">
            <a:avLst/>
          </a:prstGeom>
          <a:noFill/>
          <a:ln w="0">
            <a:noFill/>
            <a:prstDash val="solid"/>
          </a:ln>
        </p:spPr>
        <p:txBody>
          <a:bodyPr lIns="0" tIns="0" rIns="0" bIns="0" anchor="t">
            <a:normAutofit/>
          </a:bodyPr>
          <a:lstStyle/>
          <a:p>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AGE ADDED</a:t>
            </a:r>
          </a:p>
        </p:txBody>
      </p:sp>
      <p:sp>
        <p:nvSpPr>
          <p:cNvPr id="16" name="Rectangle 15">
            <a:extLst>
              <a:ext uri="{FF2B5EF4-FFF2-40B4-BE49-F238E27FC236}">
                <a16:creationId xmlns:a16="http://schemas.microsoft.com/office/drawing/2014/main" id="{93B255B0-E7EF-48BB-9A3F-4377F07605A6}"/>
              </a:ext>
            </a:extLst>
          </p:cNvPr>
          <p:cNvSpPr>
            <a:spLocks noGrp="1"/>
          </p:cNvSpPr>
          <p:nvPr/>
        </p:nvSpPr>
        <p:spPr>
          <a:xfrm>
            <a:off x="8401050" y="4657725"/>
            <a:ext cx="2800350" cy="304800"/>
          </a:xfrm>
          <a:prstGeom prst="rect">
            <a:avLst/>
          </a:prstGeom>
          <a:noFill/>
          <a:ln w="0">
            <a:noFill/>
            <a:prstDash val="solid"/>
          </a:ln>
        </p:spPr>
        <p:txBody>
          <a:bodyPr lIns="0" tIns="0" rIns="0" bIns="0" anchor="t">
            <a:normAutofit fontScale="98765"/>
          </a:bodyPr>
          <a:lstStyle/>
          <a:p>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−0.0060 PR-AUC</a:t>
            </a:r>
          </a:p>
        </p:txBody>
      </p:sp>
      <p:sp>
        <p:nvSpPr>
          <p:cNvPr id="17" name="Rectangle 16">
            <a:extLst>
              <a:ext uri="{FF2B5EF4-FFF2-40B4-BE49-F238E27FC236}">
                <a16:creationId xmlns:a16="http://schemas.microsoft.com/office/drawing/2014/main" id="{C090CDE3-A384-4661-96F0-992B8E92EFE4}"/>
              </a:ext>
            </a:extLst>
          </p:cNvPr>
          <p:cNvSpPr>
            <a:spLocks noGrp="1"/>
          </p:cNvSpPr>
          <p:nvPr/>
        </p:nvSpPr>
        <p:spPr>
          <a:xfrm>
            <a:off x="8401050" y="5010150"/>
            <a:ext cx="2800350" cy="190500"/>
          </a:xfrm>
          <a:prstGeom prst="rect">
            <a:avLst/>
          </a:prstGeom>
          <a:noFill/>
          <a:ln w="0">
            <a:noFill/>
            <a:prstDash val="solid"/>
          </a:ln>
        </p:spPr>
        <p:txBody>
          <a:bodyPr lIns="0" tIns="0" rIns="0" bIns="0" anchor="t">
            <a:normAutofit/>
          </a:bodyPr>
          <a:lstStyle/>
          <a:p>
            <a:pPr algn="l">
              <a:defRPr sz="1050" b="0">
                <a:solidFill>
                  <a:srgbClr val="C53030"/>
                </a:solidFill>
                <a:latin typeface="Helvetica Neue"/>
                <a:ea typeface="Helvetica Neue"/>
                <a:cs typeface="Helvetica Neue"/>
              </a:defRPr>
            </a:pPr>
            <a:r>
              <a:rPr sz="1050" b="0">
                <a:solidFill>
                  <a:srgbClr val="C53030"/>
                </a:solidFill>
                <a:latin typeface="Helvetica Neue"/>
                <a:ea typeface="Helvetica Neue"/>
                <a:cs typeface="Helvetica Neue"/>
              </a:rPr>
              <a:t>not multiplicity-significant (adjusted p = 0.070)</a:t>
            </a:r>
          </a:p>
        </p:txBody>
      </p:sp>
      <p:sp>
        <p:nvSpPr>
          <p:cNvPr id="18" name="Rectangle 17">
            <a:extLst>
              <a:ext uri="{FF2B5EF4-FFF2-40B4-BE49-F238E27FC236}">
                <a16:creationId xmlns:a16="http://schemas.microsoft.com/office/drawing/2014/main" id="{9B5B6D1F-63C2-4A2C-A7A9-C376DB3A97EC}"/>
              </a:ext>
            </a:extLst>
          </p:cNvPr>
          <p:cNvSpPr>
            <a:spLocks noGrp="1"/>
          </p:cNvSpPr>
          <p:nvPr/>
        </p:nvSpPr>
        <p:spPr>
          <a:xfrm>
            <a:off x="8191500" y="5562600"/>
            <a:ext cx="3219450" cy="304800"/>
          </a:xfrm>
          <a:prstGeom prst="rect">
            <a:avLst/>
          </a:prstGeom>
          <a:noFill/>
          <a:ln w="0">
            <a:noFill/>
            <a:prstDash val="solid"/>
          </a:ln>
        </p:spPr>
        <p:txBody>
          <a:bodyPr lIns="0" tIns="0" rIns="0" bIns="0" anchor="t">
            <a:normAutofit/>
          </a:bodyPr>
          <a:lstStyle/>
          <a:p>
            <a:pPr algn="ctr">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Added data ≠ added information</a:t>
            </a:r>
          </a:p>
        </p:txBody>
      </p:sp>
    </p:spTree>
    <p:extLst>
      <p:ext uri="{BB962C8B-B14F-4D97-AF65-F5344CB8AC3E}">
        <p14:creationId xmlns:p14="http://schemas.microsoft.com/office/powerpoint/2010/main" val="1565032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211F02D-5244-4285-A9C7-CEE77BDAE42F}"/>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INTEGRATION IN THE REVERSE DIRECTION</a:t>
            </a:r>
          </a:p>
        </p:txBody>
      </p:sp>
      <p:sp>
        <p:nvSpPr>
          <p:cNvPr id="2" name="Rectangle 1">
            <a:extLst>
              <a:ext uri="{FF2B5EF4-FFF2-40B4-BE49-F238E27FC236}">
                <a16:creationId xmlns:a16="http://schemas.microsoft.com/office/drawing/2014/main" id="{6F2CBC6B-0F69-434D-92E1-C1506D8E7152}"/>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Objective 5: correct topology reduced age non-uniqueness</a:t>
            </a:r>
          </a:p>
        </p:txBody>
      </p:sp>
      <p:sp>
        <p:nvSpPr>
          <p:cNvPr id="3" name="Rectangle 2">
            <a:extLst>
              <a:ext uri="{FF2B5EF4-FFF2-40B4-BE49-F238E27FC236}">
                <a16:creationId xmlns:a16="http://schemas.microsoft.com/office/drawing/2014/main" id="{4E77E881-AFC8-4CF5-A305-1C1778A7809F}"/>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BD59EB8A-3D59-4687-AA40-80F2ACCD7516}"/>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B29212D4-9223-42FD-9E3C-70912CED8E0A}"/>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20</a:t>
            </a:r>
          </a:p>
        </p:txBody>
      </p:sp>
      <p:pic>
        <p:nvPicPr>
          <p:cNvPr id="24" name="Picture 23"/>
          <p:cNvPicPr>
            <a:picLocks noChangeAspect="1"/>
          </p:cNvPicPr>
          <p:nvPr/>
        </p:nvPicPr>
        <p:blipFill>
          <a:blip r:embed="rId3"/>
          <a:stretch/>
        </p:blipFill>
        <p:spPr>
          <a:xfrm>
            <a:off x="540151" y="1381125"/>
            <a:ext cx="7244548" cy="4810125"/>
          </a:xfrm>
          <a:prstGeom prst="rect">
            <a:avLst/>
          </a:prstGeom>
        </p:spPr>
      </p:pic>
      <p:sp>
        <p:nvSpPr>
          <p:cNvPr id="7" name="Rectangle: Rounded Corners 6">
            <a:extLst>
              <a:ext uri="{FF2B5EF4-FFF2-40B4-BE49-F238E27FC236}">
                <a16:creationId xmlns:a16="http://schemas.microsoft.com/office/drawing/2014/main" id="{E5683745-BCBC-4444-A9A1-DBB310AFA0A4}"/>
              </a:ext>
            </a:extLst>
          </p:cNvPr>
          <p:cNvSpPr>
            <a:spLocks noGrp="1"/>
          </p:cNvSpPr>
          <p:nvPr/>
        </p:nvSpPr>
        <p:spPr>
          <a:xfrm>
            <a:off x="8191500" y="1619250"/>
            <a:ext cx="3219450" cy="1257300"/>
          </a:xfrm>
          <a:prstGeom prst="roundRect">
            <a:avLst>
              <a:gd name="adj" fmla="val 9091"/>
            </a:avLst>
          </a:prstGeom>
          <a:solidFill>
            <a:srgbClr val="F2F3F5"/>
          </a:solidFill>
          <a:ln w="0">
            <a:noFill/>
            <a:prstDash val="solid"/>
          </a:ln>
        </p:spPr>
        <p:txBody>
          <a:bodyPr/>
          <a:lstStyle/>
          <a:p>
            <a:endParaRPr lang="en-US"/>
          </a:p>
        </p:txBody>
      </p:sp>
      <p:sp>
        <p:nvSpPr>
          <p:cNvPr id="8" name="Rectangle 7">
            <a:extLst>
              <a:ext uri="{FF2B5EF4-FFF2-40B4-BE49-F238E27FC236}">
                <a16:creationId xmlns:a16="http://schemas.microsoft.com/office/drawing/2014/main" id="{0E3B6328-0FD7-4029-B4F0-3E913FC693D8}"/>
              </a:ext>
            </a:extLst>
          </p:cNvPr>
          <p:cNvSpPr>
            <a:spLocks noGrp="1"/>
          </p:cNvSpPr>
          <p:nvPr/>
        </p:nvSpPr>
        <p:spPr>
          <a:xfrm>
            <a:off x="8191500" y="1619250"/>
            <a:ext cx="76200" cy="1257300"/>
          </a:xfrm>
          <a:prstGeom prst="rect">
            <a:avLst/>
          </a:prstGeom>
          <a:solidFill>
            <a:srgbClr val="3D8DFF"/>
          </a:solidFill>
          <a:ln w="0">
            <a:noFill/>
            <a:prstDash val="solid"/>
          </a:ln>
        </p:spPr>
        <p:txBody>
          <a:bodyPr/>
          <a:lstStyle/>
          <a:p>
            <a:endParaRPr lang="en-US"/>
          </a:p>
        </p:txBody>
      </p:sp>
      <p:sp>
        <p:nvSpPr>
          <p:cNvPr id="9" name="Rectangle 8">
            <a:extLst>
              <a:ext uri="{FF2B5EF4-FFF2-40B4-BE49-F238E27FC236}">
                <a16:creationId xmlns:a16="http://schemas.microsoft.com/office/drawing/2014/main" id="{A77617B1-BAE2-40B0-B862-0E94058F5F84}"/>
              </a:ext>
            </a:extLst>
          </p:cNvPr>
          <p:cNvSpPr>
            <a:spLocks noGrp="1"/>
          </p:cNvSpPr>
          <p:nvPr/>
        </p:nvSpPr>
        <p:spPr>
          <a:xfrm>
            <a:off x="8382000" y="1771650"/>
            <a:ext cx="2895600" cy="476250"/>
          </a:xfrm>
          <a:prstGeom prst="rect">
            <a:avLst/>
          </a:prstGeom>
          <a:noFill/>
          <a:ln w="0">
            <a:noFill/>
            <a:prstDash val="solid"/>
          </a:ln>
        </p:spPr>
        <p:txBody>
          <a:bodyPr lIns="0" tIns="0" rIns="0" bIns="0" anchor="t">
            <a:normAutofit/>
          </a:bodyPr>
          <a:lstStyle/>
          <a:p>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−0.0619 y</a:t>
            </a:r>
          </a:p>
        </p:txBody>
      </p:sp>
      <p:sp>
        <p:nvSpPr>
          <p:cNvPr id="10" name="Rectangle 9">
            <a:extLst>
              <a:ext uri="{FF2B5EF4-FFF2-40B4-BE49-F238E27FC236}">
                <a16:creationId xmlns:a16="http://schemas.microsoft.com/office/drawing/2014/main" id="{1083475D-F9AA-40D7-AEC0-EB2F9C760ACE}"/>
              </a:ext>
            </a:extLst>
          </p:cNvPr>
          <p:cNvSpPr>
            <a:spLocks noGrp="1"/>
          </p:cNvSpPr>
          <p:nvPr/>
        </p:nvSpPr>
        <p:spPr>
          <a:xfrm>
            <a:off x="8382000" y="2305050"/>
            <a:ext cx="28956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MAE: correct graph vs no graph, two tracers</a:t>
            </a:r>
          </a:p>
        </p:txBody>
      </p:sp>
      <p:sp>
        <p:nvSpPr>
          <p:cNvPr id="11" name="Rectangle: Rounded Corners 10">
            <a:extLst>
              <a:ext uri="{FF2B5EF4-FFF2-40B4-BE49-F238E27FC236}">
                <a16:creationId xmlns:a16="http://schemas.microsoft.com/office/drawing/2014/main" id="{D001DDFF-1E92-41AE-A718-14F1ECF34A5B}"/>
              </a:ext>
            </a:extLst>
          </p:cNvPr>
          <p:cNvSpPr>
            <a:spLocks noGrp="1"/>
          </p:cNvSpPr>
          <p:nvPr/>
        </p:nvSpPr>
        <p:spPr>
          <a:xfrm>
            <a:off x="8191500" y="3067050"/>
            <a:ext cx="3219450" cy="1257300"/>
          </a:xfrm>
          <a:prstGeom prst="roundRect">
            <a:avLst>
              <a:gd name="adj" fmla="val 9091"/>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089E90D-D2C3-4CDE-B419-09D7FD681B61}"/>
              </a:ext>
            </a:extLst>
          </p:cNvPr>
          <p:cNvSpPr>
            <a:spLocks noGrp="1"/>
          </p:cNvSpPr>
          <p:nvPr/>
        </p:nvSpPr>
        <p:spPr>
          <a:xfrm>
            <a:off x="8191500" y="3067050"/>
            <a:ext cx="76200" cy="1257300"/>
          </a:xfrm>
          <a:prstGeom prst="rect">
            <a:avLst/>
          </a:prstGeom>
          <a:solidFill>
            <a:srgbClr val="149A84"/>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7B5B26BC-C031-455D-BB19-D19BF0D19C4F}"/>
              </a:ext>
            </a:extLst>
          </p:cNvPr>
          <p:cNvSpPr>
            <a:spLocks noGrp="1"/>
          </p:cNvSpPr>
          <p:nvPr/>
        </p:nvSpPr>
        <p:spPr>
          <a:xfrm>
            <a:off x="8382000" y="3219450"/>
            <a:ext cx="2895600" cy="476250"/>
          </a:xfrm>
          <a:prstGeom prst="rect">
            <a:avLst/>
          </a:prstGeom>
          <a:noFill/>
          <a:ln w="0">
            <a:noFill/>
            <a:prstDash val="solid"/>
          </a:ln>
        </p:spPr>
        <p:txBody>
          <a:bodyPr lIns="0" tIns="0" rIns="0" bIns="0" anchor="t">
            <a:normAutofit/>
          </a:bodyPr>
          <a:lstStyle/>
          <a:p>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−0.1642 y</a:t>
            </a:r>
          </a:p>
        </p:txBody>
      </p:sp>
      <p:sp>
        <p:nvSpPr>
          <p:cNvPr id="14" name="Rectangle 13">
            <a:extLst>
              <a:ext uri="{FF2B5EF4-FFF2-40B4-BE49-F238E27FC236}">
                <a16:creationId xmlns:a16="http://schemas.microsoft.com/office/drawing/2014/main" id="{F40A2047-5A5E-4052-9002-385C80DFF0C9}"/>
              </a:ext>
            </a:extLst>
          </p:cNvPr>
          <p:cNvSpPr>
            <a:spLocks noGrp="1"/>
          </p:cNvSpPr>
          <p:nvPr/>
        </p:nvSpPr>
        <p:spPr>
          <a:xfrm>
            <a:off x="8382000" y="3752850"/>
            <a:ext cx="28956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MAE: correct graph vs no graph, ³H only</a:t>
            </a:r>
          </a:p>
        </p:txBody>
      </p:sp>
      <p:sp>
        <p:nvSpPr>
          <p:cNvPr id="15" name="Rectangle: Rounded Corners 14">
            <a:extLst>
              <a:ext uri="{FF2B5EF4-FFF2-40B4-BE49-F238E27FC236}">
                <a16:creationId xmlns:a16="http://schemas.microsoft.com/office/drawing/2014/main" id="{70D2DCA4-2FF7-4698-86D7-B3DE4A1E344B}"/>
              </a:ext>
            </a:extLst>
          </p:cNvPr>
          <p:cNvSpPr>
            <a:spLocks noGrp="1"/>
          </p:cNvSpPr>
          <p:nvPr/>
        </p:nvSpPr>
        <p:spPr>
          <a:xfrm>
            <a:off x="8191500" y="4514850"/>
            <a:ext cx="3219450" cy="1143000"/>
          </a:xfrm>
          <a:prstGeom prst="roundRect">
            <a:avLst>
              <a:gd name="adj" fmla="val 10000"/>
            </a:avLst>
          </a:prstGeom>
          <a:solidFill>
            <a:srgbClr val="FDE8E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75BAB92E-97B4-48CC-98E4-43F3F99A27F7}"/>
              </a:ext>
            </a:extLst>
          </p:cNvPr>
          <p:cNvSpPr>
            <a:spLocks noGrp="1"/>
          </p:cNvSpPr>
          <p:nvPr/>
        </p:nvSpPr>
        <p:spPr>
          <a:xfrm>
            <a:off x="8420100" y="4705350"/>
            <a:ext cx="2762250" cy="24765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Wrong direction</a:t>
            </a:r>
          </a:p>
        </p:txBody>
      </p:sp>
      <p:sp>
        <p:nvSpPr>
          <p:cNvPr id="17" name="Rectangle 16">
            <a:extLst>
              <a:ext uri="{FF2B5EF4-FFF2-40B4-BE49-F238E27FC236}">
                <a16:creationId xmlns:a16="http://schemas.microsoft.com/office/drawing/2014/main" id="{2C3D48A0-0404-4C70-A029-77187AC5CF62}"/>
              </a:ext>
            </a:extLst>
          </p:cNvPr>
          <p:cNvSpPr>
            <a:spLocks noGrp="1"/>
          </p:cNvSpPr>
          <p:nvPr/>
        </p:nvSpPr>
        <p:spPr>
          <a:xfrm>
            <a:off x="8420100" y="5086350"/>
            <a:ext cx="2762250" cy="457200"/>
          </a:xfrm>
          <a:prstGeom prst="rect">
            <a:avLst/>
          </a:prstGeom>
          <a:noFill/>
          <a:ln w="0">
            <a:noFill/>
            <a:prstDash val="solid"/>
          </a:ln>
        </p:spPr>
        <p:txBody>
          <a:bodyPr lIns="0" tIns="0" rIns="0" bIns="0" anchor="t">
            <a:normAutofit fontScale="92500"/>
          </a:bodyPr>
          <a:lstStyle/>
          <a:p>
            <a:pPr algn="l">
              <a:defRPr sz="1425" b="1">
                <a:solidFill>
                  <a:srgbClr val="C53030"/>
                </a:solidFill>
                <a:latin typeface="Helvetica Neue"/>
                <a:ea typeface="Helvetica Neue"/>
                <a:cs typeface="Helvetica Neue"/>
              </a:defRPr>
            </a:pPr>
            <a:r>
              <a:rPr sz="1425" b="1">
                <a:solidFill>
                  <a:srgbClr val="C53030"/>
                </a:solidFill>
                <a:latin typeface="Helvetica Neue"/>
                <a:ea typeface="Helvetica Neue"/>
                <a:cs typeface="Helvetica Neue"/>
              </a:rPr>
              <a:t>Reversed topology increased error and created negative transfer.</a:t>
            </a:r>
          </a:p>
        </p:txBody>
      </p:sp>
      <p:sp>
        <p:nvSpPr>
          <p:cNvPr id="18" name="Rectangle 17">
            <a:extLst>
              <a:ext uri="{FF2B5EF4-FFF2-40B4-BE49-F238E27FC236}">
                <a16:creationId xmlns:a16="http://schemas.microsoft.com/office/drawing/2014/main" id="{E6B77F1B-7BEF-41A0-B0C7-532945B3DF18}"/>
              </a:ext>
            </a:extLst>
          </p:cNvPr>
          <p:cNvSpPr>
            <a:spLocks noGrp="1"/>
          </p:cNvSpPr>
          <p:nvPr/>
        </p:nvSpPr>
        <p:spPr>
          <a:xfrm>
            <a:off x="8191500" y="5829300"/>
            <a:ext cx="3219450" cy="209550"/>
          </a:xfrm>
          <a:prstGeom prst="rect">
            <a:avLst/>
          </a:prstGeom>
          <a:noFill/>
          <a:ln w="0">
            <a:noFill/>
            <a:prstDash val="solid"/>
          </a:ln>
        </p:spPr>
        <p:txBody>
          <a:bodyPr lIns="0" tIns="0" rIns="0" bIns="0" anchor="t">
            <a:normAutofit fontScale="92500"/>
          </a:bodyPr>
          <a:lstStyle/>
          <a:p>
            <a:pPr algn="ctr">
              <a:defRPr sz="1125" b="1">
                <a:solidFill>
                  <a:srgbClr val="5D6470"/>
                </a:solidFill>
                <a:latin typeface="Helvetica Neue"/>
                <a:ea typeface="Helvetica Neue"/>
                <a:cs typeface="Helvetica Neue"/>
              </a:defRPr>
            </a:pPr>
            <a:r>
              <a:rPr sz="1125" b="1">
                <a:solidFill>
                  <a:srgbClr val="5D6470"/>
                </a:solidFill>
                <a:latin typeface="Helvetica Neue"/>
                <a:ea typeface="Helvetica Neue"/>
                <a:cs typeface="Helvetica Neue"/>
              </a:rPr>
              <a:t>Practical MAE change: 2.24% and 3.46% of baseline</a:t>
            </a:r>
          </a:p>
        </p:txBody>
      </p:sp>
    </p:spTree>
    <p:extLst>
      <p:ext uri="{BB962C8B-B14F-4D97-AF65-F5344CB8AC3E}">
        <p14:creationId xmlns:p14="http://schemas.microsoft.com/office/powerpoint/2010/main" val="1899783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90FBF0-F064-4E92-9F75-363427A89ABE}"/>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SHEAF VERSUS GRAPH</a:t>
            </a:r>
          </a:p>
        </p:txBody>
      </p:sp>
      <p:sp>
        <p:nvSpPr>
          <p:cNvPr id="2" name="Rectangle 1">
            <a:extLst>
              <a:ext uri="{FF2B5EF4-FFF2-40B4-BE49-F238E27FC236}">
                <a16:creationId xmlns:a16="http://schemas.microsoft.com/office/drawing/2014/main" id="{C00506B5-345C-485C-B953-25F610647113}"/>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5: the sheaf added representation and conflict localisation</a:t>
            </a:r>
          </a:p>
        </p:txBody>
      </p:sp>
      <p:sp>
        <p:nvSpPr>
          <p:cNvPr id="3" name="Rectangle 2">
            <a:extLst>
              <a:ext uri="{FF2B5EF4-FFF2-40B4-BE49-F238E27FC236}">
                <a16:creationId xmlns:a16="http://schemas.microsoft.com/office/drawing/2014/main" id="{8C743F69-71D1-4F54-A5EC-B84A428A6C98}"/>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E6782484-4979-4CB5-B037-7A544E4334FD}"/>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7F6FF3BC-8C86-489F-AF85-B7B88DA8FEFB}"/>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21</a:t>
            </a:r>
          </a:p>
        </p:txBody>
      </p:sp>
      <p:pic>
        <p:nvPicPr>
          <p:cNvPr id="23" name="Picture 22"/>
          <p:cNvPicPr>
            <a:picLocks noChangeAspect="1"/>
          </p:cNvPicPr>
          <p:nvPr/>
        </p:nvPicPr>
        <p:blipFill>
          <a:blip r:embed="rId3"/>
          <a:stretch/>
        </p:blipFill>
        <p:spPr>
          <a:xfrm>
            <a:off x="726842" y="1381125"/>
            <a:ext cx="6871166" cy="4810125"/>
          </a:xfrm>
          <a:prstGeom prst="rect">
            <a:avLst/>
          </a:prstGeom>
        </p:spPr>
      </p:pic>
      <p:sp>
        <p:nvSpPr>
          <p:cNvPr id="7" name="Rectangle: Rounded Corners 6">
            <a:extLst>
              <a:ext uri="{FF2B5EF4-FFF2-40B4-BE49-F238E27FC236}">
                <a16:creationId xmlns:a16="http://schemas.microsoft.com/office/drawing/2014/main" id="{C81B1A58-7AC2-453A-8BE7-2B27647633FE}"/>
              </a:ext>
            </a:extLst>
          </p:cNvPr>
          <p:cNvSpPr>
            <a:spLocks noGrp="1"/>
          </p:cNvSpPr>
          <p:nvPr/>
        </p:nvSpPr>
        <p:spPr>
          <a:xfrm>
            <a:off x="8191500" y="1485900"/>
            <a:ext cx="3219450" cy="1143000"/>
          </a:xfrm>
          <a:prstGeom prst="roundRect">
            <a:avLst>
              <a:gd name="adj" fmla="val 10000"/>
            </a:avLst>
          </a:prstGeom>
          <a:solidFill>
            <a:srgbClr val="E7F7F3"/>
          </a:solidFill>
          <a:ln w="0">
            <a:noFill/>
            <a:prstDash val="solid"/>
          </a:ln>
        </p:spPr>
        <p:txBody>
          <a:bodyPr/>
          <a:lstStyle/>
          <a:p>
            <a:endParaRPr lang="en-US"/>
          </a:p>
        </p:txBody>
      </p:sp>
      <p:sp>
        <p:nvSpPr>
          <p:cNvPr id="8" name="Rectangle 7">
            <a:extLst>
              <a:ext uri="{FF2B5EF4-FFF2-40B4-BE49-F238E27FC236}">
                <a16:creationId xmlns:a16="http://schemas.microsoft.com/office/drawing/2014/main" id="{53880A44-D42C-4832-B177-596DA36B2094}"/>
              </a:ext>
            </a:extLst>
          </p:cNvPr>
          <p:cNvSpPr>
            <a:spLocks noGrp="1"/>
          </p:cNvSpPr>
          <p:nvPr/>
        </p:nvSpPr>
        <p:spPr>
          <a:xfrm>
            <a:off x="8420100" y="1676400"/>
            <a:ext cx="2762250" cy="209550"/>
          </a:xfrm>
          <a:prstGeom prst="rect">
            <a:avLst/>
          </a:prstGeom>
          <a:noFill/>
          <a:ln w="0">
            <a:noFill/>
            <a:prstDash val="solid"/>
          </a:ln>
        </p:spPr>
        <p:txBody>
          <a:bodyPr lIns="0" tIns="0" rIns="0" bIns="0" anchor="t">
            <a:normAutofit/>
          </a:bodyPr>
          <a:lstStyle/>
          <a:p>
            <a:pPr algn="l">
              <a:defRPr sz="1125" b="1">
                <a:solidFill>
                  <a:srgbClr val="149A84"/>
                </a:solidFill>
                <a:latin typeface="Helvetica Neue"/>
                <a:ea typeface="Helvetica Neue"/>
                <a:cs typeface="Helvetica Neue"/>
              </a:defRPr>
            </a:pPr>
            <a:r>
              <a:rPr sz="1125" b="1">
                <a:solidFill>
                  <a:srgbClr val="149A84"/>
                </a:solidFill>
                <a:latin typeface="Helvetica Neue"/>
                <a:ea typeface="Helvetica Neue"/>
                <a:cs typeface="Helvetica Neue"/>
              </a:rPr>
              <a:t>VS IDENTITY GRAPH</a:t>
            </a:r>
          </a:p>
        </p:txBody>
      </p:sp>
      <p:sp>
        <p:nvSpPr>
          <p:cNvPr id="9" name="Rectangle 8">
            <a:extLst>
              <a:ext uri="{FF2B5EF4-FFF2-40B4-BE49-F238E27FC236}">
                <a16:creationId xmlns:a16="http://schemas.microsoft.com/office/drawing/2014/main" id="{E1239166-4061-442D-BD56-F133007EF055}"/>
              </a:ext>
            </a:extLst>
          </p:cNvPr>
          <p:cNvSpPr>
            <a:spLocks noGrp="1"/>
          </p:cNvSpPr>
          <p:nvPr/>
        </p:nvSpPr>
        <p:spPr>
          <a:xfrm>
            <a:off x="8420100" y="2038350"/>
            <a:ext cx="2762250" cy="304800"/>
          </a:xfrm>
          <a:prstGeom prst="rect">
            <a:avLst/>
          </a:prstGeom>
          <a:noFill/>
          <a:ln w="0">
            <a:noFill/>
            <a:prstDash val="solid"/>
          </a:ln>
        </p:spPr>
        <p:txBody>
          <a:bodyPr lIns="0" tIns="0" rIns="0" bIns="0" anchor="t">
            <a:normAutofit fontScale="95238"/>
          </a:bodyPr>
          <a:lstStyle/>
          <a:p>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+0.0854 PR-AUC</a:t>
            </a:r>
          </a:p>
        </p:txBody>
      </p:sp>
      <p:sp>
        <p:nvSpPr>
          <p:cNvPr id="10" name="Rectangle: Rounded Corners 9">
            <a:extLst>
              <a:ext uri="{FF2B5EF4-FFF2-40B4-BE49-F238E27FC236}">
                <a16:creationId xmlns:a16="http://schemas.microsoft.com/office/drawing/2014/main" id="{AC931ABA-69ED-467A-9998-6C574C022839}"/>
              </a:ext>
            </a:extLst>
          </p:cNvPr>
          <p:cNvSpPr>
            <a:spLocks noGrp="1"/>
          </p:cNvSpPr>
          <p:nvPr/>
        </p:nvSpPr>
        <p:spPr>
          <a:xfrm>
            <a:off x="8191500" y="2781300"/>
            <a:ext cx="3219450" cy="1143000"/>
          </a:xfrm>
          <a:prstGeom prst="roundRect">
            <a:avLst>
              <a:gd name="adj" fmla="val 10000"/>
            </a:avLst>
          </a:prstGeom>
          <a:solidFill>
            <a:srgbClr val="E9F4FF"/>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F4DB21F0-23E3-448E-8086-04A368EC62AB}"/>
              </a:ext>
            </a:extLst>
          </p:cNvPr>
          <p:cNvSpPr>
            <a:spLocks noGrp="1"/>
          </p:cNvSpPr>
          <p:nvPr/>
        </p:nvSpPr>
        <p:spPr>
          <a:xfrm>
            <a:off x="8420100" y="2971800"/>
            <a:ext cx="2762250" cy="209550"/>
          </a:xfrm>
          <a:prstGeom prst="rect">
            <a:avLst/>
          </a:prstGeom>
          <a:noFill/>
          <a:ln w="0">
            <a:noFill/>
            <a:prstDash val="solid"/>
          </a:ln>
        </p:spPr>
        <p:txBody>
          <a:bodyPr lIns="0" tIns="0" rIns="0" bIns="0" anchor="t">
            <a:normAutofit/>
          </a:bodyPr>
          <a:lstStyle/>
          <a:p>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NATIVE VS PERMUTED MAPS</a:t>
            </a:r>
          </a:p>
        </p:txBody>
      </p:sp>
      <p:sp>
        <p:nvSpPr>
          <p:cNvPr id="12" name="Rectangle 11">
            <a:extLst>
              <a:ext uri="{FF2B5EF4-FFF2-40B4-BE49-F238E27FC236}">
                <a16:creationId xmlns:a16="http://schemas.microsoft.com/office/drawing/2014/main" id="{2A8B2FF1-FC0E-41E5-86F0-59DF52658D01}"/>
              </a:ext>
            </a:extLst>
          </p:cNvPr>
          <p:cNvSpPr>
            <a:spLocks noGrp="1"/>
          </p:cNvSpPr>
          <p:nvPr/>
        </p:nvSpPr>
        <p:spPr>
          <a:xfrm>
            <a:off x="8420100" y="3333750"/>
            <a:ext cx="2762250" cy="304800"/>
          </a:xfrm>
          <a:prstGeom prst="rect">
            <a:avLst/>
          </a:prstGeom>
          <a:noFill/>
          <a:ln w="0">
            <a:noFill/>
            <a:prstDash val="solid"/>
          </a:ln>
        </p:spPr>
        <p:txBody>
          <a:bodyPr lIns="0" tIns="0" rIns="0" bIns="0" anchor="t">
            <a:normAutofit fontScale="95238"/>
          </a:bodyPr>
          <a:lstStyle/>
          <a:p>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+0.0909 PR-AUC</a:t>
            </a:r>
          </a:p>
        </p:txBody>
      </p:sp>
      <p:sp>
        <p:nvSpPr>
          <p:cNvPr id="13" name="Rectangle: Rounded Corners 12">
            <a:extLst>
              <a:ext uri="{FF2B5EF4-FFF2-40B4-BE49-F238E27FC236}">
                <a16:creationId xmlns:a16="http://schemas.microsoft.com/office/drawing/2014/main" id="{2D9CC1FB-74CC-46FA-81C8-AA2D09945B17}"/>
              </a:ext>
            </a:extLst>
          </p:cNvPr>
          <p:cNvSpPr>
            <a:spLocks noGrp="1"/>
          </p:cNvSpPr>
          <p:nvPr/>
        </p:nvSpPr>
        <p:spPr>
          <a:xfrm>
            <a:off x="8191500" y="4076700"/>
            <a:ext cx="3219450" cy="1143000"/>
          </a:xfrm>
          <a:prstGeom prst="roundRect">
            <a:avLst>
              <a:gd name="adj" fmla="val 10000"/>
            </a:avLst>
          </a:prstGeom>
          <a:solidFill>
            <a:srgbClr val="FDE8E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197D0A0-2219-47FC-870D-FE4CEB55BB39}"/>
              </a:ext>
            </a:extLst>
          </p:cNvPr>
          <p:cNvSpPr>
            <a:spLocks noGrp="1"/>
          </p:cNvSpPr>
          <p:nvPr/>
        </p:nvSpPr>
        <p:spPr>
          <a:xfrm>
            <a:off x="8420100" y="4267200"/>
            <a:ext cx="2762250" cy="209550"/>
          </a:xfrm>
          <a:prstGeom prst="rect">
            <a:avLst/>
          </a:prstGeom>
          <a:noFill/>
          <a:ln w="0">
            <a:noFill/>
            <a:prstDash val="solid"/>
          </a:ln>
        </p:spPr>
        <p:txBody>
          <a:bodyPr lIns="0" tIns="0" rIns="0" bIns="0" anchor="t">
            <a:normAutofit/>
          </a:bodyPr>
          <a:lstStyle/>
          <a:p>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VS STRONG EDGE-LOCAL GRAPH</a:t>
            </a:r>
          </a:p>
        </p:txBody>
      </p:sp>
      <p:sp>
        <p:nvSpPr>
          <p:cNvPr id="15" name="Rectangle 14">
            <a:extLst>
              <a:ext uri="{FF2B5EF4-FFF2-40B4-BE49-F238E27FC236}">
                <a16:creationId xmlns:a16="http://schemas.microsoft.com/office/drawing/2014/main" id="{D24939F4-E5FB-4B57-BC41-F6D249F073E3}"/>
              </a:ext>
            </a:extLst>
          </p:cNvPr>
          <p:cNvSpPr>
            <a:spLocks noGrp="1"/>
          </p:cNvSpPr>
          <p:nvPr/>
        </p:nvSpPr>
        <p:spPr>
          <a:xfrm>
            <a:off x="8420100" y="4629150"/>
            <a:ext cx="2762250" cy="304800"/>
          </a:xfrm>
          <a:prstGeom prst="rect">
            <a:avLst/>
          </a:prstGeom>
          <a:noFill/>
          <a:ln w="0">
            <a:noFill/>
            <a:prstDash val="solid"/>
          </a:ln>
        </p:spPr>
        <p:txBody>
          <a:bodyPr lIns="0" tIns="0" rIns="0" bIns="0" anchor="t">
            <a:normAutofit/>
          </a:bodyPr>
          <a:lstStyle/>
          <a:p>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+0.0097 · CI crosses 0</a:t>
            </a:r>
          </a:p>
        </p:txBody>
      </p:sp>
      <p:sp>
        <p:nvSpPr>
          <p:cNvPr id="16" name="Rectangle: Rounded Corners 15">
            <a:extLst>
              <a:ext uri="{FF2B5EF4-FFF2-40B4-BE49-F238E27FC236}">
                <a16:creationId xmlns:a16="http://schemas.microsoft.com/office/drawing/2014/main" id="{BDB521F2-9976-4229-98B9-12EF9E12AEFA}"/>
              </a:ext>
            </a:extLst>
          </p:cNvPr>
          <p:cNvSpPr>
            <a:spLocks noGrp="1"/>
          </p:cNvSpPr>
          <p:nvPr/>
        </p:nvSpPr>
        <p:spPr>
          <a:xfrm>
            <a:off x="8191500" y="5467350"/>
            <a:ext cx="3219450" cy="323850"/>
          </a:xfrm>
          <a:prstGeom prst="roundRect">
            <a:avLst>
              <a:gd name="adj" fmla="val 50000"/>
            </a:avLst>
          </a:prstGeom>
          <a:solidFill>
            <a:srgbClr val="FDE8E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397B2055-82B2-4729-BB53-D7825719DE81}"/>
              </a:ext>
            </a:extLst>
          </p:cNvPr>
          <p:cNvSpPr>
            <a:spLocks noGrp="1"/>
          </p:cNvSpPr>
          <p:nvPr/>
        </p:nvSpPr>
        <p:spPr>
          <a:xfrm>
            <a:off x="8286750" y="5534025"/>
            <a:ext cx="3028950"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GENERAL SUPERIORITY: NOT ESTABLISHED</a:t>
            </a:r>
          </a:p>
        </p:txBody>
      </p:sp>
    </p:spTree>
    <p:extLst>
      <p:ext uri="{BB962C8B-B14F-4D97-AF65-F5344CB8AC3E}">
        <p14:creationId xmlns:p14="http://schemas.microsoft.com/office/powerpoint/2010/main" val="2461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9BF916C-7F96-4B06-936D-ED1050F86E80}"/>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ROBUST-ESTIMATOR DIAGNOSTIC</a:t>
            </a:r>
          </a:p>
        </p:txBody>
      </p:sp>
      <p:sp>
        <p:nvSpPr>
          <p:cNvPr id="2" name="Rectangle 1">
            <a:extLst>
              <a:ext uri="{FF2B5EF4-FFF2-40B4-BE49-F238E27FC236}">
                <a16:creationId xmlns:a16="http://schemas.microsoft.com/office/drawing/2014/main" id="{44BB9701-F664-43E7-9472-7A9BD159D1A8}"/>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Objective 5: the refined estimator remained conditional</a:t>
            </a:r>
          </a:p>
        </p:txBody>
      </p:sp>
      <p:sp>
        <p:nvSpPr>
          <p:cNvPr id="3" name="Rectangle 2">
            <a:extLst>
              <a:ext uri="{FF2B5EF4-FFF2-40B4-BE49-F238E27FC236}">
                <a16:creationId xmlns:a16="http://schemas.microsoft.com/office/drawing/2014/main" id="{34CF4C68-5B93-43DC-9D2A-106AF0A4550E}"/>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7710B2C9-2425-4380-B02A-299FA5C60CD9}"/>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F42B547B-628D-432B-95DD-947435C97F92}"/>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22</a:t>
            </a:r>
          </a:p>
        </p:txBody>
      </p:sp>
      <p:pic>
        <p:nvPicPr>
          <p:cNvPr id="21" name="Picture 20"/>
          <p:cNvPicPr>
            <a:picLocks noChangeAspect="1"/>
          </p:cNvPicPr>
          <p:nvPr/>
        </p:nvPicPr>
        <p:blipFill>
          <a:blip r:embed="rId3"/>
          <a:stretch/>
        </p:blipFill>
        <p:spPr>
          <a:xfrm>
            <a:off x="400050" y="1443147"/>
            <a:ext cx="7524750" cy="4686081"/>
          </a:xfrm>
          <a:prstGeom prst="rect">
            <a:avLst/>
          </a:prstGeom>
        </p:spPr>
      </p:pic>
      <p:sp>
        <p:nvSpPr>
          <p:cNvPr id="7" name="Rectangle: Rounded Corners 6">
            <a:extLst>
              <a:ext uri="{FF2B5EF4-FFF2-40B4-BE49-F238E27FC236}">
                <a16:creationId xmlns:a16="http://schemas.microsoft.com/office/drawing/2014/main" id="{1E7C1BB0-F364-4178-B1D5-F2BA2EB69E66}"/>
              </a:ext>
            </a:extLst>
          </p:cNvPr>
          <p:cNvSpPr>
            <a:spLocks noGrp="1"/>
          </p:cNvSpPr>
          <p:nvPr/>
        </p:nvSpPr>
        <p:spPr>
          <a:xfrm>
            <a:off x="8191500" y="1524000"/>
            <a:ext cx="3219450" cy="1428750"/>
          </a:xfrm>
          <a:prstGeom prst="roundRect">
            <a:avLst>
              <a:gd name="adj" fmla="val 8000"/>
            </a:avLst>
          </a:prstGeom>
          <a:solidFill>
            <a:srgbClr val="E7F7F3"/>
          </a:solidFill>
          <a:ln w="0">
            <a:noFill/>
            <a:prstDash val="solid"/>
          </a:ln>
        </p:spPr>
        <p:txBody>
          <a:bodyPr/>
          <a:lstStyle/>
          <a:p>
            <a:endParaRPr lang="en-US"/>
          </a:p>
        </p:txBody>
      </p:sp>
      <p:sp>
        <p:nvSpPr>
          <p:cNvPr id="8" name="Rectangle 7">
            <a:extLst>
              <a:ext uri="{FF2B5EF4-FFF2-40B4-BE49-F238E27FC236}">
                <a16:creationId xmlns:a16="http://schemas.microsoft.com/office/drawing/2014/main" id="{28364674-18DB-4A71-B96C-0A5C139BDD16}"/>
              </a:ext>
            </a:extLst>
          </p:cNvPr>
          <p:cNvSpPr>
            <a:spLocks noGrp="1"/>
          </p:cNvSpPr>
          <p:nvPr/>
        </p:nvSpPr>
        <p:spPr>
          <a:xfrm>
            <a:off x="8420100" y="1733550"/>
            <a:ext cx="2762250" cy="190500"/>
          </a:xfrm>
          <a:prstGeom prst="rect">
            <a:avLst/>
          </a:prstGeom>
          <a:noFill/>
          <a:ln w="0">
            <a:noFill/>
            <a:prstDash val="solid"/>
          </a:ln>
        </p:spPr>
        <p:txBody>
          <a:bodyPr lIns="0" tIns="0" rIns="0" bIns="0" anchor="t">
            <a:normAutofit/>
          </a:bodyPr>
          <a:lstStyle/>
          <a:p>
            <a:pPr algn="l">
              <a:defRPr sz="1125" b="1">
                <a:solidFill>
                  <a:srgbClr val="149A84"/>
                </a:solidFill>
                <a:latin typeface="Helvetica Neue"/>
                <a:ea typeface="Helvetica Neue"/>
                <a:cs typeface="Helvetica Neue"/>
              </a:defRPr>
            </a:pPr>
            <a:r>
              <a:rPr sz="1125" b="1">
                <a:solidFill>
                  <a:srgbClr val="149A84"/>
                </a:solidFill>
                <a:latin typeface="Helvetica Neue"/>
                <a:ea typeface="Helvetica Neue"/>
                <a:cs typeface="Helvetica Neue"/>
              </a:rPr>
              <a:t>LOCKED TEST: 128 CASES</a:t>
            </a:r>
          </a:p>
        </p:txBody>
      </p:sp>
      <p:sp>
        <p:nvSpPr>
          <p:cNvPr id="9" name="Rectangle 8">
            <a:extLst>
              <a:ext uri="{FF2B5EF4-FFF2-40B4-BE49-F238E27FC236}">
                <a16:creationId xmlns:a16="http://schemas.microsoft.com/office/drawing/2014/main" id="{CDB60A2E-D06D-4097-BB68-63DF8079A72B}"/>
              </a:ext>
            </a:extLst>
          </p:cNvPr>
          <p:cNvSpPr>
            <a:spLocks noGrp="1"/>
          </p:cNvSpPr>
          <p:nvPr/>
        </p:nvSpPr>
        <p:spPr>
          <a:xfrm>
            <a:off x="8420100" y="2114550"/>
            <a:ext cx="2762250" cy="323850"/>
          </a:xfrm>
          <a:prstGeom prst="rect">
            <a:avLst/>
          </a:prstGeom>
          <a:noFill/>
          <a:ln w="0">
            <a:noFill/>
            <a:prstDash val="solid"/>
          </a:ln>
        </p:spPr>
        <p:txBody>
          <a:bodyPr lIns="0" tIns="0" rIns="0" bIns="0" anchor="t">
            <a:normAutofit fontScale="97701"/>
          </a:bodyPr>
          <a:lstStyle/>
          <a:p>
            <a:pPr algn="l">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+0.0200 PR-AUC</a:t>
            </a:r>
          </a:p>
        </p:txBody>
      </p:sp>
      <p:sp>
        <p:nvSpPr>
          <p:cNvPr id="10" name="Rectangle 9">
            <a:extLst>
              <a:ext uri="{FF2B5EF4-FFF2-40B4-BE49-F238E27FC236}">
                <a16:creationId xmlns:a16="http://schemas.microsoft.com/office/drawing/2014/main" id="{2B5F5C25-643E-4E97-B5F1-99570E60CDBE}"/>
              </a:ext>
            </a:extLst>
          </p:cNvPr>
          <p:cNvSpPr>
            <a:spLocks noGrp="1"/>
          </p:cNvSpPr>
          <p:nvPr/>
        </p:nvSpPr>
        <p:spPr>
          <a:xfrm>
            <a:off x="8420100" y="2533650"/>
            <a:ext cx="2762250" cy="228600"/>
          </a:xfrm>
          <a:prstGeom prst="rect">
            <a:avLst/>
          </a:prstGeom>
          <a:noFill/>
          <a:ln w="0">
            <a:noFill/>
            <a:prstDash val="solid"/>
          </a:ln>
        </p:spPr>
        <p:txBody>
          <a:bodyPr lIns="0" tIns="0" rIns="0" bIns="0" anchor="t">
            <a:normAutofit/>
          </a:bodyPr>
          <a:lstStyle/>
          <a:p>
            <a:pPr algn="l">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simultaneous CI [−0.0055, 0.0454]</a:t>
            </a:r>
          </a:p>
        </p:txBody>
      </p:sp>
      <p:sp>
        <p:nvSpPr>
          <p:cNvPr id="11" name="Rectangle: Rounded Corners 10">
            <a:extLst>
              <a:ext uri="{FF2B5EF4-FFF2-40B4-BE49-F238E27FC236}">
                <a16:creationId xmlns:a16="http://schemas.microsoft.com/office/drawing/2014/main" id="{D1212064-8704-4FC7-BD30-F50FE7A00A97}"/>
              </a:ext>
            </a:extLst>
          </p:cNvPr>
          <p:cNvSpPr>
            <a:spLocks noGrp="1"/>
          </p:cNvSpPr>
          <p:nvPr/>
        </p:nvSpPr>
        <p:spPr>
          <a:xfrm>
            <a:off x="8191500" y="3143250"/>
            <a:ext cx="3219450" cy="1428750"/>
          </a:xfrm>
          <a:prstGeom prst="roundRect">
            <a:avLst>
              <a:gd name="adj" fmla="val 8000"/>
            </a:avLst>
          </a:prstGeom>
          <a:solidFill>
            <a:srgbClr val="FDE8E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12B2B33-E94E-460E-AB60-05271CBAB5C8}"/>
              </a:ext>
            </a:extLst>
          </p:cNvPr>
          <p:cNvSpPr>
            <a:spLocks noGrp="1"/>
          </p:cNvSpPr>
          <p:nvPr/>
        </p:nvSpPr>
        <p:spPr>
          <a:xfrm>
            <a:off x="8420100" y="3352800"/>
            <a:ext cx="2762250" cy="190500"/>
          </a:xfrm>
          <a:prstGeom prst="rect">
            <a:avLst/>
          </a:prstGeom>
          <a:noFill/>
          <a:ln w="0">
            <a:noFill/>
            <a:prstDash val="solid"/>
          </a:ln>
        </p:spPr>
        <p:txBody>
          <a:bodyPr lIns="0" tIns="0" rIns="0" bIns="0" anchor="t">
            <a:normAutofit/>
          </a:bodyPr>
          <a:lstStyle/>
          <a:p>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COMPLETE GATE</a:t>
            </a:r>
          </a:p>
        </p:txBody>
      </p:sp>
      <p:sp>
        <p:nvSpPr>
          <p:cNvPr id="13" name="Rectangle 12">
            <a:extLst>
              <a:ext uri="{FF2B5EF4-FFF2-40B4-BE49-F238E27FC236}">
                <a16:creationId xmlns:a16="http://schemas.microsoft.com/office/drawing/2014/main" id="{3D73E8F4-1A22-4E87-80FB-A7968437B83A}"/>
              </a:ext>
            </a:extLst>
          </p:cNvPr>
          <p:cNvSpPr>
            <a:spLocks noGrp="1"/>
          </p:cNvSpPr>
          <p:nvPr/>
        </p:nvSpPr>
        <p:spPr>
          <a:xfrm>
            <a:off x="8420100" y="3733800"/>
            <a:ext cx="2762250" cy="552450"/>
          </a:xfrm>
          <a:prstGeom prst="rect">
            <a:avLst/>
          </a:prstGeom>
          <a:noFill/>
          <a:ln w="0">
            <a:noFill/>
            <a:prstDash val="solid"/>
          </a:ln>
        </p:spPr>
        <p:txBody>
          <a:bodyPr lIns="0" tIns="0" rIns="0" bIns="0" anchor="t">
            <a:normAutofit/>
          </a:bodyPr>
          <a:lstStyle/>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Brier: inconclusive</a:t>
            </a:r>
          </a:p>
          <a:p>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Log loss: inconclusive</a:t>
            </a:r>
          </a:p>
        </p:txBody>
      </p:sp>
      <p:sp>
        <p:nvSpPr>
          <p:cNvPr id="14" name="Rectangle: Rounded Corners 13">
            <a:extLst>
              <a:ext uri="{FF2B5EF4-FFF2-40B4-BE49-F238E27FC236}">
                <a16:creationId xmlns:a16="http://schemas.microsoft.com/office/drawing/2014/main" id="{1CD8D016-C795-446A-8A48-C7484DDC1C6A}"/>
              </a:ext>
            </a:extLst>
          </p:cNvPr>
          <p:cNvSpPr>
            <a:spLocks noGrp="1"/>
          </p:cNvSpPr>
          <p:nvPr/>
        </p:nvSpPr>
        <p:spPr>
          <a:xfrm>
            <a:off x="8191500" y="4953000"/>
            <a:ext cx="3219450" cy="323850"/>
          </a:xfrm>
          <a:prstGeom prst="roundRect">
            <a:avLst>
              <a:gd name="adj" fmla="val 50000"/>
            </a:avLst>
          </a:prstGeom>
          <a:solidFill>
            <a:srgbClr val="FFF3D9"/>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0E5155E1-CBCA-4D29-81C2-B0F6C8A2606D}"/>
              </a:ext>
            </a:extLst>
          </p:cNvPr>
          <p:cNvSpPr>
            <a:spLocks noGrp="1"/>
          </p:cNvSpPr>
          <p:nvPr/>
        </p:nvSpPr>
        <p:spPr>
          <a:xfrm>
            <a:off x="8286750" y="5019675"/>
            <a:ext cx="3028950" cy="190500"/>
          </a:xfrm>
          <a:prstGeom prst="rect">
            <a:avLst/>
          </a:prstGeom>
          <a:noFill/>
          <a:ln w="0">
            <a:noFill/>
            <a:prstDash val="solid"/>
          </a:ln>
        </p:spPr>
        <p:txBody>
          <a:bodyPr lIns="0" tIns="0" rIns="0" bIns="0" anchor="t">
            <a:normAutofit fontScale="85000" lnSpcReduction="10000"/>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CONDITIONAL METHOD · NOT UNIVERSAL WINNER</a:t>
            </a:r>
          </a:p>
        </p:txBody>
      </p:sp>
    </p:spTree>
    <p:extLst>
      <p:ext uri="{BB962C8B-B14F-4D97-AF65-F5344CB8AC3E}">
        <p14:creationId xmlns:p14="http://schemas.microsoft.com/office/powerpoint/2010/main" val="1559174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E823064-76BE-4E57-A279-A8B9677055DB}"/>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6 · APPLY TO GHANA</a:t>
            </a:r>
          </a:p>
        </p:txBody>
      </p:sp>
      <p:sp>
        <p:nvSpPr>
          <p:cNvPr id="2" name="Rectangle 1">
            <a:extLst>
              <a:ext uri="{FF2B5EF4-FFF2-40B4-BE49-F238E27FC236}">
                <a16:creationId xmlns:a16="http://schemas.microsoft.com/office/drawing/2014/main" id="{D1BC01E0-4CDA-4FE4-89BD-A25BE81B8328}"/>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Objective 6: Ghana application identified the field evidence ceiling</a:t>
            </a:r>
          </a:p>
        </p:txBody>
      </p:sp>
      <p:sp>
        <p:nvSpPr>
          <p:cNvPr id="3" name="Rectangle 2">
            <a:extLst>
              <a:ext uri="{FF2B5EF4-FFF2-40B4-BE49-F238E27FC236}">
                <a16:creationId xmlns:a16="http://schemas.microsoft.com/office/drawing/2014/main" id="{1F84C4C8-CBAA-4D57-B76A-DD9889D883D6}"/>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FCEF09AA-2EB4-4D46-A933-DE349FC3AACC}"/>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8488DDED-57AF-4E3F-8FFD-711D0AF08C8E}"/>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23</a:t>
            </a:r>
          </a:p>
        </p:txBody>
      </p:sp>
      <p:pic>
        <p:nvPicPr>
          <p:cNvPr id="25" name="Picture 24"/>
          <p:cNvPicPr>
            <a:picLocks noChangeAspect="1"/>
          </p:cNvPicPr>
          <p:nvPr/>
        </p:nvPicPr>
        <p:blipFill>
          <a:blip r:embed="rId3"/>
          <a:stretch/>
        </p:blipFill>
        <p:spPr>
          <a:xfrm>
            <a:off x="1469231" y="1381125"/>
            <a:ext cx="5291138" cy="4810125"/>
          </a:xfrm>
          <a:prstGeom prst="rect">
            <a:avLst/>
          </a:prstGeom>
        </p:spPr>
      </p:pic>
      <p:sp>
        <p:nvSpPr>
          <p:cNvPr id="7" name="Rectangle: Rounded Corners 6">
            <a:extLst>
              <a:ext uri="{FF2B5EF4-FFF2-40B4-BE49-F238E27FC236}">
                <a16:creationId xmlns:a16="http://schemas.microsoft.com/office/drawing/2014/main" id="{FF25251D-9E19-41D6-8A67-11DECF397789}"/>
              </a:ext>
            </a:extLst>
          </p:cNvPr>
          <p:cNvSpPr>
            <a:spLocks noGrp="1"/>
          </p:cNvSpPr>
          <p:nvPr/>
        </p:nvSpPr>
        <p:spPr>
          <a:xfrm>
            <a:off x="8096250" y="1543050"/>
            <a:ext cx="3333750" cy="1257300"/>
          </a:xfrm>
          <a:prstGeom prst="roundRect">
            <a:avLst>
              <a:gd name="adj" fmla="val 9091"/>
            </a:avLst>
          </a:prstGeom>
          <a:solidFill>
            <a:srgbClr val="F2F3F5"/>
          </a:solidFill>
          <a:ln w="0">
            <a:noFill/>
            <a:prstDash val="solid"/>
          </a:ln>
        </p:spPr>
        <p:txBody>
          <a:bodyPr/>
          <a:lstStyle/>
          <a:p>
            <a:endParaRPr lang="en-US"/>
          </a:p>
        </p:txBody>
      </p:sp>
      <p:sp>
        <p:nvSpPr>
          <p:cNvPr id="8" name="Rectangle 7">
            <a:extLst>
              <a:ext uri="{FF2B5EF4-FFF2-40B4-BE49-F238E27FC236}">
                <a16:creationId xmlns:a16="http://schemas.microsoft.com/office/drawing/2014/main" id="{2ADE3B89-83B4-42DF-AE43-12A77AC822F6}"/>
              </a:ext>
            </a:extLst>
          </p:cNvPr>
          <p:cNvSpPr>
            <a:spLocks noGrp="1"/>
          </p:cNvSpPr>
          <p:nvPr/>
        </p:nvSpPr>
        <p:spPr>
          <a:xfrm>
            <a:off x="8096250" y="1543050"/>
            <a:ext cx="76200" cy="1257300"/>
          </a:xfrm>
          <a:prstGeom prst="rect">
            <a:avLst/>
          </a:prstGeom>
          <a:solidFill>
            <a:srgbClr val="149A84"/>
          </a:solidFill>
          <a:ln w="0">
            <a:noFill/>
            <a:prstDash val="solid"/>
          </a:ln>
        </p:spPr>
        <p:txBody>
          <a:bodyPr/>
          <a:lstStyle/>
          <a:p>
            <a:endParaRPr lang="en-US"/>
          </a:p>
        </p:txBody>
      </p:sp>
      <p:sp>
        <p:nvSpPr>
          <p:cNvPr id="9" name="Rectangle 8">
            <a:extLst>
              <a:ext uri="{FF2B5EF4-FFF2-40B4-BE49-F238E27FC236}">
                <a16:creationId xmlns:a16="http://schemas.microsoft.com/office/drawing/2014/main" id="{2DE11F8D-B127-4A9C-BFA8-2B4DE1E09C22}"/>
              </a:ext>
            </a:extLst>
          </p:cNvPr>
          <p:cNvSpPr>
            <a:spLocks noGrp="1"/>
          </p:cNvSpPr>
          <p:nvPr/>
        </p:nvSpPr>
        <p:spPr>
          <a:xfrm>
            <a:off x="8286750" y="1695450"/>
            <a:ext cx="3009900" cy="476250"/>
          </a:xfrm>
          <a:prstGeom prst="rect">
            <a:avLst/>
          </a:prstGeom>
          <a:noFill/>
          <a:ln w="0">
            <a:noFill/>
            <a:prstDash val="solid"/>
          </a:ln>
        </p:spPr>
        <p:txBody>
          <a:bodyPr lIns="0" tIns="0" rIns="0" bIns="0" anchor="t">
            <a:normAutofit/>
          </a:bodyPr>
          <a:lstStyle/>
          <a:p>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294 / 320</a:t>
            </a:r>
          </a:p>
        </p:txBody>
      </p:sp>
      <p:sp>
        <p:nvSpPr>
          <p:cNvPr id="10" name="Rectangle 9">
            <a:extLst>
              <a:ext uri="{FF2B5EF4-FFF2-40B4-BE49-F238E27FC236}">
                <a16:creationId xmlns:a16="http://schemas.microsoft.com/office/drawing/2014/main" id="{82AE3AF8-4813-4920-AF4D-8CC3F75D3C61}"/>
              </a:ext>
            </a:extLst>
          </p:cNvPr>
          <p:cNvSpPr>
            <a:spLocks noGrp="1"/>
          </p:cNvSpPr>
          <p:nvPr/>
        </p:nvSpPr>
        <p:spPr>
          <a:xfrm>
            <a:off x="8286750" y="22288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Northern Ghana quantitative records</a:t>
            </a:r>
          </a:p>
        </p:txBody>
      </p:sp>
      <p:sp>
        <p:nvSpPr>
          <p:cNvPr id="11" name="Rectangle: Rounded Corners 10">
            <a:extLst>
              <a:ext uri="{FF2B5EF4-FFF2-40B4-BE49-F238E27FC236}">
                <a16:creationId xmlns:a16="http://schemas.microsoft.com/office/drawing/2014/main" id="{CBBED6E2-9132-4270-BAFE-4245FCD66AA3}"/>
              </a:ext>
            </a:extLst>
          </p:cNvPr>
          <p:cNvSpPr>
            <a:spLocks noGrp="1"/>
          </p:cNvSpPr>
          <p:nvPr/>
        </p:nvSpPr>
        <p:spPr>
          <a:xfrm>
            <a:off x="8096250" y="2990850"/>
            <a:ext cx="3333750" cy="1257300"/>
          </a:xfrm>
          <a:prstGeom prst="roundRect">
            <a:avLst>
              <a:gd name="adj" fmla="val 9091"/>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CF32EF20-142C-41AE-970D-3E856CF3B90B}"/>
              </a:ext>
            </a:extLst>
          </p:cNvPr>
          <p:cNvSpPr>
            <a:spLocks noGrp="1"/>
          </p:cNvSpPr>
          <p:nvPr/>
        </p:nvSpPr>
        <p:spPr>
          <a:xfrm>
            <a:off x="8096250" y="2990850"/>
            <a:ext cx="76200" cy="1257300"/>
          </a:xfrm>
          <a:prstGeom prst="rect">
            <a:avLst/>
          </a:prstGeom>
          <a:solidFill>
            <a:srgbClr val="C53030"/>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265556C6-524B-4F9F-829B-6A518B172D79}"/>
              </a:ext>
            </a:extLst>
          </p:cNvPr>
          <p:cNvSpPr>
            <a:spLocks noGrp="1"/>
          </p:cNvSpPr>
          <p:nvPr/>
        </p:nvSpPr>
        <p:spPr>
          <a:xfrm>
            <a:off x="8286750" y="3143250"/>
            <a:ext cx="3009900" cy="476250"/>
          </a:xfrm>
          <a:prstGeom prst="rect">
            <a:avLst/>
          </a:prstGeom>
          <a:noFill/>
          <a:ln w="0">
            <a:noFill/>
            <a:prstDash val="solid"/>
          </a:ln>
        </p:spPr>
        <p:txBody>
          <a:bodyPr lIns="0" tIns="0" rIns="0" bIns="0" anchor="t">
            <a:normAutofit/>
          </a:bodyPr>
          <a:lstStyle/>
          <a:p>
            <a:pPr algn="l">
              <a:defRPr sz="2625" b="1">
                <a:solidFill>
                  <a:srgbClr val="C53030"/>
                </a:solidFill>
                <a:latin typeface="Helvetica Neue"/>
                <a:ea typeface="Helvetica Neue"/>
                <a:cs typeface="Helvetica Neue"/>
              </a:defRPr>
            </a:pPr>
            <a:r>
              <a:rPr sz="2625" b="1">
                <a:solidFill>
                  <a:srgbClr val="C53030"/>
                </a:solidFill>
                <a:latin typeface="Helvetica Neue"/>
                <a:ea typeface="Helvetica Neue"/>
                <a:cs typeface="Helvetica Neue"/>
              </a:rPr>
              <a:t>52%</a:t>
            </a:r>
          </a:p>
        </p:txBody>
      </p:sp>
      <p:sp>
        <p:nvSpPr>
          <p:cNvPr id="14" name="Rectangle 13">
            <a:extLst>
              <a:ext uri="{FF2B5EF4-FFF2-40B4-BE49-F238E27FC236}">
                <a16:creationId xmlns:a16="http://schemas.microsoft.com/office/drawing/2014/main" id="{5F72E5E7-3540-46B0-B042-BC3E6C46AD88}"/>
              </a:ext>
            </a:extLst>
          </p:cNvPr>
          <p:cNvSpPr>
            <a:spLocks noGrp="1"/>
          </p:cNvSpPr>
          <p:nvPr/>
        </p:nvSpPr>
        <p:spPr>
          <a:xfrm>
            <a:off x="8286750" y="3676650"/>
            <a:ext cx="3009900" cy="400050"/>
          </a:xfrm>
          <a:prstGeom prst="rect">
            <a:avLst/>
          </a:prstGeom>
          <a:noFill/>
          <a:ln w="0">
            <a:noFill/>
            <a:prstDash val="solid"/>
          </a:ln>
        </p:spPr>
        <p:txBody>
          <a:bodyPr lIns="0" tIns="0" rIns="0" bIns="0" anchor="t">
            <a:normAutofit/>
          </a:bodyPr>
          <a:lstStyle/>
          <a:p>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wells lose identifiability without Sr/SiO₂</a:t>
            </a:r>
          </a:p>
        </p:txBody>
      </p:sp>
      <p:sp>
        <p:nvSpPr>
          <p:cNvPr id="15" name="Rectangle: Rounded Corners 14">
            <a:extLst>
              <a:ext uri="{FF2B5EF4-FFF2-40B4-BE49-F238E27FC236}">
                <a16:creationId xmlns:a16="http://schemas.microsoft.com/office/drawing/2014/main" id="{874FBB74-40BD-4727-91D7-4722825F15ED}"/>
              </a:ext>
            </a:extLst>
          </p:cNvPr>
          <p:cNvSpPr>
            <a:spLocks noGrp="1"/>
          </p:cNvSpPr>
          <p:nvPr/>
        </p:nvSpPr>
        <p:spPr>
          <a:xfrm>
            <a:off x="8096250" y="4438650"/>
            <a:ext cx="3333750" cy="1257300"/>
          </a:xfrm>
          <a:prstGeom prst="roundRect">
            <a:avLst>
              <a:gd name="adj" fmla="val 9091"/>
            </a:avLst>
          </a:prstGeom>
          <a:solidFill>
            <a:srgbClr val="F2F3F5"/>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0E63976-292A-40D4-8331-DA027ED5D512}"/>
              </a:ext>
            </a:extLst>
          </p:cNvPr>
          <p:cNvSpPr>
            <a:spLocks noGrp="1"/>
          </p:cNvSpPr>
          <p:nvPr/>
        </p:nvSpPr>
        <p:spPr>
          <a:xfrm>
            <a:off x="8334375" y="4648200"/>
            <a:ext cx="2857500" cy="26670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Transferability result</a:t>
            </a:r>
          </a:p>
        </p:txBody>
      </p:sp>
      <p:sp>
        <p:nvSpPr>
          <p:cNvPr id="17" name="Rectangle 16">
            <a:extLst>
              <a:ext uri="{FF2B5EF4-FFF2-40B4-BE49-F238E27FC236}">
                <a16:creationId xmlns:a16="http://schemas.microsoft.com/office/drawing/2014/main" id="{67181AB3-5BBB-4989-BE06-621F1DE2DF61}"/>
              </a:ext>
            </a:extLst>
          </p:cNvPr>
          <p:cNvSpPr>
            <a:spLocks noGrp="1"/>
          </p:cNvSpPr>
          <p:nvPr/>
        </p:nvSpPr>
        <p:spPr>
          <a:xfrm>
            <a:off x="8334375" y="5029200"/>
            <a:ext cx="2857500" cy="5334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Fit stayed ≈68–71 while labels flipped in 35.6% of wells.</a:t>
            </a:r>
          </a:p>
        </p:txBody>
      </p:sp>
      <p:sp>
        <p:nvSpPr>
          <p:cNvPr id="18" name="Rectangle: Rounded Corners 17">
            <a:extLst>
              <a:ext uri="{FF2B5EF4-FFF2-40B4-BE49-F238E27FC236}">
                <a16:creationId xmlns:a16="http://schemas.microsoft.com/office/drawing/2014/main" id="{4EB4B6C0-36A1-41F9-AAE6-AC0FAA061728}"/>
              </a:ext>
            </a:extLst>
          </p:cNvPr>
          <p:cNvSpPr>
            <a:spLocks noGrp="1"/>
          </p:cNvSpPr>
          <p:nvPr/>
        </p:nvSpPr>
        <p:spPr>
          <a:xfrm>
            <a:off x="8096250" y="5810250"/>
            <a:ext cx="3333750" cy="323850"/>
          </a:xfrm>
          <a:prstGeom prst="roundRect">
            <a:avLst>
              <a:gd name="adj" fmla="val 35294"/>
            </a:avLst>
          </a:prstGeom>
          <a:solidFill>
            <a:srgbClr val="FFF3D9"/>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FF46E6FF-B358-4195-9792-7C5F1939FD96}"/>
              </a:ext>
            </a:extLst>
          </p:cNvPr>
          <p:cNvSpPr>
            <a:spLocks noGrp="1"/>
          </p:cNvSpPr>
          <p:nvPr/>
        </p:nvSpPr>
        <p:spPr>
          <a:xfrm>
            <a:off x="8210550" y="5886450"/>
            <a:ext cx="3105150" cy="171450"/>
          </a:xfrm>
          <a:prstGeom prst="rect">
            <a:avLst/>
          </a:prstGeom>
          <a:noFill/>
          <a:ln w="0">
            <a:noFill/>
            <a:prstDash val="solid"/>
          </a:ln>
        </p:spPr>
        <p:txBody>
          <a:bodyPr lIns="0" tIns="0" rIns="0" bIns="0" anchor="t">
            <a:normAutofit/>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Supportability diagnosis—not field truth</a:t>
            </a:r>
          </a:p>
        </p:txBody>
      </p:sp>
    </p:spTree>
    <p:extLst>
      <p:ext uri="{BB962C8B-B14F-4D97-AF65-F5344CB8AC3E}">
        <p14:creationId xmlns:p14="http://schemas.microsoft.com/office/powerpoint/2010/main" val="515149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6F887B8-5E41-4CBB-8C5E-D7C89E2DD4F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WHAT DID NOT WORK</a:t>
            </a:r>
          </a:p>
        </p:txBody>
      </p:sp>
      <p:sp>
        <p:nvSpPr>
          <p:cNvPr id="2" name="Rectangle 1">
            <a:extLst>
              <a:ext uri="{FF2B5EF4-FFF2-40B4-BE49-F238E27FC236}">
                <a16:creationId xmlns:a16="http://schemas.microsoft.com/office/drawing/2014/main" id="{B157A173-D2E2-4005-8D3F-F85075A0CFB0}"/>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Cross-objective failures define the scientific boundary</a:t>
            </a:r>
          </a:p>
        </p:txBody>
      </p:sp>
      <p:sp>
        <p:nvSpPr>
          <p:cNvPr id="3" name="Rectangle 2">
            <a:extLst>
              <a:ext uri="{FF2B5EF4-FFF2-40B4-BE49-F238E27FC236}">
                <a16:creationId xmlns:a16="http://schemas.microsoft.com/office/drawing/2014/main" id="{80CBD624-79BA-4A81-AC0B-79766DB14883}"/>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E89F2F1B-2069-4B3C-A069-69C051B45839}"/>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6192DA21-948C-4D28-A23D-8403C6601EBD}"/>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24</a:t>
            </a:r>
          </a:p>
        </p:txBody>
      </p:sp>
      <p:sp>
        <p:nvSpPr>
          <p:cNvPr id="6" name="Rectangle: Rounded Corners 5">
            <a:extLst>
              <a:ext uri="{FF2B5EF4-FFF2-40B4-BE49-F238E27FC236}">
                <a16:creationId xmlns:a16="http://schemas.microsoft.com/office/drawing/2014/main" id="{FA72A97B-49BB-4208-97F4-B6CC63C140F7}"/>
              </a:ext>
            </a:extLst>
          </p:cNvPr>
          <p:cNvSpPr>
            <a:spLocks noGrp="1"/>
          </p:cNvSpPr>
          <p:nvPr/>
        </p:nvSpPr>
        <p:spPr>
          <a:xfrm>
            <a:off x="400050" y="1504950"/>
            <a:ext cx="11391900" cy="685800"/>
          </a:xfrm>
          <a:prstGeom prst="roundRect">
            <a:avLst>
              <a:gd name="adj" fmla="val 16667"/>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AAC77EA9-7B2A-4116-91DF-DDEAEFF29FFC}"/>
              </a:ext>
            </a:extLst>
          </p:cNvPr>
          <p:cNvSpPr>
            <a:spLocks noGrp="1"/>
          </p:cNvSpPr>
          <p:nvPr/>
        </p:nvSpPr>
        <p:spPr>
          <a:xfrm>
            <a:off x="647700" y="1647825"/>
            <a:ext cx="28575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Weak graph prior for age</a:t>
            </a:r>
          </a:p>
        </p:txBody>
      </p:sp>
      <p:sp>
        <p:nvSpPr>
          <p:cNvPr id="8" name="Rectangle: Rounded Corners 7">
            <a:extLst>
              <a:ext uri="{FF2B5EF4-FFF2-40B4-BE49-F238E27FC236}">
                <a16:creationId xmlns:a16="http://schemas.microsoft.com/office/drawing/2014/main" id="{253370F5-9A77-4703-9A5D-F554BF99181F}"/>
              </a:ext>
            </a:extLst>
          </p:cNvPr>
          <p:cNvSpPr>
            <a:spLocks noGrp="1"/>
          </p:cNvSpPr>
          <p:nvPr/>
        </p:nvSpPr>
        <p:spPr>
          <a:xfrm>
            <a:off x="3714750" y="1666875"/>
            <a:ext cx="2047875" cy="323850"/>
          </a:xfrm>
          <a:prstGeom prst="roundRect">
            <a:avLst>
              <a:gd name="adj" fmla="val 50000"/>
            </a:avLst>
          </a:prstGeom>
          <a:solidFill>
            <a:srgbClr val="FFF3D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D5E9088-CC4D-4B1F-B0AD-A5A8D7A1799D}"/>
              </a:ext>
            </a:extLst>
          </p:cNvPr>
          <p:cNvSpPr>
            <a:spLocks noGrp="1"/>
          </p:cNvSpPr>
          <p:nvPr/>
        </p:nvSpPr>
        <p:spPr>
          <a:xfrm>
            <a:off x="3810000" y="1733550"/>
            <a:ext cx="1857375" cy="190500"/>
          </a:xfrm>
          <a:prstGeom prst="rect">
            <a:avLst/>
          </a:prstGeom>
          <a:noFill/>
          <a:ln w="0">
            <a:noFill/>
            <a:prstDash val="solid"/>
          </a:ln>
        </p:spPr>
        <p:txBody>
          <a:bodyPr lIns="0" tIns="0" rIns="0" bIns="0" anchor="t">
            <a:normAutofit/>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NO ROBUST GAIN</a:t>
            </a:r>
          </a:p>
        </p:txBody>
      </p:sp>
      <p:sp>
        <p:nvSpPr>
          <p:cNvPr id="10" name="Rectangle 9">
            <a:extLst>
              <a:ext uri="{FF2B5EF4-FFF2-40B4-BE49-F238E27FC236}">
                <a16:creationId xmlns:a16="http://schemas.microsoft.com/office/drawing/2014/main" id="{89348C9D-0607-42E4-92EB-7B2DCA8BF6B0}"/>
              </a:ext>
            </a:extLst>
          </p:cNvPr>
          <p:cNvSpPr>
            <a:spLocks noGrp="1"/>
          </p:cNvSpPr>
          <p:nvPr/>
        </p:nvSpPr>
        <p:spPr>
          <a:xfrm>
            <a:off x="6048375" y="1647825"/>
            <a:ext cx="5334000" cy="30480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Topology did not contain independent age information</a:t>
            </a:r>
          </a:p>
        </p:txBody>
      </p:sp>
      <p:sp>
        <p:nvSpPr>
          <p:cNvPr id="11" name="Rectangle: Rounded Corners 10">
            <a:extLst>
              <a:ext uri="{FF2B5EF4-FFF2-40B4-BE49-F238E27FC236}">
                <a16:creationId xmlns:a16="http://schemas.microsoft.com/office/drawing/2014/main" id="{42102D38-ABBC-4855-8DEA-E47B9E1A6867}"/>
              </a:ext>
            </a:extLst>
          </p:cNvPr>
          <p:cNvSpPr>
            <a:spLocks noGrp="1"/>
          </p:cNvSpPr>
          <p:nvPr/>
        </p:nvSpPr>
        <p:spPr>
          <a:xfrm>
            <a:off x="400050" y="2400300"/>
            <a:ext cx="11391900" cy="685800"/>
          </a:xfrm>
          <a:prstGeom prst="roundRect">
            <a:avLst>
              <a:gd name="adj" fmla="val 16667"/>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7BA54D01-6435-43EA-A11E-287155550A33}"/>
              </a:ext>
            </a:extLst>
          </p:cNvPr>
          <p:cNvSpPr>
            <a:spLocks noGrp="1"/>
          </p:cNvSpPr>
          <p:nvPr/>
        </p:nvSpPr>
        <p:spPr>
          <a:xfrm>
            <a:off x="647700" y="2543175"/>
            <a:ext cx="28575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Old-water prior</a:t>
            </a:r>
          </a:p>
        </p:txBody>
      </p:sp>
      <p:sp>
        <p:nvSpPr>
          <p:cNvPr id="13" name="Rectangle: Rounded Corners 12">
            <a:extLst>
              <a:ext uri="{FF2B5EF4-FFF2-40B4-BE49-F238E27FC236}">
                <a16:creationId xmlns:a16="http://schemas.microsoft.com/office/drawing/2014/main" id="{DCAB2B96-DB66-4756-829E-1E1C5E5D7266}"/>
              </a:ext>
            </a:extLst>
          </p:cNvPr>
          <p:cNvSpPr>
            <a:spLocks noGrp="1"/>
          </p:cNvSpPr>
          <p:nvPr/>
        </p:nvSpPr>
        <p:spPr>
          <a:xfrm>
            <a:off x="3714750" y="2562225"/>
            <a:ext cx="2047875" cy="323850"/>
          </a:xfrm>
          <a:prstGeom prst="roundRect">
            <a:avLst>
              <a:gd name="adj" fmla="val 50000"/>
            </a:avLst>
          </a:prstGeom>
          <a:solidFill>
            <a:srgbClr val="FDE8E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FCB64E36-7278-4686-964A-67FDCEEC94EE}"/>
              </a:ext>
            </a:extLst>
          </p:cNvPr>
          <p:cNvSpPr>
            <a:spLocks noGrp="1"/>
          </p:cNvSpPr>
          <p:nvPr/>
        </p:nvSpPr>
        <p:spPr>
          <a:xfrm>
            <a:off x="3810000" y="2628900"/>
            <a:ext cx="1857375"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WITHDRAWN</a:t>
            </a:r>
          </a:p>
        </p:txBody>
      </p:sp>
      <p:sp>
        <p:nvSpPr>
          <p:cNvPr id="15" name="Rectangle 14">
            <a:extLst>
              <a:ext uri="{FF2B5EF4-FFF2-40B4-BE49-F238E27FC236}">
                <a16:creationId xmlns:a16="http://schemas.microsoft.com/office/drawing/2014/main" id="{5380B97F-F53C-4128-892E-714881F0EF46}"/>
              </a:ext>
            </a:extLst>
          </p:cNvPr>
          <p:cNvSpPr>
            <a:spLocks noGrp="1"/>
          </p:cNvSpPr>
          <p:nvPr/>
        </p:nvSpPr>
        <p:spPr>
          <a:xfrm>
            <a:off x="6048375" y="2543175"/>
            <a:ext cx="5334000" cy="30480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RMSE 1.310; R² 0.004</a:t>
            </a:r>
          </a:p>
        </p:txBody>
      </p:sp>
      <p:sp>
        <p:nvSpPr>
          <p:cNvPr id="16" name="Rectangle: Rounded Corners 15">
            <a:extLst>
              <a:ext uri="{FF2B5EF4-FFF2-40B4-BE49-F238E27FC236}">
                <a16:creationId xmlns:a16="http://schemas.microsoft.com/office/drawing/2014/main" id="{2F876990-836D-41CE-AA99-58C76D202593}"/>
              </a:ext>
            </a:extLst>
          </p:cNvPr>
          <p:cNvSpPr>
            <a:spLocks noGrp="1"/>
          </p:cNvSpPr>
          <p:nvPr/>
        </p:nvSpPr>
        <p:spPr>
          <a:xfrm>
            <a:off x="400050" y="3295650"/>
            <a:ext cx="11391900" cy="685800"/>
          </a:xfrm>
          <a:prstGeom prst="roundRect">
            <a:avLst>
              <a:gd name="adj" fmla="val 16667"/>
            </a:avLst>
          </a:prstGeom>
          <a:solidFill>
            <a:srgbClr val="F2F3F5"/>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30DE049B-CEB6-44E3-B666-0B43AA4C989E}"/>
              </a:ext>
            </a:extLst>
          </p:cNvPr>
          <p:cNvSpPr>
            <a:spLocks noGrp="1"/>
          </p:cNvSpPr>
          <p:nvPr/>
        </p:nvSpPr>
        <p:spPr>
          <a:xfrm>
            <a:off x="647700" y="3438525"/>
            <a:ext cx="28575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Carbonate reaction families</a:t>
            </a:r>
          </a:p>
        </p:txBody>
      </p:sp>
      <p:sp>
        <p:nvSpPr>
          <p:cNvPr id="18" name="Rectangle: Rounded Corners 17">
            <a:extLst>
              <a:ext uri="{FF2B5EF4-FFF2-40B4-BE49-F238E27FC236}">
                <a16:creationId xmlns:a16="http://schemas.microsoft.com/office/drawing/2014/main" id="{063F7F64-6288-4C0D-9345-9892B6585908}"/>
              </a:ext>
            </a:extLst>
          </p:cNvPr>
          <p:cNvSpPr>
            <a:spLocks noGrp="1"/>
          </p:cNvSpPr>
          <p:nvPr/>
        </p:nvSpPr>
        <p:spPr>
          <a:xfrm>
            <a:off x="3714750" y="3457575"/>
            <a:ext cx="2047875" cy="323850"/>
          </a:xfrm>
          <a:prstGeom prst="roundRect">
            <a:avLst>
              <a:gd name="adj" fmla="val 50000"/>
            </a:avLst>
          </a:prstGeom>
          <a:solidFill>
            <a:srgbClr val="FDE8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27EB5701-E204-4AD1-9746-C0F09031D5CA}"/>
              </a:ext>
            </a:extLst>
          </p:cNvPr>
          <p:cNvSpPr>
            <a:spLocks noGrp="1"/>
          </p:cNvSpPr>
          <p:nvPr/>
        </p:nvSpPr>
        <p:spPr>
          <a:xfrm>
            <a:off x="3810000" y="3524250"/>
            <a:ext cx="1857375"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RECOVERED</a:t>
            </a:r>
          </a:p>
        </p:txBody>
      </p:sp>
      <p:sp>
        <p:nvSpPr>
          <p:cNvPr id="20" name="Rectangle 19">
            <a:extLst>
              <a:ext uri="{FF2B5EF4-FFF2-40B4-BE49-F238E27FC236}">
                <a16:creationId xmlns:a16="http://schemas.microsoft.com/office/drawing/2014/main" id="{AB6F44E0-D071-4283-B3C8-3ED5F70A1B54}"/>
              </a:ext>
            </a:extLst>
          </p:cNvPr>
          <p:cNvSpPr>
            <a:spLocks noGrp="1"/>
          </p:cNvSpPr>
          <p:nvPr/>
        </p:nvSpPr>
        <p:spPr>
          <a:xfrm>
            <a:off x="6048375" y="3438525"/>
            <a:ext cx="5334000" cy="30480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0/36 scored edges per tested panel</a:t>
            </a:r>
          </a:p>
        </p:txBody>
      </p:sp>
      <p:sp>
        <p:nvSpPr>
          <p:cNvPr id="21" name="Rectangle: Rounded Corners 20">
            <a:extLst>
              <a:ext uri="{FF2B5EF4-FFF2-40B4-BE49-F238E27FC236}">
                <a16:creationId xmlns:a16="http://schemas.microsoft.com/office/drawing/2014/main" id="{CF3DBBDF-F34E-4CA1-962F-A63EBA7BA2D8}"/>
              </a:ext>
            </a:extLst>
          </p:cNvPr>
          <p:cNvSpPr>
            <a:spLocks noGrp="1"/>
          </p:cNvSpPr>
          <p:nvPr/>
        </p:nvSpPr>
        <p:spPr>
          <a:xfrm>
            <a:off x="400050" y="4191000"/>
            <a:ext cx="11391900" cy="685800"/>
          </a:xfrm>
          <a:prstGeom prst="roundRect">
            <a:avLst>
              <a:gd name="adj" fmla="val 16667"/>
            </a:avLst>
          </a:prstGeom>
          <a:solidFill>
            <a:srgbClr val="F2F3F5"/>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D1D304D9-3EC1-4D48-8391-5B9FFDFFF5F7}"/>
              </a:ext>
            </a:extLst>
          </p:cNvPr>
          <p:cNvSpPr>
            <a:spLocks noGrp="1"/>
          </p:cNvSpPr>
          <p:nvPr/>
        </p:nvSpPr>
        <p:spPr>
          <a:xfrm>
            <a:off x="647700" y="4333875"/>
            <a:ext cx="2857500" cy="285750"/>
          </a:xfrm>
          <a:prstGeom prst="rect">
            <a:avLst/>
          </a:prstGeom>
          <a:noFill/>
          <a:ln w="0">
            <a:noFill/>
            <a:prstDash val="solid"/>
          </a:ln>
        </p:spPr>
        <p:txBody>
          <a:bodyPr lIns="0" tIns="0" rIns="0" bIns="0" anchor="t">
            <a:normAutofit fontScale="92500"/>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Overall sheaf &gt; edge-local graph</a:t>
            </a:r>
          </a:p>
        </p:txBody>
      </p:sp>
      <p:sp>
        <p:nvSpPr>
          <p:cNvPr id="23" name="Rectangle: Rounded Corners 22">
            <a:extLst>
              <a:ext uri="{FF2B5EF4-FFF2-40B4-BE49-F238E27FC236}">
                <a16:creationId xmlns:a16="http://schemas.microsoft.com/office/drawing/2014/main" id="{F3E56859-B09E-4493-A3F7-BBADC113B8F0}"/>
              </a:ext>
            </a:extLst>
          </p:cNvPr>
          <p:cNvSpPr>
            <a:spLocks noGrp="1"/>
          </p:cNvSpPr>
          <p:nvPr/>
        </p:nvSpPr>
        <p:spPr>
          <a:xfrm>
            <a:off x="3714750" y="4352925"/>
            <a:ext cx="2047875" cy="323850"/>
          </a:xfrm>
          <a:prstGeom prst="roundRect">
            <a:avLst>
              <a:gd name="adj" fmla="val 50000"/>
            </a:avLst>
          </a:prstGeom>
          <a:solidFill>
            <a:srgbClr val="FFF3D9"/>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A24940AE-4A8C-4F4D-8D18-4F83A567F076}"/>
              </a:ext>
            </a:extLst>
          </p:cNvPr>
          <p:cNvSpPr>
            <a:spLocks noGrp="1"/>
          </p:cNvSpPr>
          <p:nvPr/>
        </p:nvSpPr>
        <p:spPr>
          <a:xfrm>
            <a:off x="3810000" y="4419600"/>
            <a:ext cx="1857375" cy="190500"/>
          </a:xfrm>
          <a:prstGeom prst="rect">
            <a:avLst/>
          </a:prstGeom>
          <a:noFill/>
          <a:ln w="0">
            <a:noFill/>
            <a:prstDash val="solid"/>
          </a:ln>
        </p:spPr>
        <p:txBody>
          <a:bodyPr lIns="0" tIns="0" rIns="0" bIns="0" anchor="t">
            <a:normAutofit/>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GATE FAILED</a:t>
            </a:r>
          </a:p>
        </p:txBody>
      </p:sp>
      <p:sp>
        <p:nvSpPr>
          <p:cNvPr id="25" name="Rectangle 24">
            <a:extLst>
              <a:ext uri="{FF2B5EF4-FFF2-40B4-BE49-F238E27FC236}">
                <a16:creationId xmlns:a16="http://schemas.microsoft.com/office/drawing/2014/main" id="{68B96F66-FBE5-47EE-BA09-74E6E1F1CDFD}"/>
              </a:ext>
            </a:extLst>
          </p:cNvPr>
          <p:cNvSpPr>
            <a:spLocks noGrp="1"/>
          </p:cNvSpPr>
          <p:nvPr/>
        </p:nvSpPr>
        <p:spPr>
          <a:xfrm>
            <a:off x="6048375" y="4333875"/>
            <a:ext cx="5334000" cy="30480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Ranking gain did not extend to calibration</a:t>
            </a:r>
          </a:p>
        </p:txBody>
      </p:sp>
      <p:sp>
        <p:nvSpPr>
          <p:cNvPr id="26" name="Rectangle: Rounded Corners 25">
            <a:extLst>
              <a:ext uri="{FF2B5EF4-FFF2-40B4-BE49-F238E27FC236}">
                <a16:creationId xmlns:a16="http://schemas.microsoft.com/office/drawing/2014/main" id="{C44D1C86-6415-44E5-BFDB-DABB8016EC4C}"/>
              </a:ext>
            </a:extLst>
          </p:cNvPr>
          <p:cNvSpPr>
            <a:spLocks noGrp="1"/>
          </p:cNvSpPr>
          <p:nvPr/>
        </p:nvSpPr>
        <p:spPr>
          <a:xfrm>
            <a:off x="400050" y="5086350"/>
            <a:ext cx="11391900" cy="685800"/>
          </a:xfrm>
          <a:prstGeom prst="roundRect">
            <a:avLst>
              <a:gd name="adj" fmla="val 16667"/>
            </a:avLst>
          </a:prstGeom>
          <a:solidFill>
            <a:srgbClr val="F2F3F5"/>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763EF02B-A231-430D-8C42-9C50968B479F}"/>
              </a:ext>
            </a:extLst>
          </p:cNvPr>
          <p:cNvSpPr>
            <a:spLocks noGrp="1"/>
          </p:cNvSpPr>
          <p:nvPr/>
        </p:nvSpPr>
        <p:spPr>
          <a:xfrm>
            <a:off x="647700" y="5229225"/>
            <a:ext cx="28575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Active learning</a:t>
            </a:r>
          </a:p>
        </p:txBody>
      </p:sp>
      <p:sp>
        <p:nvSpPr>
          <p:cNvPr id="28" name="Rectangle: Rounded Corners 27">
            <a:extLst>
              <a:ext uri="{FF2B5EF4-FFF2-40B4-BE49-F238E27FC236}">
                <a16:creationId xmlns:a16="http://schemas.microsoft.com/office/drawing/2014/main" id="{21E45D2E-DAE1-461B-BA8C-5B713F5A59E3}"/>
              </a:ext>
            </a:extLst>
          </p:cNvPr>
          <p:cNvSpPr>
            <a:spLocks noGrp="1"/>
          </p:cNvSpPr>
          <p:nvPr/>
        </p:nvSpPr>
        <p:spPr>
          <a:xfrm>
            <a:off x="3714750" y="5248275"/>
            <a:ext cx="2047875" cy="323850"/>
          </a:xfrm>
          <a:prstGeom prst="roundRect">
            <a:avLst>
              <a:gd name="adj" fmla="val 50000"/>
            </a:avLst>
          </a:prstGeom>
          <a:solidFill>
            <a:srgbClr val="FDE8E8"/>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2B409E69-E395-45FB-A29A-81C4876DDC8E}"/>
              </a:ext>
            </a:extLst>
          </p:cNvPr>
          <p:cNvSpPr>
            <a:spLocks noGrp="1"/>
          </p:cNvSpPr>
          <p:nvPr/>
        </p:nvSpPr>
        <p:spPr>
          <a:xfrm>
            <a:off x="3810000" y="5314950"/>
            <a:ext cx="1857375"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VALIDATED</a:t>
            </a:r>
          </a:p>
        </p:txBody>
      </p:sp>
      <p:sp>
        <p:nvSpPr>
          <p:cNvPr id="30" name="Rectangle 29">
            <a:extLst>
              <a:ext uri="{FF2B5EF4-FFF2-40B4-BE49-F238E27FC236}">
                <a16:creationId xmlns:a16="http://schemas.microsoft.com/office/drawing/2014/main" id="{383119CE-191C-4F46-80CC-C06E705EF6E9}"/>
              </a:ext>
            </a:extLst>
          </p:cNvPr>
          <p:cNvSpPr>
            <a:spLocks noGrp="1"/>
          </p:cNvSpPr>
          <p:nvPr/>
        </p:nvSpPr>
        <p:spPr>
          <a:xfrm>
            <a:off x="6048375" y="5229225"/>
            <a:ext cx="5334000" cy="304800"/>
          </a:xfrm>
          <a:prstGeom prst="rect">
            <a:avLst/>
          </a:prstGeom>
          <a:noFill/>
          <a:ln w="0">
            <a:noFill/>
            <a:prstDash val="solid"/>
          </a:ln>
        </p:spPr>
        <p:txBody>
          <a:bodyPr lIns="0" tIns="0" rIns="0" bIns="0" anchor="t">
            <a:normAutofit/>
          </a:bodyPr>
          <a:lstStyle/>
          <a:p>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0 recommendations from 0 scored edges</a:t>
            </a:r>
          </a:p>
        </p:txBody>
      </p:sp>
    </p:spTree>
    <p:extLst>
      <p:ext uri="{BB962C8B-B14F-4D97-AF65-F5344CB8AC3E}">
        <p14:creationId xmlns:p14="http://schemas.microsoft.com/office/powerpoint/2010/main" val="1030448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0021A90-FB81-402A-8F42-08A23D2A048B}"/>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CLAIM LEDGER</a:t>
            </a:r>
          </a:p>
        </p:txBody>
      </p:sp>
      <p:sp>
        <p:nvSpPr>
          <p:cNvPr id="2" name="Rectangle 1">
            <a:extLst>
              <a:ext uri="{FF2B5EF4-FFF2-40B4-BE49-F238E27FC236}">
                <a16:creationId xmlns:a16="http://schemas.microsoft.com/office/drawing/2014/main" id="{CF0CB227-6415-4AA5-8918-F7BD361B4F8E}"/>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What the thesis supports—and does not support</a:t>
            </a:r>
          </a:p>
        </p:txBody>
      </p:sp>
      <p:sp>
        <p:nvSpPr>
          <p:cNvPr id="3" name="Rectangle 2">
            <a:extLst>
              <a:ext uri="{FF2B5EF4-FFF2-40B4-BE49-F238E27FC236}">
                <a16:creationId xmlns:a16="http://schemas.microsoft.com/office/drawing/2014/main" id="{DF9D2185-5759-4FA9-A9A3-5936EABCB327}"/>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5C52D260-2EA6-48EE-ACA2-C505A8F58838}"/>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Synthesis</a:t>
            </a:r>
          </a:p>
        </p:txBody>
      </p:sp>
      <p:sp>
        <p:nvSpPr>
          <p:cNvPr id="5" name="Rectangle 4">
            <a:extLst>
              <a:ext uri="{FF2B5EF4-FFF2-40B4-BE49-F238E27FC236}">
                <a16:creationId xmlns:a16="http://schemas.microsoft.com/office/drawing/2014/main" id="{E90FBE77-0ACB-4B9A-84B9-03E8FF85AA26}"/>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25</a:t>
            </a:r>
          </a:p>
        </p:txBody>
      </p:sp>
      <p:sp>
        <p:nvSpPr>
          <p:cNvPr id="6" name="Rectangle 5">
            <a:extLst>
              <a:ext uri="{FF2B5EF4-FFF2-40B4-BE49-F238E27FC236}">
                <a16:creationId xmlns:a16="http://schemas.microsoft.com/office/drawing/2014/main" id="{9956EC39-C635-4764-8636-77FBA70B1C48}"/>
              </a:ext>
            </a:extLst>
          </p:cNvPr>
          <p:cNvSpPr>
            <a:spLocks noGrp="1"/>
          </p:cNvSpPr>
          <p:nvPr/>
        </p:nvSpPr>
        <p:spPr>
          <a:xfrm>
            <a:off x="400050" y="1524000"/>
            <a:ext cx="3429000" cy="285750"/>
          </a:xfrm>
          <a:prstGeom prst="rect">
            <a:avLst/>
          </a:prstGeom>
          <a:noFill/>
          <a:ln w="0">
            <a:noFill/>
            <a:prstDash val="solid"/>
          </a:ln>
        </p:spPr>
        <p:txBody>
          <a:bodyPr lIns="0" tIns="0" rIns="0" bIns="0" anchor="t">
            <a:normAutofit/>
          </a:bodyPr>
          <a:lstStyle/>
          <a:p>
            <a:pPr algn="l">
              <a:defRPr sz="1725" b="1">
                <a:solidFill>
                  <a:srgbClr val="2F855A"/>
                </a:solidFill>
                <a:latin typeface="Helvetica Neue"/>
                <a:ea typeface="Helvetica Neue"/>
                <a:cs typeface="Helvetica Neue"/>
              </a:defRPr>
            </a:pPr>
            <a:r>
              <a:rPr sz="1725" b="1">
                <a:solidFill>
                  <a:srgbClr val="2F855A"/>
                </a:solidFill>
                <a:latin typeface="Helvetica Neue"/>
                <a:ea typeface="Helvetica Neue"/>
                <a:cs typeface="Helvetica Neue"/>
              </a:rPr>
              <a:t>SUPPORTED</a:t>
            </a:r>
          </a:p>
        </p:txBody>
      </p:sp>
      <p:sp>
        <p:nvSpPr>
          <p:cNvPr id="7" name="Rectangle: Rounded Corners 6">
            <a:extLst>
              <a:ext uri="{FF2B5EF4-FFF2-40B4-BE49-F238E27FC236}">
                <a16:creationId xmlns:a16="http://schemas.microsoft.com/office/drawing/2014/main" id="{95CB26E8-6901-4724-A766-38DE7B17745D}"/>
              </a:ext>
            </a:extLst>
          </p:cNvPr>
          <p:cNvSpPr>
            <a:spLocks noGrp="1"/>
          </p:cNvSpPr>
          <p:nvPr/>
        </p:nvSpPr>
        <p:spPr>
          <a:xfrm>
            <a:off x="400050" y="1943100"/>
            <a:ext cx="5238750" cy="457200"/>
          </a:xfrm>
          <a:prstGeom prst="roundRect">
            <a:avLst>
              <a:gd name="adj" fmla="val 25000"/>
            </a:avLst>
          </a:prstGeom>
          <a:solidFill>
            <a:srgbClr val="E7F7F3"/>
          </a:solidFill>
          <a:ln w="0">
            <a:noFill/>
            <a:prstDash val="solid"/>
          </a:ln>
        </p:spPr>
        <p:txBody>
          <a:bodyPr/>
          <a:lstStyle/>
          <a:p>
            <a:endParaRPr lang="en-US"/>
          </a:p>
        </p:txBody>
      </p:sp>
      <p:sp>
        <p:nvSpPr>
          <p:cNvPr id="8" name="Rectangle 7">
            <a:extLst>
              <a:ext uri="{FF2B5EF4-FFF2-40B4-BE49-F238E27FC236}">
                <a16:creationId xmlns:a16="http://schemas.microsoft.com/office/drawing/2014/main" id="{C7897466-FCE6-4CFA-81C2-BF5CA1CE9551}"/>
              </a:ext>
            </a:extLst>
          </p:cNvPr>
          <p:cNvSpPr>
            <a:spLocks noGrp="1"/>
          </p:cNvSpPr>
          <p:nvPr/>
        </p:nvSpPr>
        <p:spPr>
          <a:xfrm>
            <a:off x="552450" y="2047875"/>
            <a:ext cx="304800" cy="228600"/>
          </a:xfrm>
          <a:prstGeom prst="rect">
            <a:avLst/>
          </a:prstGeom>
          <a:noFill/>
          <a:ln w="0">
            <a:noFill/>
            <a:prstDash val="solid"/>
          </a:ln>
        </p:spPr>
        <p:txBody>
          <a:bodyPr lIns="0" tIns="0" rIns="0" bIns="0" anchor="t">
            <a:normAutofit/>
          </a:bodyPr>
          <a:lstStyle/>
          <a:p>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9" name="Rectangle 8">
            <a:extLst>
              <a:ext uri="{FF2B5EF4-FFF2-40B4-BE49-F238E27FC236}">
                <a16:creationId xmlns:a16="http://schemas.microsoft.com/office/drawing/2014/main" id="{E812EFFA-E96C-4B7E-9406-0F5C400A2DE0}"/>
              </a:ext>
            </a:extLst>
          </p:cNvPr>
          <p:cNvSpPr>
            <a:spLocks noGrp="1"/>
          </p:cNvSpPr>
          <p:nvPr/>
        </p:nvSpPr>
        <p:spPr>
          <a:xfrm>
            <a:off x="933450" y="2057400"/>
            <a:ext cx="4429125" cy="228600"/>
          </a:xfrm>
          <a:prstGeom prst="rect">
            <a:avLst/>
          </a:prstGeom>
          <a:noFill/>
          <a:ln w="0">
            <a:noFill/>
            <a:prstDash val="solid"/>
          </a:ln>
        </p:spPr>
        <p:txBody>
          <a:bodyPr lIns="0" tIns="0" rIns="0" bIns="0" anchor="t">
            <a:normAutofit fontScale="92500"/>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Close agreement with reported age-model configurations</a:t>
            </a:r>
          </a:p>
        </p:txBody>
      </p:sp>
      <p:sp>
        <p:nvSpPr>
          <p:cNvPr id="10" name="Rectangle: Rounded Corners 9">
            <a:extLst>
              <a:ext uri="{FF2B5EF4-FFF2-40B4-BE49-F238E27FC236}">
                <a16:creationId xmlns:a16="http://schemas.microsoft.com/office/drawing/2014/main" id="{4D35C8EF-0B2A-417E-BABC-D54323CBD4E4}"/>
              </a:ext>
            </a:extLst>
          </p:cNvPr>
          <p:cNvSpPr>
            <a:spLocks noGrp="1"/>
          </p:cNvSpPr>
          <p:nvPr/>
        </p:nvSpPr>
        <p:spPr>
          <a:xfrm>
            <a:off x="400050" y="2562225"/>
            <a:ext cx="5238750" cy="457200"/>
          </a:xfrm>
          <a:prstGeom prst="roundRect">
            <a:avLst>
              <a:gd name="adj" fmla="val 25000"/>
            </a:avLst>
          </a:prstGeom>
          <a:solidFill>
            <a:srgbClr val="E7F7F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61A06D28-307E-4AD6-81B6-08BB7B1211FD}"/>
              </a:ext>
            </a:extLst>
          </p:cNvPr>
          <p:cNvSpPr>
            <a:spLocks noGrp="1"/>
          </p:cNvSpPr>
          <p:nvPr/>
        </p:nvSpPr>
        <p:spPr>
          <a:xfrm>
            <a:off x="552450" y="2667000"/>
            <a:ext cx="304800" cy="228600"/>
          </a:xfrm>
          <a:prstGeom prst="rect">
            <a:avLst/>
          </a:prstGeom>
          <a:noFill/>
          <a:ln w="0">
            <a:noFill/>
            <a:prstDash val="solid"/>
          </a:ln>
        </p:spPr>
        <p:txBody>
          <a:bodyPr lIns="0" tIns="0" rIns="0" bIns="0" anchor="t">
            <a:normAutofit/>
          </a:bodyPr>
          <a:lstStyle/>
          <a:p>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2" name="Rectangle 11">
            <a:extLst>
              <a:ext uri="{FF2B5EF4-FFF2-40B4-BE49-F238E27FC236}">
                <a16:creationId xmlns:a16="http://schemas.microsoft.com/office/drawing/2014/main" id="{C6C10D4D-0CB9-4116-AD3B-DC5509AB45D3}"/>
              </a:ext>
            </a:extLst>
          </p:cNvPr>
          <p:cNvSpPr>
            <a:spLocks noGrp="1"/>
          </p:cNvSpPr>
          <p:nvPr/>
        </p:nvSpPr>
        <p:spPr>
          <a:xfrm>
            <a:off x="933450" y="2676525"/>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Conditional topology and evidence value</a:t>
            </a:r>
          </a:p>
        </p:txBody>
      </p:sp>
      <p:sp>
        <p:nvSpPr>
          <p:cNvPr id="13" name="Rectangle: Rounded Corners 12">
            <a:extLst>
              <a:ext uri="{FF2B5EF4-FFF2-40B4-BE49-F238E27FC236}">
                <a16:creationId xmlns:a16="http://schemas.microsoft.com/office/drawing/2014/main" id="{D01C7D5A-48F1-4787-97A2-48C1612191EA}"/>
              </a:ext>
            </a:extLst>
          </p:cNvPr>
          <p:cNvSpPr>
            <a:spLocks noGrp="1"/>
          </p:cNvSpPr>
          <p:nvPr/>
        </p:nvSpPr>
        <p:spPr>
          <a:xfrm>
            <a:off x="400050" y="3181350"/>
            <a:ext cx="5238750" cy="457200"/>
          </a:xfrm>
          <a:prstGeom prst="roundRect">
            <a:avLst>
              <a:gd name="adj" fmla="val 25000"/>
            </a:avLst>
          </a:prstGeom>
          <a:solidFill>
            <a:srgbClr val="E7F7F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C732310-B8B4-4030-8E78-D34B427E4BE3}"/>
              </a:ext>
            </a:extLst>
          </p:cNvPr>
          <p:cNvSpPr>
            <a:spLocks noGrp="1"/>
          </p:cNvSpPr>
          <p:nvPr/>
        </p:nvSpPr>
        <p:spPr>
          <a:xfrm>
            <a:off x="552450" y="3286125"/>
            <a:ext cx="304800" cy="228600"/>
          </a:xfrm>
          <a:prstGeom prst="rect">
            <a:avLst/>
          </a:prstGeom>
          <a:noFill/>
          <a:ln w="0">
            <a:noFill/>
            <a:prstDash val="solid"/>
          </a:ln>
        </p:spPr>
        <p:txBody>
          <a:bodyPr lIns="0" tIns="0" rIns="0" bIns="0" anchor="t">
            <a:normAutofit/>
          </a:bodyPr>
          <a:lstStyle/>
          <a:p>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5" name="Rectangle 14">
            <a:extLst>
              <a:ext uri="{FF2B5EF4-FFF2-40B4-BE49-F238E27FC236}">
                <a16:creationId xmlns:a16="http://schemas.microsoft.com/office/drawing/2014/main" id="{2BE903EB-6BF7-4FEB-96AB-183907E485DE}"/>
              </a:ext>
            </a:extLst>
          </p:cNvPr>
          <p:cNvSpPr>
            <a:spLocks noGrp="1"/>
          </p:cNvSpPr>
          <p:nvPr/>
        </p:nvSpPr>
        <p:spPr>
          <a:xfrm>
            <a:off x="933450" y="3295650"/>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Reaction equivalence-class reporting</a:t>
            </a:r>
          </a:p>
        </p:txBody>
      </p:sp>
      <p:sp>
        <p:nvSpPr>
          <p:cNvPr id="16" name="Rectangle: Rounded Corners 15">
            <a:extLst>
              <a:ext uri="{FF2B5EF4-FFF2-40B4-BE49-F238E27FC236}">
                <a16:creationId xmlns:a16="http://schemas.microsoft.com/office/drawing/2014/main" id="{1B2181B6-E491-4C22-AF61-977B6E734103}"/>
              </a:ext>
            </a:extLst>
          </p:cNvPr>
          <p:cNvSpPr>
            <a:spLocks noGrp="1"/>
          </p:cNvSpPr>
          <p:nvPr/>
        </p:nvSpPr>
        <p:spPr>
          <a:xfrm>
            <a:off x="400050" y="3800475"/>
            <a:ext cx="5238750" cy="457200"/>
          </a:xfrm>
          <a:prstGeom prst="roundRect">
            <a:avLst>
              <a:gd name="adj" fmla="val 25000"/>
            </a:avLst>
          </a:prstGeom>
          <a:solidFill>
            <a:srgbClr val="E7F7F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86DE0E52-6BA3-4946-B0E2-7AC905A60807}"/>
              </a:ext>
            </a:extLst>
          </p:cNvPr>
          <p:cNvSpPr>
            <a:spLocks noGrp="1"/>
          </p:cNvSpPr>
          <p:nvPr/>
        </p:nvSpPr>
        <p:spPr>
          <a:xfrm>
            <a:off x="552450" y="3905250"/>
            <a:ext cx="304800" cy="228600"/>
          </a:xfrm>
          <a:prstGeom prst="rect">
            <a:avLst/>
          </a:prstGeom>
          <a:noFill/>
          <a:ln w="0">
            <a:noFill/>
            <a:prstDash val="solid"/>
          </a:ln>
        </p:spPr>
        <p:txBody>
          <a:bodyPr lIns="0" tIns="0" rIns="0" bIns="0" anchor="t">
            <a:normAutofit/>
          </a:bodyPr>
          <a:lstStyle/>
          <a:p>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8" name="Rectangle 17">
            <a:extLst>
              <a:ext uri="{FF2B5EF4-FFF2-40B4-BE49-F238E27FC236}">
                <a16:creationId xmlns:a16="http://schemas.microsoft.com/office/drawing/2014/main" id="{685640E5-2A56-4955-B9EB-AEEE030404BE}"/>
              </a:ext>
            </a:extLst>
          </p:cNvPr>
          <p:cNvSpPr>
            <a:spLocks noGrp="1"/>
          </p:cNvSpPr>
          <p:nvPr/>
        </p:nvSpPr>
        <p:spPr>
          <a:xfrm>
            <a:off x="933450" y="3914775"/>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Affine-map and conflict-localisation value</a:t>
            </a:r>
          </a:p>
        </p:txBody>
      </p:sp>
      <p:sp>
        <p:nvSpPr>
          <p:cNvPr id="19" name="Rectangle: Rounded Corners 18">
            <a:extLst>
              <a:ext uri="{FF2B5EF4-FFF2-40B4-BE49-F238E27FC236}">
                <a16:creationId xmlns:a16="http://schemas.microsoft.com/office/drawing/2014/main" id="{880DA2FB-B54D-4732-B03F-A817100B6A4A}"/>
              </a:ext>
            </a:extLst>
          </p:cNvPr>
          <p:cNvSpPr>
            <a:spLocks noGrp="1"/>
          </p:cNvSpPr>
          <p:nvPr/>
        </p:nvSpPr>
        <p:spPr>
          <a:xfrm>
            <a:off x="400050" y="4419600"/>
            <a:ext cx="5238750" cy="457200"/>
          </a:xfrm>
          <a:prstGeom prst="roundRect">
            <a:avLst>
              <a:gd name="adj" fmla="val 25000"/>
            </a:avLst>
          </a:prstGeom>
          <a:solidFill>
            <a:srgbClr val="E7F7F3"/>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2591D01D-2CDC-485E-9765-2FEF00B649A1}"/>
              </a:ext>
            </a:extLst>
          </p:cNvPr>
          <p:cNvSpPr>
            <a:spLocks noGrp="1"/>
          </p:cNvSpPr>
          <p:nvPr/>
        </p:nvSpPr>
        <p:spPr>
          <a:xfrm>
            <a:off x="552450" y="4524375"/>
            <a:ext cx="304800" cy="228600"/>
          </a:xfrm>
          <a:prstGeom prst="rect">
            <a:avLst/>
          </a:prstGeom>
          <a:noFill/>
          <a:ln w="0">
            <a:noFill/>
            <a:prstDash val="solid"/>
          </a:ln>
        </p:spPr>
        <p:txBody>
          <a:bodyPr lIns="0" tIns="0" rIns="0" bIns="0" anchor="t">
            <a:normAutofit/>
          </a:bodyPr>
          <a:lstStyle/>
          <a:p>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21" name="Rectangle 20">
            <a:extLst>
              <a:ext uri="{FF2B5EF4-FFF2-40B4-BE49-F238E27FC236}">
                <a16:creationId xmlns:a16="http://schemas.microsoft.com/office/drawing/2014/main" id="{A7F22334-7F47-48D7-9EB5-08ABE0F9D161}"/>
              </a:ext>
            </a:extLst>
          </p:cNvPr>
          <p:cNvSpPr>
            <a:spLocks noGrp="1"/>
          </p:cNvSpPr>
          <p:nvPr/>
        </p:nvSpPr>
        <p:spPr>
          <a:xfrm>
            <a:off x="933450" y="4533900"/>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Ghana measurement-value diagnosis</a:t>
            </a:r>
          </a:p>
        </p:txBody>
      </p:sp>
      <p:sp>
        <p:nvSpPr>
          <p:cNvPr id="22" name="Rectangle 21">
            <a:extLst>
              <a:ext uri="{FF2B5EF4-FFF2-40B4-BE49-F238E27FC236}">
                <a16:creationId xmlns:a16="http://schemas.microsoft.com/office/drawing/2014/main" id="{FD529E9F-BA19-4633-B379-6A76063CAF38}"/>
              </a:ext>
            </a:extLst>
          </p:cNvPr>
          <p:cNvSpPr>
            <a:spLocks noGrp="1"/>
          </p:cNvSpPr>
          <p:nvPr/>
        </p:nvSpPr>
        <p:spPr>
          <a:xfrm>
            <a:off x="6191250" y="1524000"/>
            <a:ext cx="4095750" cy="285750"/>
          </a:xfrm>
          <a:prstGeom prst="rect">
            <a:avLst/>
          </a:prstGeom>
          <a:noFill/>
          <a:ln w="0">
            <a:noFill/>
            <a:prstDash val="solid"/>
          </a:ln>
        </p:spPr>
        <p:txBody>
          <a:bodyPr lIns="0" tIns="0" rIns="0" bIns="0" anchor="t">
            <a:normAutofit/>
          </a:bodyPr>
          <a:lstStyle/>
          <a:p>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NOT ESTABLISHED</a:t>
            </a:r>
          </a:p>
        </p:txBody>
      </p:sp>
      <p:sp>
        <p:nvSpPr>
          <p:cNvPr id="23" name="Rectangle: Rounded Corners 22">
            <a:extLst>
              <a:ext uri="{FF2B5EF4-FFF2-40B4-BE49-F238E27FC236}">
                <a16:creationId xmlns:a16="http://schemas.microsoft.com/office/drawing/2014/main" id="{92B3FAA5-26EA-448D-954E-07F4C3AFA39B}"/>
              </a:ext>
            </a:extLst>
          </p:cNvPr>
          <p:cNvSpPr>
            <a:spLocks noGrp="1"/>
          </p:cNvSpPr>
          <p:nvPr/>
        </p:nvSpPr>
        <p:spPr>
          <a:xfrm>
            <a:off x="6191250" y="1943100"/>
            <a:ext cx="5219700" cy="457200"/>
          </a:xfrm>
          <a:prstGeom prst="roundRect">
            <a:avLst>
              <a:gd name="adj" fmla="val 25000"/>
            </a:avLst>
          </a:prstGeom>
          <a:solidFill>
            <a:srgbClr val="FDE8E8"/>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386D53A3-4ABB-4BF6-BCEB-0C3AD5AC2AEB}"/>
              </a:ext>
            </a:extLst>
          </p:cNvPr>
          <p:cNvSpPr>
            <a:spLocks noGrp="1"/>
          </p:cNvSpPr>
          <p:nvPr/>
        </p:nvSpPr>
        <p:spPr>
          <a:xfrm>
            <a:off x="6343650" y="2047875"/>
            <a:ext cx="304800" cy="2286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25" name="Rectangle 24">
            <a:extLst>
              <a:ext uri="{FF2B5EF4-FFF2-40B4-BE49-F238E27FC236}">
                <a16:creationId xmlns:a16="http://schemas.microsoft.com/office/drawing/2014/main" id="{829AB318-3C62-48D2-B9A9-C8C0B43EE6A7}"/>
              </a:ext>
            </a:extLst>
          </p:cNvPr>
          <p:cNvSpPr>
            <a:spLocks noGrp="1"/>
          </p:cNvSpPr>
          <p:nvPr/>
        </p:nvSpPr>
        <p:spPr>
          <a:xfrm>
            <a:off x="6724650" y="2057400"/>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Universal superiority over strong baselines</a:t>
            </a:r>
          </a:p>
        </p:txBody>
      </p:sp>
      <p:sp>
        <p:nvSpPr>
          <p:cNvPr id="26" name="Rectangle: Rounded Corners 25">
            <a:extLst>
              <a:ext uri="{FF2B5EF4-FFF2-40B4-BE49-F238E27FC236}">
                <a16:creationId xmlns:a16="http://schemas.microsoft.com/office/drawing/2014/main" id="{5E9A0F8B-263C-44C4-BF37-A6FAEDEF0C14}"/>
              </a:ext>
            </a:extLst>
          </p:cNvPr>
          <p:cNvSpPr>
            <a:spLocks noGrp="1"/>
          </p:cNvSpPr>
          <p:nvPr/>
        </p:nvSpPr>
        <p:spPr>
          <a:xfrm>
            <a:off x="6191250" y="2562225"/>
            <a:ext cx="5219700" cy="457200"/>
          </a:xfrm>
          <a:prstGeom prst="roundRect">
            <a:avLst>
              <a:gd name="adj" fmla="val 25000"/>
            </a:avLst>
          </a:prstGeom>
          <a:solidFill>
            <a:srgbClr val="FDE8E8"/>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0FB1694B-652C-4F41-AE2E-2B630A78C29E}"/>
              </a:ext>
            </a:extLst>
          </p:cNvPr>
          <p:cNvSpPr>
            <a:spLocks noGrp="1"/>
          </p:cNvSpPr>
          <p:nvPr/>
        </p:nvSpPr>
        <p:spPr>
          <a:xfrm>
            <a:off x="6343650" y="2667000"/>
            <a:ext cx="304800" cy="2286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28" name="Rectangle 27">
            <a:extLst>
              <a:ext uri="{FF2B5EF4-FFF2-40B4-BE49-F238E27FC236}">
                <a16:creationId xmlns:a16="http://schemas.microsoft.com/office/drawing/2014/main" id="{4AAA903D-E037-4FFB-A65A-FE27E1C1FC3F}"/>
              </a:ext>
            </a:extLst>
          </p:cNvPr>
          <p:cNvSpPr>
            <a:spLocks noGrp="1"/>
          </p:cNvSpPr>
          <p:nvPr/>
        </p:nvSpPr>
        <p:spPr>
          <a:xfrm>
            <a:off x="6724650" y="2676525"/>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Exact Ghana ages, paths or mineral truth</a:t>
            </a:r>
          </a:p>
        </p:txBody>
      </p:sp>
      <p:sp>
        <p:nvSpPr>
          <p:cNvPr id="29" name="Rectangle: Rounded Corners 28">
            <a:extLst>
              <a:ext uri="{FF2B5EF4-FFF2-40B4-BE49-F238E27FC236}">
                <a16:creationId xmlns:a16="http://schemas.microsoft.com/office/drawing/2014/main" id="{7E107F61-D4DE-456F-9A96-38CC63953866}"/>
              </a:ext>
            </a:extLst>
          </p:cNvPr>
          <p:cNvSpPr>
            <a:spLocks noGrp="1"/>
          </p:cNvSpPr>
          <p:nvPr/>
        </p:nvSpPr>
        <p:spPr>
          <a:xfrm>
            <a:off x="6191250" y="3181350"/>
            <a:ext cx="5219700" cy="457200"/>
          </a:xfrm>
          <a:prstGeom prst="roundRect">
            <a:avLst>
              <a:gd name="adj" fmla="val 25000"/>
            </a:avLst>
          </a:prstGeom>
          <a:solidFill>
            <a:srgbClr val="FDE8E8"/>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9FCDCE92-BAE5-46BF-BB91-4B829075A22D}"/>
              </a:ext>
            </a:extLst>
          </p:cNvPr>
          <p:cNvSpPr>
            <a:spLocks noGrp="1"/>
          </p:cNvSpPr>
          <p:nvPr/>
        </p:nvSpPr>
        <p:spPr>
          <a:xfrm>
            <a:off x="6343650" y="3286125"/>
            <a:ext cx="304800" cy="2286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1" name="Rectangle 30">
            <a:extLst>
              <a:ext uri="{FF2B5EF4-FFF2-40B4-BE49-F238E27FC236}">
                <a16:creationId xmlns:a16="http://schemas.microsoft.com/office/drawing/2014/main" id="{4777B93A-9516-41C8-9B32-58B7C5D18E51}"/>
              </a:ext>
            </a:extLst>
          </p:cNvPr>
          <p:cNvSpPr>
            <a:spLocks noGrp="1"/>
          </p:cNvSpPr>
          <p:nvPr/>
        </p:nvSpPr>
        <p:spPr>
          <a:xfrm>
            <a:off x="6724650" y="3295650"/>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End-to-end field validation</a:t>
            </a:r>
          </a:p>
        </p:txBody>
      </p:sp>
      <p:sp>
        <p:nvSpPr>
          <p:cNvPr id="32" name="Rectangle: Rounded Corners 31">
            <a:extLst>
              <a:ext uri="{FF2B5EF4-FFF2-40B4-BE49-F238E27FC236}">
                <a16:creationId xmlns:a16="http://schemas.microsoft.com/office/drawing/2014/main" id="{F1002FCF-948C-4521-A40B-AEC03906656B}"/>
              </a:ext>
            </a:extLst>
          </p:cNvPr>
          <p:cNvSpPr>
            <a:spLocks noGrp="1"/>
          </p:cNvSpPr>
          <p:nvPr/>
        </p:nvSpPr>
        <p:spPr>
          <a:xfrm>
            <a:off x="6191250" y="3800475"/>
            <a:ext cx="5219700" cy="457200"/>
          </a:xfrm>
          <a:prstGeom prst="roundRect">
            <a:avLst>
              <a:gd name="adj" fmla="val 25000"/>
            </a:avLst>
          </a:prstGeom>
          <a:solidFill>
            <a:srgbClr val="FDE8E8"/>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6D3B6DB0-E5C9-47EA-AAA7-AB83F7DE40B1}"/>
              </a:ext>
            </a:extLst>
          </p:cNvPr>
          <p:cNvSpPr>
            <a:spLocks noGrp="1"/>
          </p:cNvSpPr>
          <p:nvPr/>
        </p:nvSpPr>
        <p:spPr>
          <a:xfrm>
            <a:off x="6343650" y="3905250"/>
            <a:ext cx="304800" cy="2286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4" name="Rectangle 33">
            <a:extLst>
              <a:ext uri="{FF2B5EF4-FFF2-40B4-BE49-F238E27FC236}">
                <a16:creationId xmlns:a16="http://schemas.microsoft.com/office/drawing/2014/main" id="{9EF2BEA6-370F-4B9D-B13D-6299BA25FC93}"/>
              </a:ext>
            </a:extLst>
          </p:cNvPr>
          <p:cNvSpPr>
            <a:spLocks noGrp="1"/>
          </p:cNvSpPr>
          <p:nvPr/>
        </p:nvSpPr>
        <p:spPr>
          <a:xfrm>
            <a:off x="6724650" y="3914775"/>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Validated vector-stalk / 3-D / temporal / vadose claims</a:t>
            </a:r>
          </a:p>
        </p:txBody>
      </p:sp>
      <p:sp>
        <p:nvSpPr>
          <p:cNvPr id="35" name="Rectangle: Rounded Corners 34">
            <a:extLst>
              <a:ext uri="{FF2B5EF4-FFF2-40B4-BE49-F238E27FC236}">
                <a16:creationId xmlns:a16="http://schemas.microsoft.com/office/drawing/2014/main" id="{091A3AB9-4FE7-4AB6-A889-8DC5566BF8EF}"/>
              </a:ext>
            </a:extLst>
          </p:cNvPr>
          <p:cNvSpPr>
            <a:spLocks noGrp="1"/>
          </p:cNvSpPr>
          <p:nvPr/>
        </p:nvSpPr>
        <p:spPr>
          <a:xfrm>
            <a:off x="6191250" y="4419600"/>
            <a:ext cx="5219700" cy="457200"/>
          </a:xfrm>
          <a:prstGeom prst="roundRect">
            <a:avLst>
              <a:gd name="adj" fmla="val 25000"/>
            </a:avLst>
          </a:prstGeom>
          <a:solidFill>
            <a:srgbClr val="FDE8E8"/>
          </a:solidFill>
          <a:ln w="0">
            <a:noFill/>
            <a:prstDash val="solid"/>
          </a:ln>
        </p:spPr>
        <p:txBody>
          <a:bodyPr/>
          <a:lstStyle/>
          <a:p>
            <a:endParaRPr lang="en-US"/>
          </a:p>
        </p:txBody>
      </p:sp>
      <p:sp>
        <p:nvSpPr>
          <p:cNvPr id="36" name="Rectangle 35">
            <a:extLst>
              <a:ext uri="{FF2B5EF4-FFF2-40B4-BE49-F238E27FC236}">
                <a16:creationId xmlns:a16="http://schemas.microsoft.com/office/drawing/2014/main" id="{8A3D5B0B-04A7-40C0-955B-5B990321371F}"/>
              </a:ext>
            </a:extLst>
          </p:cNvPr>
          <p:cNvSpPr>
            <a:spLocks noGrp="1"/>
          </p:cNvSpPr>
          <p:nvPr/>
        </p:nvSpPr>
        <p:spPr>
          <a:xfrm>
            <a:off x="6343650" y="4524375"/>
            <a:ext cx="304800" cy="228600"/>
          </a:xfrm>
          <a:prstGeom prst="rect">
            <a:avLst/>
          </a:prstGeom>
          <a:noFill/>
          <a:ln w="0">
            <a:noFill/>
            <a:prstDash val="solid"/>
          </a:ln>
        </p:spPr>
        <p:txBody>
          <a:bodyPr lIns="0" tIns="0" rIns="0" bIns="0" anchor="t">
            <a:normAutofit/>
          </a:bodyPr>
          <a:lstStyle/>
          <a:p>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7" name="Rectangle 36">
            <a:extLst>
              <a:ext uri="{FF2B5EF4-FFF2-40B4-BE49-F238E27FC236}">
                <a16:creationId xmlns:a16="http://schemas.microsoft.com/office/drawing/2014/main" id="{8435C3C4-F998-4DA7-8D72-C9F73957E496}"/>
              </a:ext>
            </a:extLst>
          </p:cNvPr>
          <p:cNvSpPr>
            <a:spLocks noGrp="1"/>
          </p:cNvSpPr>
          <p:nvPr/>
        </p:nvSpPr>
        <p:spPr>
          <a:xfrm>
            <a:off x="6724650" y="4533900"/>
            <a:ext cx="4429125" cy="22860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Excellent active-learning performance</a:t>
            </a:r>
          </a:p>
        </p:txBody>
      </p:sp>
    </p:spTree>
    <p:extLst>
      <p:ext uri="{BB962C8B-B14F-4D97-AF65-F5344CB8AC3E}">
        <p14:creationId xmlns:p14="http://schemas.microsoft.com/office/powerpoint/2010/main" val="1753639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17CBF20-738F-407A-99BF-90C040917B55}"/>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OBJECTIVE SYNTHESIS</a:t>
            </a:r>
          </a:p>
        </p:txBody>
      </p:sp>
      <p:sp>
        <p:nvSpPr>
          <p:cNvPr id="2" name="Rectangle 1">
            <a:extLst>
              <a:ext uri="{FF2B5EF4-FFF2-40B4-BE49-F238E27FC236}">
                <a16:creationId xmlns:a16="http://schemas.microsoft.com/office/drawing/2014/main" id="{4461F4D7-7C13-4902-A863-0B617A6E3EB7}"/>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six objectives produced six bounded answers</a:t>
            </a:r>
          </a:p>
        </p:txBody>
      </p:sp>
      <p:sp>
        <p:nvSpPr>
          <p:cNvPr id="3" name="Rectangle 2">
            <a:extLst>
              <a:ext uri="{FF2B5EF4-FFF2-40B4-BE49-F238E27FC236}">
                <a16:creationId xmlns:a16="http://schemas.microsoft.com/office/drawing/2014/main" id="{C9D392B8-54D9-4941-9E05-277CF044F12E}"/>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582414DA-9096-41AF-B1C1-96449147E1B3}"/>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 &amp; discussion</a:t>
            </a:r>
          </a:p>
        </p:txBody>
      </p:sp>
      <p:sp>
        <p:nvSpPr>
          <p:cNvPr id="5" name="Rectangle 4">
            <a:extLst>
              <a:ext uri="{FF2B5EF4-FFF2-40B4-BE49-F238E27FC236}">
                <a16:creationId xmlns:a16="http://schemas.microsoft.com/office/drawing/2014/main" id="{97BCA0FE-0C8C-4E73-B3C0-F99BAD6982AA}"/>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26</a:t>
            </a:r>
          </a:p>
        </p:txBody>
      </p:sp>
      <p:sp>
        <p:nvSpPr>
          <p:cNvPr id="6" name="Rectangle: Rounded Corners 5">
            <a:extLst>
              <a:ext uri="{FF2B5EF4-FFF2-40B4-BE49-F238E27FC236}">
                <a16:creationId xmlns:a16="http://schemas.microsoft.com/office/drawing/2014/main" id="{E76191D9-65EC-4105-8687-D6B3F5F0E85E}"/>
              </a:ext>
            </a:extLst>
          </p:cNvPr>
          <p:cNvSpPr>
            <a:spLocks noGrp="1"/>
          </p:cNvSpPr>
          <p:nvPr/>
        </p:nvSpPr>
        <p:spPr>
          <a:xfrm>
            <a:off x="400050" y="1428750"/>
            <a:ext cx="11391900" cy="571500"/>
          </a:xfrm>
          <a:prstGeom prst="roundRect">
            <a:avLst>
              <a:gd name="adj" fmla="val 20000"/>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9E057546-D809-4A3A-BB82-30EF643D732A}"/>
              </a:ext>
            </a:extLst>
          </p:cNvPr>
          <p:cNvSpPr>
            <a:spLocks noGrp="1"/>
          </p:cNvSpPr>
          <p:nvPr/>
        </p:nvSpPr>
        <p:spPr>
          <a:xfrm>
            <a:off x="609600" y="1600200"/>
            <a:ext cx="2190750" cy="228600"/>
          </a:xfrm>
          <a:prstGeom prst="rect">
            <a:avLst/>
          </a:prstGeom>
          <a:noFill/>
          <a:ln w="0">
            <a:noFill/>
            <a:prstDash val="solid"/>
          </a:ln>
        </p:spPr>
        <p:txBody>
          <a:bodyPr lIns="0" tIns="0" rIns="0" bIns="0" anchor="t">
            <a:normAutofit/>
          </a:bodyPr>
          <a:lstStyle/>
          <a:p>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01 REVIEW</a:t>
            </a:r>
          </a:p>
        </p:txBody>
      </p:sp>
      <p:sp>
        <p:nvSpPr>
          <p:cNvPr id="8" name="Rectangle 7">
            <a:extLst>
              <a:ext uri="{FF2B5EF4-FFF2-40B4-BE49-F238E27FC236}">
                <a16:creationId xmlns:a16="http://schemas.microsoft.com/office/drawing/2014/main" id="{435A5459-44C0-4249-B15E-1665ACE076C1}"/>
              </a:ext>
            </a:extLst>
          </p:cNvPr>
          <p:cNvSpPr>
            <a:spLocks noGrp="1"/>
          </p:cNvSpPr>
          <p:nvPr/>
        </p:nvSpPr>
        <p:spPr>
          <a:xfrm>
            <a:off x="3000375" y="1571625"/>
            <a:ext cx="83820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Integration and validation were the unresolved methodological gap.</a:t>
            </a:r>
          </a:p>
        </p:txBody>
      </p:sp>
      <p:sp>
        <p:nvSpPr>
          <p:cNvPr id="9" name="Rectangle: Rounded Corners 8">
            <a:extLst>
              <a:ext uri="{FF2B5EF4-FFF2-40B4-BE49-F238E27FC236}">
                <a16:creationId xmlns:a16="http://schemas.microsoft.com/office/drawing/2014/main" id="{B201EB9A-DA8F-44EF-B9E3-B6002A64F8CE}"/>
              </a:ext>
            </a:extLst>
          </p:cNvPr>
          <p:cNvSpPr>
            <a:spLocks noGrp="1"/>
          </p:cNvSpPr>
          <p:nvPr/>
        </p:nvSpPr>
        <p:spPr>
          <a:xfrm>
            <a:off x="400050" y="2171700"/>
            <a:ext cx="11391900" cy="571500"/>
          </a:xfrm>
          <a:prstGeom prst="roundRect">
            <a:avLst>
              <a:gd name="adj" fmla="val 20000"/>
            </a:avLst>
          </a:prstGeom>
          <a:solidFill>
            <a:srgbClr val="F2F3F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A8A49A1-BB76-49D6-8FA1-4BB38EC8A603}"/>
              </a:ext>
            </a:extLst>
          </p:cNvPr>
          <p:cNvSpPr>
            <a:spLocks noGrp="1"/>
          </p:cNvSpPr>
          <p:nvPr/>
        </p:nvSpPr>
        <p:spPr>
          <a:xfrm>
            <a:off x="609600" y="2343150"/>
            <a:ext cx="2190750" cy="228600"/>
          </a:xfrm>
          <a:prstGeom prst="rect">
            <a:avLst/>
          </a:prstGeom>
          <a:noFill/>
          <a:ln w="0">
            <a:noFill/>
            <a:prstDash val="solid"/>
          </a:ln>
        </p:spPr>
        <p:txBody>
          <a:bodyPr lIns="0" tIns="0" rIns="0" bIns="0" anchor="t">
            <a:normAutofit/>
          </a:bodyPr>
          <a:lstStyle/>
          <a:p>
            <a:pPr algn="l">
              <a:defRPr sz="1275" b="1">
                <a:solidFill>
                  <a:srgbClr val="149A84"/>
                </a:solidFill>
                <a:latin typeface="Helvetica Neue"/>
                <a:ea typeface="Helvetica Neue"/>
                <a:cs typeface="Helvetica Neue"/>
              </a:defRPr>
            </a:pPr>
            <a:r>
              <a:rPr sz="1275" b="1">
                <a:solidFill>
                  <a:srgbClr val="149A84"/>
                </a:solidFill>
                <a:latin typeface="Helvetica Neue"/>
                <a:ea typeface="Helvetica Neue"/>
                <a:cs typeface="Helvetica Neue"/>
              </a:rPr>
              <a:t>02 DEVELOP</a:t>
            </a:r>
          </a:p>
        </p:txBody>
      </p:sp>
      <p:sp>
        <p:nvSpPr>
          <p:cNvPr id="11" name="Rectangle 10">
            <a:extLst>
              <a:ext uri="{FF2B5EF4-FFF2-40B4-BE49-F238E27FC236}">
                <a16:creationId xmlns:a16="http://schemas.microsoft.com/office/drawing/2014/main" id="{8A1859E4-EE20-4527-9399-8CAD773AA06F}"/>
              </a:ext>
            </a:extLst>
          </p:cNvPr>
          <p:cNvSpPr>
            <a:spLocks noGrp="1"/>
          </p:cNvSpPr>
          <p:nvPr/>
        </p:nvSpPr>
        <p:spPr>
          <a:xfrm>
            <a:off x="3000375" y="2314575"/>
            <a:ext cx="83820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HydroSheaf made cross-domain relations and diagnostics executable.</a:t>
            </a:r>
          </a:p>
        </p:txBody>
      </p:sp>
      <p:sp>
        <p:nvSpPr>
          <p:cNvPr id="12" name="Rectangle: Rounded Corners 11">
            <a:extLst>
              <a:ext uri="{FF2B5EF4-FFF2-40B4-BE49-F238E27FC236}">
                <a16:creationId xmlns:a16="http://schemas.microsoft.com/office/drawing/2014/main" id="{971C70CF-0435-4C76-B841-8DF0F733851F}"/>
              </a:ext>
            </a:extLst>
          </p:cNvPr>
          <p:cNvSpPr>
            <a:spLocks noGrp="1"/>
          </p:cNvSpPr>
          <p:nvPr/>
        </p:nvSpPr>
        <p:spPr>
          <a:xfrm>
            <a:off x="400050" y="2914650"/>
            <a:ext cx="11391900" cy="571500"/>
          </a:xfrm>
          <a:prstGeom prst="roundRect">
            <a:avLst>
              <a:gd name="adj" fmla="val 20000"/>
            </a:avLst>
          </a:prstGeom>
          <a:solidFill>
            <a:srgbClr val="F2F3F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EB27B433-89FF-462A-8F24-1DEA2D58551A}"/>
              </a:ext>
            </a:extLst>
          </p:cNvPr>
          <p:cNvSpPr>
            <a:spLocks noGrp="1"/>
          </p:cNvSpPr>
          <p:nvPr/>
        </p:nvSpPr>
        <p:spPr>
          <a:xfrm>
            <a:off x="609600" y="3086100"/>
            <a:ext cx="2190750" cy="228600"/>
          </a:xfrm>
          <a:prstGeom prst="rect">
            <a:avLst/>
          </a:prstGeom>
          <a:noFill/>
          <a:ln w="0">
            <a:noFill/>
            <a:prstDash val="solid"/>
          </a:ln>
        </p:spPr>
        <p:txBody>
          <a:bodyPr lIns="0" tIns="0" rIns="0" bIns="0" anchor="t">
            <a:normAutofit/>
          </a:bodyPr>
          <a:lstStyle/>
          <a:p>
            <a:pPr algn="l">
              <a:defRPr sz="1275" b="1">
                <a:solidFill>
                  <a:srgbClr val="D97706"/>
                </a:solidFill>
                <a:latin typeface="Helvetica Neue"/>
                <a:ea typeface="Helvetica Neue"/>
                <a:cs typeface="Helvetica Neue"/>
              </a:defRPr>
            </a:pPr>
            <a:r>
              <a:rPr sz="1275" b="1">
                <a:solidFill>
                  <a:srgbClr val="D97706"/>
                </a:solidFill>
                <a:latin typeface="Helvetica Neue"/>
                <a:ea typeface="Helvetica Neue"/>
                <a:cs typeface="Helvetica Neue"/>
              </a:rPr>
              <a:t>03 BENCHMARK</a:t>
            </a:r>
          </a:p>
        </p:txBody>
      </p:sp>
      <p:sp>
        <p:nvSpPr>
          <p:cNvPr id="14" name="Rectangle 13">
            <a:extLst>
              <a:ext uri="{FF2B5EF4-FFF2-40B4-BE49-F238E27FC236}">
                <a16:creationId xmlns:a16="http://schemas.microsoft.com/office/drawing/2014/main" id="{315B2AC5-A653-4442-BD1F-FC2258965D15}"/>
              </a:ext>
            </a:extLst>
          </p:cNvPr>
          <p:cNvSpPr>
            <a:spLocks noGrp="1"/>
          </p:cNvSpPr>
          <p:nvPr/>
        </p:nvSpPr>
        <p:spPr>
          <a:xfrm>
            <a:off x="3000375" y="3057525"/>
            <a:ext cx="83820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Components showed usable but conditional reference recovery.</a:t>
            </a:r>
          </a:p>
        </p:txBody>
      </p:sp>
      <p:sp>
        <p:nvSpPr>
          <p:cNvPr id="15" name="Rectangle: Rounded Corners 14">
            <a:extLst>
              <a:ext uri="{FF2B5EF4-FFF2-40B4-BE49-F238E27FC236}">
                <a16:creationId xmlns:a16="http://schemas.microsoft.com/office/drawing/2014/main" id="{C693590B-7518-43A3-834C-A6B6B1593C67}"/>
              </a:ext>
            </a:extLst>
          </p:cNvPr>
          <p:cNvSpPr>
            <a:spLocks noGrp="1"/>
          </p:cNvSpPr>
          <p:nvPr/>
        </p:nvSpPr>
        <p:spPr>
          <a:xfrm>
            <a:off x="400050" y="3657600"/>
            <a:ext cx="11391900" cy="571500"/>
          </a:xfrm>
          <a:prstGeom prst="roundRect">
            <a:avLst>
              <a:gd name="adj" fmla="val 20000"/>
            </a:avLst>
          </a:prstGeom>
          <a:solidFill>
            <a:srgbClr val="FDE8E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C823331-20A3-42C1-873B-5A9109928474}"/>
              </a:ext>
            </a:extLst>
          </p:cNvPr>
          <p:cNvSpPr>
            <a:spLocks noGrp="1"/>
          </p:cNvSpPr>
          <p:nvPr/>
        </p:nvSpPr>
        <p:spPr>
          <a:xfrm>
            <a:off x="609600" y="3829050"/>
            <a:ext cx="2190750" cy="228600"/>
          </a:xfrm>
          <a:prstGeom prst="rect">
            <a:avLst/>
          </a:prstGeom>
          <a:noFill/>
          <a:ln w="0">
            <a:noFill/>
            <a:prstDash val="solid"/>
          </a:ln>
        </p:spPr>
        <p:txBody>
          <a:bodyPr lIns="0" tIns="0" rIns="0" bIns="0" anchor="t">
            <a:normAutofit/>
          </a:bodyPr>
          <a:lstStyle/>
          <a:p>
            <a:pPr algn="l">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04 ROBUSTNESS</a:t>
            </a:r>
          </a:p>
        </p:txBody>
      </p:sp>
      <p:sp>
        <p:nvSpPr>
          <p:cNvPr id="17" name="Rectangle 16">
            <a:extLst>
              <a:ext uri="{FF2B5EF4-FFF2-40B4-BE49-F238E27FC236}">
                <a16:creationId xmlns:a16="http://schemas.microsoft.com/office/drawing/2014/main" id="{61DBEBBE-53E4-46E1-9497-CFFE7777E55A}"/>
              </a:ext>
            </a:extLst>
          </p:cNvPr>
          <p:cNvSpPr>
            <a:spLocks noGrp="1"/>
          </p:cNvSpPr>
          <p:nvPr/>
        </p:nvSpPr>
        <p:spPr>
          <a:xfrm>
            <a:off x="3000375" y="3800475"/>
            <a:ext cx="83820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Fit and precision could remain high while identifiability failed.</a:t>
            </a:r>
          </a:p>
        </p:txBody>
      </p:sp>
      <p:sp>
        <p:nvSpPr>
          <p:cNvPr id="18" name="Rectangle: Rounded Corners 17">
            <a:extLst>
              <a:ext uri="{FF2B5EF4-FFF2-40B4-BE49-F238E27FC236}">
                <a16:creationId xmlns:a16="http://schemas.microsoft.com/office/drawing/2014/main" id="{209CBA56-293D-4DF0-AB14-590F27FD68CA}"/>
              </a:ext>
            </a:extLst>
          </p:cNvPr>
          <p:cNvSpPr>
            <a:spLocks noGrp="1"/>
          </p:cNvSpPr>
          <p:nvPr/>
        </p:nvSpPr>
        <p:spPr>
          <a:xfrm>
            <a:off x="400050" y="4400550"/>
            <a:ext cx="11391900" cy="571500"/>
          </a:xfrm>
          <a:prstGeom prst="roundRect">
            <a:avLst>
              <a:gd name="adj" fmla="val 20000"/>
            </a:avLst>
          </a:prstGeom>
          <a:solidFill>
            <a:srgbClr val="F2F3F5"/>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D6009087-63AC-4486-8FCE-1F53AD8839E4}"/>
              </a:ext>
            </a:extLst>
          </p:cNvPr>
          <p:cNvSpPr>
            <a:spLocks noGrp="1"/>
          </p:cNvSpPr>
          <p:nvPr/>
        </p:nvSpPr>
        <p:spPr>
          <a:xfrm>
            <a:off x="609600" y="4572000"/>
            <a:ext cx="2190750" cy="228600"/>
          </a:xfrm>
          <a:prstGeom prst="rect">
            <a:avLst/>
          </a:prstGeom>
          <a:noFill/>
          <a:ln w="0">
            <a:noFill/>
            <a:prstDash val="solid"/>
          </a:ln>
        </p:spPr>
        <p:txBody>
          <a:bodyPr lIns="0" tIns="0" rIns="0" bIns="0" anchor="t">
            <a:normAutofit/>
          </a:bodyPr>
          <a:lstStyle/>
          <a:p>
            <a:pPr algn="l">
              <a:defRPr sz="1275" b="1">
                <a:solidFill>
                  <a:srgbClr val="149A84"/>
                </a:solidFill>
                <a:latin typeface="Helvetica Neue"/>
                <a:ea typeface="Helvetica Neue"/>
                <a:cs typeface="Helvetica Neue"/>
              </a:defRPr>
            </a:pPr>
            <a:r>
              <a:rPr sz="1275" b="1">
                <a:solidFill>
                  <a:srgbClr val="149A84"/>
                </a:solidFill>
                <a:latin typeface="Helvetica Neue"/>
                <a:ea typeface="Helvetica Neue"/>
                <a:cs typeface="Helvetica Neue"/>
              </a:rPr>
              <a:t>05 INTEGRATION</a:t>
            </a:r>
          </a:p>
        </p:txBody>
      </p:sp>
      <p:sp>
        <p:nvSpPr>
          <p:cNvPr id="20" name="Rectangle 19">
            <a:extLst>
              <a:ext uri="{FF2B5EF4-FFF2-40B4-BE49-F238E27FC236}">
                <a16:creationId xmlns:a16="http://schemas.microsoft.com/office/drawing/2014/main" id="{EC6C4294-9001-494D-96C8-78FFDC2C8277}"/>
              </a:ext>
            </a:extLst>
          </p:cNvPr>
          <p:cNvSpPr>
            <a:spLocks noGrp="1"/>
          </p:cNvSpPr>
          <p:nvPr/>
        </p:nvSpPr>
        <p:spPr>
          <a:xfrm>
            <a:off x="3000375" y="4543425"/>
            <a:ext cx="83820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Evidence helped only when it supplied independent information.</a:t>
            </a:r>
          </a:p>
        </p:txBody>
      </p:sp>
      <p:sp>
        <p:nvSpPr>
          <p:cNvPr id="21" name="Rectangle: Rounded Corners 20">
            <a:extLst>
              <a:ext uri="{FF2B5EF4-FFF2-40B4-BE49-F238E27FC236}">
                <a16:creationId xmlns:a16="http://schemas.microsoft.com/office/drawing/2014/main" id="{433B8766-0641-4828-88A1-F2BD9D7627D1}"/>
              </a:ext>
            </a:extLst>
          </p:cNvPr>
          <p:cNvSpPr>
            <a:spLocks noGrp="1"/>
          </p:cNvSpPr>
          <p:nvPr/>
        </p:nvSpPr>
        <p:spPr>
          <a:xfrm>
            <a:off x="400050" y="5143500"/>
            <a:ext cx="11391900" cy="571500"/>
          </a:xfrm>
          <a:prstGeom prst="roundRect">
            <a:avLst>
              <a:gd name="adj" fmla="val 20000"/>
            </a:avLst>
          </a:prstGeom>
          <a:solidFill>
            <a:srgbClr val="F2F3F5"/>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144F7D63-3D05-4C3E-9E30-2A0CA408AA8D}"/>
              </a:ext>
            </a:extLst>
          </p:cNvPr>
          <p:cNvSpPr>
            <a:spLocks noGrp="1"/>
          </p:cNvSpPr>
          <p:nvPr/>
        </p:nvSpPr>
        <p:spPr>
          <a:xfrm>
            <a:off x="609600" y="5314950"/>
            <a:ext cx="2190750" cy="228600"/>
          </a:xfrm>
          <a:prstGeom prst="rect">
            <a:avLst/>
          </a:prstGeom>
          <a:noFill/>
          <a:ln w="0">
            <a:noFill/>
            <a:prstDash val="solid"/>
          </a:ln>
        </p:spPr>
        <p:txBody>
          <a:bodyPr lIns="0" tIns="0" rIns="0" bIns="0" anchor="t">
            <a:normAutofit/>
          </a:bodyPr>
          <a:lstStyle/>
          <a:p>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06 GHANA</a:t>
            </a:r>
          </a:p>
        </p:txBody>
      </p:sp>
      <p:sp>
        <p:nvSpPr>
          <p:cNvPr id="23" name="Rectangle 22">
            <a:extLst>
              <a:ext uri="{FF2B5EF4-FFF2-40B4-BE49-F238E27FC236}">
                <a16:creationId xmlns:a16="http://schemas.microsoft.com/office/drawing/2014/main" id="{8AA6F0CF-2A79-493B-85E9-9275D48791A8}"/>
              </a:ext>
            </a:extLst>
          </p:cNvPr>
          <p:cNvSpPr>
            <a:spLocks noGrp="1"/>
          </p:cNvSpPr>
          <p:nvPr/>
        </p:nvSpPr>
        <p:spPr>
          <a:xfrm>
            <a:off x="3000375" y="5286375"/>
            <a:ext cx="8382000" cy="28575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Field transfer identified supportable claims and the evidence ceiling.</a:t>
            </a:r>
          </a:p>
        </p:txBody>
      </p:sp>
      <p:sp>
        <p:nvSpPr>
          <p:cNvPr id="24" name="Rectangle 23">
            <a:extLst>
              <a:ext uri="{FF2B5EF4-FFF2-40B4-BE49-F238E27FC236}">
                <a16:creationId xmlns:a16="http://schemas.microsoft.com/office/drawing/2014/main" id="{EBD31B22-C119-41A5-9708-6879905E7BE2}"/>
              </a:ext>
            </a:extLst>
          </p:cNvPr>
          <p:cNvSpPr>
            <a:spLocks noGrp="1"/>
          </p:cNvSpPr>
          <p:nvPr/>
        </p:nvSpPr>
        <p:spPr>
          <a:xfrm>
            <a:off x="1571625" y="5943600"/>
            <a:ext cx="9048750" cy="285750"/>
          </a:xfrm>
          <a:prstGeom prst="rect">
            <a:avLst/>
          </a:prstGeom>
          <a:noFill/>
          <a:ln w="0">
            <a:noFill/>
            <a:prstDash val="solid"/>
          </a:ln>
        </p:spPr>
        <p:txBody>
          <a:bodyPr lIns="0" tIns="0" rIns="0" bIns="0" anchor="t">
            <a:normAutofit/>
          </a:bodyPr>
          <a:lstStyle/>
          <a:p>
            <a:pPr algn="ctr">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Central answer: integration is a testable condition—not an automatic benefit.</a:t>
            </a:r>
          </a:p>
        </p:txBody>
      </p:sp>
    </p:spTree>
    <p:extLst>
      <p:ext uri="{BB962C8B-B14F-4D97-AF65-F5344CB8AC3E}">
        <p14:creationId xmlns:p14="http://schemas.microsoft.com/office/powerpoint/2010/main" val="557484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D8FCC29-4951-45D1-95EE-1CA2022B9268}"/>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ANSWER TO THE THESIS</a:t>
            </a:r>
          </a:p>
        </p:txBody>
      </p:sp>
      <p:sp>
        <p:nvSpPr>
          <p:cNvPr id="2" name="Rectangle 1">
            <a:extLst>
              <a:ext uri="{FF2B5EF4-FFF2-40B4-BE49-F238E27FC236}">
                <a16:creationId xmlns:a16="http://schemas.microsoft.com/office/drawing/2014/main" id="{100D7D26-2B96-4A91-907C-4DEBDEDD9912}"/>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Four contributions to knowledge</a:t>
            </a:r>
          </a:p>
        </p:txBody>
      </p:sp>
      <p:sp>
        <p:nvSpPr>
          <p:cNvPr id="3" name="Rectangle 2">
            <a:extLst>
              <a:ext uri="{FF2B5EF4-FFF2-40B4-BE49-F238E27FC236}">
                <a16:creationId xmlns:a16="http://schemas.microsoft.com/office/drawing/2014/main" id="{6F2459D8-618C-4EB6-9734-843540E82F5E}"/>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9A8917CE-C79C-4C8F-912A-F1199814E459}"/>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Contribution</a:t>
            </a:r>
          </a:p>
        </p:txBody>
      </p:sp>
      <p:sp>
        <p:nvSpPr>
          <p:cNvPr id="5" name="Rectangle 4">
            <a:extLst>
              <a:ext uri="{FF2B5EF4-FFF2-40B4-BE49-F238E27FC236}">
                <a16:creationId xmlns:a16="http://schemas.microsoft.com/office/drawing/2014/main" id="{18D68A94-8BFA-44CC-962D-D12959A7D0E1}"/>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27</a:t>
            </a:r>
          </a:p>
        </p:txBody>
      </p:sp>
      <p:sp>
        <p:nvSpPr>
          <p:cNvPr id="6" name="Rectangle: Rounded Corners 5">
            <a:extLst>
              <a:ext uri="{FF2B5EF4-FFF2-40B4-BE49-F238E27FC236}">
                <a16:creationId xmlns:a16="http://schemas.microsoft.com/office/drawing/2014/main" id="{46730194-05E7-4963-A7AE-0BB7AC3E778C}"/>
              </a:ext>
            </a:extLst>
          </p:cNvPr>
          <p:cNvSpPr>
            <a:spLocks noGrp="1"/>
          </p:cNvSpPr>
          <p:nvPr/>
        </p:nvSpPr>
        <p:spPr>
          <a:xfrm>
            <a:off x="400050" y="1581150"/>
            <a:ext cx="5429250" cy="1695450"/>
          </a:xfrm>
          <a:prstGeom prst="roundRect">
            <a:avLst>
              <a:gd name="adj" fmla="val 6742"/>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9183FD52-B397-44DB-BDBA-AAF98A57ECF9}"/>
              </a:ext>
            </a:extLst>
          </p:cNvPr>
          <p:cNvSpPr>
            <a:spLocks noGrp="1"/>
          </p:cNvSpPr>
          <p:nvPr/>
        </p:nvSpPr>
        <p:spPr>
          <a:xfrm>
            <a:off x="609600" y="1771650"/>
            <a:ext cx="619125" cy="428625"/>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01</a:t>
            </a:r>
          </a:p>
        </p:txBody>
      </p:sp>
      <p:sp>
        <p:nvSpPr>
          <p:cNvPr id="8" name="Rectangle 7">
            <a:extLst>
              <a:ext uri="{FF2B5EF4-FFF2-40B4-BE49-F238E27FC236}">
                <a16:creationId xmlns:a16="http://schemas.microsoft.com/office/drawing/2014/main" id="{06179C72-B370-4128-B68C-174D4443004F}"/>
              </a:ext>
            </a:extLst>
          </p:cNvPr>
          <p:cNvSpPr>
            <a:spLocks noGrp="1"/>
          </p:cNvSpPr>
          <p:nvPr/>
        </p:nvSpPr>
        <p:spPr>
          <a:xfrm>
            <a:off x="1400175" y="1819275"/>
            <a:ext cx="4000500" cy="238125"/>
          </a:xfrm>
          <a:prstGeom prst="rect">
            <a:avLst/>
          </a:prstGeom>
          <a:noFill/>
          <a:ln w="0">
            <a:noFill/>
            <a:prstDash val="solid"/>
          </a:ln>
        </p:spPr>
        <p:txBody>
          <a:bodyPr lIns="0" tIns="0" rIns="0" bIns="0" anchor="t">
            <a:normAutofit/>
          </a:bodyPr>
          <a:lstStyle/>
          <a:p>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FORMALISATION</a:t>
            </a:r>
          </a:p>
        </p:txBody>
      </p:sp>
      <p:sp>
        <p:nvSpPr>
          <p:cNvPr id="9" name="Rectangle 8">
            <a:extLst>
              <a:ext uri="{FF2B5EF4-FFF2-40B4-BE49-F238E27FC236}">
                <a16:creationId xmlns:a16="http://schemas.microsoft.com/office/drawing/2014/main" id="{EDD22C23-F550-4527-A306-A8039E60AC76}"/>
              </a:ext>
            </a:extLst>
          </p:cNvPr>
          <p:cNvSpPr>
            <a:spLocks noGrp="1"/>
          </p:cNvSpPr>
          <p:nvPr/>
        </p:nvSpPr>
        <p:spPr>
          <a:xfrm>
            <a:off x="1400175" y="2247900"/>
            <a:ext cx="4000500" cy="742950"/>
          </a:xfrm>
          <a:prstGeom prst="rect">
            <a:avLst/>
          </a:prstGeom>
          <a:noFill/>
          <a:ln w="0">
            <a:noFill/>
            <a:prstDash val="solid"/>
          </a:ln>
        </p:spPr>
        <p:txBody>
          <a:bodyPr lIns="0" tIns="0" rIns="0" bIns="0" anchor="t">
            <a:normAutofit lnSpcReduction="10000"/>
          </a:bodyPr>
          <a:lstStyle/>
          <a:p>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 groundwater-specific graph/sheaf representation linking age, flow and reactions</a:t>
            </a:r>
          </a:p>
        </p:txBody>
      </p:sp>
      <p:sp>
        <p:nvSpPr>
          <p:cNvPr id="10" name="Rectangle: Rounded Corners 9">
            <a:extLst>
              <a:ext uri="{FF2B5EF4-FFF2-40B4-BE49-F238E27FC236}">
                <a16:creationId xmlns:a16="http://schemas.microsoft.com/office/drawing/2014/main" id="{B08E8873-6062-427D-B982-9B24E37E9CF5}"/>
              </a:ext>
            </a:extLst>
          </p:cNvPr>
          <p:cNvSpPr>
            <a:spLocks noGrp="1"/>
          </p:cNvSpPr>
          <p:nvPr/>
        </p:nvSpPr>
        <p:spPr>
          <a:xfrm>
            <a:off x="6191250" y="1581150"/>
            <a:ext cx="5429250" cy="1695450"/>
          </a:xfrm>
          <a:prstGeom prst="roundRect">
            <a:avLst>
              <a:gd name="adj" fmla="val 6742"/>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D909E22-75E6-4CA1-8834-E2228B7ACA50}"/>
              </a:ext>
            </a:extLst>
          </p:cNvPr>
          <p:cNvSpPr>
            <a:spLocks noGrp="1"/>
          </p:cNvSpPr>
          <p:nvPr/>
        </p:nvSpPr>
        <p:spPr>
          <a:xfrm>
            <a:off x="6400800" y="1771650"/>
            <a:ext cx="619125" cy="428625"/>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02</a:t>
            </a:r>
          </a:p>
        </p:txBody>
      </p:sp>
      <p:sp>
        <p:nvSpPr>
          <p:cNvPr id="12" name="Rectangle 11">
            <a:extLst>
              <a:ext uri="{FF2B5EF4-FFF2-40B4-BE49-F238E27FC236}">
                <a16:creationId xmlns:a16="http://schemas.microsoft.com/office/drawing/2014/main" id="{8B3A1D8D-962C-484B-8D6D-CAE0B0DFD445}"/>
              </a:ext>
            </a:extLst>
          </p:cNvPr>
          <p:cNvSpPr>
            <a:spLocks noGrp="1"/>
          </p:cNvSpPr>
          <p:nvPr/>
        </p:nvSpPr>
        <p:spPr>
          <a:xfrm>
            <a:off x="7191375" y="1819275"/>
            <a:ext cx="4000500" cy="238125"/>
          </a:xfrm>
          <a:prstGeom prst="rect">
            <a:avLst/>
          </a:prstGeom>
          <a:noFill/>
          <a:ln w="0">
            <a:noFill/>
            <a:prstDash val="solid"/>
          </a:ln>
        </p:spPr>
        <p:txBody>
          <a:bodyPr lIns="0" tIns="0" rIns="0" bIns="0" anchor="t">
            <a:normAutofit/>
          </a:bodyPr>
          <a:lstStyle/>
          <a:p>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DIAGNOSTICS</a:t>
            </a:r>
          </a:p>
        </p:txBody>
      </p:sp>
      <p:sp>
        <p:nvSpPr>
          <p:cNvPr id="13" name="Rectangle 12">
            <a:extLst>
              <a:ext uri="{FF2B5EF4-FFF2-40B4-BE49-F238E27FC236}">
                <a16:creationId xmlns:a16="http://schemas.microsoft.com/office/drawing/2014/main" id="{1FC4AC81-71A5-4854-B82D-F80C007070C8}"/>
              </a:ext>
            </a:extLst>
          </p:cNvPr>
          <p:cNvSpPr>
            <a:spLocks noGrp="1"/>
          </p:cNvSpPr>
          <p:nvPr/>
        </p:nvSpPr>
        <p:spPr>
          <a:xfrm>
            <a:off x="7191375" y="2247900"/>
            <a:ext cx="4000500" cy="742950"/>
          </a:xfrm>
          <a:prstGeom prst="rect">
            <a:avLst/>
          </a:prstGeom>
          <a:noFill/>
          <a:ln w="0">
            <a:noFill/>
            <a:prstDash val="solid"/>
          </a:ln>
        </p:spPr>
        <p:txBody>
          <a:bodyPr lIns="0" tIns="0" rIns="0" bIns="0" anchor="t">
            <a:normAutofit/>
          </a:bodyPr>
          <a:lstStyle/>
          <a:p>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Identifiability, calibration and conflict localisation as primary outputs</a:t>
            </a:r>
          </a:p>
        </p:txBody>
      </p:sp>
      <p:sp>
        <p:nvSpPr>
          <p:cNvPr id="14" name="Rectangle: Rounded Corners 13">
            <a:extLst>
              <a:ext uri="{FF2B5EF4-FFF2-40B4-BE49-F238E27FC236}">
                <a16:creationId xmlns:a16="http://schemas.microsoft.com/office/drawing/2014/main" id="{9F2B809C-FB93-4D4F-9FFE-49500B1542AE}"/>
              </a:ext>
            </a:extLst>
          </p:cNvPr>
          <p:cNvSpPr>
            <a:spLocks noGrp="1"/>
          </p:cNvSpPr>
          <p:nvPr/>
        </p:nvSpPr>
        <p:spPr>
          <a:xfrm>
            <a:off x="400050" y="3600450"/>
            <a:ext cx="5429250" cy="1695450"/>
          </a:xfrm>
          <a:prstGeom prst="roundRect">
            <a:avLst>
              <a:gd name="adj" fmla="val 6742"/>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FE50C256-4A66-48B8-99B5-6B57DC9A07DC}"/>
              </a:ext>
            </a:extLst>
          </p:cNvPr>
          <p:cNvSpPr>
            <a:spLocks noGrp="1"/>
          </p:cNvSpPr>
          <p:nvPr/>
        </p:nvSpPr>
        <p:spPr>
          <a:xfrm>
            <a:off x="609600" y="3790950"/>
            <a:ext cx="619125" cy="428625"/>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03</a:t>
            </a:r>
          </a:p>
        </p:txBody>
      </p:sp>
      <p:sp>
        <p:nvSpPr>
          <p:cNvPr id="16" name="Rectangle 15">
            <a:extLst>
              <a:ext uri="{FF2B5EF4-FFF2-40B4-BE49-F238E27FC236}">
                <a16:creationId xmlns:a16="http://schemas.microsoft.com/office/drawing/2014/main" id="{E90D526A-940C-4C54-9780-0D90809C4992}"/>
              </a:ext>
            </a:extLst>
          </p:cNvPr>
          <p:cNvSpPr>
            <a:spLocks noGrp="1"/>
          </p:cNvSpPr>
          <p:nvPr/>
        </p:nvSpPr>
        <p:spPr>
          <a:xfrm>
            <a:off x="1400175" y="3838575"/>
            <a:ext cx="4000500" cy="238125"/>
          </a:xfrm>
          <a:prstGeom prst="rect">
            <a:avLst/>
          </a:prstGeom>
          <a:noFill/>
          <a:ln w="0">
            <a:noFill/>
            <a:prstDash val="solid"/>
          </a:ln>
        </p:spPr>
        <p:txBody>
          <a:bodyPr lIns="0" tIns="0" rIns="0" bIns="0" anchor="t">
            <a:normAutofit/>
          </a:bodyPr>
          <a:lstStyle/>
          <a:p>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EVIDENCE LOGIC</a:t>
            </a:r>
          </a:p>
        </p:txBody>
      </p:sp>
      <p:sp>
        <p:nvSpPr>
          <p:cNvPr id="17" name="Rectangle 16">
            <a:extLst>
              <a:ext uri="{FF2B5EF4-FFF2-40B4-BE49-F238E27FC236}">
                <a16:creationId xmlns:a16="http://schemas.microsoft.com/office/drawing/2014/main" id="{291CDA77-2E88-441F-BA17-CC9E0928D68B}"/>
              </a:ext>
            </a:extLst>
          </p:cNvPr>
          <p:cNvSpPr>
            <a:spLocks noGrp="1"/>
          </p:cNvSpPr>
          <p:nvPr/>
        </p:nvSpPr>
        <p:spPr>
          <a:xfrm>
            <a:off x="1400175" y="4267200"/>
            <a:ext cx="4000500" cy="742950"/>
          </a:xfrm>
          <a:prstGeom prst="rect">
            <a:avLst/>
          </a:prstGeom>
          <a:noFill/>
          <a:ln w="0">
            <a:noFill/>
            <a:prstDash val="solid"/>
          </a:ln>
        </p:spPr>
        <p:txBody>
          <a:bodyPr lIns="0" tIns="0" rIns="0" bIns="0" anchor="t">
            <a:normAutofit/>
          </a:bodyPr>
          <a:lstStyle/>
          <a:p>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Locked tests, adverse controls and explicit claim-decision gates</a:t>
            </a:r>
          </a:p>
        </p:txBody>
      </p:sp>
      <p:sp>
        <p:nvSpPr>
          <p:cNvPr id="18" name="Rectangle: Rounded Corners 17">
            <a:extLst>
              <a:ext uri="{FF2B5EF4-FFF2-40B4-BE49-F238E27FC236}">
                <a16:creationId xmlns:a16="http://schemas.microsoft.com/office/drawing/2014/main" id="{B587DF8C-99C2-4BF9-BAEB-20FD249ED2FA}"/>
              </a:ext>
            </a:extLst>
          </p:cNvPr>
          <p:cNvSpPr>
            <a:spLocks noGrp="1"/>
          </p:cNvSpPr>
          <p:nvPr/>
        </p:nvSpPr>
        <p:spPr>
          <a:xfrm>
            <a:off x="6191250" y="3600450"/>
            <a:ext cx="5429250" cy="1695450"/>
          </a:xfrm>
          <a:prstGeom prst="roundRect">
            <a:avLst>
              <a:gd name="adj" fmla="val 6742"/>
            </a:avLst>
          </a:prstGeom>
          <a:solidFill>
            <a:srgbClr val="E7F7F3"/>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045ADDEB-D5CB-4BD6-B913-3C1D5513F8D9}"/>
              </a:ext>
            </a:extLst>
          </p:cNvPr>
          <p:cNvSpPr>
            <a:spLocks noGrp="1"/>
          </p:cNvSpPr>
          <p:nvPr/>
        </p:nvSpPr>
        <p:spPr>
          <a:xfrm>
            <a:off x="6400800" y="3790950"/>
            <a:ext cx="619125" cy="428625"/>
          </a:xfrm>
          <a:prstGeom prst="rect">
            <a:avLst/>
          </a:prstGeom>
          <a:noFill/>
          <a:ln w="0">
            <a:noFill/>
            <a:prstDash val="solid"/>
          </a:ln>
        </p:spPr>
        <p:txBody>
          <a:bodyPr lIns="0" tIns="0" rIns="0" bIns="0" anchor="t">
            <a:normAutofit/>
          </a:bodyPr>
          <a:lstStyle/>
          <a:p>
            <a:pPr algn="l">
              <a:defRPr sz="2400" b="1">
                <a:solidFill>
                  <a:srgbClr val="149A84"/>
                </a:solidFill>
                <a:latin typeface="Helvetica Neue"/>
                <a:ea typeface="Helvetica Neue"/>
                <a:cs typeface="Helvetica Neue"/>
              </a:defRPr>
            </a:pPr>
            <a:r>
              <a:rPr sz="2400" b="1">
                <a:solidFill>
                  <a:srgbClr val="149A84"/>
                </a:solidFill>
                <a:latin typeface="Helvetica Neue"/>
                <a:ea typeface="Helvetica Neue"/>
                <a:cs typeface="Helvetica Neue"/>
              </a:rPr>
              <a:t>04</a:t>
            </a:r>
          </a:p>
        </p:txBody>
      </p:sp>
      <p:sp>
        <p:nvSpPr>
          <p:cNvPr id="20" name="Rectangle 19">
            <a:extLst>
              <a:ext uri="{FF2B5EF4-FFF2-40B4-BE49-F238E27FC236}">
                <a16:creationId xmlns:a16="http://schemas.microsoft.com/office/drawing/2014/main" id="{6E8F4B02-AAFE-4B3A-90BD-5472F61BE301}"/>
              </a:ext>
            </a:extLst>
          </p:cNvPr>
          <p:cNvSpPr>
            <a:spLocks noGrp="1"/>
          </p:cNvSpPr>
          <p:nvPr/>
        </p:nvSpPr>
        <p:spPr>
          <a:xfrm>
            <a:off x="7191375" y="3838575"/>
            <a:ext cx="4000500" cy="238125"/>
          </a:xfrm>
          <a:prstGeom prst="rect">
            <a:avLst/>
          </a:prstGeom>
          <a:noFill/>
          <a:ln w="0">
            <a:noFill/>
            <a:prstDash val="solid"/>
          </a:ln>
        </p:spPr>
        <p:txBody>
          <a:bodyPr lIns="0" tIns="0" rIns="0" bIns="0" anchor="t">
            <a:normAutofit/>
          </a:bodyPr>
          <a:lstStyle/>
          <a:p>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FIELD DESIGN</a:t>
            </a:r>
          </a:p>
        </p:txBody>
      </p:sp>
      <p:sp>
        <p:nvSpPr>
          <p:cNvPr id="21" name="Rectangle 20">
            <a:extLst>
              <a:ext uri="{FF2B5EF4-FFF2-40B4-BE49-F238E27FC236}">
                <a16:creationId xmlns:a16="http://schemas.microsoft.com/office/drawing/2014/main" id="{2D531260-EDF9-4633-8A2A-1C61A7BAE9B7}"/>
              </a:ext>
            </a:extLst>
          </p:cNvPr>
          <p:cNvSpPr>
            <a:spLocks noGrp="1"/>
          </p:cNvSpPr>
          <p:nvPr/>
        </p:nvSpPr>
        <p:spPr>
          <a:xfrm>
            <a:off x="7191375" y="4267200"/>
            <a:ext cx="4000500" cy="742950"/>
          </a:xfrm>
          <a:prstGeom prst="rect">
            <a:avLst/>
          </a:prstGeom>
          <a:noFill/>
          <a:ln w="0">
            <a:noFill/>
            <a:prstDash val="solid"/>
          </a:ln>
        </p:spPr>
        <p:txBody>
          <a:bodyPr lIns="0" tIns="0" rIns="0" bIns="0" anchor="t">
            <a:normAutofit lnSpcReduction="10000"/>
          </a:bodyPr>
          <a:lstStyle/>
          <a:p>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Evidence-ceiling and measurement-value diagnosis for data-limited aquifers</a:t>
            </a:r>
          </a:p>
        </p:txBody>
      </p:sp>
    </p:spTree>
    <p:extLst>
      <p:ext uri="{BB962C8B-B14F-4D97-AF65-F5344CB8AC3E}">
        <p14:creationId xmlns:p14="http://schemas.microsoft.com/office/powerpoint/2010/main" val="87859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EEF253E-EAC3-4A51-8105-EF45966A3DAD}"/>
              </a:ext>
            </a:extLst>
          </p:cNvPr>
          <p:cNvSpPr>
            <a:spLocks noGrp="1"/>
          </p:cNvSpPr>
          <p:nvPr/>
        </p:nvSpPr>
        <p:spPr>
          <a:xfrm>
            <a:off x="400050" y="361950"/>
            <a:ext cx="5715000" cy="228600"/>
          </a:xfrm>
          <a:prstGeom prst="rect">
            <a:avLst/>
          </a:prstGeom>
          <a:noFill/>
          <a:ln w="0">
            <a:noFill/>
            <a:prstDash val="solid"/>
          </a:ln>
        </p:spPr>
        <p:txBody>
          <a:bodyPr lIns="0" tIns="0" rIns="0" bIns="0" anchor="t">
            <a:normAutofit/>
          </a:bodyPr>
          <a:lstStyle/>
          <a:p>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CONCLUSION</a:t>
            </a:r>
          </a:p>
        </p:txBody>
      </p:sp>
      <p:sp>
        <p:nvSpPr>
          <p:cNvPr id="2" name="Rectangle 1">
            <a:extLst>
              <a:ext uri="{FF2B5EF4-FFF2-40B4-BE49-F238E27FC236}">
                <a16:creationId xmlns:a16="http://schemas.microsoft.com/office/drawing/2014/main" id="{5529F434-AA7D-4B27-9184-449504945F1E}"/>
              </a:ext>
            </a:extLst>
          </p:cNvPr>
          <p:cNvSpPr>
            <a:spLocks noGrp="1"/>
          </p:cNvSpPr>
          <p:nvPr/>
        </p:nvSpPr>
        <p:spPr>
          <a:xfrm>
            <a:off x="400050" y="1352550"/>
            <a:ext cx="10572750" cy="704850"/>
          </a:xfrm>
          <a:prstGeom prst="rect">
            <a:avLst/>
          </a:prstGeom>
          <a:noFill/>
          <a:ln w="0">
            <a:noFill/>
            <a:prstDash val="solid"/>
          </a:ln>
        </p:spPr>
        <p:txBody>
          <a:bodyPr lIns="0" tIns="0" rIns="0" bIns="0" anchor="t">
            <a:normAutofit fontScale="92500"/>
          </a:bodyPr>
          <a:lstStyle/>
          <a:p>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HydroSheaf does not promise one correct aquifer story.</a:t>
            </a:r>
          </a:p>
        </p:txBody>
      </p:sp>
      <p:sp>
        <p:nvSpPr>
          <p:cNvPr id="3" name="Rectangle 2">
            <a:extLst>
              <a:ext uri="{FF2B5EF4-FFF2-40B4-BE49-F238E27FC236}">
                <a16:creationId xmlns:a16="http://schemas.microsoft.com/office/drawing/2014/main" id="{58AC3FD3-64C4-4711-B903-90411E829303}"/>
              </a:ext>
            </a:extLst>
          </p:cNvPr>
          <p:cNvSpPr>
            <a:spLocks noGrp="1"/>
          </p:cNvSpPr>
          <p:nvPr/>
        </p:nvSpPr>
        <p:spPr>
          <a:xfrm>
            <a:off x="400050" y="2362200"/>
            <a:ext cx="10287000" cy="1504950"/>
          </a:xfrm>
          <a:prstGeom prst="rect">
            <a:avLst/>
          </a:prstGeom>
          <a:noFill/>
          <a:ln w="0">
            <a:noFill/>
            <a:prstDash val="solid"/>
          </a:ln>
        </p:spPr>
        <p:txBody>
          <a:bodyPr lIns="0" tIns="0" rIns="0" bIns="0" anchor="t">
            <a:normAutofit/>
          </a:bodyPr>
          <a:lstStyle/>
          <a:p>
            <a:pPr algn="l">
              <a:defRPr sz="2550" b="1">
                <a:solidFill>
                  <a:srgbClr val="6DCBF4"/>
                </a:solidFill>
                <a:latin typeface="Helvetica Neue"/>
                <a:ea typeface="Helvetica Neue"/>
                <a:cs typeface="Helvetica Neue"/>
              </a:defRPr>
            </a:pPr>
            <a:r>
              <a:rPr sz="2550" b="1">
                <a:solidFill>
                  <a:srgbClr val="6DCBF4"/>
                </a:solidFill>
                <a:latin typeface="Helvetica Neue"/>
                <a:ea typeface="Helvetica Neue"/>
                <a:cs typeface="Helvetica Neue"/>
              </a:rPr>
              <a:t>It tests whether cross-domain relations compose globally, measures when evidence adds information, and exposes when apparently precise integration becomes confidently wrong.</a:t>
            </a:r>
          </a:p>
        </p:txBody>
      </p:sp>
      <p:sp>
        <p:nvSpPr>
          <p:cNvPr id="4" name="Rectangle: Rounded Corners 3">
            <a:extLst>
              <a:ext uri="{FF2B5EF4-FFF2-40B4-BE49-F238E27FC236}">
                <a16:creationId xmlns:a16="http://schemas.microsoft.com/office/drawing/2014/main" id="{095A7C98-5C2E-4E67-8AA7-F7FFB9F1E9CA}"/>
              </a:ext>
            </a:extLst>
          </p:cNvPr>
          <p:cNvSpPr>
            <a:spLocks noGrp="1"/>
          </p:cNvSpPr>
          <p:nvPr/>
        </p:nvSpPr>
        <p:spPr>
          <a:xfrm>
            <a:off x="400050" y="4667250"/>
            <a:ext cx="11391900" cy="1066800"/>
          </a:xfrm>
          <a:prstGeom prst="roundRect">
            <a:avLst>
              <a:gd name="adj" fmla="val 10714"/>
            </a:avLst>
          </a:prstGeom>
          <a:solidFill>
            <a:srgbClr val="153A63"/>
          </a:solidFill>
          <a:ln w="0">
            <a:noFill/>
            <a:prstDash val="solid"/>
          </a:ln>
        </p:spPr>
        <p:txBody>
          <a:bodyPr/>
          <a:lstStyle/>
          <a:p>
            <a:endParaRPr lang="en-US"/>
          </a:p>
        </p:txBody>
      </p:sp>
      <p:sp>
        <p:nvSpPr>
          <p:cNvPr id="5" name="Rectangle 4">
            <a:extLst>
              <a:ext uri="{FF2B5EF4-FFF2-40B4-BE49-F238E27FC236}">
                <a16:creationId xmlns:a16="http://schemas.microsoft.com/office/drawing/2014/main" id="{56DBA2F7-EFAB-4EA8-A853-4D3DF42B5C5E}"/>
              </a:ext>
            </a:extLst>
          </p:cNvPr>
          <p:cNvSpPr>
            <a:spLocks noGrp="1"/>
          </p:cNvSpPr>
          <p:nvPr/>
        </p:nvSpPr>
        <p:spPr>
          <a:xfrm>
            <a:off x="666750" y="4876800"/>
            <a:ext cx="2286000" cy="209550"/>
          </a:xfrm>
          <a:prstGeom prst="rect">
            <a:avLst/>
          </a:prstGeom>
          <a:noFill/>
          <a:ln w="0">
            <a:noFill/>
            <a:prstDash val="solid"/>
          </a:ln>
        </p:spPr>
        <p:txBody>
          <a:bodyPr lIns="0" tIns="0" rIns="0" bIns="0" anchor="t">
            <a:normAutofit/>
          </a:bodyPr>
          <a:lstStyle/>
          <a:p>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THESIS POSITION</a:t>
            </a:r>
          </a:p>
        </p:txBody>
      </p:sp>
      <p:sp>
        <p:nvSpPr>
          <p:cNvPr id="6" name="Rectangle 5">
            <a:extLst>
              <a:ext uri="{FF2B5EF4-FFF2-40B4-BE49-F238E27FC236}">
                <a16:creationId xmlns:a16="http://schemas.microsoft.com/office/drawing/2014/main" id="{1967E2FC-2652-4D4B-9B14-BD40DC04EF19}"/>
              </a:ext>
            </a:extLst>
          </p:cNvPr>
          <p:cNvSpPr>
            <a:spLocks noGrp="1"/>
          </p:cNvSpPr>
          <p:nvPr/>
        </p:nvSpPr>
        <p:spPr>
          <a:xfrm>
            <a:off x="3190875" y="4876800"/>
            <a:ext cx="8096250" cy="552450"/>
          </a:xfrm>
          <a:prstGeom prst="rect">
            <a:avLst/>
          </a:prstGeom>
          <a:noFill/>
          <a:ln w="0">
            <a:noFill/>
            <a:prstDash val="solid"/>
          </a:ln>
        </p:spPr>
        <p:txBody>
          <a:bodyPr lIns="0" tIns="0" rIns="0" bIns="0" anchor="t">
            <a:normAutofit/>
          </a:bodyPr>
          <a:lstStyle/>
          <a:p>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contribution is conditional integration, identifiability diagnosis and conflict localisation—not universal predictive superiority.</a:t>
            </a:r>
          </a:p>
        </p:txBody>
      </p:sp>
    </p:spTree>
    <p:extLst>
      <p:ext uri="{BB962C8B-B14F-4D97-AF65-F5344CB8AC3E}">
        <p14:creationId xmlns:p14="http://schemas.microsoft.com/office/powerpoint/2010/main" val="374749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FFFDD81-2969-4D44-A455-72D83D47C2C1}"/>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RECOMMENDATIONS</a:t>
            </a:r>
          </a:p>
        </p:txBody>
      </p:sp>
      <p:sp>
        <p:nvSpPr>
          <p:cNvPr id="2" name="Rectangle 1">
            <a:extLst>
              <a:ext uri="{FF2B5EF4-FFF2-40B4-BE49-F238E27FC236}">
                <a16:creationId xmlns:a16="http://schemas.microsoft.com/office/drawing/2014/main" id="{B9EDB407-AF3F-4A6E-B128-4D7FAFB3FC65}"/>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Recommendations: the next tests should target missing information</a:t>
            </a:r>
          </a:p>
        </p:txBody>
      </p:sp>
      <p:sp>
        <p:nvSpPr>
          <p:cNvPr id="3" name="Rectangle 2">
            <a:extLst>
              <a:ext uri="{FF2B5EF4-FFF2-40B4-BE49-F238E27FC236}">
                <a16:creationId xmlns:a16="http://schemas.microsoft.com/office/drawing/2014/main" id="{5D0AFD64-C47C-4A01-8CD6-0C908D329FF3}"/>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77343C4F-D69D-4156-B850-EBABB1BFB3C3}"/>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Conclusion and recommendations</a:t>
            </a:r>
          </a:p>
        </p:txBody>
      </p:sp>
      <p:sp>
        <p:nvSpPr>
          <p:cNvPr id="5" name="Rectangle 4">
            <a:extLst>
              <a:ext uri="{FF2B5EF4-FFF2-40B4-BE49-F238E27FC236}">
                <a16:creationId xmlns:a16="http://schemas.microsoft.com/office/drawing/2014/main" id="{6EFB553F-F957-42DD-8A6C-44AE7E2D6D85}"/>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29</a:t>
            </a:r>
          </a:p>
        </p:txBody>
      </p:sp>
      <p:sp>
        <p:nvSpPr>
          <p:cNvPr id="6" name="Rectangle: Rounded Corners 5">
            <a:extLst>
              <a:ext uri="{FF2B5EF4-FFF2-40B4-BE49-F238E27FC236}">
                <a16:creationId xmlns:a16="http://schemas.microsoft.com/office/drawing/2014/main" id="{8697DB4B-1D30-4F1E-8793-A8077B788FF3}"/>
              </a:ext>
            </a:extLst>
          </p:cNvPr>
          <p:cNvSpPr>
            <a:spLocks noGrp="1"/>
          </p:cNvSpPr>
          <p:nvPr/>
        </p:nvSpPr>
        <p:spPr>
          <a:xfrm>
            <a:off x="400050" y="1466850"/>
            <a:ext cx="11391900" cy="838200"/>
          </a:xfrm>
          <a:prstGeom prst="roundRect">
            <a:avLst>
              <a:gd name="adj" fmla="val 13636"/>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1EC566E4-336C-4DAC-A77B-A270FF0BF25A}"/>
              </a:ext>
            </a:extLst>
          </p:cNvPr>
          <p:cNvSpPr>
            <a:spLocks noGrp="1"/>
          </p:cNvSpPr>
          <p:nvPr/>
        </p:nvSpPr>
        <p:spPr>
          <a:xfrm>
            <a:off x="609600" y="1676400"/>
            <a:ext cx="523875" cy="361950"/>
          </a:xfrm>
          <a:prstGeom prst="rect">
            <a:avLst/>
          </a:prstGeom>
          <a:noFill/>
          <a:ln w="0">
            <a:noFill/>
            <a:prstDash val="solid"/>
          </a:ln>
        </p:spPr>
        <p:txBody>
          <a:bodyPr lIns="0" tIns="0" rIns="0" bIns="0" anchor="t">
            <a:normAutofit/>
          </a:bodyPr>
          <a:lstStyle/>
          <a:p>
            <a:pPr algn="l">
              <a:defRPr sz="2175" b="1">
                <a:solidFill>
                  <a:srgbClr val="3D8DFF"/>
                </a:solidFill>
                <a:latin typeface="Helvetica Neue"/>
                <a:ea typeface="Helvetica Neue"/>
                <a:cs typeface="Helvetica Neue"/>
              </a:defRPr>
            </a:pPr>
            <a:r>
              <a:rPr sz="2175" b="1">
                <a:solidFill>
                  <a:srgbClr val="3D8DFF"/>
                </a:solidFill>
                <a:latin typeface="Helvetica Neue"/>
                <a:ea typeface="Helvetica Neue"/>
                <a:cs typeface="Helvetica Neue"/>
              </a:rPr>
              <a:t>01</a:t>
            </a:r>
          </a:p>
        </p:txBody>
      </p:sp>
      <p:sp>
        <p:nvSpPr>
          <p:cNvPr id="8" name="Rectangle 7">
            <a:extLst>
              <a:ext uri="{FF2B5EF4-FFF2-40B4-BE49-F238E27FC236}">
                <a16:creationId xmlns:a16="http://schemas.microsoft.com/office/drawing/2014/main" id="{CF0A7535-3479-4AEC-99DA-1EC9DA16A5D3}"/>
              </a:ext>
            </a:extLst>
          </p:cNvPr>
          <p:cNvSpPr>
            <a:spLocks noGrp="1"/>
          </p:cNvSpPr>
          <p:nvPr/>
        </p:nvSpPr>
        <p:spPr>
          <a:xfrm>
            <a:off x="1381125" y="1638300"/>
            <a:ext cx="2857500" cy="228600"/>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MATCHED FIELD VALIDATION</a:t>
            </a:r>
          </a:p>
        </p:txBody>
      </p:sp>
      <p:sp>
        <p:nvSpPr>
          <p:cNvPr id="9" name="Rectangle 8">
            <a:extLst>
              <a:ext uri="{FF2B5EF4-FFF2-40B4-BE49-F238E27FC236}">
                <a16:creationId xmlns:a16="http://schemas.microsoft.com/office/drawing/2014/main" id="{B6FDBEBC-FFF6-4916-AF8D-CB07432B383F}"/>
              </a:ext>
            </a:extLst>
          </p:cNvPr>
          <p:cNvSpPr>
            <a:spLocks noGrp="1"/>
          </p:cNvSpPr>
          <p:nvPr/>
        </p:nvSpPr>
        <p:spPr>
          <a:xfrm>
            <a:off x="4476750" y="1609725"/>
            <a:ext cx="6858000" cy="45720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Acquire age tracers, repeated heads, chemistry and independently measured connectivity in the same aquifer.</a:t>
            </a:r>
          </a:p>
        </p:txBody>
      </p:sp>
      <p:sp>
        <p:nvSpPr>
          <p:cNvPr id="10" name="Rectangle: Rounded Corners 9">
            <a:extLst>
              <a:ext uri="{FF2B5EF4-FFF2-40B4-BE49-F238E27FC236}">
                <a16:creationId xmlns:a16="http://schemas.microsoft.com/office/drawing/2014/main" id="{4D7E33B1-A6DB-4C8B-A10B-59A019BA3D32}"/>
              </a:ext>
            </a:extLst>
          </p:cNvPr>
          <p:cNvSpPr>
            <a:spLocks noGrp="1"/>
          </p:cNvSpPr>
          <p:nvPr/>
        </p:nvSpPr>
        <p:spPr>
          <a:xfrm>
            <a:off x="400050" y="2514600"/>
            <a:ext cx="11391900" cy="838200"/>
          </a:xfrm>
          <a:prstGeom prst="roundRect">
            <a:avLst>
              <a:gd name="adj" fmla="val 13636"/>
            </a:avLst>
          </a:prstGeom>
          <a:solidFill>
            <a:srgbClr val="F2F3F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F9E501DA-786C-462C-B48B-04B68790B14A}"/>
              </a:ext>
            </a:extLst>
          </p:cNvPr>
          <p:cNvSpPr>
            <a:spLocks noGrp="1"/>
          </p:cNvSpPr>
          <p:nvPr/>
        </p:nvSpPr>
        <p:spPr>
          <a:xfrm>
            <a:off x="609600" y="2724150"/>
            <a:ext cx="523875" cy="361950"/>
          </a:xfrm>
          <a:prstGeom prst="rect">
            <a:avLst/>
          </a:prstGeom>
          <a:noFill/>
          <a:ln w="0">
            <a:noFill/>
            <a:prstDash val="solid"/>
          </a:ln>
        </p:spPr>
        <p:txBody>
          <a:bodyPr lIns="0" tIns="0" rIns="0" bIns="0" anchor="t">
            <a:normAutofit/>
          </a:bodyPr>
          <a:lstStyle/>
          <a:p>
            <a:pPr algn="l">
              <a:defRPr sz="2175" b="1">
                <a:solidFill>
                  <a:srgbClr val="149A84"/>
                </a:solidFill>
                <a:latin typeface="Helvetica Neue"/>
                <a:ea typeface="Helvetica Neue"/>
                <a:cs typeface="Helvetica Neue"/>
              </a:defRPr>
            </a:pPr>
            <a:r>
              <a:rPr sz="2175" b="1">
                <a:solidFill>
                  <a:srgbClr val="149A84"/>
                </a:solidFill>
                <a:latin typeface="Helvetica Neue"/>
                <a:ea typeface="Helvetica Neue"/>
                <a:cs typeface="Helvetica Neue"/>
              </a:rPr>
              <a:t>02</a:t>
            </a:r>
          </a:p>
        </p:txBody>
      </p:sp>
      <p:sp>
        <p:nvSpPr>
          <p:cNvPr id="12" name="Rectangle 11">
            <a:extLst>
              <a:ext uri="{FF2B5EF4-FFF2-40B4-BE49-F238E27FC236}">
                <a16:creationId xmlns:a16="http://schemas.microsoft.com/office/drawing/2014/main" id="{38CBCFBC-BF82-4877-911A-609365867FBE}"/>
              </a:ext>
            </a:extLst>
          </p:cNvPr>
          <p:cNvSpPr>
            <a:spLocks noGrp="1"/>
          </p:cNvSpPr>
          <p:nvPr/>
        </p:nvSpPr>
        <p:spPr>
          <a:xfrm>
            <a:off x="1381125" y="2686050"/>
            <a:ext cx="2857500" cy="228600"/>
          </a:xfrm>
          <a:prstGeom prst="rect">
            <a:avLst/>
          </a:prstGeom>
          <a:noFill/>
          <a:ln w="0">
            <a:noFill/>
            <a:prstDash val="solid"/>
          </a:ln>
        </p:spPr>
        <p:txBody>
          <a:bodyPr lIns="0" tIns="0" rIns="0" bIns="0" anchor="t">
            <a:normAutofit/>
          </a:bodyPr>
          <a:lstStyle/>
          <a:p>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INDEPENDENT REPLICATION</a:t>
            </a:r>
          </a:p>
        </p:txBody>
      </p:sp>
      <p:sp>
        <p:nvSpPr>
          <p:cNvPr id="13" name="Rectangle 12">
            <a:extLst>
              <a:ext uri="{FF2B5EF4-FFF2-40B4-BE49-F238E27FC236}">
                <a16:creationId xmlns:a16="http://schemas.microsoft.com/office/drawing/2014/main" id="{DB9C1468-B242-438B-8E70-EFE8ACC08A55}"/>
              </a:ext>
            </a:extLst>
          </p:cNvPr>
          <p:cNvSpPr>
            <a:spLocks noGrp="1"/>
          </p:cNvSpPr>
          <p:nvPr/>
        </p:nvSpPr>
        <p:spPr>
          <a:xfrm>
            <a:off x="4476750" y="2657475"/>
            <a:ext cx="6858000" cy="45720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Repeat the locked integration benchmark with a different generator family and external implementation.</a:t>
            </a:r>
          </a:p>
        </p:txBody>
      </p:sp>
      <p:sp>
        <p:nvSpPr>
          <p:cNvPr id="14" name="Rectangle: Rounded Corners 13">
            <a:extLst>
              <a:ext uri="{FF2B5EF4-FFF2-40B4-BE49-F238E27FC236}">
                <a16:creationId xmlns:a16="http://schemas.microsoft.com/office/drawing/2014/main" id="{BD56703E-C286-48E9-B5F2-044867A987EB}"/>
              </a:ext>
            </a:extLst>
          </p:cNvPr>
          <p:cNvSpPr>
            <a:spLocks noGrp="1"/>
          </p:cNvSpPr>
          <p:nvPr/>
        </p:nvSpPr>
        <p:spPr>
          <a:xfrm>
            <a:off x="400050" y="3562350"/>
            <a:ext cx="11391900" cy="838200"/>
          </a:xfrm>
          <a:prstGeom prst="roundRect">
            <a:avLst>
              <a:gd name="adj" fmla="val 13636"/>
            </a:avLst>
          </a:prstGeom>
          <a:solidFill>
            <a:srgbClr val="F2F3F5"/>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3F6B1B3-B4E1-4F37-B815-1D029BA1019F}"/>
              </a:ext>
            </a:extLst>
          </p:cNvPr>
          <p:cNvSpPr>
            <a:spLocks noGrp="1"/>
          </p:cNvSpPr>
          <p:nvPr/>
        </p:nvSpPr>
        <p:spPr>
          <a:xfrm>
            <a:off x="609600" y="3771900"/>
            <a:ext cx="523875" cy="361950"/>
          </a:xfrm>
          <a:prstGeom prst="rect">
            <a:avLst/>
          </a:prstGeom>
          <a:noFill/>
          <a:ln w="0">
            <a:noFill/>
            <a:prstDash val="solid"/>
          </a:ln>
        </p:spPr>
        <p:txBody>
          <a:bodyPr lIns="0" tIns="0" rIns="0" bIns="0" anchor="t">
            <a:normAutofit/>
          </a:bodyPr>
          <a:lstStyle/>
          <a:p>
            <a:pPr algn="l">
              <a:defRPr sz="2175" b="1">
                <a:solidFill>
                  <a:srgbClr val="D97706"/>
                </a:solidFill>
                <a:latin typeface="Helvetica Neue"/>
                <a:ea typeface="Helvetica Neue"/>
                <a:cs typeface="Helvetica Neue"/>
              </a:defRPr>
            </a:pPr>
            <a:r>
              <a:rPr sz="2175" b="1">
                <a:solidFill>
                  <a:srgbClr val="D97706"/>
                </a:solidFill>
                <a:latin typeface="Helvetica Neue"/>
                <a:ea typeface="Helvetica Neue"/>
                <a:cs typeface="Helvetica Neue"/>
              </a:rPr>
              <a:t>03</a:t>
            </a:r>
          </a:p>
        </p:txBody>
      </p:sp>
      <p:sp>
        <p:nvSpPr>
          <p:cNvPr id="16" name="Rectangle 15">
            <a:extLst>
              <a:ext uri="{FF2B5EF4-FFF2-40B4-BE49-F238E27FC236}">
                <a16:creationId xmlns:a16="http://schemas.microsoft.com/office/drawing/2014/main" id="{5606F055-0032-4D68-A0B6-F7FF9942AF1E}"/>
              </a:ext>
            </a:extLst>
          </p:cNvPr>
          <p:cNvSpPr>
            <a:spLocks noGrp="1"/>
          </p:cNvSpPr>
          <p:nvPr/>
        </p:nvSpPr>
        <p:spPr>
          <a:xfrm>
            <a:off x="1381125" y="3733800"/>
            <a:ext cx="2857500" cy="228600"/>
          </a:xfrm>
          <a:prstGeom prst="rect">
            <a:avLst/>
          </a:prstGeom>
          <a:noFill/>
          <a:ln w="0">
            <a:noFill/>
            <a:prstDash val="solid"/>
          </a:ln>
        </p:spPr>
        <p:txBody>
          <a:bodyPr lIns="0" tIns="0" rIns="0" bIns="0" anchor="t">
            <a:normAutofit/>
          </a:bodyPr>
          <a:lstStyle/>
          <a:p>
            <a:pPr algn="l">
              <a:defRPr sz="1200" b="1">
                <a:solidFill>
                  <a:srgbClr val="D97706"/>
                </a:solidFill>
                <a:latin typeface="Helvetica Neue"/>
                <a:ea typeface="Helvetica Neue"/>
                <a:cs typeface="Helvetica Neue"/>
              </a:defRPr>
            </a:pPr>
            <a:r>
              <a:rPr sz="1200" b="1">
                <a:solidFill>
                  <a:srgbClr val="D97706"/>
                </a:solidFill>
                <a:latin typeface="Helvetica Neue"/>
                <a:ea typeface="Helvetica Neue"/>
                <a:cs typeface="Helvetica Neue"/>
              </a:rPr>
              <a:t>MEASUREMENT DESIGN</a:t>
            </a:r>
          </a:p>
        </p:txBody>
      </p:sp>
      <p:sp>
        <p:nvSpPr>
          <p:cNvPr id="17" name="Rectangle 16">
            <a:extLst>
              <a:ext uri="{FF2B5EF4-FFF2-40B4-BE49-F238E27FC236}">
                <a16:creationId xmlns:a16="http://schemas.microsoft.com/office/drawing/2014/main" id="{540B105E-CF73-4D14-BAE7-63B61A163B38}"/>
              </a:ext>
            </a:extLst>
          </p:cNvPr>
          <p:cNvSpPr>
            <a:spLocks noGrp="1"/>
          </p:cNvSpPr>
          <p:nvPr/>
        </p:nvSpPr>
        <p:spPr>
          <a:xfrm>
            <a:off x="4476750" y="3705225"/>
            <a:ext cx="6858000" cy="45720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Prioritise tracers and observations that improve identifiability, not merely fit or interval width.</a:t>
            </a:r>
          </a:p>
        </p:txBody>
      </p:sp>
      <p:sp>
        <p:nvSpPr>
          <p:cNvPr id="18" name="Rectangle: Rounded Corners 17">
            <a:extLst>
              <a:ext uri="{FF2B5EF4-FFF2-40B4-BE49-F238E27FC236}">
                <a16:creationId xmlns:a16="http://schemas.microsoft.com/office/drawing/2014/main" id="{B9BBC1A7-22F3-4BA6-8CF6-BA378F4EA6E7}"/>
              </a:ext>
            </a:extLst>
          </p:cNvPr>
          <p:cNvSpPr>
            <a:spLocks noGrp="1"/>
          </p:cNvSpPr>
          <p:nvPr/>
        </p:nvSpPr>
        <p:spPr>
          <a:xfrm>
            <a:off x="400050" y="4610100"/>
            <a:ext cx="11391900" cy="838200"/>
          </a:xfrm>
          <a:prstGeom prst="roundRect">
            <a:avLst>
              <a:gd name="adj" fmla="val 13636"/>
            </a:avLst>
          </a:prstGeom>
          <a:solidFill>
            <a:srgbClr val="FDE8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CE48A2B9-A37F-4794-BE25-E0A6676D9036}"/>
              </a:ext>
            </a:extLst>
          </p:cNvPr>
          <p:cNvSpPr>
            <a:spLocks noGrp="1"/>
          </p:cNvSpPr>
          <p:nvPr/>
        </p:nvSpPr>
        <p:spPr>
          <a:xfrm>
            <a:off x="609600" y="4819650"/>
            <a:ext cx="523875" cy="361950"/>
          </a:xfrm>
          <a:prstGeom prst="rect">
            <a:avLst/>
          </a:prstGeom>
          <a:noFill/>
          <a:ln w="0">
            <a:noFill/>
            <a:prstDash val="solid"/>
          </a:ln>
        </p:spPr>
        <p:txBody>
          <a:bodyPr lIns="0" tIns="0" rIns="0" bIns="0" anchor="t">
            <a:normAutofit/>
          </a:bodyPr>
          <a:lstStyle/>
          <a:p>
            <a:pPr algn="l">
              <a:defRPr sz="2175" b="1">
                <a:solidFill>
                  <a:srgbClr val="C53030"/>
                </a:solidFill>
                <a:latin typeface="Helvetica Neue"/>
                <a:ea typeface="Helvetica Neue"/>
                <a:cs typeface="Helvetica Neue"/>
              </a:defRPr>
            </a:pPr>
            <a:r>
              <a:rPr sz="2175" b="1">
                <a:solidFill>
                  <a:srgbClr val="C53030"/>
                </a:solidFill>
                <a:latin typeface="Helvetica Neue"/>
                <a:ea typeface="Helvetica Neue"/>
                <a:cs typeface="Helvetica Neue"/>
              </a:rPr>
              <a:t>04</a:t>
            </a:r>
          </a:p>
        </p:txBody>
      </p:sp>
      <p:sp>
        <p:nvSpPr>
          <p:cNvPr id="20" name="Rectangle 19">
            <a:extLst>
              <a:ext uri="{FF2B5EF4-FFF2-40B4-BE49-F238E27FC236}">
                <a16:creationId xmlns:a16="http://schemas.microsoft.com/office/drawing/2014/main" id="{E2D04124-574C-4082-9340-1D6699FBE216}"/>
              </a:ext>
            </a:extLst>
          </p:cNvPr>
          <p:cNvSpPr>
            <a:spLocks noGrp="1"/>
          </p:cNvSpPr>
          <p:nvPr/>
        </p:nvSpPr>
        <p:spPr>
          <a:xfrm>
            <a:off x="1381125" y="4781550"/>
            <a:ext cx="2857500" cy="228600"/>
          </a:xfrm>
          <a:prstGeom prst="rect">
            <a:avLst/>
          </a:prstGeom>
          <a:noFill/>
          <a:ln w="0">
            <a:noFill/>
            <a:prstDash val="solid"/>
          </a:ln>
        </p:spPr>
        <p:txBody>
          <a:bodyPr lIns="0" tIns="0" rIns="0" bIns="0" anchor="t">
            <a:normAutofit/>
          </a:bodyPr>
          <a:lstStyle/>
          <a:p>
            <a:pPr algn="l">
              <a:defRPr sz="1200" b="1">
                <a:solidFill>
                  <a:srgbClr val="C53030"/>
                </a:solidFill>
                <a:latin typeface="Helvetica Neue"/>
                <a:ea typeface="Helvetica Neue"/>
                <a:cs typeface="Helvetica Neue"/>
              </a:defRPr>
            </a:pPr>
            <a:r>
              <a:rPr sz="1200" b="1">
                <a:solidFill>
                  <a:srgbClr val="C53030"/>
                </a:solidFill>
                <a:latin typeface="Helvetica Neue"/>
                <a:ea typeface="Helvetica Neue"/>
                <a:cs typeface="Helvetica Neue"/>
              </a:rPr>
              <a:t>CAPABILITY VALIDATION</a:t>
            </a:r>
          </a:p>
        </p:txBody>
      </p:sp>
      <p:sp>
        <p:nvSpPr>
          <p:cNvPr id="21" name="Rectangle 20">
            <a:extLst>
              <a:ext uri="{FF2B5EF4-FFF2-40B4-BE49-F238E27FC236}">
                <a16:creationId xmlns:a16="http://schemas.microsoft.com/office/drawing/2014/main" id="{E0966A13-3DD1-4D1F-849B-4B78D1523F93}"/>
              </a:ext>
            </a:extLst>
          </p:cNvPr>
          <p:cNvSpPr>
            <a:spLocks noGrp="1"/>
          </p:cNvSpPr>
          <p:nvPr/>
        </p:nvSpPr>
        <p:spPr>
          <a:xfrm>
            <a:off x="4476750" y="4752975"/>
            <a:ext cx="6858000" cy="457200"/>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Evaluate active learning prospectively; treat temporal, 3-D and vadose capabilities as future work until data exist.</a:t>
            </a:r>
          </a:p>
        </p:txBody>
      </p:sp>
      <p:sp>
        <p:nvSpPr>
          <p:cNvPr id="22" name="Rectangle 21">
            <a:extLst>
              <a:ext uri="{FF2B5EF4-FFF2-40B4-BE49-F238E27FC236}">
                <a16:creationId xmlns:a16="http://schemas.microsoft.com/office/drawing/2014/main" id="{2B3A28DC-99FC-4481-9E5F-45A11A4D2E6E}"/>
              </a:ext>
            </a:extLst>
          </p:cNvPr>
          <p:cNvSpPr>
            <a:spLocks noGrp="1"/>
          </p:cNvSpPr>
          <p:nvPr/>
        </p:nvSpPr>
        <p:spPr>
          <a:xfrm>
            <a:off x="1809750" y="5886450"/>
            <a:ext cx="8572500" cy="266700"/>
          </a:xfrm>
          <a:prstGeom prst="rect">
            <a:avLst/>
          </a:prstGeom>
          <a:noFill/>
          <a:ln w="0">
            <a:noFill/>
            <a:prstDash val="solid"/>
          </a:ln>
        </p:spPr>
        <p:txBody>
          <a:bodyPr lIns="0" tIns="0" rIns="0" bIns="0" anchor="t">
            <a:normAutofit/>
          </a:bodyPr>
          <a:lstStyle/>
          <a:p>
            <a:pPr algn="ctr">
              <a:defRPr sz="1650" b="1">
                <a:solidFill>
                  <a:srgbClr val="153A63"/>
                </a:solidFill>
                <a:latin typeface="Helvetica Neue"/>
                <a:ea typeface="Helvetica Neue"/>
                <a:cs typeface="Helvetica Neue"/>
              </a:defRPr>
            </a:pPr>
            <a:r>
              <a:rPr sz="1650" b="1">
                <a:solidFill>
                  <a:srgbClr val="153A63"/>
                </a:solidFill>
                <a:latin typeface="Helvetica Neue"/>
                <a:ea typeface="Helvetica Neue"/>
                <a:cs typeface="Helvetica Neue"/>
              </a:rPr>
              <a:t>Priority: independent matched truth before expanding the headline claim.</a:t>
            </a:r>
          </a:p>
        </p:txBody>
      </p:sp>
    </p:spTree>
    <p:extLst>
      <p:ext uri="{BB962C8B-B14F-4D97-AF65-F5344CB8AC3E}">
        <p14:creationId xmlns:p14="http://schemas.microsoft.com/office/powerpoint/2010/main" val="216276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42A08F-4D6D-4795-A050-A425DE687289}"/>
              </a:ext>
            </a:extLst>
          </p:cNvPr>
          <p:cNvSpPr>
            <a:spLocks noGrp="1"/>
          </p:cNvSpPr>
          <p:nvPr/>
        </p:nvSpPr>
        <p:spPr>
          <a:xfrm>
            <a:off x="400050" y="2000250"/>
            <a:ext cx="11391900" cy="857250"/>
          </a:xfrm>
          <a:prstGeom prst="rect">
            <a:avLst/>
          </a:prstGeom>
          <a:noFill/>
          <a:ln w="0">
            <a:noFill/>
            <a:prstDash val="solid"/>
          </a:ln>
        </p:spPr>
        <p:txBody>
          <a:bodyPr lIns="0" tIns="0" rIns="0" bIns="0" anchor="t">
            <a:normAutofit/>
          </a:bodyPr>
          <a:lstStyle/>
          <a:p>
            <a:pPr algn="ctr">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Thank you</a:t>
            </a:r>
          </a:p>
        </p:txBody>
      </p:sp>
      <p:sp>
        <p:nvSpPr>
          <p:cNvPr id="2" name="Rectangle 1">
            <a:extLst>
              <a:ext uri="{FF2B5EF4-FFF2-40B4-BE49-F238E27FC236}">
                <a16:creationId xmlns:a16="http://schemas.microsoft.com/office/drawing/2014/main" id="{835340D5-3F4C-4688-997C-D31D51D658AA}"/>
              </a:ext>
            </a:extLst>
          </p:cNvPr>
          <p:cNvSpPr>
            <a:spLocks noGrp="1"/>
          </p:cNvSpPr>
          <p:nvPr/>
        </p:nvSpPr>
        <p:spPr>
          <a:xfrm>
            <a:off x="400050" y="3067050"/>
            <a:ext cx="11391900" cy="438150"/>
          </a:xfrm>
          <a:prstGeom prst="rect">
            <a:avLst/>
          </a:prstGeom>
          <a:noFill/>
          <a:ln w="0">
            <a:noFill/>
            <a:prstDash val="solid"/>
          </a:ln>
        </p:spPr>
        <p:txBody>
          <a:bodyPr lIns="0" tIns="0" rIns="0" bIns="0" anchor="t">
            <a:normAutofit/>
          </a:bodyPr>
          <a:lstStyle/>
          <a:p>
            <a:pPr algn="ctr">
              <a:defRPr sz="2250" b="1">
                <a:solidFill>
                  <a:srgbClr val="6DCBF4"/>
                </a:solidFill>
                <a:latin typeface="Helvetica Neue"/>
                <a:ea typeface="Helvetica Neue"/>
                <a:cs typeface="Helvetica Neue"/>
              </a:defRPr>
            </a:pPr>
            <a:r>
              <a:rPr sz="2250" b="1">
                <a:solidFill>
                  <a:srgbClr val="6DCBF4"/>
                </a:solidFill>
                <a:latin typeface="Helvetica Neue"/>
                <a:ea typeface="Helvetica Neue"/>
                <a:cs typeface="Helvetica Neue"/>
              </a:rPr>
              <a:t>Questions and discussion</a:t>
            </a:r>
          </a:p>
        </p:txBody>
      </p:sp>
      <p:sp>
        <p:nvSpPr>
          <p:cNvPr id="3" name="Rectangle 2">
            <a:extLst>
              <a:ext uri="{FF2B5EF4-FFF2-40B4-BE49-F238E27FC236}">
                <a16:creationId xmlns:a16="http://schemas.microsoft.com/office/drawing/2014/main" id="{6B631038-CB75-4E75-9E1A-E40D438AFB8E}"/>
              </a:ext>
            </a:extLst>
          </p:cNvPr>
          <p:cNvSpPr>
            <a:spLocks noGrp="1"/>
          </p:cNvSpPr>
          <p:nvPr/>
        </p:nvSpPr>
        <p:spPr>
          <a:xfrm>
            <a:off x="1619250" y="4333875"/>
            <a:ext cx="8953500" cy="342900"/>
          </a:xfrm>
          <a:prstGeom prst="rect">
            <a:avLst/>
          </a:prstGeom>
          <a:noFill/>
          <a:ln w="0">
            <a:noFill/>
            <a:prstDash val="solid"/>
          </a:ln>
        </p:spPr>
        <p:txBody>
          <a:bodyPr lIns="0" tIns="0" rIns="0" bIns="0" anchor="t">
            <a:normAutofit/>
          </a:bodyPr>
          <a:lstStyle/>
          <a:p>
            <a:pPr algn="ct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HydroSheaf: test integration · preserve uncertainty · expose non-identifiability</a:t>
            </a:r>
          </a:p>
        </p:txBody>
      </p:sp>
    </p:spTree>
    <p:extLst>
      <p:ext uri="{BB962C8B-B14F-4D97-AF65-F5344CB8AC3E}">
        <p14:creationId xmlns:p14="http://schemas.microsoft.com/office/powerpoint/2010/main" val="1773536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53A160D-C407-477C-92FE-2132EEFB456B}"/>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SHEAF VERSUS GRAPH</a:t>
            </a:r>
          </a:p>
        </p:txBody>
      </p:sp>
      <p:sp>
        <p:nvSpPr>
          <p:cNvPr id="2" name="Rectangle 1">
            <a:extLst>
              <a:ext uri="{FF2B5EF4-FFF2-40B4-BE49-F238E27FC236}">
                <a16:creationId xmlns:a16="http://schemas.microsoft.com/office/drawing/2014/main" id="{302817B7-9070-40B2-9A30-CD7CED4B0AC7}"/>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What exactly does the sheaf add?</a:t>
            </a:r>
          </a:p>
        </p:txBody>
      </p:sp>
      <p:sp>
        <p:nvSpPr>
          <p:cNvPr id="3" name="Rectangle 2">
            <a:extLst>
              <a:ext uri="{FF2B5EF4-FFF2-40B4-BE49-F238E27FC236}">
                <a16:creationId xmlns:a16="http://schemas.microsoft.com/office/drawing/2014/main" id="{7503C547-D1F4-4759-9062-0CBC928F1925}"/>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389ED2FC-12FB-4B06-B6C3-3D54ACE981E7}"/>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31CD9679-1ABD-478E-B824-864E971444B9}"/>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31</a:t>
            </a:r>
          </a:p>
        </p:txBody>
      </p:sp>
      <p:sp>
        <p:nvSpPr>
          <p:cNvPr id="6" name="Rectangle: Rounded Corners 5">
            <a:extLst>
              <a:ext uri="{FF2B5EF4-FFF2-40B4-BE49-F238E27FC236}">
                <a16:creationId xmlns:a16="http://schemas.microsoft.com/office/drawing/2014/main" id="{F0B6DE59-AE55-4A80-8495-771F585D38B6}"/>
              </a:ext>
            </a:extLst>
          </p:cNvPr>
          <p:cNvSpPr>
            <a:spLocks noGrp="1"/>
          </p:cNvSpPr>
          <p:nvPr/>
        </p:nvSpPr>
        <p:spPr>
          <a:xfrm>
            <a:off x="400050" y="1619250"/>
            <a:ext cx="3543300" cy="3067050"/>
          </a:xfrm>
          <a:prstGeom prst="roundRect">
            <a:avLst>
              <a:gd name="adj" fmla="val 3727"/>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0FE6ABC5-FC04-485E-825C-DBEF95F7A9AE}"/>
              </a:ext>
            </a:extLst>
          </p:cNvPr>
          <p:cNvSpPr>
            <a:spLocks noGrp="1"/>
          </p:cNvSpPr>
          <p:nvPr/>
        </p:nvSpPr>
        <p:spPr>
          <a:xfrm>
            <a:off x="609600" y="1847850"/>
            <a:ext cx="3124200" cy="266700"/>
          </a:xfrm>
          <a:prstGeom prst="rect">
            <a:avLst/>
          </a:prstGeom>
          <a:noFill/>
          <a:ln w="0">
            <a:noFill/>
            <a:prstDash val="solid"/>
          </a:ln>
        </p:spPr>
        <p:txBody>
          <a:bodyPr lIns="0" tIns="0" rIns="0" bIns="0" anchor="t">
            <a:normAutofit/>
          </a:bodyPr>
          <a:lstStyle/>
          <a:p>
            <a:pPr algn="ctr">
              <a:defRPr sz="1500" b="1">
                <a:solidFill>
                  <a:srgbClr val="5D6470"/>
                </a:solidFill>
                <a:latin typeface="Helvetica Neue"/>
                <a:ea typeface="Helvetica Neue"/>
                <a:cs typeface="Helvetica Neue"/>
              </a:defRPr>
            </a:pPr>
            <a:r>
              <a:rPr sz="1500" b="1">
                <a:solidFill>
                  <a:srgbClr val="5D6470"/>
                </a:solidFill>
                <a:latin typeface="Helvetica Neue"/>
                <a:ea typeface="Helvetica Neue"/>
                <a:cs typeface="Helvetica Neue"/>
              </a:rPr>
              <a:t>IDENTITY GRAPH</a:t>
            </a:r>
          </a:p>
        </p:txBody>
      </p:sp>
      <p:sp>
        <p:nvSpPr>
          <p:cNvPr id="8" name="Rectangle 7">
            <a:extLst>
              <a:ext uri="{FF2B5EF4-FFF2-40B4-BE49-F238E27FC236}">
                <a16:creationId xmlns:a16="http://schemas.microsoft.com/office/drawing/2014/main" id="{F410D85C-67A6-43C4-BE15-8AC555A3EE86}"/>
              </a:ext>
            </a:extLst>
          </p:cNvPr>
          <p:cNvSpPr>
            <a:spLocks noGrp="1"/>
          </p:cNvSpPr>
          <p:nvPr/>
        </p:nvSpPr>
        <p:spPr>
          <a:xfrm>
            <a:off x="685800" y="2476500"/>
            <a:ext cx="2971800" cy="342900"/>
          </a:xfrm>
          <a:prstGeom prst="rect">
            <a:avLst/>
          </a:prstGeom>
          <a:noFill/>
          <a:ln w="0">
            <a:noFill/>
            <a:prstDash val="solid"/>
          </a:ln>
        </p:spPr>
        <p:txBody>
          <a:bodyPr lIns="0" tIns="0" rIns="0" bIns="0" anchor="t">
            <a:normAutofit/>
          </a:bodyPr>
          <a:lstStyle/>
          <a:p>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Scalar similarity</a:t>
            </a:r>
          </a:p>
        </p:txBody>
      </p:sp>
      <p:sp>
        <p:nvSpPr>
          <p:cNvPr id="9" name="Rectangle 8">
            <a:extLst>
              <a:ext uri="{FF2B5EF4-FFF2-40B4-BE49-F238E27FC236}">
                <a16:creationId xmlns:a16="http://schemas.microsoft.com/office/drawing/2014/main" id="{CB2D2BB4-5F50-4D5C-B94D-587CC38D536B}"/>
              </a:ext>
            </a:extLst>
          </p:cNvPr>
          <p:cNvSpPr>
            <a:spLocks noGrp="1"/>
          </p:cNvSpPr>
          <p:nvPr/>
        </p:nvSpPr>
        <p:spPr>
          <a:xfrm>
            <a:off x="685800" y="3143250"/>
            <a:ext cx="2971800" cy="400050"/>
          </a:xfrm>
          <a:prstGeom prst="rect">
            <a:avLst/>
          </a:prstGeom>
          <a:noFill/>
          <a:ln w="0">
            <a:noFill/>
            <a:prstDash val="solid"/>
          </a:ln>
        </p:spPr>
        <p:txBody>
          <a:bodyPr lIns="0" tIns="0" rIns="0" bIns="0" anchor="t">
            <a:normAutofit/>
          </a:bodyPr>
          <a:lstStyle/>
          <a:p>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One shared coordinate system</a:t>
            </a:r>
          </a:p>
        </p:txBody>
      </p:sp>
      <p:sp>
        <p:nvSpPr>
          <p:cNvPr id="10" name="Rectangle 9">
            <a:extLst>
              <a:ext uri="{FF2B5EF4-FFF2-40B4-BE49-F238E27FC236}">
                <a16:creationId xmlns:a16="http://schemas.microsoft.com/office/drawing/2014/main" id="{A57904DF-EBF3-435C-8795-E8372341F5CF}"/>
              </a:ext>
            </a:extLst>
          </p:cNvPr>
          <p:cNvSpPr>
            <a:spLocks noGrp="1"/>
          </p:cNvSpPr>
          <p:nvPr/>
        </p:nvSpPr>
        <p:spPr>
          <a:xfrm>
            <a:off x="685800" y="3905250"/>
            <a:ext cx="2971800" cy="419100"/>
          </a:xfrm>
          <a:prstGeom prst="rect">
            <a:avLst/>
          </a:prstGeom>
          <a:noFill/>
          <a:ln w="0">
            <a:noFill/>
            <a:prstDash val="solid"/>
          </a:ln>
        </p:spPr>
        <p:txBody>
          <a:bodyPr lIns="0" tIns="0" rIns="0" bIns="0" anchor="t">
            <a:normAutofit/>
          </a:bodyPr>
          <a:lstStyle/>
          <a:p>
            <a:pPr algn="ctr">
              <a:defRPr sz="1500" b="1">
                <a:solidFill>
                  <a:srgbClr val="5D6470"/>
                </a:solidFill>
                <a:latin typeface="Helvetica Neue"/>
                <a:ea typeface="Helvetica Neue"/>
                <a:cs typeface="Helvetica Neue"/>
              </a:defRPr>
            </a:pPr>
            <a:r>
              <a:rPr sz="1500" b="1">
                <a:solidFill>
                  <a:srgbClr val="5D6470"/>
                </a:solidFill>
                <a:latin typeface="Helvetica Neue"/>
                <a:ea typeface="Helvetica Neue"/>
                <a:cs typeface="Helvetica Neue"/>
              </a:rPr>
              <a:t>Baseline limit</a:t>
            </a:r>
          </a:p>
        </p:txBody>
      </p:sp>
      <p:sp>
        <p:nvSpPr>
          <p:cNvPr id="11" name="Rectangle: Rounded Corners 10">
            <a:extLst>
              <a:ext uri="{FF2B5EF4-FFF2-40B4-BE49-F238E27FC236}">
                <a16:creationId xmlns:a16="http://schemas.microsoft.com/office/drawing/2014/main" id="{22CF53AB-0972-4CCB-B86F-BB62A01326D3}"/>
              </a:ext>
            </a:extLst>
          </p:cNvPr>
          <p:cNvSpPr>
            <a:spLocks noGrp="1"/>
          </p:cNvSpPr>
          <p:nvPr/>
        </p:nvSpPr>
        <p:spPr>
          <a:xfrm>
            <a:off x="4257675" y="1619250"/>
            <a:ext cx="3543300" cy="3067050"/>
          </a:xfrm>
          <a:prstGeom prst="roundRect">
            <a:avLst>
              <a:gd name="adj" fmla="val 3727"/>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D5D04476-5B60-40F2-A8F7-2208933768F8}"/>
              </a:ext>
            </a:extLst>
          </p:cNvPr>
          <p:cNvSpPr>
            <a:spLocks noGrp="1"/>
          </p:cNvSpPr>
          <p:nvPr/>
        </p:nvSpPr>
        <p:spPr>
          <a:xfrm>
            <a:off x="4467225" y="1847850"/>
            <a:ext cx="3124200" cy="266700"/>
          </a:xfrm>
          <a:prstGeom prst="rect">
            <a:avLst/>
          </a:prstGeom>
          <a:noFill/>
          <a:ln w="0">
            <a:noFill/>
            <a:prstDash val="solid"/>
          </a:ln>
        </p:spPr>
        <p:txBody>
          <a:bodyPr lIns="0" tIns="0" rIns="0" bIns="0" anchor="t">
            <a:normAutofit/>
          </a:bodyPr>
          <a:lstStyle/>
          <a:p>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EDGE-LOCAL GRAPH</a:t>
            </a:r>
          </a:p>
        </p:txBody>
      </p:sp>
      <p:sp>
        <p:nvSpPr>
          <p:cNvPr id="13" name="Rectangle 12">
            <a:extLst>
              <a:ext uri="{FF2B5EF4-FFF2-40B4-BE49-F238E27FC236}">
                <a16:creationId xmlns:a16="http://schemas.microsoft.com/office/drawing/2014/main" id="{EFD08FB3-E5FE-4D75-BA6C-DD3B34162E81}"/>
              </a:ext>
            </a:extLst>
          </p:cNvPr>
          <p:cNvSpPr>
            <a:spLocks noGrp="1"/>
          </p:cNvSpPr>
          <p:nvPr/>
        </p:nvSpPr>
        <p:spPr>
          <a:xfrm>
            <a:off x="4543425" y="2476500"/>
            <a:ext cx="2971800" cy="342900"/>
          </a:xfrm>
          <a:prstGeom prst="rect">
            <a:avLst/>
          </a:prstGeom>
          <a:noFill/>
          <a:ln w="0">
            <a:noFill/>
            <a:prstDash val="solid"/>
          </a:ln>
        </p:spPr>
        <p:txBody>
          <a:bodyPr lIns="0" tIns="0" rIns="0" bIns="0" anchor="t">
            <a:normAutofit/>
          </a:bodyPr>
          <a:lstStyle/>
          <a:p>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Flexible edge score</a:t>
            </a:r>
          </a:p>
        </p:txBody>
      </p:sp>
      <p:sp>
        <p:nvSpPr>
          <p:cNvPr id="14" name="Rectangle 13">
            <a:extLst>
              <a:ext uri="{FF2B5EF4-FFF2-40B4-BE49-F238E27FC236}">
                <a16:creationId xmlns:a16="http://schemas.microsoft.com/office/drawing/2014/main" id="{6BAA1C39-3F7D-4CBD-9E1A-9186822B5253}"/>
              </a:ext>
            </a:extLst>
          </p:cNvPr>
          <p:cNvSpPr>
            <a:spLocks noGrp="1"/>
          </p:cNvSpPr>
          <p:nvPr/>
        </p:nvSpPr>
        <p:spPr>
          <a:xfrm>
            <a:off x="4543425" y="3143250"/>
            <a:ext cx="2971800" cy="400050"/>
          </a:xfrm>
          <a:prstGeom prst="rect">
            <a:avLst/>
          </a:prstGeom>
          <a:noFill/>
          <a:ln w="0">
            <a:noFill/>
            <a:prstDash val="solid"/>
          </a:ln>
        </p:spPr>
        <p:txBody>
          <a:bodyPr lIns="0" tIns="0" rIns="0" bIns="0" anchor="t">
            <a:normAutofit/>
          </a:bodyPr>
          <a:lstStyle/>
          <a:p>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Strong local comparator</a:t>
            </a:r>
          </a:p>
        </p:txBody>
      </p:sp>
      <p:sp>
        <p:nvSpPr>
          <p:cNvPr id="15" name="Rectangle 14">
            <a:extLst>
              <a:ext uri="{FF2B5EF4-FFF2-40B4-BE49-F238E27FC236}">
                <a16:creationId xmlns:a16="http://schemas.microsoft.com/office/drawing/2014/main" id="{4E45228B-B4B8-4076-B376-073F0553F2E3}"/>
              </a:ext>
            </a:extLst>
          </p:cNvPr>
          <p:cNvSpPr>
            <a:spLocks noGrp="1"/>
          </p:cNvSpPr>
          <p:nvPr/>
        </p:nvSpPr>
        <p:spPr>
          <a:xfrm>
            <a:off x="4543425" y="3905250"/>
            <a:ext cx="2971800" cy="419100"/>
          </a:xfrm>
          <a:prstGeom prst="rect">
            <a:avLst/>
          </a:prstGeom>
          <a:noFill/>
          <a:ln w="0">
            <a:noFill/>
            <a:prstDash val="solid"/>
          </a:ln>
        </p:spPr>
        <p:txBody>
          <a:bodyPr lIns="0" tIns="0" rIns="0" bIns="0" anchor="t">
            <a:normAutofit/>
          </a:bodyPr>
          <a:lstStyle/>
          <a:p>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No global map consistency</a:t>
            </a:r>
          </a:p>
        </p:txBody>
      </p:sp>
      <p:sp>
        <p:nvSpPr>
          <p:cNvPr id="16" name="Rectangle: Rounded Corners 15">
            <a:extLst>
              <a:ext uri="{FF2B5EF4-FFF2-40B4-BE49-F238E27FC236}">
                <a16:creationId xmlns:a16="http://schemas.microsoft.com/office/drawing/2014/main" id="{422FD0A8-0E9C-4B14-8DB8-3CB430DA1F34}"/>
              </a:ext>
            </a:extLst>
          </p:cNvPr>
          <p:cNvSpPr>
            <a:spLocks noGrp="1"/>
          </p:cNvSpPr>
          <p:nvPr/>
        </p:nvSpPr>
        <p:spPr>
          <a:xfrm>
            <a:off x="8115300" y="1619250"/>
            <a:ext cx="3543300" cy="3067050"/>
          </a:xfrm>
          <a:prstGeom prst="roundRect">
            <a:avLst>
              <a:gd name="adj" fmla="val 3727"/>
            </a:avLst>
          </a:prstGeom>
          <a:solidFill>
            <a:srgbClr val="E7F7F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4BA39A50-67F8-4D20-8C97-EE6311D5E278}"/>
              </a:ext>
            </a:extLst>
          </p:cNvPr>
          <p:cNvSpPr>
            <a:spLocks noGrp="1"/>
          </p:cNvSpPr>
          <p:nvPr/>
        </p:nvSpPr>
        <p:spPr>
          <a:xfrm>
            <a:off x="8324850" y="1847850"/>
            <a:ext cx="3124200" cy="266700"/>
          </a:xfrm>
          <a:prstGeom prst="rect">
            <a:avLst/>
          </a:prstGeom>
          <a:noFill/>
          <a:ln w="0">
            <a:noFill/>
            <a:prstDash val="solid"/>
          </a:ln>
        </p:spPr>
        <p:txBody>
          <a:bodyPr lIns="0" tIns="0" rIns="0" bIns="0" anchor="t">
            <a:normAutofit/>
          </a:bodyPr>
          <a:lstStyle/>
          <a:p>
            <a:pPr algn="ctr">
              <a:defRPr sz="1500" b="1">
                <a:solidFill>
                  <a:srgbClr val="149A84"/>
                </a:solidFill>
                <a:latin typeface="Helvetica Neue"/>
                <a:ea typeface="Helvetica Neue"/>
                <a:cs typeface="Helvetica Neue"/>
              </a:defRPr>
            </a:pPr>
            <a:r>
              <a:rPr sz="1500" b="1">
                <a:solidFill>
                  <a:srgbClr val="149A84"/>
                </a:solidFill>
                <a:latin typeface="Helvetica Neue"/>
                <a:ea typeface="Helvetica Neue"/>
                <a:cs typeface="Helvetica Neue"/>
              </a:rPr>
              <a:t>AFFINE SHEAF</a:t>
            </a:r>
          </a:p>
        </p:txBody>
      </p:sp>
      <p:sp>
        <p:nvSpPr>
          <p:cNvPr id="18" name="Rectangle 17">
            <a:extLst>
              <a:ext uri="{FF2B5EF4-FFF2-40B4-BE49-F238E27FC236}">
                <a16:creationId xmlns:a16="http://schemas.microsoft.com/office/drawing/2014/main" id="{27268316-3E95-4908-A6DB-2077B0247418}"/>
              </a:ext>
            </a:extLst>
          </p:cNvPr>
          <p:cNvSpPr>
            <a:spLocks noGrp="1"/>
          </p:cNvSpPr>
          <p:nvPr/>
        </p:nvSpPr>
        <p:spPr>
          <a:xfrm>
            <a:off x="8401050" y="2476500"/>
            <a:ext cx="2971800" cy="342900"/>
          </a:xfrm>
          <a:prstGeom prst="rect">
            <a:avLst/>
          </a:prstGeom>
          <a:noFill/>
          <a:ln w="0">
            <a:noFill/>
            <a:prstDash val="solid"/>
          </a:ln>
        </p:spPr>
        <p:txBody>
          <a:bodyPr lIns="0" tIns="0" rIns="0" bIns="0" anchor="t">
            <a:normAutofit/>
          </a:bodyPr>
          <a:lstStyle/>
          <a:p>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Edge-specific Aₑ and bₑ</a:t>
            </a:r>
          </a:p>
        </p:txBody>
      </p:sp>
      <p:sp>
        <p:nvSpPr>
          <p:cNvPr id="19" name="Rectangle 18">
            <a:extLst>
              <a:ext uri="{FF2B5EF4-FFF2-40B4-BE49-F238E27FC236}">
                <a16:creationId xmlns:a16="http://schemas.microsoft.com/office/drawing/2014/main" id="{4A1C5751-E20E-4858-B46E-4CECA38C18CE}"/>
              </a:ext>
            </a:extLst>
          </p:cNvPr>
          <p:cNvSpPr>
            <a:spLocks noGrp="1"/>
          </p:cNvSpPr>
          <p:nvPr/>
        </p:nvSpPr>
        <p:spPr>
          <a:xfrm>
            <a:off x="8401050" y="3143250"/>
            <a:ext cx="2971800" cy="400050"/>
          </a:xfrm>
          <a:prstGeom prst="rect">
            <a:avLst/>
          </a:prstGeom>
          <a:noFill/>
          <a:ln w="0">
            <a:noFill/>
            <a:prstDash val="solid"/>
          </a:ln>
        </p:spPr>
        <p:txBody>
          <a:bodyPr lIns="0" tIns="0" rIns="0" bIns="0" anchor="t">
            <a:normAutofit/>
          </a:bodyPr>
          <a:lstStyle/>
          <a:p>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Global compatibility residuals</a:t>
            </a:r>
          </a:p>
        </p:txBody>
      </p:sp>
      <p:sp>
        <p:nvSpPr>
          <p:cNvPr id="20" name="Rectangle 19">
            <a:extLst>
              <a:ext uri="{FF2B5EF4-FFF2-40B4-BE49-F238E27FC236}">
                <a16:creationId xmlns:a16="http://schemas.microsoft.com/office/drawing/2014/main" id="{9BF5CAC8-61AA-49D9-A9E9-EABC499A4649}"/>
              </a:ext>
            </a:extLst>
          </p:cNvPr>
          <p:cNvSpPr>
            <a:spLocks noGrp="1"/>
          </p:cNvSpPr>
          <p:nvPr/>
        </p:nvSpPr>
        <p:spPr>
          <a:xfrm>
            <a:off x="8401050" y="3905250"/>
            <a:ext cx="2971800" cy="419100"/>
          </a:xfrm>
          <a:prstGeom prst="rect">
            <a:avLst/>
          </a:prstGeom>
          <a:noFill/>
          <a:ln w="0">
            <a:noFill/>
            <a:prstDash val="solid"/>
          </a:ln>
        </p:spPr>
        <p:txBody>
          <a:bodyPr lIns="0" tIns="0" rIns="0" bIns="0" anchor="t">
            <a:normAutofit/>
          </a:bodyPr>
          <a:lstStyle/>
          <a:p>
            <a:pPr algn="ctr">
              <a:defRPr sz="1500" b="1">
                <a:solidFill>
                  <a:srgbClr val="149A84"/>
                </a:solidFill>
                <a:latin typeface="Helvetica Neue"/>
                <a:ea typeface="Helvetica Neue"/>
                <a:cs typeface="Helvetica Neue"/>
              </a:defRPr>
            </a:pPr>
            <a:r>
              <a:rPr sz="1500" b="1">
                <a:solidFill>
                  <a:srgbClr val="149A84"/>
                </a:solidFill>
                <a:latin typeface="Helvetica Neue"/>
                <a:ea typeface="Helvetica Neue"/>
                <a:cs typeface="Helvetica Neue"/>
              </a:rPr>
              <a:t>Conflict localisation</a:t>
            </a:r>
          </a:p>
        </p:txBody>
      </p:sp>
      <p:sp>
        <p:nvSpPr>
          <p:cNvPr id="21" name="Rectangle: Rounded Corners 20">
            <a:extLst>
              <a:ext uri="{FF2B5EF4-FFF2-40B4-BE49-F238E27FC236}">
                <a16:creationId xmlns:a16="http://schemas.microsoft.com/office/drawing/2014/main" id="{47912A34-A779-427C-893F-204132D795CF}"/>
              </a:ext>
            </a:extLst>
          </p:cNvPr>
          <p:cNvSpPr>
            <a:spLocks noGrp="1"/>
          </p:cNvSpPr>
          <p:nvPr/>
        </p:nvSpPr>
        <p:spPr>
          <a:xfrm>
            <a:off x="400050" y="5000625"/>
            <a:ext cx="11391900" cy="809625"/>
          </a:xfrm>
          <a:prstGeom prst="roundRect">
            <a:avLst>
              <a:gd name="adj" fmla="val 14118"/>
            </a:avLst>
          </a:prstGeom>
          <a:solidFill>
            <a:srgbClr val="FDE8E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E2E80876-49F9-4FD0-A58B-AF710F7809D4}"/>
              </a:ext>
            </a:extLst>
          </p:cNvPr>
          <p:cNvSpPr>
            <a:spLocks noGrp="1"/>
          </p:cNvSpPr>
          <p:nvPr/>
        </p:nvSpPr>
        <p:spPr>
          <a:xfrm>
            <a:off x="666750" y="5219700"/>
            <a:ext cx="10858500" cy="438150"/>
          </a:xfrm>
          <a:prstGeom prst="rect">
            <a:avLst/>
          </a:prstGeom>
          <a:noFill/>
          <a:ln w="0">
            <a:noFill/>
            <a:prstDash val="solid"/>
          </a:ln>
        </p:spPr>
        <p:txBody>
          <a:bodyPr lIns="0" tIns="0" rIns="0" bIns="0" anchor="t">
            <a:normAutofit fontScale="87121"/>
          </a:bodyPr>
          <a:lstStyle/>
          <a:p>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Examiner answer: the sheaf adds relation-specific transformations and global conflict localisation; it did not establish general superiority over the strongest edge-local comparator.</a:t>
            </a:r>
          </a:p>
        </p:txBody>
      </p:sp>
    </p:spTree>
    <p:extLst>
      <p:ext uri="{BB962C8B-B14F-4D97-AF65-F5344CB8AC3E}">
        <p14:creationId xmlns:p14="http://schemas.microsoft.com/office/powerpoint/2010/main" val="157740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3A14B74-5F23-4659-811C-DF9A4A631BD0}"/>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AGE BENCHMARK</a:t>
            </a:r>
          </a:p>
        </p:txBody>
      </p:sp>
      <p:sp>
        <p:nvSpPr>
          <p:cNvPr id="2" name="Rectangle 1">
            <a:extLst>
              <a:ext uri="{FF2B5EF4-FFF2-40B4-BE49-F238E27FC236}">
                <a16:creationId xmlns:a16="http://schemas.microsoft.com/office/drawing/2014/main" id="{B9A1450A-B8F2-40EC-B6BA-26EEE75BCB6A}"/>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Why HydroSheaf did not need to beat TracerLPM</a:t>
            </a:r>
          </a:p>
        </p:txBody>
      </p:sp>
      <p:sp>
        <p:nvSpPr>
          <p:cNvPr id="3" name="Rectangle 2">
            <a:extLst>
              <a:ext uri="{FF2B5EF4-FFF2-40B4-BE49-F238E27FC236}">
                <a16:creationId xmlns:a16="http://schemas.microsoft.com/office/drawing/2014/main" id="{FFD50609-D8B6-4F9D-B6C3-0153B7480A6D}"/>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4AAB7956-6E12-48DE-8014-C59C3AF3F0DF}"/>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C718A60A-4A9F-4810-94AE-61A90433BB00}"/>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32</a:t>
            </a:r>
          </a:p>
        </p:txBody>
      </p:sp>
      <p:sp>
        <p:nvSpPr>
          <p:cNvPr id="6" name="Rectangle: Rounded Corners 5">
            <a:extLst>
              <a:ext uri="{FF2B5EF4-FFF2-40B4-BE49-F238E27FC236}">
                <a16:creationId xmlns:a16="http://schemas.microsoft.com/office/drawing/2014/main" id="{E57F2038-7BEB-4272-9296-BA4F1C2E0CF2}"/>
              </a:ext>
            </a:extLst>
          </p:cNvPr>
          <p:cNvSpPr>
            <a:spLocks noGrp="1"/>
          </p:cNvSpPr>
          <p:nvPr/>
        </p:nvSpPr>
        <p:spPr>
          <a:xfrm>
            <a:off x="400050" y="1600200"/>
            <a:ext cx="5334000" cy="3619500"/>
          </a:xfrm>
          <a:prstGeom prst="roundRect">
            <a:avLst>
              <a:gd name="adj" fmla="val 3158"/>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7A42E038-3E5C-4A4E-8207-7B0E8CC23C29}"/>
              </a:ext>
            </a:extLst>
          </p:cNvPr>
          <p:cNvSpPr>
            <a:spLocks noGrp="1"/>
          </p:cNvSpPr>
          <p:nvPr/>
        </p:nvSpPr>
        <p:spPr>
          <a:xfrm>
            <a:off x="666750" y="1847850"/>
            <a:ext cx="4762500" cy="209550"/>
          </a:xfrm>
          <a:prstGeom prst="rect">
            <a:avLst/>
          </a:prstGeom>
          <a:noFill/>
          <a:ln w="0">
            <a:noFill/>
            <a:prstDash val="solid"/>
          </a:ln>
        </p:spPr>
        <p:txBody>
          <a:bodyPr lIns="0" tIns="0" rIns="0" bIns="0" anchor="t">
            <a:normAutofit/>
          </a:bodyPr>
          <a:lstStyle/>
          <a:p>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QUESTION ACTUALLY TESTED</a:t>
            </a:r>
          </a:p>
        </p:txBody>
      </p:sp>
      <p:sp>
        <p:nvSpPr>
          <p:cNvPr id="8" name="Rectangle 7">
            <a:extLst>
              <a:ext uri="{FF2B5EF4-FFF2-40B4-BE49-F238E27FC236}">
                <a16:creationId xmlns:a16="http://schemas.microsoft.com/office/drawing/2014/main" id="{B18262E3-7ADE-4109-9979-A390C59E6C3B}"/>
              </a:ext>
            </a:extLst>
          </p:cNvPr>
          <p:cNvSpPr>
            <a:spLocks noGrp="1"/>
          </p:cNvSpPr>
          <p:nvPr/>
        </p:nvSpPr>
        <p:spPr>
          <a:xfrm>
            <a:off x="666750" y="2333625"/>
            <a:ext cx="4762500" cy="952500"/>
          </a:xfrm>
          <a:prstGeom prst="rect">
            <a:avLst/>
          </a:prstGeom>
          <a:noFill/>
          <a:ln w="0">
            <a:noFill/>
            <a:prstDash val="solid"/>
          </a:ln>
        </p:spPr>
        <p:txBody>
          <a:bodyPr lIns="0" tIns="0" rIns="0" bIns="0" anchor="t">
            <a:normAutofit fontScale="91706"/>
          </a:bodyPr>
          <a:lstStyle/>
          <a:p>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Can HydroSheaf reproduce the reported configuration—and does topology add independent information?</a:t>
            </a:r>
          </a:p>
        </p:txBody>
      </p:sp>
      <p:sp>
        <p:nvSpPr>
          <p:cNvPr id="9" name="Rectangle 8">
            <a:extLst>
              <a:ext uri="{FF2B5EF4-FFF2-40B4-BE49-F238E27FC236}">
                <a16:creationId xmlns:a16="http://schemas.microsoft.com/office/drawing/2014/main" id="{B71D4671-EDF8-44D6-B269-049AA7AEE9CC}"/>
              </a:ext>
            </a:extLst>
          </p:cNvPr>
          <p:cNvSpPr>
            <a:spLocks noGrp="1"/>
          </p:cNvSpPr>
          <p:nvPr/>
        </p:nvSpPr>
        <p:spPr>
          <a:xfrm>
            <a:off x="666750" y="3838575"/>
            <a:ext cx="4762500" cy="628650"/>
          </a:xfrm>
          <a:prstGeom prst="rect">
            <a:avLst/>
          </a:prstGeom>
          <a:noFill/>
          <a:ln w="0">
            <a:noFill/>
            <a:prstDash val="solid"/>
          </a:ln>
        </p:spPr>
        <p:txBody>
          <a:bodyPr lIns="0" tIns="0" rIns="0" bIns="0" anchor="t">
            <a:normAutofit/>
          </a:bodyPr>
          <a:lstStyle/>
          <a:p>
            <a:pPr algn="l">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Answer: close agreement achieved; incremental graph value not established.</a:t>
            </a:r>
          </a:p>
        </p:txBody>
      </p:sp>
      <p:sp>
        <p:nvSpPr>
          <p:cNvPr id="10" name="Rectangle: Rounded Corners 9">
            <a:extLst>
              <a:ext uri="{FF2B5EF4-FFF2-40B4-BE49-F238E27FC236}">
                <a16:creationId xmlns:a16="http://schemas.microsoft.com/office/drawing/2014/main" id="{81F86D3F-9643-4564-8DDD-ED30B6F82706}"/>
              </a:ext>
            </a:extLst>
          </p:cNvPr>
          <p:cNvSpPr>
            <a:spLocks noGrp="1"/>
          </p:cNvSpPr>
          <p:nvPr/>
        </p:nvSpPr>
        <p:spPr>
          <a:xfrm>
            <a:off x="6076950" y="1600200"/>
            <a:ext cx="5334000" cy="3619500"/>
          </a:xfrm>
          <a:prstGeom prst="roundRect">
            <a:avLst>
              <a:gd name="adj" fmla="val 3158"/>
            </a:avLst>
          </a:prstGeom>
          <a:solidFill>
            <a:srgbClr val="FDE8E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EBA09387-757B-4F2B-90D0-2A537A7620B0}"/>
              </a:ext>
            </a:extLst>
          </p:cNvPr>
          <p:cNvSpPr>
            <a:spLocks noGrp="1"/>
          </p:cNvSpPr>
          <p:nvPr/>
        </p:nvSpPr>
        <p:spPr>
          <a:xfrm>
            <a:off x="6343650" y="1847850"/>
            <a:ext cx="4762500" cy="209550"/>
          </a:xfrm>
          <a:prstGeom prst="rect">
            <a:avLst/>
          </a:prstGeom>
          <a:noFill/>
          <a:ln w="0">
            <a:noFill/>
            <a:prstDash val="solid"/>
          </a:ln>
        </p:spPr>
        <p:txBody>
          <a:bodyPr lIns="0" tIns="0" rIns="0" bIns="0" anchor="t">
            <a:normAutofit/>
          </a:bodyPr>
          <a:lstStyle/>
          <a:p>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QUESTION NOT TESTED</a:t>
            </a:r>
          </a:p>
        </p:txBody>
      </p:sp>
      <p:sp>
        <p:nvSpPr>
          <p:cNvPr id="12" name="Rectangle 11">
            <a:extLst>
              <a:ext uri="{FF2B5EF4-FFF2-40B4-BE49-F238E27FC236}">
                <a16:creationId xmlns:a16="http://schemas.microsoft.com/office/drawing/2014/main" id="{D361E018-3AC4-44A6-A847-C948A41B20FE}"/>
              </a:ext>
            </a:extLst>
          </p:cNvPr>
          <p:cNvSpPr>
            <a:spLocks noGrp="1"/>
          </p:cNvSpPr>
          <p:nvPr/>
        </p:nvSpPr>
        <p:spPr>
          <a:xfrm>
            <a:off x="6343650" y="2333625"/>
            <a:ext cx="4762500" cy="952500"/>
          </a:xfrm>
          <a:prstGeom prst="rect">
            <a:avLst/>
          </a:prstGeom>
          <a:noFill/>
          <a:ln w="0">
            <a:noFill/>
            <a:prstDash val="solid"/>
          </a:ln>
        </p:spPr>
        <p:txBody>
          <a:bodyPr lIns="0" tIns="0" rIns="0" bIns="0" anchor="t">
            <a:normAutofit lnSpcReduction="10000"/>
          </a:bodyPr>
          <a:lstStyle/>
          <a:p>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Which model is closer to the unknown true groundwater-age distribution?</a:t>
            </a:r>
          </a:p>
        </p:txBody>
      </p:sp>
      <p:sp>
        <p:nvSpPr>
          <p:cNvPr id="13" name="Rectangle 12">
            <a:extLst>
              <a:ext uri="{FF2B5EF4-FFF2-40B4-BE49-F238E27FC236}">
                <a16:creationId xmlns:a16="http://schemas.microsoft.com/office/drawing/2014/main" id="{579DF2EB-402F-4C75-B0BE-482CE1C40435}"/>
              </a:ext>
            </a:extLst>
          </p:cNvPr>
          <p:cNvSpPr>
            <a:spLocks noGrp="1"/>
          </p:cNvSpPr>
          <p:nvPr/>
        </p:nvSpPr>
        <p:spPr>
          <a:xfrm>
            <a:off x="6343650" y="3838575"/>
            <a:ext cx="4762500" cy="628650"/>
          </a:xfrm>
          <a:prstGeom prst="rect">
            <a:avLst/>
          </a:prstGeom>
          <a:noFill/>
          <a:ln w="0">
            <a:noFill/>
            <a:prstDash val="solid"/>
          </a:ln>
        </p:spPr>
        <p:txBody>
          <a:bodyPr lIns="0" tIns="0" rIns="0" bIns="0" anchor="t">
            <a:normAutofit/>
          </a:bodyPr>
          <a:lstStyle/>
          <a:p>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The public reference outputs are emulation targets—not error-free truth.</a:t>
            </a:r>
          </a:p>
        </p:txBody>
      </p:sp>
    </p:spTree>
    <p:extLst>
      <p:ext uri="{BB962C8B-B14F-4D97-AF65-F5344CB8AC3E}">
        <p14:creationId xmlns:p14="http://schemas.microsoft.com/office/powerpoint/2010/main" val="657128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300E34E-154E-402E-B8E7-74BE5E63988B}"/>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REPRODUCIBILITY</a:t>
            </a:r>
          </a:p>
        </p:txBody>
      </p:sp>
      <p:sp>
        <p:nvSpPr>
          <p:cNvPr id="2" name="Rectangle 1">
            <a:extLst>
              <a:ext uri="{FF2B5EF4-FFF2-40B4-BE49-F238E27FC236}">
                <a16:creationId xmlns:a16="http://schemas.microsoft.com/office/drawing/2014/main" id="{E6AD0362-114B-4C37-8C92-4A4C6FFCA518}"/>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What a locked test means</a:t>
            </a:r>
          </a:p>
        </p:txBody>
      </p:sp>
      <p:sp>
        <p:nvSpPr>
          <p:cNvPr id="3" name="Rectangle 2">
            <a:extLst>
              <a:ext uri="{FF2B5EF4-FFF2-40B4-BE49-F238E27FC236}">
                <a16:creationId xmlns:a16="http://schemas.microsoft.com/office/drawing/2014/main" id="{C9471436-91EA-4ABA-8463-51E9A5542E14}"/>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AE30C0BB-6C04-40DF-A827-69FAD6E0D098}"/>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A9B32975-62E8-4939-858D-90D6D425E735}"/>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33</a:t>
            </a:r>
          </a:p>
        </p:txBody>
      </p:sp>
      <p:sp>
        <p:nvSpPr>
          <p:cNvPr id="6" name="Rectangle: Rounded Corners 5">
            <a:extLst>
              <a:ext uri="{FF2B5EF4-FFF2-40B4-BE49-F238E27FC236}">
                <a16:creationId xmlns:a16="http://schemas.microsoft.com/office/drawing/2014/main" id="{6AADD4B4-A70B-4C6B-8B3D-A8BA5913566F}"/>
              </a:ext>
            </a:extLst>
          </p:cNvPr>
          <p:cNvSpPr>
            <a:spLocks noGrp="1"/>
          </p:cNvSpPr>
          <p:nvPr/>
        </p:nvSpPr>
        <p:spPr>
          <a:xfrm>
            <a:off x="400050" y="2000250"/>
            <a:ext cx="2571750" cy="2381250"/>
          </a:xfrm>
          <a:prstGeom prst="roundRect">
            <a:avLst>
              <a:gd name="adj" fmla="val 4800"/>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B7BB3BA7-7A0D-42CF-B52C-CC768574AE4A}"/>
              </a:ext>
            </a:extLst>
          </p:cNvPr>
          <p:cNvSpPr>
            <a:spLocks noGrp="1"/>
          </p:cNvSpPr>
          <p:nvPr/>
        </p:nvSpPr>
        <p:spPr>
          <a:xfrm>
            <a:off x="609600" y="2209800"/>
            <a:ext cx="523875" cy="400050"/>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1</a:t>
            </a:r>
          </a:p>
        </p:txBody>
      </p:sp>
      <p:sp>
        <p:nvSpPr>
          <p:cNvPr id="8" name="Rectangle 7">
            <a:extLst>
              <a:ext uri="{FF2B5EF4-FFF2-40B4-BE49-F238E27FC236}">
                <a16:creationId xmlns:a16="http://schemas.microsoft.com/office/drawing/2014/main" id="{99307190-3ECB-4422-9A7B-83D136A7D6F5}"/>
              </a:ext>
            </a:extLst>
          </p:cNvPr>
          <p:cNvSpPr>
            <a:spLocks noGrp="1"/>
          </p:cNvSpPr>
          <p:nvPr/>
        </p:nvSpPr>
        <p:spPr>
          <a:xfrm>
            <a:off x="609600" y="2857500"/>
            <a:ext cx="2152650"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DEVELOP</a:t>
            </a:r>
          </a:p>
        </p:txBody>
      </p:sp>
      <p:sp>
        <p:nvSpPr>
          <p:cNvPr id="9" name="Rectangle 8">
            <a:extLst>
              <a:ext uri="{FF2B5EF4-FFF2-40B4-BE49-F238E27FC236}">
                <a16:creationId xmlns:a16="http://schemas.microsoft.com/office/drawing/2014/main" id="{8BF09330-14FF-42A4-98CC-B5C7DF2FF79F}"/>
              </a:ext>
            </a:extLst>
          </p:cNvPr>
          <p:cNvSpPr>
            <a:spLocks noGrp="1"/>
          </p:cNvSpPr>
          <p:nvPr/>
        </p:nvSpPr>
        <p:spPr>
          <a:xfrm>
            <a:off x="609600" y="3352800"/>
            <a:ext cx="2152650" cy="666750"/>
          </a:xfrm>
          <a:prstGeom prst="rect">
            <a:avLst/>
          </a:prstGeom>
          <a:noFill/>
          <a:ln w="0">
            <a:noFill/>
            <a:prstDash val="solid"/>
          </a:ln>
        </p:spPr>
        <p:txBody>
          <a:bodyPr lIns="0" tIns="0" rIns="0" bIns="0" anchor="t">
            <a:normAutofit/>
          </a:bodyPr>
          <a:lstStyle/>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Tune on declared development cases</a:t>
            </a:r>
          </a:p>
        </p:txBody>
      </p:sp>
      <p:sp>
        <p:nvSpPr>
          <p:cNvPr id="10" name="Rectangle 9">
            <a:extLst>
              <a:ext uri="{FF2B5EF4-FFF2-40B4-BE49-F238E27FC236}">
                <a16:creationId xmlns:a16="http://schemas.microsoft.com/office/drawing/2014/main" id="{0237E259-2D79-4B28-933F-662FC9473700}"/>
              </a:ext>
            </a:extLst>
          </p:cNvPr>
          <p:cNvSpPr>
            <a:spLocks noGrp="1"/>
          </p:cNvSpPr>
          <p:nvPr/>
        </p:nvSpPr>
        <p:spPr>
          <a:xfrm>
            <a:off x="2971800" y="2952750"/>
            <a:ext cx="304800" cy="333375"/>
          </a:xfrm>
          <a:prstGeom prst="rect">
            <a:avLst/>
          </a:prstGeom>
          <a:noFill/>
          <a:ln w="0">
            <a:noFill/>
            <a:prstDash val="solid"/>
          </a:ln>
        </p:spPr>
        <p:txBody>
          <a:bodyPr lIns="0" tIns="0" rIns="0" bIns="0" anchor="t">
            <a:normAutofit fontScale="97222" lnSpcReduction="10000"/>
          </a:bodyPr>
          <a:lstStyle/>
          <a:p>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11" name="Rectangle: Rounded Corners 10">
            <a:extLst>
              <a:ext uri="{FF2B5EF4-FFF2-40B4-BE49-F238E27FC236}">
                <a16:creationId xmlns:a16="http://schemas.microsoft.com/office/drawing/2014/main" id="{23CB83FB-AD5D-4FDC-AFD0-136C169B90A0}"/>
              </a:ext>
            </a:extLst>
          </p:cNvPr>
          <p:cNvSpPr>
            <a:spLocks noGrp="1"/>
          </p:cNvSpPr>
          <p:nvPr/>
        </p:nvSpPr>
        <p:spPr>
          <a:xfrm>
            <a:off x="3276600" y="2000250"/>
            <a:ext cx="2571750" cy="2381250"/>
          </a:xfrm>
          <a:prstGeom prst="roundRect">
            <a:avLst>
              <a:gd name="adj" fmla="val 4800"/>
            </a:avLst>
          </a:prstGeom>
          <a:solidFill>
            <a:srgbClr val="F2F3F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6592CAF1-D5D8-4929-91BD-CB87C2BD024F}"/>
              </a:ext>
            </a:extLst>
          </p:cNvPr>
          <p:cNvSpPr>
            <a:spLocks noGrp="1"/>
          </p:cNvSpPr>
          <p:nvPr/>
        </p:nvSpPr>
        <p:spPr>
          <a:xfrm>
            <a:off x="3486150" y="2209800"/>
            <a:ext cx="523875" cy="400050"/>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2</a:t>
            </a:r>
          </a:p>
        </p:txBody>
      </p:sp>
      <p:sp>
        <p:nvSpPr>
          <p:cNvPr id="13" name="Rectangle 12">
            <a:extLst>
              <a:ext uri="{FF2B5EF4-FFF2-40B4-BE49-F238E27FC236}">
                <a16:creationId xmlns:a16="http://schemas.microsoft.com/office/drawing/2014/main" id="{43BC33F7-F560-49AF-B3C5-5ECE9148BC4B}"/>
              </a:ext>
            </a:extLst>
          </p:cNvPr>
          <p:cNvSpPr>
            <a:spLocks noGrp="1"/>
          </p:cNvSpPr>
          <p:nvPr/>
        </p:nvSpPr>
        <p:spPr>
          <a:xfrm>
            <a:off x="3486150" y="2857500"/>
            <a:ext cx="2152650"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FREEZE</a:t>
            </a:r>
          </a:p>
        </p:txBody>
      </p:sp>
      <p:sp>
        <p:nvSpPr>
          <p:cNvPr id="14" name="Rectangle 13">
            <a:extLst>
              <a:ext uri="{FF2B5EF4-FFF2-40B4-BE49-F238E27FC236}">
                <a16:creationId xmlns:a16="http://schemas.microsoft.com/office/drawing/2014/main" id="{3A256F34-F5FB-45BA-BB08-8DAD04AA62F0}"/>
              </a:ext>
            </a:extLst>
          </p:cNvPr>
          <p:cNvSpPr>
            <a:spLocks noGrp="1"/>
          </p:cNvSpPr>
          <p:nvPr/>
        </p:nvSpPr>
        <p:spPr>
          <a:xfrm>
            <a:off x="3486150" y="3352800"/>
            <a:ext cx="2152650" cy="666750"/>
          </a:xfrm>
          <a:prstGeom prst="rect">
            <a:avLst/>
          </a:prstGeom>
          <a:noFill/>
          <a:ln w="0">
            <a:noFill/>
            <a:prstDash val="solid"/>
          </a:ln>
        </p:spPr>
        <p:txBody>
          <a:bodyPr lIns="0" tIns="0" rIns="0" bIns="0" anchor="t">
            <a:normAutofit fontScale="97222" lnSpcReduction="10000"/>
          </a:bodyPr>
          <a:lstStyle/>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Generator, code, seeds, primary metrics and decision rules</a:t>
            </a:r>
          </a:p>
        </p:txBody>
      </p:sp>
      <p:sp>
        <p:nvSpPr>
          <p:cNvPr id="15" name="Rectangle 14">
            <a:extLst>
              <a:ext uri="{FF2B5EF4-FFF2-40B4-BE49-F238E27FC236}">
                <a16:creationId xmlns:a16="http://schemas.microsoft.com/office/drawing/2014/main" id="{EF6AE5CE-7DE9-4EA4-9479-800F701345C0}"/>
              </a:ext>
            </a:extLst>
          </p:cNvPr>
          <p:cNvSpPr>
            <a:spLocks noGrp="1"/>
          </p:cNvSpPr>
          <p:nvPr/>
        </p:nvSpPr>
        <p:spPr>
          <a:xfrm>
            <a:off x="5848350" y="2952750"/>
            <a:ext cx="304800" cy="333375"/>
          </a:xfrm>
          <a:prstGeom prst="rect">
            <a:avLst/>
          </a:prstGeom>
          <a:noFill/>
          <a:ln w="0">
            <a:noFill/>
            <a:prstDash val="solid"/>
          </a:ln>
        </p:spPr>
        <p:txBody>
          <a:bodyPr lIns="0" tIns="0" rIns="0" bIns="0" anchor="t">
            <a:normAutofit fontScale="97222" lnSpcReduction="10000"/>
          </a:bodyPr>
          <a:lstStyle/>
          <a:p>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16" name="Rectangle: Rounded Corners 15">
            <a:extLst>
              <a:ext uri="{FF2B5EF4-FFF2-40B4-BE49-F238E27FC236}">
                <a16:creationId xmlns:a16="http://schemas.microsoft.com/office/drawing/2014/main" id="{BB09F06B-184F-40DC-A4AE-13C3BBC51765}"/>
              </a:ext>
            </a:extLst>
          </p:cNvPr>
          <p:cNvSpPr>
            <a:spLocks noGrp="1"/>
          </p:cNvSpPr>
          <p:nvPr/>
        </p:nvSpPr>
        <p:spPr>
          <a:xfrm>
            <a:off x="6153150" y="2000250"/>
            <a:ext cx="2571750" cy="2381250"/>
          </a:xfrm>
          <a:prstGeom prst="roundRect">
            <a:avLst>
              <a:gd name="adj" fmla="val 4800"/>
            </a:avLst>
          </a:prstGeom>
          <a:solidFill>
            <a:srgbClr val="E9F4FF"/>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538F8814-ED32-44B5-A5A2-E52398045AB3}"/>
              </a:ext>
            </a:extLst>
          </p:cNvPr>
          <p:cNvSpPr>
            <a:spLocks noGrp="1"/>
          </p:cNvSpPr>
          <p:nvPr/>
        </p:nvSpPr>
        <p:spPr>
          <a:xfrm>
            <a:off x="6362700" y="2209800"/>
            <a:ext cx="523875" cy="400050"/>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3</a:t>
            </a:r>
          </a:p>
        </p:txBody>
      </p:sp>
      <p:sp>
        <p:nvSpPr>
          <p:cNvPr id="18" name="Rectangle 17">
            <a:extLst>
              <a:ext uri="{FF2B5EF4-FFF2-40B4-BE49-F238E27FC236}">
                <a16:creationId xmlns:a16="http://schemas.microsoft.com/office/drawing/2014/main" id="{AB9D3FFC-595C-4F26-B2E1-95CE99B50BBD}"/>
              </a:ext>
            </a:extLst>
          </p:cNvPr>
          <p:cNvSpPr>
            <a:spLocks noGrp="1"/>
          </p:cNvSpPr>
          <p:nvPr/>
        </p:nvSpPr>
        <p:spPr>
          <a:xfrm>
            <a:off x="6362700" y="2857500"/>
            <a:ext cx="2152650"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OPEN ONCE</a:t>
            </a:r>
          </a:p>
        </p:txBody>
      </p:sp>
      <p:sp>
        <p:nvSpPr>
          <p:cNvPr id="19" name="Rectangle 18">
            <a:extLst>
              <a:ext uri="{FF2B5EF4-FFF2-40B4-BE49-F238E27FC236}">
                <a16:creationId xmlns:a16="http://schemas.microsoft.com/office/drawing/2014/main" id="{FE12213F-D1B3-441A-A3ED-CF00970735C9}"/>
              </a:ext>
            </a:extLst>
          </p:cNvPr>
          <p:cNvSpPr>
            <a:spLocks noGrp="1"/>
          </p:cNvSpPr>
          <p:nvPr/>
        </p:nvSpPr>
        <p:spPr>
          <a:xfrm>
            <a:off x="6362700" y="3352800"/>
            <a:ext cx="2152650" cy="666750"/>
          </a:xfrm>
          <a:prstGeom prst="rect">
            <a:avLst/>
          </a:prstGeom>
          <a:noFill/>
          <a:ln w="0">
            <a:noFill/>
            <a:prstDash val="solid"/>
          </a:ln>
        </p:spPr>
        <p:txBody>
          <a:bodyPr lIns="0" tIns="0" rIns="0" bIns="0" anchor="t">
            <a:normAutofit/>
          </a:bodyPr>
          <a:lstStyle/>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Evaluate untouched locked cases</a:t>
            </a:r>
          </a:p>
        </p:txBody>
      </p:sp>
      <p:sp>
        <p:nvSpPr>
          <p:cNvPr id="20" name="Rectangle 19">
            <a:extLst>
              <a:ext uri="{FF2B5EF4-FFF2-40B4-BE49-F238E27FC236}">
                <a16:creationId xmlns:a16="http://schemas.microsoft.com/office/drawing/2014/main" id="{6F402A77-3310-4CD6-96F3-57662D3E29D6}"/>
              </a:ext>
            </a:extLst>
          </p:cNvPr>
          <p:cNvSpPr>
            <a:spLocks noGrp="1"/>
          </p:cNvSpPr>
          <p:nvPr/>
        </p:nvSpPr>
        <p:spPr>
          <a:xfrm>
            <a:off x="8724900" y="2952750"/>
            <a:ext cx="304800" cy="333375"/>
          </a:xfrm>
          <a:prstGeom prst="rect">
            <a:avLst/>
          </a:prstGeom>
          <a:noFill/>
          <a:ln w="0">
            <a:noFill/>
            <a:prstDash val="solid"/>
          </a:ln>
        </p:spPr>
        <p:txBody>
          <a:bodyPr lIns="0" tIns="0" rIns="0" bIns="0" anchor="t">
            <a:normAutofit fontScale="97222" lnSpcReduction="10000"/>
          </a:bodyPr>
          <a:lstStyle/>
          <a:p>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21" name="Rectangle: Rounded Corners 20">
            <a:extLst>
              <a:ext uri="{FF2B5EF4-FFF2-40B4-BE49-F238E27FC236}">
                <a16:creationId xmlns:a16="http://schemas.microsoft.com/office/drawing/2014/main" id="{F707FDA2-C1B6-402E-A716-CF93AAD12388}"/>
              </a:ext>
            </a:extLst>
          </p:cNvPr>
          <p:cNvSpPr>
            <a:spLocks noGrp="1"/>
          </p:cNvSpPr>
          <p:nvPr/>
        </p:nvSpPr>
        <p:spPr>
          <a:xfrm>
            <a:off x="9029700" y="2000250"/>
            <a:ext cx="2571750" cy="2381250"/>
          </a:xfrm>
          <a:prstGeom prst="roundRect">
            <a:avLst>
              <a:gd name="adj" fmla="val 4800"/>
            </a:avLst>
          </a:prstGeom>
          <a:solidFill>
            <a:srgbClr val="F2F3F5"/>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853420D0-1CCE-4469-B68E-8C36645BC13B}"/>
              </a:ext>
            </a:extLst>
          </p:cNvPr>
          <p:cNvSpPr>
            <a:spLocks noGrp="1"/>
          </p:cNvSpPr>
          <p:nvPr/>
        </p:nvSpPr>
        <p:spPr>
          <a:xfrm>
            <a:off x="9239250" y="2209800"/>
            <a:ext cx="523875" cy="400050"/>
          </a:xfrm>
          <a:prstGeom prst="rect">
            <a:avLst/>
          </a:prstGeom>
          <a:noFill/>
          <a:ln w="0">
            <a:noFill/>
            <a:prstDash val="solid"/>
          </a:ln>
        </p:spPr>
        <p:txBody>
          <a:bodyPr lIns="0" tIns="0" rIns="0" bIns="0" anchor="t">
            <a:normAutofit/>
          </a:bodyPr>
          <a:lstStyle/>
          <a:p>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4</a:t>
            </a:r>
          </a:p>
        </p:txBody>
      </p:sp>
      <p:sp>
        <p:nvSpPr>
          <p:cNvPr id="23" name="Rectangle 22">
            <a:extLst>
              <a:ext uri="{FF2B5EF4-FFF2-40B4-BE49-F238E27FC236}">
                <a16:creationId xmlns:a16="http://schemas.microsoft.com/office/drawing/2014/main" id="{51991D8D-7184-4FDA-8D91-9DFCD862A394}"/>
              </a:ext>
            </a:extLst>
          </p:cNvPr>
          <p:cNvSpPr>
            <a:spLocks noGrp="1"/>
          </p:cNvSpPr>
          <p:nvPr/>
        </p:nvSpPr>
        <p:spPr>
          <a:xfrm>
            <a:off x="9239250" y="2857500"/>
            <a:ext cx="2152650" cy="2476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DECIDE</a:t>
            </a:r>
          </a:p>
        </p:txBody>
      </p:sp>
      <p:sp>
        <p:nvSpPr>
          <p:cNvPr id="24" name="Rectangle 23">
            <a:extLst>
              <a:ext uri="{FF2B5EF4-FFF2-40B4-BE49-F238E27FC236}">
                <a16:creationId xmlns:a16="http://schemas.microsoft.com/office/drawing/2014/main" id="{3462D2ED-E32A-436D-A675-7F40589920C5}"/>
              </a:ext>
            </a:extLst>
          </p:cNvPr>
          <p:cNvSpPr>
            <a:spLocks noGrp="1"/>
          </p:cNvSpPr>
          <p:nvPr/>
        </p:nvSpPr>
        <p:spPr>
          <a:xfrm>
            <a:off x="9239250" y="3352800"/>
            <a:ext cx="2152650" cy="666750"/>
          </a:xfrm>
          <a:prstGeom prst="rect">
            <a:avLst/>
          </a:prstGeom>
          <a:noFill/>
          <a:ln w="0">
            <a:noFill/>
            <a:prstDash val="solid"/>
          </a:ln>
        </p:spPr>
        <p:txBody>
          <a:bodyPr lIns="0" tIns="0" rIns="0" bIns="0" anchor="t">
            <a:normAutofit fontScale="97487" lnSpcReduction="10000"/>
          </a:bodyPr>
          <a:lstStyle/>
          <a:p>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Apply the frozen gate, including negative outcomes</a:t>
            </a:r>
          </a:p>
        </p:txBody>
      </p:sp>
      <p:sp>
        <p:nvSpPr>
          <p:cNvPr id="25" name="Rectangle: Rounded Corners 24">
            <a:extLst>
              <a:ext uri="{FF2B5EF4-FFF2-40B4-BE49-F238E27FC236}">
                <a16:creationId xmlns:a16="http://schemas.microsoft.com/office/drawing/2014/main" id="{4995351B-2E61-4BF4-B766-06EC0A1FA797}"/>
              </a:ext>
            </a:extLst>
          </p:cNvPr>
          <p:cNvSpPr>
            <a:spLocks noGrp="1"/>
          </p:cNvSpPr>
          <p:nvPr/>
        </p:nvSpPr>
        <p:spPr>
          <a:xfrm>
            <a:off x="2000250" y="4810125"/>
            <a:ext cx="8191500" cy="723900"/>
          </a:xfrm>
          <a:prstGeom prst="roundRect">
            <a:avLst>
              <a:gd name="adj" fmla="val 15789"/>
            </a:avLst>
          </a:prstGeom>
          <a:solidFill>
            <a:srgbClr val="E7F7F3"/>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C07553BB-BE0B-4B81-9F2E-68574272C789}"/>
              </a:ext>
            </a:extLst>
          </p:cNvPr>
          <p:cNvSpPr>
            <a:spLocks noGrp="1"/>
          </p:cNvSpPr>
          <p:nvPr/>
        </p:nvSpPr>
        <p:spPr>
          <a:xfrm>
            <a:off x="2286000" y="5029200"/>
            <a:ext cx="7620000" cy="342900"/>
          </a:xfrm>
          <a:prstGeom prst="rect">
            <a:avLst/>
          </a:prstGeom>
          <a:noFill/>
          <a:ln w="0">
            <a:noFill/>
            <a:prstDash val="solid"/>
          </a:ln>
        </p:spPr>
        <p:txBody>
          <a:bodyPr lIns="0" tIns="0" rIns="0" bIns="0" anchor="t">
            <a:normAutofit fontScale="90864" lnSpcReduction="20000"/>
          </a:bodyPr>
          <a:lstStyle/>
          <a:p>
            <a:pPr algn="ctr">
              <a:defRPr sz="1575" b="1">
                <a:solidFill>
                  <a:srgbClr val="153A63"/>
                </a:solidFill>
                <a:latin typeface="Helvetica Neue"/>
                <a:ea typeface="Helvetica Neue"/>
                <a:cs typeface="Helvetica Neue"/>
              </a:defRPr>
            </a:pPr>
            <a:r>
              <a:rPr sz="1575" b="1">
                <a:solidFill>
                  <a:srgbClr val="153A63"/>
                </a:solidFill>
                <a:latin typeface="Helvetica Neue"/>
                <a:ea typeface="Helvetica Neue"/>
                <a:cs typeface="Helvetica Neue"/>
              </a:rPr>
              <a:t>Locked comparisons were not rerun; practical planning margins were post-review diagnostics.</a:t>
            </a:r>
          </a:p>
        </p:txBody>
      </p:sp>
    </p:spTree>
    <p:extLst>
      <p:ext uri="{BB962C8B-B14F-4D97-AF65-F5344CB8AC3E}">
        <p14:creationId xmlns:p14="http://schemas.microsoft.com/office/powerpoint/2010/main" val="78899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8A0124C8-8630-4D8D-8295-C763DCA87C4E}"/>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EVIDENCE MATRIX</a:t>
            </a:r>
          </a:p>
        </p:txBody>
      </p:sp>
      <p:sp>
        <p:nvSpPr>
          <p:cNvPr id="2" name="Rectangle 1">
            <a:extLst>
              <a:ext uri="{FF2B5EF4-FFF2-40B4-BE49-F238E27FC236}">
                <a16:creationId xmlns:a16="http://schemas.microsoft.com/office/drawing/2014/main" id="{50D4B78F-C272-4015-9851-DD181A71B05A}"/>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Backup · No single field dataset contains all three truths</a:t>
            </a:r>
          </a:p>
        </p:txBody>
      </p:sp>
      <p:sp>
        <p:nvSpPr>
          <p:cNvPr id="3" name="Rectangle 2">
            <a:extLst>
              <a:ext uri="{FF2B5EF4-FFF2-40B4-BE49-F238E27FC236}">
                <a16:creationId xmlns:a16="http://schemas.microsoft.com/office/drawing/2014/main" id="{BC4AFA2B-9169-4B21-B9F1-A360CE0A6CBD}"/>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801FEA49-A628-495E-A984-816113EC0317}"/>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EA2A052A-630A-488F-9059-A37925B108F7}"/>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34</a:t>
            </a:r>
          </a:p>
        </p:txBody>
      </p:sp>
      <p:sp>
        <p:nvSpPr>
          <p:cNvPr id="6" name="Rectangle: Rounded Corners 5">
            <a:extLst>
              <a:ext uri="{FF2B5EF4-FFF2-40B4-BE49-F238E27FC236}">
                <a16:creationId xmlns:a16="http://schemas.microsoft.com/office/drawing/2014/main" id="{92EC317E-B874-47F6-9743-F1B8966D1360}"/>
              </a:ext>
            </a:extLst>
          </p:cNvPr>
          <p:cNvSpPr>
            <a:spLocks noGrp="1"/>
          </p:cNvSpPr>
          <p:nvPr/>
        </p:nvSpPr>
        <p:spPr>
          <a:xfrm>
            <a:off x="400050" y="1619250"/>
            <a:ext cx="2676525" cy="552450"/>
          </a:xfrm>
          <a:prstGeom prst="roundRect">
            <a:avLst>
              <a:gd name="adj" fmla="val 20690"/>
            </a:avLst>
          </a:prstGeom>
          <a:solidFill>
            <a:srgbClr val="153A63"/>
          </a:solidFill>
          <a:ln w="0">
            <a:noFill/>
            <a:prstDash val="solid"/>
          </a:ln>
        </p:spPr>
        <p:txBody>
          <a:bodyPr/>
          <a:lstStyle/>
          <a:p>
            <a:endParaRPr lang="en-US"/>
          </a:p>
        </p:txBody>
      </p:sp>
      <p:sp>
        <p:nvSpPr>
          <p:cNvPr id="7" name="Rectangle 6">
            <a:extLst>
              <a:ext uri="{FF2B5EF4-FFF2-40B4-BE49-F238E27FC236}">
                <a16:creationId xmlns:a16="http://schemas.microsoft.com/office/drawing/2014/main" id="{6B095D3B-C4AA-4615-AB64-7AE0C4FD2933}"/>
              </a:ext>
            </a:extLst>
          </p:cNvPr>
          <p:cNvSpPr>
            <a:spLocks noGrp="1"/>
          </p:cNvSpPr>
          <p:nvPr/>
        </p:nvSpPr>
        <p:spPr>
          <a:xfrm>
            <a:off x="476250" y="1809750"/>
            <a:ext cx="2524125" cy="190500"/>
          </a:xfrm>
          <a:prstGeom prst="rect">
            <a:avLst/>
          </a:prstGeom>
          <a:noFill/>
          <a:ln w="0">
            <a:noFill/>
            <a:prstDash val="solid"/>
          </a:ln>
        </p:spPr>
        <p:txBody>
          <a:bodyPr lIns="0" tIns="0" rIns="0" bIns="0" anchor="t">
            <a:normAutofit/>
          </a:bodyPr>
          <a:lstStyle/>
          <a:p>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DATASET</a:t>
            </a:r>
          </a:p>
        </p:txBody>
      </p:sp>
      <p:sp>
        <p:nvSpPr>
          <p:cNvPr id="8" name="Rectangle: Rounded Corners 7">
            <a:extLst>
              <a:ext uri="{FF2B5EF4-FFF2-40B4-BE49-F238E27FC236}">
                <a16:creationId xmlns:a16="http://schemas.microsoft.com/office/drawing/2014/main" id="{49AFD579-F3BF-438E-9BB0-839D111A01AC}"/>
              </a:ext>
            </a:extLst>
          </p:cNvPr>
          <p:cNvSpPr>
            <a:spLocks noGrp="1"/>
          </p:cNvSpPr>
          <p:nvPr/>
        </p:nvSpPr>
        <p:spPr>
          <a:xfrm>
            <a:off x="3114675" y="1619250"/>
            <a:ext cx="1866900" cy="552450"/>
          </a:xfrm>
          <a:prstGeom prst="roundRect">
            <a:avLst>
              <a:gd name="adj" fmla="val 20690"/>
            </a:avLst>
          </a:prstGeom>
          <a:solidFill>
            <a:srgbClr val="153A63"/>
          </a:solidFill>
          <a:ln w="0">
            <a:noFill/>
            <a:prstDash val="solid"/>
          </a:ln>
        </p:spPr>
        <p:txBody>
          <a:bodyPr/>
          <a:lstStyle/>
          <a:p>
            <a:endParaRPr lang="en-US"/>
          </a:p>
        </p:txBody>
      </p:sp>
      <p:sp>
        <p:nvSpPr>
          <p:cNvPr id="9" name="Rectangle 8">
            <a:extLst>
              <a:ext uri="{FF2B5EF4-FFF2-40B4-BE49-F238E27FC236}">
                <a16:creationId xmlns:a16="http://schemas.microsoft.com/office/drawing/2014/main" id="{BF315E18-7AA0-41F4-B2B1-B224ECC41384}"/>
              </a:ext>
            </a:extLst>
          </p:cNvPr>
          <p:cNvSpPr>
            <a:spLocks noGrp="1"/>
          </p:cNvSpPr>
          <p:nvPr/>
        </p:nvSpPr>
        <p:spPr>
          <a:xfrm>
            <a:off x="3190875" y="1809750"/>
            <a:ext cx="1714500" cy="190500"/>
          </a:xfrm>
          <a:prstGeom prst="rect">
            <a:avLst/>
          </a:prstGeom>
          <a:noFill/>
          <a:ln w="0">
            <a:noFill/>
            <a:prstDash val="solid"/>
          </a:ln>
        </p:spPr>
        <p:txBody>
          <a:bodyPr lIns="0" tIns="0" rIns="0" bIns="0" anchor="t">
            <a:normAutofit/>
          </a:bodyPr>
          <a:lstStyle/>
          <a:p>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AGE TRACERS</a:t>
            </a:r>
          </a:p>
        </p:txBody>
      </p:sp>
      <p:sp>
        <p:nvSpPr>
          <p:cNvPr id="10" name="Rectangle: Rounded Corners 9">
            <a:extLst>
              <a:ext uri="{FF2B5EF4-FFF2-40B4-BE49-F238E27FC236}">
                <a16:creationId xmlns:a16="http://schemas.microsoft.com/office/drawing/2014/main" id="{D13839BD-1EE9-4650-A5C9-1FF1183F23F6}"/>
              </a:ext>
            </a:extLst>
          </p:cNvPr>
          <p:cNvSpPr>
            <a:spLocks noGrp="1"/>
          </p:cNvSpPr>
          <p:nvPr/>
        </p:nvSpPr>
        <p:spPr>
          <a:xfrm>
            <a:off x="5019675" y="1619250"/>
            <a:ext cx="2343150" cy="552450"/>
          </a:xfrm>
          <a:prstGeom prst="roundRect">
            <a:avLst>
              <a:gd name="adj" fmla="val 20690"/>
            </a:avLst>
          </a:prstGeom>
          <a:solidFill>
            <a:srgbClr val="153A6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D9E1E834-2DC1-4BE4-9825-FAED484271F1}"/>
              </a:ext>
            </a:extLst>
          </p:cNvPr>
          <p:cNvSpPr>
            <a:spLocks noGrp="1"/>
          </p:cNvSpPr>
          <p:nvPr/>
        </p:nvSpPr>
        <p:spPr>
          <a:xfrm>
            <a:off x="5095875" y="1809750"/>
            <a:ext cx="2190750" cy="190500"/>
          </a:xfrm>
          <a:prstGeom prst="rect">
            <a:avLst/>
          </a:prstGeom>
          <a:noFill/>
          <a:ln w="0">
            <a:noFill/>
            <a:prstDash val="solid"/>
          </a:ln>
        </p:spPr>
        <p:txBody>
          <a:bodyPr lIns="0" tIns="0" rIns="0" bIns="0" anchor="t">
            <a:normAutofit/>
          </a:bodyPr>
          <a:lstStyle/>
          <a:p>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REPEATED HYDRAULICS</a:t>
            </a:r>
          </a:p>
        </p:txBody>
      </p:sp>
      <p:sp>
        <p:nvSpPr>
          <p:cNvPr id="12" name="Rectangle: Rounded Corners 11">
            <a:extLst>
              <a:ext uri="{FF2B5EF4-FFF2-40B4-BE49-F238E27FC236}">
                <a16:creationId xmlns:a16="http://schemas.microsoft.com/office/drawing/2014/main" id="{C6F50701-2B87-4FC1-B553-7BE96F93587B}"/>
              </a:ext>
            </a:extLst>
          </p:cNvPr>
          <p:cNvSpPr>
            <a:spLocks noGrp="1"/>
          </p:cNvSpPr>
          <p:nvPr/>
        </p:nvSpPr>
        <p:spPr>
          <a:xfrm>
            <a:off x="7400925" y="1619250"/>
            <a:ext cx="1866900" cy="552450"/>
          </a:xfrm>
          <a:prstGeom prst="roundRect">
            <a:avLst>
              <a:gd name="adj" fmla="val 20690"/>
            </a:avLst>
          </a:prstGeom>
          <a:solidFill>
            <a:srgbClr val="153A6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30143AA3-0DD3-44C5-B2DA-283D17A1E095}"/>
              </a:ext>
            </a:extLst>
          </p:cNvPr>
          <p:cNvSpPr>
            <a:spLocks noGrp="1"/>
          </p:cNvSpPr>
          <p:nvPr/>
        </p:nvSpPr>
        <p:spPr>
          <a:xfrm>
            <a:off x="7477125" y="1809750"/>
            <a:ext cx="1714500" cy="190500"/>
          </a:xfrm>
          <a:prstGeom prst="rect">
            <a:avLst/>
          </a:prstGeom>
          <a:noFill/>
          <a:ln w="0">
            <a:noFill/>
            <a:prstDash val="solid"/>
          </a:ln>
        </p:spPr>
        <p:txBody>
          <a:bodyPr lIns="0" tIns="0" rIns="0" bIns="0" anchor="t">
            <a:normAutofit/>
          </a:bodyPr>
          <a:lstStyle/>
          <a:p>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CHEMISTRY</a:t>
            </a:r>
          </a:p>
        </p:txBody>
      </p:sp>
      <p:sp>
        <p:nvSpPr>
          <p:cNvPr id="14" name="Rectangle: Rounded Corners 13">
            <a:extLst>
              <a:ext uri="{FF2B5EF4-FFF2-40B4-BE49-F238E27FC236}">
                <a16:creationId xmlns:a16="http://schemas.microsoft.com/office/drawing/2014/main" id="{4BF9EF87-94BA-42CF-BC1C-782DC7395C04}"/>
              </a:ext>
            </a:extLst>
          </p:cNvPr>
          <p:cNvSpPr>
            <a:spLocks noGrp="1"/>
          </p:cNvSpPr>
          <p:nvPr/>
        </p:nvSpPr>
        <p:spPr>
          <a:xfrm>
            <a:off x="9305925" y="1619250"/>
            <a:ext cx="2438400" cy="552450"/>
          </a:xfrm>
          <a:prstGeom prst="roundRect">
            <a:avLst>
              <a:gd name="adj" fmla="val 20690"/>
            </a:avLst>
          </a:prstGeom>
          <a:solidFill>
            <a:srgbClr val="153A63"/>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89F1EEEB-A7C2-464B-8AAD-591C9D9FE56F}"/>
              </a:ext>
            </a:extLst>
          </p:cNvPr>
          <p:cNvSpPr>
            <a:spLocks noGrp="1"/>
          </p:cNvSpPr>
          <p:nvPr/>
        </p:nvSpPr>
        <p:spPr>
          <a:xfrm>
            <a:off x="9382125" y="1809750"/>
            <a:ext cx="2286000" cy="190500"/>
          </a:xfrm>
          <a:prstGeom prst="rect">
            <a:avLst/>
          </a:prstGeom>
          <a:noFill/>
          <a:ln w="0">
            <a:noFill/>
            <a:prstDash val="solid"/>
          </a:ln>
        </p:spPr>
        <p:txBody>
          <a:bodyPr lIns="0" tIns="0" rIns="0" bIns="0" anchor="t">
            <a:normAutofit/>
          </a:bodyPr>
          <a:lstStyle/>
          <a:p>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CONNECTIVITY TRUTH</a:t>
            </a:r>
          </a:p>
        </p:txBody>
      </p:sp>
      <p:sp>
        <p:nvSpPr>
          <p:cNvPr id="16" name="Rectangle: Rounded Corners 15">
            <a:extLst>
              <a:ext uri="{FF2B5EF4-FFF2-40B4-BE49-F238E27FC236}">
                <a16:creationId xmlns:a16="http://schemas.microsoft.com/office/drawing/2014/main" id="{B363381B-1BD1-4FE9-9419-CF89CD41ECD1}"/>
              </a:ext>
            </a:extLst>
          </p:cNvPr>
          <p:cNvSpPr>
            <a:spLocks noGrp="1"/>
          </p:cNvSpPr>
          <p:nvPr/>
        </p:nvSpPr>
        <p:spPr>
          <a:xfrm>
            <a:off x="400050" y="2228850"/>
            <a:ext cx="2676525"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17" name="Rectangle 16">
            <a:extLst>
              <a:ext uri="{FF2B5EF4-FFF2-40B4-BE49-F238E27FC236}">
                <a16:creationId xmlns:a16="http://schemas.microsoft.com/office/drawing/2014/main" id="{2B074F18-A9B6-4894-9897-E5A43895B49C}"/>
              </a:ext>
            </a:extLst>
          </p:cNvPr>
          <p:cNvSpPr>
            <a:spLocks noGrp="1"/>
          </p:cNvSpPr>
          <p:nvPr/>
        </p:nvSpPr>
        <p:spPr>
          <a:xfrm>
            <a:off x="476250" y="2400300"/>
            <a:ext cx="2524125" cy="228600"/>
          </a:xfrm>
          <a:prstGeom prst="rect">
            <a:avLst/>
          </a:prstGeom>
          <a:noFill/>
          <a:ln w="0">
            <a:noFill/>
            <a:prstDash val="solid"/>
          </a:ln>
        </p:spPr>
        <p:txBody>
          <a:bodyPr lIns="0" tIns="0" rIns="0" bIns="0" anchor="t">
            <a:normAutofit/>
          </a:bodyPr>
          <a:lstStyle/>
          <a:p>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Public age archive</a:t>
            </a:r>
          </a:p>
        </p:txBody>
      </p:sp>
      <p:sp>
        <p:nvSpPr>
          <p:cNvPr id="18" name="Rectangle: Rounded Corners 17">
            <a:extLst>
              <a:ext uri="{FF2B5EF4-FFF2-40B4-BE49-F238E27FC236}">
                <a16:creationId xmlns:a16="http://schemas.microsoft.com/office/drawing/2014/main" id="{D35C744D-A626-47BF-B307-900294C702CE}"/>
              </a:ext>
            </a:extLst>
          </p:cNvPr>
          <p:cNvSpPr>
            <a:spLocks noGrp="1"/>
          </p:cNvSpPr>
          <p:nvPr/>
        </p:nvSpPr>
        <p:spPr>
          <a:xfrm>
            <a:off x="3114675" y="2228850"/>
            <a:ext cx="18669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19" name="Rectangle 18">
            <a:extLst>
              <a:ext uri="{FF2B5EF4-FFF2-40B4-BE49-F238E27FC236}">
                <a16:creationId xmlns:a16="http://schemas.microsoft.com/office/drawing/2014/main" id="{C4390D0D-156F-4B90-9402-3DC57ADC5667}"/>
              </a:ext>
            </a:extLst>
          </p:cNvPr>
          <p:cNvSpPr>
            <a:spLocks noGrp="1"/>
          </p:cNvSpPr>
          <p:nvPr/>
        </p:nvSpPr>
        <p:spPr>
          <a:xfrm>
            <a:off x="3190875" y="24003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20" name="Rectangle: Rounded Corners 19">
            <a:extLst>
              <a:ext uri="{FF2B5EF4-FFF2-40B4-BE49-F238E27FC236}">
                <a16:creationId xmlns:a16="http://schemas.microsoft.com/office/drawing/2014/main" id="{914B4916-0AF3-4BE6-B487-419BFD5FC10A}"/>
              </a:ext>
            </a:extLst>
          </p:cNvPr>
          <p:cNvSpPr>
            <a:spLocks noGrp="1"/>
          </p:cNvSpPr>
          <p:nvPr/>
        </p:nvSpPr>
        <p:spPr>
          <a:xfrm>
            <a:off x="5019675" y="2228850"/>
            <a:ext cx="234315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21" name="Rectangle 20">
            <a:extLst>
              <a:ext uri="{FF2B5EF4-FFF2-40B4-BE49-F238E27FC236}">
                <a16:creationId xmlns:a16="http://schemas.microsoft.com/office/drawing/2014/main" id="{480C8195-A8D3-4188-BE32-000BA958B2A3}"/>
              </a:ext>
            </a:extLst>
          </p:cNvPr>
          <p:cNvSpPr>
            <a:spLocks noGrp="1"/>
          </p:cNvSpPr>
          <p:nvPr/>
        </p:nvSpPr>
        <p:spPr>
          <a:xfrm>
            <a:off x="5095875" y="2400300"/>
            <a:ext cx="219075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direct heads unavailable</a:t>
            </a:r>
          </a:p>
        </p:txBody>
      </p:sp>
      <p:sp>
        <p:nvSpPr>
          <p:cNvPr id="22" name="Rectangle: Rounded Corners 21">
            <a:extLst>
              <a:ext uri="{FF2B5EF4-FFF2-40B4-BE49-F238E27FC236}">
                <a16:creationId xmlns:a16="http://schemas.microsoft.com/office/drawing/2014/main" id="{674E58BA-3D30-4A9A-A0DB-26F8B4881D31}"/>
              </a:ext>
            </a:extLst>
          </p:cNvPr>
          <p:cNvSpPr>
            <a:spLocks noGrp="1"/>
          </p:cNvSpPr>
          <p:nvPr/>
        </p:nvSpPr>
        <p:spPr>
          <a:xfrm>
            <a:off x="7400925" y="2228850"/>
            <a:ext cx="18669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23" name="Rectangle 22">
            <a:extLst>
              <a:ext uri="{FF2B5EF4-FFF2-40B4-BE49-F238E27FC236}">
                <a16:creationId xmlns:a16="http://schemas.microsoft.com/office/drawing/2014/main" id="{824DE286-E459-4299-AC97-184E86C51C68}"/>
              </a:ext>
            </a:extLst>
          </p:cNvPr>
          <p:cNvSpPr>
            <a:spLocks noGrp="1"/>
          </p:cNvSpPr>
          <p:nvPr/>
        </p:nvSpPr>
        <p:spPr>
          <a:xfrm>
            <a:off x="7477125" y="24003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not used</a:t>
            </a:r>
          </a:p>
        </p:txBody>
      </p:sp>
      <p:sp>
        <p:nvSpPr>
          <p:cNvPr id="24" name="Rectangle: Rounded Corners 23">
            <a:extLst>
              <a:ext uri="{FF2B5EF4-FFF2-40B4-BE49-F238E27FC236}">
                <a16:creationId xmlns:a16="http://schemas.microsoft.com/office/drawing/2014/main" id="{C95739BF-69DD-48AB-97F9-926F29A3124C}"/>
              </a:ext>
            </a:extLst>
          </p:cNvPr>
          <p:cNvSpPr>
            <a:spLocks noGrp="1"/>
          </p:cNvSpPr>
          <p:nvPr/>
        </p:nvSpPr>
        <p:spPr>
          <a:xfrm>
            <a:off x="9305925" y="2228850"/>
            <a:ext cx="24384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25" name="Rectangle 24">
            <a:extLst>
              <a:ext uri="{FF2B5EF4-FFF2-40B4-BE49-F238E27FC236}">
                <a16:creationId xmlns:a16="http://schemas.microsoft.com/office/drawing/2014/main" id="{653EC321-0F1C-435D-A889-FB304A8949EB}"/>
              </a:ext>
            </a:extLst>
          </p:cNvPr>
          <p:cNvSpPr>
            <a:spLocks noGrp="1"/>
          </p:cNvSpPr>
          <p:nvPr/>
        </p:nvSpPr>
        <p:spPr>
          <a:xfrm>
            <a:off x="9382125" y="2400300"/>
            <a:ext cx="228600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26" name="Rectangle: Rounded Corners 25">
            <a:extLst>
              <a:ext uri="{FF2B5EF4-FFF2-40B4-BE49-F238E27FC236}">
                <a16:creationId xmlns:a16="http://schemas.microsoft.com/office/drawing/2014/main" id="{D18EAA0A-0861-4673-9A8A-1282842BFAAC}"/>
              </a:ext>
            </a:extLst>
          </p:cNvPr>
          <p:cNvSpPr>
            <a:spLocks noGrp="1"/>
          </p:cNvSpPr>
          <p:nvPr/>
        </p:nvSpPr>
        <p:spPr>
          <a:xfrm>
            <a:off x="400050" y="2876550"/>
            <a:ext cx="2676525"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27" name="Rectangle 26">
            <a:extLst>
              <a:ext uri="{FF2B5EF4-FFF2-40B4-BE49-F238E27FC236}">
                <a16:creationId xmlns:a16="http://schemas.microsoft.com/office/drawing/2014/main" id="{926FB05C-A982-4A5A-BAB9-9C9482DD1D5D}"/>
              </a:ext>
            </a:extLst>
          </p:cNvPr>
          <p:cNvSpPr>
            <a:spLocks noGrp="1"/>
          </p:cNvSpPr>
          <p:nvPr/>
        </p:nvSpPr>
        <p:spPr>
          <a:xfrm>
            <a:off x="476250" y="3048000"/>
            <a:ext cx="2524125" cy="228600"/>
          </a:xfrm>
          <a:prstGeom prst="rect">
            <a:avLst/>
          </a:prstGeom>
          <a:noFill/>
          <a:ln w="0">
            <a:noFill/>
            <a:prstDash val="solid"/>
          </a:ln>
        </p:spPr>
        <p:txBody>
          <a:bodyPr lIns="0" tIns="0" rIns="0" bIns="0" anchor="t">
            <a:normAutofit/>
          </a:bodyPr>
          <a:lstStyle/>
          <a:p>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MODFLOW / MODPATH</a:t>
            </a:r>
          </a:p>
        </p:txBody>
      </p:sp>
      <p:sp>
        <p:nvSpPr>
          <p:cNvPr id="28" name="Rectangle: Rounded Corners 27">
            <a:extLst>
              <a:ext uri="{FF2B5EF4-FFF2-40B4-BE49-F238E27FC236}">
                <a16:creationId xmlns:a16="http://schemas.microsoft.com/office/drawing/2014/main" id="{6383FADE-8946-4BA8-A683-C393E80B05C1}"/>
              </a:ext>
            </a:extLst>
          </p:cNvPr>
          <p:cNvSpPr>
            <a:spLocks noGrp="1"/>
          </p:cNvSpPr>
          <p:nvPr/>
        </p:nvSpPr>
        <p:spPr>
          <a:xfrm>
            <a:off x="3114675" y="2876550"/>
            <a:ext cx="186690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29" name="Rectangle 28">
            <a:extLst>
              <a:ext uri="{FF2B5EF4-FFF2-40B4-BE49-F238E27FC236}">
                <a16:creationId xmlns:a16="http://schemas.microsoft.com/office/drawing/2014/main" id="{9371AA41-569E-4F1A-9963-9D4A4FF140C9}"/>
              </a:ext>
            </a:extLst>
          </p:cNvPr>
          <p:cNvSpPr>
            <a:spLocks noGrp="1"/>
          </p:cNvSpPr>
          <p:nvPr/>
        </p:nvSpPr>
        <p:spPr>
          <a:xfrm>
            <a:off x="3190875" y="30480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modelled</a:t>
            </a:r>
          </a:p>
        </p:txBody>
      </p:sp>
      <p:sp>
        <p:nvSpPr>
          <p:cNvPr id="30" name="Rectangle: Rounded Corners 29">
            <a:extLst>
              <a:ext uri="{FF2B5EF4-FFF2-40B4-BE49-F238E27FC236}">
                <a16:creationId xmlns:a16="http://schemas.microsoft.com/office/drawing/2014/main" id="{E74217B4-F6D0-4F64-9A66-DDA11A0A5A0F}"/>
              </a:ext>
            </a:extLst>
          </p:cNvPr>
          <p:cNvSpPr>
            <a:spLocks noGrp="1"/>
          </p:cNvSpPr>
          <p:nvPr/>
        </p:nvSpPr>
        <p:spPr>
          <a:xfrm>
            <a:off x="5019675" y="2876550"/>
            <a:ext cx="234315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31" name="Rectangle 30">
            <a:extLst>
              <a:ext uri="{FF2B5EF4-FFF2-40B4-BE49-F238E27FC236}">
                <a16:creationId xmlns:a16="http://schemas.microsoft.com/office/drawing/2014/main" id="{EF82462A-CA27-44BC-BE9A-A1FE08362B77}"/>
              </a:ext>
            </a:extLst>
          </p:cNvPr>
          <p:cNvSpPr>
            <a:spLocks noGrp="1"/>
          </p:cNvSpPr>
          <p:nvPr/>
        </p:nvSpPr>
        <p:spPr>
          <a:xfrm>
            <a:off x="5095875" y="3048000"/>
            <a:ext cx="219075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32" name="Rectangle: Rounded Corners 31">
            <a:extLst>
              <a:ext uri="{FF2B5EF4-FFF2-40B4-BE49-F238E27FC236}">
                <a16:creationId xmlns:a16="http://schemas.microsoft.com/office/drawing/2014/main" id="{4B3D5DA1-C081-4F54-B57B-0F23DEC68136}"/>
              </a:ext>
            </a:extLst>
          </p:cNvPr>
          <p:cNvSpPr>
            <a:spLocks noGrp="1"/>
          </p:cNvSpPr>
          <p:nvPr/>
        </p:nvSpPr>
        <p:spPr>
          <a:xfrm>
            <a:off x="7400925" y="2876550"/>
            <a:ext cx="186690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33" name="Rectangle 32">
            <a:extLst>
              <a:ext uri="{FF2B5EF4-FFF2-40B4-BE49-F238E27FC236}">
                <a16:creationId xmlns:a16="http://schemas.microsoft.com/office/drawing/2014/main" id="{B9AB119F-F6B8-4578-9359-6B2318D5A117}"/>
              </a:ext>
            </a:extLst>
          </p:cNvPr>
          <p:cNvSpPr>
            <a:spLocks noGrp="1"/>
          </p:cNvSpPr>
          <p:nvPr/>
        </p:nvSpPr>
        <p:spPr>
          <a:xfrm>
            <a:off x="7477125" y="3048000"/>
            <a:ext cx="171450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34" name="Rectangle: Rounded Corners 33">
            <a:extLst>
              <a:ext uri="{FF2B5EF4-FFF2-40B4-BE49-F238E27FC236}">
                <a16:creationId xmlns:a16="http://schemas.microsoft.com/office/drawing/2014/main" id="{CF66A9DE-93C8-4073-8B95-8CBA8BCA36BA}"/>
              </a:ext>
            </a:extLst>
          </p:cNvPr>
          <p:cNvSpPr>
            <a:spLocks noGrp="1"/>
          </p:cNvSpPr>
          <p:nvPr/>
        </p:nvSpPr>
        <p:spPr>
          <a:xfrm>
            <a:off x="9305925" y="2876550"/>
            <a:ext cx="243840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35" name="Rectangle 34">
            <a:extLst>
              <a:ext uri="{FF2B5EF4-FFF2-40B4-BE49-F238E27FC236}">
                <a16:creationId xmlns:a16="http://schemas.microsoft.com/office/drawing/2014/main" id="{387C8BF5-9256-4F74-BEED-2EBEE04F454F}"/>
              </a:ext>
            </a:extLst>
          </p:cNvPr>
          <p:cNvSpPr>
            <a:spLocks noGrp="1"/>
          </p:cNvSpPr>
          <p:nvPr/>
        </p:nvSpPr>
        <p:spPr>
          <a:xfrm>
            <a:off x="9382125" y="3048000"/>
            <a:ext cx="22860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model-conditioned</a:t>
            </a:r>
          </a:p>
        </p:txBody>
      </p:sp>
      <p:sp>
        <p:nvSpPr>
          <p:cNvPr id="36" name="Rectangle: Rounded Corners 35">
            <a:extLst>
              <a:ext uri="{FF2B5EF4-FFF2-40B4-BE49-F238E27FC236}">
                <a16:creationId xmlns:a16="http://schemas.microsoft.com/office/drawing/2014/main" id="{AF33D828-C5F0-4B73-A1A5-B42256CF4E4D}"/>
              </a:ext>
            </a:extLst>
          </p:cNvPr>
          <p:cNvSpPr>
            <a:spLocks noGrp="1"/>
          </p:cNvSpPr>
          <p:nvPr/>
        </p:nvSpPr>
        <p:spPr>
          <a:xfrm>
            <a:off x="400050" y="3524250"/>
            <a:ext cx="2676525"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37" name="Rectangle 36">
            <a:extLst>
              <a:ext uri="{FF2B5EF4-FFF2-40B4-BE49-F238E27FC236}">
                <a16:creationId xmlns:a16="http://schemas.microsoft.com/office/drawing/2014/main" id="{35D6D83F-A9E9-4287-B926-083D3C2E9E00}"/>
              </a:ext>
            </a:extLst>
          </p:cNvPr>
          <p:cNvSpPr>
            <a:spLocks noGrp="1"/>
          </p:cNvSpPr>
          <p:nvPr/>
        </p:nvSpPr>
        <p:spPr>
          <a:xfrm>
            <a:off x="476250" y="3695700"/>
            <a:ext cx="2524125" cy="228600"/>
          </a:xfrm>
          <a:prstGeom prst="rect">
            <a:avLst/>
          </a:prstGeom>
          <a:noFill/>
          <a:ln w="0">
            <a:noFill/>
            <a:prstDash val="solid"/>
          </a:ln>
        </p:spPr>
        <p:txBody>
          <a:bodyPr lIns="0" tIns="0" rIns="0" bIns="0" anchor="t">
            <a:normAutofit/>
          </a:bodyPr>
          <a:lstStyle/>
          <a:p>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Northern Ghana</a:t>
            </a:r>
          </a:p>
        </p:txBody>
      </p:sp>
      <p:sp>
        <p:nvSpPr>
          <p:cNvPr id="38" name="Rectangle: Rounded Corners 37">
            <a:extLst>
              <a:ext uri="{FF2B5EF4-FFF2-40B4-BE49-F238E27FC236}">
                <a16:creationId xmlns:a16="http://schemas.microsoft.com/office/drawing/2014/main" id="{B5D99241-930B-44A6-A4C6-07BD985E645B}"/>
              </a:ext>
            </a:extLst>
          </p:cNvPr>
          <p:cNvSpPr>
            <a:spLocks noGrp="1"/>
          </p:cNvSpPr>
          <p:nvPr/>
        </p:nvSpPr>
        <p:spPr>
          <a:xfrm>
            <a:off x="3114675" y="3524250"/>
            <a:ext cx="18669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39" name="Rectangle 38">
            <a:extLst>
              <a:ext uri="{FF2B5EF4-FFF2-40B4-BE49-F238E27FC236}">
                <a16:creationId xmlns:a16="http://schemas.microsoft.com/office/drawing/2014/main" id="{D099692A-156A-4DC4-80D6-830C88AA4DBC}"/>
              </a:ext>
            </a:extLst>
          </p:cNvPr>
          <p:cNvSpPr>
            <a:spLocks noGrp="1"/>
          </p:cNvSpPr>
          <p:nvPr/>
        </p:nvSpPr>
        <p:spPr>
          <a:xfrm>
            <a:off x="3190875" y="3695700"/>
            <a:ext cx="171450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0" name="Rectangle: Rounded Corners 39">
            <a:extLst>
              <a:ext uri="{FF2B5EF4-FFF2-40B4-BE49-F238E27FC236}">
                <a16:creationId xmlns:a16="http://schemas.microsoft.com/office/drawing/2014/main" id="{AEE75D5A-C83D-4DCC-A3A2-DD9A06ED16CC}"/>
              </a:ext>
            </a:extLst>
          </p:cNvPr>
          <p:cNvSpPr>
            <a:spLocks noGrp="1"/>
          </p:cNvSpPr>
          <p:nvPr/>
        </p:nvSpPr>
        <p:spPr>
          <a:xfrm>
            <a:off x="5019675" y="3524250"/>
            <a:ext cx="234315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41" name="Rectangle 40">
            <a:extLst>
              <a:ext uri="{FF2B5EF4-FFF2-40B4-BE49-F238E27FC236}">
                <a16:creationId xmlns:a16="http://schemas.microsoft.com/office/drawing/2014/main" id="{B0006050-B264-48D8-AE77-7C093E2686B2}"/>
              </a:ext>
            </a:extLst>
          </p:cNvPr>
          <p:cNvSpPr>
            <a:spLocks noGrp="1"/>
          </p:cNvSpPr>
          <p:nvPr/>
        </p:nvSpPr>
        <p:spPr>
          <a:xfrm>
            <a:off x="5095875" y="3695700"/>
            <a:ext cx="219075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2" name="Rectangle: Rounded Corners 41">
            <a:extLst>
              <a:ext uri="{FF2B5EF4-FFF2-40B4-BE49-F238E27FC236}">
                <a16:creationId xmlns:a16="http://schemas.microsoft.com/office/drawing/2014/main" id="{25E0464D-220B-4108-B243-B3CA3615182C}"/>
              </a:ext>
            </a:extLst>
          </p:cNvPr>
          <p:cNvSpPr>
            <a:spLocks noGrp="1"/>
          </p:cNvSpPr>
          <p:nvPr/>
        </p:nvSpPr>
        <p:spPr>
          <a:xfrm>
            <a:off x="7400925" y="3524250"/>
            <a:ext cx="18669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43" name="Rectangle 42">
            <a:extLst>
              <a:ext uri="{FF2B5EF4-FFF2-40B4-BE49-F238E27FC236}">
                <a16:creationId xmlns:a16="http://schemas.microsoft.com/office/drawing/2014/main" id="{63CD5881-9019-4365-9762-3093EB322852}"/>
              </a:ext>
            </a:extLst>
          </p:cNvPr>
          <p:cNvSpPr>
            <a:spLocks noGrp="1"/>
          </p:cNvSpPr>
          <p:nvPr/>
        </p:nvSpPr>
        <p:spPr>
          <a:xfrm>
            <a:off x="7477125" y="36957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44" name="Rectangle: Rounded Corners 43">
            <a:extLst>
              <a:ext uri="{FF2B5EF4-FFF2-40B4-BE49-F238E27FC236}">
                <a16:creationId xmlns:a16="http://schemas.microsoft.com/office/drawing/2014/main" id="{5CA691E2-BFBA-44BA-A73C-A65AD47B6174}"/>
              </a:ext>
            </a:extLst>
          </p:cNvPr>
          <p:cNvSpPr>
            <a:spLocks noGrp="1"/>
          </p:cNvSpPr>
          <p:nvPr/>
        </p:nvSpPr>
        <p:spPr>
          <a:xfrm>
            <a:off x="9305925" y="3524250"/>
            <a:ext cx="24384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45" name="Rectangle 44">
            <a:extLst>
              <a:ext uri="{FF2B5EF4-FFF2-40B4-BE49-F238E27FC236}">
                <a16:creationId xmlns:a16="http://schemas.microsoft.com/office/drawing/2014/main" id="{8E194E70-1D1E-45AC-923E-5381A7B72275}"/>
              </a:ext>
            </a:extLst>
          </p:cNvPr>
          <p:cNvSpPr>
            <a:spLocks noGrp="1"/>
          </p:cNvSpPr>
          <p:nvPr/>
        </p:nvSpPr>
        <p:spPr>
          <a:xfrm>
            <a:off x="9382125" y="3695700"/>
            <a:ext cx="228600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6" name="Rectangle: Rounded Corners 45">
            <a:extLst>
              <a:ext uri="{FF2B5EF4-FFF2-40B4-BE49-F238E27FC236}">
                <a16:creationId xmlns:a16="http://schemas.microsoft.com/office/drawing/2014/main" id="{F1E8252F-EE83-4FC2-ADD6-AFC68E0E81B1}"/>
              </a:ext>
            </a:extLst>
          </p:cNvPr>
          <p:cNvSpPr>
            <a:spLocks noGrp="1"/>
          </p:cNvSpPr>
          <p:nvPr/>
        </p:nvSpPr>
        <p:spPr>
          <a:xfrm>
            <a:off x="400050" y="4171950"/>
            <a:ext cx="2676525"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47" name="Rectangle 46">
            <a:extLst>
              <a:ext uri="{FF2B5EF4-FFF2-40B4-BE49-F238E27FC236}">
                <a16:creationId xmlns:a16="http://schemas.microsoft.com/office/drawing/2014/main" id="{2C095DA6-FE80-4644-ADD2-AF43FA8E703A}"/>
              </a:ext>
            </a:extLst>
          </p:cNvPr>
          <p:cNvSpPr>
            <a:spLocks noGrp="1"/>
          </p:cNvSpPr>
          <p:nvPr/>
        </p:nvSpPr>
        <p:spPr>
          <a:xfrm>
            <a:off x="476250" y="4343400"/>
            <a:ext cx="2524125" cy="228600"/>
          </a:xfrm>
          <a:prstGeom prst="rect">
            <a:avLst/>
          </a:prstGeom>
          <a:noFill/>
          <a:ln w="0">
            <a:noFill/>
            <a:prstDash val="solid"/>
          </a:ln>
        </p:spPr>
        <p:txBody>
          <a:bodyPr lIns="0" tIns="0" rIns="0" bIns="0" anchor="t">
            <a:normAutofit/>
          </a:bodyPr>
          <a:lstStyle/>
          <a:p>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Talensi / Lower Anayari</a:t>
            </a:r>
          </a:p>
        </p:txBody>
      </p:sp>
      <p:sp>
        <p:nvSpPr>
          <p:cNvPr id="48" name="Rectangle: Rounded Corners 47">
            <a:extLst>
              <a:ext uri="{FF2B5EF4-FFF2-40B4-BE49-F238E27FC236}">
                <a16:creationId xmlns:a16="http://schemas.microsoft.com/office/drawing/2014/main" id="{3C4E239F-5FE2-49F5-9BD8-37DBBA124EF7}"/>
              </a:ext>
            </a:extLst>
          </p:cNvPr>
          <p:cNvSpPr>
            <a:spLocks noGrp="1"/>
          </p:cNvSpPr>
          <p:nvPr/>
        </p:nvSpPr>
        <p:spPr>
          <a:xfrm>
            <a:off x="3114675" y="4171950"/>
            <a:ext cx="186690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49" name="Rectangle 48">
            <a:extLst>
              <a:ext uri="{FF2B5EF4-FFF2-40B4-BE49-F238E27FC236}">
                <a16:creationId xmlns:a16="http://schemas.microsoft.com/office/drawing/2014/main" id="{858B4FC4-5EC8-45AA-A0B7-93FCF266E9BC}"/>
              </a:ext>
            </a:extLst>
          </p:cNvPr>
          <p:cNvSpPr>
            <a:spLocks noGrp="1"/>
          </p:cNvSpPr>
          <p:nvPr/>
        </p:nvSpPr>
        <p:spPr>
          <a:xfrm>
            <a:off x="3190875" y="4343400"/>
            <a:ext cx="171450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0" name="Rectangle: Rounded Corners 49">
            <a:extLst>
              <a:ext uri="{FF2B5EF4-FFF2-40B4-BE49-F238E27FC236}">
                <a16:creationId xmlns:a16="http://schemas.microsoft.com/office/drawing/2014/main" id="{27259C0C-A947-430F-BDD5-22EEC3E218B0}"/>
              </a:ext>
            </a:extLst>
          </p:cNvPr>
          <p:cNvSpPr>
            <a:spLocks noGrp="1"/>
          </p:cNvSpPr>
          <p:nvPr/>
        </p:nvSpPr>
        <p:spPr>
          <a:xfrm>
            <a:off x="5019675" y="4171950"/>
            <a:ext cx="234315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51" name="Rectangle 50">
            <a:extLst>
              <a:ext uri="{FF2B5EF4-FFF2-40B4-BE49-F238E27FC236}">
                <a16:creationId xmlns:a16="http://schemas.microsoft.com/office/drawing/2014/main" id="{BB05B310-7929-42E4-AC61-AEFD5442E1D9}"/>
              </a:ext>
            </a:extLst>
          </p:cNvPr>
          <p:cNvSpPr>
            <a:spLocks noGrp="1"/>
          </p:cNvSpPr>
          <p:nvPr/>
        </p:nvSpPr>
        <p:spPr>
          <a:xfrm>
            <a:off x="5095875" y="4343400"/>
            <a:ext cx="219075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2" name="Rectangle: Rounded Corners 51">
            <a:extLst>
              <a:ext uri="{FF2B5EF4-FFF2-40B4-BE49-F238E27FC236}">
                <a16:creationId xmlns:a16="http://schemas.microsoft.com/office/drawing/2014/main" id="{574642AA-449F-4B35-A2FF-8F3A98369EFC}"/>
              </a:ext>
            </a:extLst>
          </p:cNvPr>
          <p:cNvSpPr>
            <a:spLocks noGrp="1"/>
          </p:cNvSpPr>
          <p:nvPr/>
        </p:nvSpPr>
        <p:spPr>
          <a:xfrm>
            <a:off x="7400925" y="4171950"/>
            <a:ext cx="186690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53" name="Rectangle 52">
            <a:extLst>
              <a:ext uri="{FF2B5EF4-FFF2-40B4-BE49-F238E27FC236}">
                <a16:creationId xmlns:a16="http://schemas.microsoft.com/office/drawing/2014/main" id="{93517144-99FA-469F-AC08-7BBF228D5DD6}"/>
              </a:ext>
            </a:extLst>
          </p:cNvPr>
          <p:cNvSpPr>
            <a:spLocks noGrp="1"/>
          </p:cNvSpPr>
          <p:nvPr/>
        </p:nvSpPr>
        <p:spPr>
          <a:xfrm>
            <a:off x="7477125" y="43434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54" name="Rectangle: Rounded Corners 53">
            <a:extLst>
              <a:ext uri="{FF2B5EF4-FFF2-40B4-BE49-F238E27FC236}">
                <a16:creationId xmlns:a16="http://schemas.microsoft.com/office/drawing/2014/main" id="{E7CCACC6-27A6-4909-B810-A43B36AC9C07}"/>
              </a:ext>
            </a:extLst>
          </p:cNvPr>
          <p:cNvSpPr>
            <a:spLocks noGrp="1"/>
          </p:cNvSpPr>
          <p:nvPr/>
        </p:nvSpPr>
        <p:spPr>
          <a:xfrm>
            <a:off x="9305925" y="4171950"/>
            <a:ext cx="2438400" cy="552450"/>
          </a:xfrm>
          <a:prstGeom prst="roundRect">
            <a:avLst>
              <a:gd name="adj" fmla="val 20690"/>
            </a:avLst>
          </a:prstGeom>
          <a:solidFill>
            <a:srgbClr val="FFFFFF"/>
          </a:solidFill>
          <a:ln w="9525">
            <a:solidFill>
              <a:srgbClr val="B8BCC4"/>
            </a:solidFill>
            <a:prstDash val="solid"/>
          </a:ln>
        </p:spPr>
        <p:txBody>
          <a:bodyPr/>
          <a:lstStyle/>
          <a:p>
            <a:endParaRPr lang="en-US"/>
          </a:p>
        </p:txBody>
      </p:sp>
      <p:sp>
        <p:nvSpPr>
          <p:cNvPr id="55" name="Rectangle 54">
            <a:extLst>
              <a:ext uri="{FF2B5EF4-FFF2-40B4-BE49-F238E27FC236}">
                <a16:creationId xmlns:a16="http://schemas.microsoft.com/office/drawing/2014/main" id="{C15F8CE4-396E-4541-B44B-54FA2C938858}"/>
              </a:ext>
            </a:extLst>
          </p:cNvPr>
          <p:cNvSpPr>
            <a:spLocks noGrp="1"/>
          </p:cNvSpPr>
          <p:nvPr/>
        </p:nvSpPr>
        <p:spPr>
          <a:xfrm>
            <a:off x="9382125" y="4343400"/>
            <a:ext cx="2286000" cy="228600"/>
          </a:xfrm>
          <a:prstGeom prst="rect">
            <a:avLst/>
          </a:prstGeom>
          <a:noFill/>
          <a:ln w="0">
            <a:noFill/>
            <a:prstDash val="solid"/>
          </a:ln>
        </p:spPr>
        <p:txBody>
          <a:bodyPr lIns="0" tIns="0" rIns="0" bIns="0" anchor="t">
            <a:normAutofit/>
          </a:bodyPr>
          <a:lstStyle/>
          <a:p>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6" name="Rectangle: Rounded Corners 55">
            <a:extLst>
              <a:ext uri="{FF2B5EF4-FFF2-40B4-BE49-F238E27FC236}">
                <a16:creationId xmlns:a16="http://schemas.microsoft.com/office/drawing/2014/main" id="{84A35D1D-CBCE-42D7-82C3-678F109E7D19}"/>
              </a:ext>
            </a:extLst>
          </p:cNvPr>
          <p:cNvSpPr>
            <a:spLocks noGrp="1"/>
          </p:cNvSpPr>
          <p:nvPr/>
        </p:nvSpPr>
        <p:spPr>
          <a:xfrm>
            <a:off x="400050" y="4819650"/>
            <a:ext cx="2676525"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57" name="Rectangle 56">
            <a:extLst>
              <a:ext uri="{FF2B5EF4-FFF2-40B4-BE49-F238E27FC236}">
                <a16:creationId xmlns:a16="http://schemas.microsoft.com/office/drawing/2014/main" id="{CA833AD4-AFB7-4986-9A9C-11F4ACEA9BB1}"/>
              </a:ext>
            </a:extLst>
          </p:cNvPr>
          <p:cNvSpPr>
            <a:spLocks noGrp="1"/>
          </p:cNvSpPr>
          <p:nvPr/>
        </p:nvSpPr>
        <p:spPr>
          <a:xfrm>
            <a:off x="476250" y="4991100"/>
            <a:ext cx="2524125" cy="228600"/>
          </a:xfrm>
          <a:prstGeom prst="rect">
            <a:avLst/>
          </a:prstGeom>
          <a:noFill/>
          <a:ln w="0">
            <a:noFill/>
            <a:prstDash val="solid"/>
          </a:ln>
        </p:spPr>
        <p:txBody>
          <a:bodyPr lIns="0" tIns="0" rIns="0" bIns="0" anchor="t">
            <a:normAutofit/>
          </a:bodyPr>
          <a:lstStyle/>
          <a:p>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Controlled integration generator</a:t>
            </a:r>
          </a:p>
        </p:txBody>
      </p:sp>
      <p:sp>
        <p:nvSpPr>
          <p:cNvPr id="58" name="Rectangle: Rounded Corners 57">
            <a:extLst>
              <a:ext uri="{FF2B5EF4-FFF2-40B4-BE49-F238E27FC236}">
                <a16:creationId xmlns:a16="http://schemas.microsoft.com/office/drawing/2014/main" id="{A4FDAE3A-30DF-4EA9-8F78-14EDF82F03FB}"/>
              </a:ext>
            </a:extLst>
          </p:cNvPr>
          <p:cNvSpPr>
            <a:spLocks noGrp="1"/>
          </p:cNvSpPr>
          <p:nvPr/>
        </p:nvSpPr>
        <p:spPr>
          <a:xfrm>
            <a:off x="3114675" y="4819650"/>
            <a:ext cx="18669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59" name="Rectangle 58">
            <a:extLst>
              <a:ext uri="{FF2B5EF4-FFF2-40B4-BE49-F238E27FC236}">
                <a16:creationId xmlns:a16="http://schemas.microsoft.com/office/drawing/2014/main" id="{F7FDA173-0198-4D3D-B65A-BA1F93882486}"/>
              </a:ext>
            </a:extLst>
          </p:cNvPr>
          <p:cNvSpPr>
            <a:spLocks noGrp="1"/>
          </p:cNvSpPr>
          <p:nvPr/>
        </p:nvSpPr>
        <p:spPr>
          <a:xfrm>
            <a:off x="3190875" y="49911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0" name="Rectangle: Rounded Corners 59">
            <a:extLst>
              <a:ext uri="{FF2B5EF4-FFF2-40B4-BE49-F238E27FC236}">
                <a16:creationId xmlns:a16="http://schemas.microsoft.com/office/drawing/2014/main" id="{4EDF6AA7-E16C-483F-96CB-019D454A88DB}"/>
              </a:ext>
            </a:extLst>
          </p:cNvPr>
          <p:cNvSpPr>
            <a:spLocks noGrp="1"/>
          </p:cNvSpPr>
          <p:nvPr/>
        </p:nvSpPr>
        <p:spPr>
          <a:xfrm>
            <a:off x="5019675" y="4819650"/>
            <a:ext cx="234315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61" name="Rectangle 60">
            <a:extLst>
              <a:ext uri="{FF2B5EF4-FFF2-40B4-BE49-F238E27FC236}">
                <a16:creationId xmlns:a16="http://schemas.microsoft.com/office/drawing/2014/main" id="{FC49D505-DE85-41AB-AC51-86E6CAE2697E}"/>
              </a:ext>
            </a:extLst>
          </p:cNvPr>
          <p:cNvSpPr>
            <a:spLocks noGrp="1"/>
          </p:cNvSpPr>
          <p:nvPr/>
        </p:nvSpPr>
        <p:spPr>
          <a:xfrm>
            <a:off x="5095875" y="4991100"/>
            <a:ext cx="219075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2" name="Rectangle: Rounded Corners 61">
            <a:extLst>
              <a:ext uri="{FF2B5EF4-FFF2-40B4-BE49-F238E27FC236}">
                <a16:creationId xmlns:a16="http://schemas.microsoft.com/office/drawing/2014/main" id="{82B4A052-5DF8-49D2-8798-E8B0A320AC10}"/>
              </a:ext>
            </a:extLst>
          </p:cNvPr>
          <p:cNvSpPr>
            <a:spLocks noGrp="1"/>
          </p:cNvSpPr>
          <p:nvPr/>
        </p:nvSpPr>
        <p:spPr>
          <a:xfrm>
            <a:off x="7400925" y="4819650"/>
            <a:ext cx="18669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63" name="Rectangle 62">
            <a:extLst>
              <a:ext uri="{FF2B5EF4-FFF2-40B4-BE49-F238E27FC236}">
                <a16:creationId xmlns:a16="http://schemas.microsoft.com/office/drawing/2014/main" id="{15ED522F-3094-424E-9B50-BF6BDD4D24C5}"/>
              </a:ext>
            </a:extLst>
          </p:cNvPr>
          <p:cNvSpPr>
            <a:spLocks noGrp="1"/>
          </p:cNvSpPr>
          <p:nvPr/>
        </p:nvSpPr>
        <p:spPr>
          <a:xfrm>
            <a:off x="7477125" y="4991100"/>
            <a:ext cx="17145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4" name="Rectangle: Rounded Corners 63">
            <a:extLst>
              <a:ext uri="{FF2B5EF4-FFF2-40B4-BE49-F238E27FC236}">
                <a16:creationId xmlns:a16="http://schemas.microsoft.com/office/drawing/2014/main" id="{8655EB80-71AB-4CE7-877D-C2D7AAC4A70B}"/>
              </a:ext>
            </a:extLst>
          </p:cNvPr>
          <p:cNvSpPr>
            <a:spLocks noGrp="1"/>
          </p:cNvSpPr>
          <p:nvPr/>
        </p:nvSpPr>
        <p:spPr>
          <a:xfrm>
            <a:off x="9305925" y="4819650"/>
            <a:ext cx="2438400" cy="552450"/>
          </a:xfrm>
          <a:prstGeom prst="roundRect">
            <a:avLst>
              <a:gd name="adj" fmla="val 20690"/>
            </a:avLst>
          </a:prstGeom>
          <a:solidFill>
            <a:srgbClr val="F2F3F5"/>
          </a:solidFill>
          <a:ln w="9525">
            <a:solidFill>
              <a:srgbClr val="B8BCC4"/>
            </a:solidFill>
            <a:prstDash val="solid"/>
          </a:ln>
        </p:spPr>
        <p:txBody>
          <a:bodyPr/>
          <a:lstStyle/>
          <a:p>
            <a:endParaRPr lang="en-US"/>
          </a:p>
        </p:txBody>
      </p:sp>
      <p:sp>
        <p:nvSpPr>
          <p:cNvPr id="65" name="Rectangle 64">
            <a:extLst>
              <a:ext uri="{FF2B5EF4-FFF2-40B4-BE49-F238E27FC236}">
                <a16:creationId xmlns:a16="http://schemas.microsoft.com/office/drawing/2014/main" id="{02BE194E-8D5C-4A25-8E03-AE4BD5B7F48E}"/>
              </a:ext>
            </a:extLst>
          </p:cNvPr>
          <p:cNvSpPr>
            <a:spLocks noGrp="1"/>
          </p:cNvSpPr>
          <p:nvPr/>
        </p:nvSpPr>
        <p:spPr>
          <a:xfrm>
            <a:off x="9382125" y="4991100"/>
            <a:ext cx="2286000" cy="228600"/>
          </a:xfrm>
          <a:prstGeom prst="rect">
            <a:avLst/>
          </a:prstGeom>
          <a:noFill/>
          <a:ln w="0">
            <a:noFill/>
            <a:prstDash val="solid"/>
          </a:ln>
        </p:spPr>
        <p:txBody>
          <a:bodyPr lIns="0" tIns="0" rIns="0" bIns="0" anchor="t">
            <a:normAutofit/>
          </a:bodyPr>
          <a:lstStyle/>
          <a:p>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 planted</a:t>
            </a:r>
          </a:p>
        </p:txBody>
      </p:sp>
      <p:sp>
        <p:nvSpPr>
          <p:cNvPr id="66" name="Rectangle 65">
            <a:extLst>
              <a:ext uri="{FF2B5EF4-FFF2-40B4-BE49-F238E27FC236}">
                <a16:creationId xmlns:a16="http://schemas.microsoft.com/office/drawing/2014/main" id="{301CA61A-F098-45EF-8081-A4E93F3376EC}"/>
              </a:ext>
            </a:extLst>
          </p:cNvPr>
          <p:cNvSpPr>
            <a:spLocks noGrp="1"/>
          </p:cNvSpPr>
          <p:nvPr/>
        </p:nvSpPr>
        <p:spPr>
          <a:xfrm>
            <a:off x="400050" y="5715000"/>
            <a:ext cx="11391900" cy="323850"/>
          </a:xfrm>
          <a:prstGeom prst="rect">
            <a:avLst/>
          </a:prstGeom>
          <a:noFill/>
          <a:ln w="0">
            <a:noFill/>
            <a:prstDash val="solid"/>
          </a:ln>
        </p:spPr>
        <p:txBody>
          <a:bodyPr lIns="0" tIns="0" rIns="0" bIns="0" anchor="t">
            <a:normAutofit/>
          </a:bodyPr>
          <a:lstStyle/>
          <a:p>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Therefore: controlled known-truth integration + field supportability, not end-to-end field validation.</a:t>
            </a:r>
          </a:p>
        </p:txBody>
      </p:sp>
    </p:spTree>
    <p:extLst>
      <p:ext uri="{BB962C8B-B14F-4D97-AF65-F5344CB8AC3E}">
        <p14:creationId xmlns:p14="http://schemas.microsoft.com/office/powerpoint/2010/main" val="13797419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8C3C5B5-E5E9-481A-ABC6-8530919BEB80}"/>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ADVERSE CONTROLS</a:t>
            </a:r>
          </a:p>
        </p:txBody>
      </p:sp>
      <p:sp>
        <p:nvSpPr>
          <p:cNvPr id="2" name="Rectangle 1">
            <a:extLst>
              <a:ext uri="{FF2B5EF4-FFF2-40B4-BE49-F238E27FC236}">
                <a16:creationId xmlns:a16="http://schemas.microsoft.com/office/drawing/2014/main" id="{246943BC-EC8A-4F1A-B722-49D547FFF654}"/>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Reduced uncertainty can mean confident error</a:t>
            </a:r>
          </a:p>
        </p:txBody>
      </p:sp>
      <p:sp>
        <p:nvSpPr>
          <p:cNvPr id="3" name="Rectangle 2">
            <a:extLst>
              <a:ext uri="{FF2B5EF4-FFF2-40B4-BE49-F238E27FC236}">
                <a16:creationId xmlns:a16="http://schemas.microsoft.com/office/drawing/2014/main" id="{D7D254EF-1D0C-48F1-9E8B-510A7AD529B2}"/>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D10064B9-E7CE-45B8-910E-AE7C074C4612}"/>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91083050-6D80-424E-8C67-8AF98D22BF9D}"/>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35</a:t>
            </a:r>
          </a:p>
        </p:txBody>
      </p:sp>
      <p:sp>
        <p:nvSpPr>
          <p:cNvPr id="6" name="Rectangle: Rounded Corners 5">
            <a:extLst>
              <a:ext uri="{FF2B5EF4-FFF2-40B4-BE49-F238E27FC236}">
                <a16:creationId xmlns:a16="http://schemas.microsoft.com/office/drawing/2014/main" id="{19445FFE-77CF-45B6-A7DB-B0FA03566FF8}"/>
              </a:ext>
            </a:extLst>
          </p:cNvPr>
          <p:cNvSpPr>
            <a:spLocks noGrp="1"/>
          </p:cNvSpPr>
          <p:nvPr/>
        </p:nvSpPr>
        <p:spPr>
          <a:xfrm>
            <a:off x="400050" y="1809750"/>
            <a:ext cx="3543300" cy="2952750"/>
          </a:xfrm>
          <a:prstGeom prst="roundRect">
            <a:avLst>
              <a:gd name="adj" fmla="val 3871"/>
            </a:avLst>
          </a:prstGeom>
          <a:solidFill>
            <a:srgbClr val="FFF3D9"/>
          </a:solidFill>
          <a:ln w="0">
            <a:noFill/>
            <a:prstDash val="solid"/>
          </a:ln>
        </p:spPr>
        <p:txBody>
          <a:bodyPr/>
          <a:lstStyle/>
          <a:p>
            <a:endParaRPr lang="en-US"/>
          </a:p>
        </p:txBody>
      </p:sp>
      <p:sp>
        <p:nvSpPr>
          <p:cNvPr id="7" name="Rectangle 6">
            <a:extLst>
              <a:ext uri="{FF2B5EF4-FFF2-40B4-BE49-F238E27FC236}">
                <a16:creationId xmlns:a16="http://schemas.microsoft.com/office/drawing/2014/main" id="{F627C101-BAEA-4FAF-9595-C6BB10786C50}"/>
              </a:ext>
            </a:extLst>
          </p:cNvPr>
          <p:cNvSpPr>
            <a:spLocks noGrp="1"/>
          </p:cNvSpPr>
          <p:nvPr/>
        </p:nvSpPr>
        <p:spPr>
          <a:xfrm>
            <a:off x="628650" y="2095500"/>
            <a:ext cx="3086100" cy="266700"/>
          </a:xfrm>
          <a:prstGeom prst="rect">
            <a:avLst/>
          </a:prstGeom>
          <a:noFill/>
          <a:ln w="0">
            <a:noFill/>
            <a:prstDash val="solid"/>
          </a:ln>
        </p:spPr>
        <p:txBody>
          <a:bodyPr lIns="0" tIns="0" rIns="0" bIns="0" anchor="t">
            <a:normAutofit/>
          </a:bodyPr>
          <a:lstStyle/>
          <a:p>
            <a:pPr algn="ctr">
              <a:defRPr sz="1350" b="1">
                <a:solidFill>
                  <a:srgbClr val="D97706"/>
                </a:solidFill>
                <a:latin typeface="Helvetica Neue"/>
                <a:ea typeface="Helvetica Neue"/>
                <a:cs typeface="Helvetica Neue"/>
              </a:defRPr>
            </a:pPr>
            <a:r>
              <a:rPr sz="1350" b="1">
                <a:solidFill>
                  <a:srgbClr val="D97706"/>
                </a:solidFill>
                <a:latin typeface="Helvetica Neue"/>
                <a:ea typeface="Helvetica Neue"/>
                <a:cs typeface="Helvetica Neue"/>
              </a:rPr>
              <a:t>PERMUTED AGE</a:t>
            </a:r>
          </a:p>
        </p:txBody>
      </p:sp>
      <p:sp>
        <p:nvSpPr>
          <p:cNvPr id="8" name="Rectangle 7">
            <a:extLst>
              <a:ext uri="{FF2B5EF4-FFF2-40B4-BE49-F238E27FC236}">
                <a16:creationId xmlns:a16="http://schemas.microsoft.com/office/drawing/2014/main" id="{5D225E4A-5BF4-4A90-950D-1207F4E5B972}"/>
              </a:ext>
            </a:extLst>
          </p:cNvPr>
          <p:cNvSpPr>
            <a:spLocks noGrp="1"/>
          </p:cNvSpPr>
          <p:nvPr/>
        </p:nvSpPr>
        <p:spPr>
          <a:xfrm>
            <a:off x="628650" y="2838450"/>
            <a:ext cx="3086100" cy="228600"/>
          </a:xfrm>
          <a:prstGeom prst="rect">
            <a:avLst/>
          </a:prstGeom>
          <a:noFill/>
          <a:ln w="0">
            <a:noFill/>
            <a:prstDash val="solid"/>
          </a:ln>
        </p:spPr>
        <p:txBody>
          <a:bodyPr lIns="0" tIns="0" rIns="0" bIns="0" anchor="t">
            <a:normAutofit/>
          </a:bodyPr>
          <a:lstStyle/>
          <a:p>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9" name="Rectangle 8">
            <a:extLst>
              <a:ext uri="{FF2B5EF4-FFF2-40B4-BE49-F238E27FC236}">
                <a16:creationId xmlns:a16="http://schemas.microsoft.com/office/drawing/2014/main" id="{87FAE53D-2A83-4F89-A68C-385F41DEE4D7}"/>
              </a:ext>
            </a:extLst>
          </p:cNvPr>
          <p:cNvSpPr>
            <a:spLocks noGrp="1"/>
          </p:cNvSpPr>
          <p:nvPr/>
        </p:nvSpPr>
        <p:spPr>
          <a:xfrm>
            <a:off x="628650" y="3219450"/>
            <a:ext cx="3086100" cy="361950"/>
          </a:xfrm>
          <a:prstGeom prst="rect">
            <a:avLst/>
          </a:prstGeom>
          <a:noFill/>
          <a:ln w="0">
            <a:noFill/>
            <a:prstDash val="solid"/>
          </a:ln>
        </p:spPr>
        <p:txBody>
          <a:bodyPr lIns="0" tIns="0" rIns="0" bIns="0" anchor="t">
            <a:normAutofit/>
          </a:bodyPr>
          <a:lstStyle/>
          <a:p>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−0.0207</a:t>
            </a:r>
          </a:p>
        </p:txBody>
      </p:sp>
      <p:sp>
        <p:nvSpPr>
          <p:cNvPr id="10" name="Rectangle 9">
            <a:extLst>
              <a:ext uri="{FF2B5EF4-FFF2-40B4-BE49-F238E27FC236}">
                <a16:creationId xmlns:a16="http://schemas.microsoft.com/office/drawing/2014/main" id="{047D8855-23FD-4625-AF95-D68048C56365}"/>
              </a:ext>
            </a:extLst>
          </p:cNvPr>
          <p:cNvSpPr>
            <a:spLocks noGrp="1"/>
          </p:cNvSpPr>
          <p:nvPr/>
        </p:nvSpPr>
        <p:spPr>
          <a:xfrm>
            <a:off x="628650" y="3876675"/>
            <a:ext cx="3086100" cy="228600"/>
          </a:xfrm>
          <a:prstGeom prst="rect">
            <a:avLst/>
          </a:prstGeom>
          <a:noFill/>
          <a:ln w="0">
            <a:noFill/>
            <a:prstDash val="solid"/>
          </a:ln>
        </p:spPr>
        <p:txBody>
          <a:bodyPr lIns="0" tIns="0" rIns="0" bIns="0" anchor="t">
            <a:normAutofit/>
          </a:bodyPr>
          <a:lstStyle/>
          <a:p>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11" name="Rectangle 10">
            <a:extLst>
              <a:ext uri="{FF2B5EF4-FFF2-40B4-BE49-F238E27FC236}">
                <a16:creationId xmlns:a16="http://schemas.microsoft.com/office/drawing/2014/main" id="{1F1E56A6-0E67-43F4-99E5-42F51D7F9E28}"/>
              </a:ext>
            </a:extLst>
          </p:cNvPr>
          <p:cNvSpPr>
            <a:spLocks noGrp="1"/>
          </p:cNvSpPr>
          <p:nvPr/>
        </p:nvSpPr>
        <p:spPr>
          <a:xfrm>
            <a:off x="628650" y="4257675"/>
            <a:ext cx="3086100" cy="304800"/>
          </a:xfrm>
          <a:prstGeom prst="rect">
            <a:avLst/>
          </a:prstGeom>
          <a:noFill/>
          <a:ln w="0">
            <a:noFill/>
            <a:prstDash val="solid"/>
          </a:ln>
        </p:spPr>
        <p:txBody>
          <a:bodyPr lIns="0" tIns="0" rIns="0" bIns="0" anchor="t">
            <a:normAutofit/>
          </a:bodyPr>
          <a:lstStyle/>
          <a:p>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PR-AUC −0.0754</a:t>
            </a:r>
          </a:p>
        </p:txBody>
      </p:sp>
      <p:sp>
        <p:nvSpPr>
          <p:cNvPr id="12" name="Rectangle: Rounded Corners 11">
            <a:extLst>
              <a:ext uri="{FF2B5EF4-FFF2-40B4-BE49-F238E27FC236}">
                <a16:creationId xmlns:a16="http://schemas.microsoft.com/office/drawing/2014/main" id="{B663CC62-BF89-4AF0-A40A-EE52946C7EEE}"/>
              </a:ext>
            </a:extLst>
          </p:cNvPr>
          <p:cNvSpPr>
            <a:spLocks noGrp="1"/>
          </p:cNvSpPr>
          <p:nvPr/>
        </p:nvSpPr>
        <p:spPr>
          <a:xfrm>
            <a:off x="4257675" y="1809750"/>
            <a:ext cx="3543300" cy="2952750"/>
          </a:xfrm>
          <a:prstGeom prst="roundRect">
            <a:avLst>
              <a:gd name="adj" fmla="val 3871"/>
            </a:avLst>
          </a:prstGeom>
          <a:solidFill>
            <a:srgbClr val="FDE8E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2FE43B92-300C-4C48-BFC6-22D1DC897F17}"/>
              </a:ext>
            </a:extLst>
          </p:cNvPr>
          <p:cNvSpPr>
            <a:spLocks noGrp="1"/>
          </p:cNvSpPr>
          <p:nvPr/>
        </p:nvSpPr>
        <p:spPr>
          <a:xfrm>
            <a:off x="4486275" y="2095500"/>
            <a:ext cx="3086100" cy="266700"/>
          </a:xfrm>
          <a:prstGeom prst="rect">
            <a:avLst/>
          </a:prstGeom>
          <a:noFill/>
          <a:ln w="0">
            <a:noFill/>
            <a:prstDash val="solid"/>
          </a:ln>
        </p:spPr>
        <p:txBody>
          <a:bodyPr lIns="0" tIns="0" rIns="0" bIns="0" anchor="t">
            <a:normAutofit/>
          </a:bodyPr>
          <a:lstStyle/>
          <a:p>
            <a:pPr algn="ctr">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PERMUTED HYDRAULICS</a:t>
            </a:r>
          </a:p>
        </p:txBody>
      </p:sp>
      <p:sp>
        <p:nvSpPr>
          <p:cNvPr id="14" name="Rectangle 13">
            <a:extLst>
              <a:ext uri="{FF2B5EF4-FFF2-40B4-BE49-F238E27FC236}">
                <a16:creationId xmlns:a16="http://schemas.microsoft.com/office/drawing/2014/main" id="{9A3DD7F1-0641-42EB-95F8-2693E8D76CA5}"/>
              </a:ext>
            </a:extLst>
          </p:cNvPr>
          <p:cNvSpPr>
            <a:spLocks noGrp="1"/>
          </p:cNvSpPr>
          <p:nvPr/>
        </p:nvSpPr>
        <p:spPr>
          <a:xfrm>
            <a:off x="4486275" y="2838450"/>
            <a:ext cx="3086100" cy="228600"/>
          </a:xfrm>
          <a:prstGeom prst="rect">
            <a:avLst/>
          </a:prstGeom>
          <a:noFill/>
          <a:ln w="0">
            <a:noFill/>
            <a:prstDash val="solid"/>
          </a:ln>
        </p:spPr>
        <p:txBody>
          <a:bodyPr lIns="0" tIns="0" rIns="0" bIns="0" anchor="t">
            <a:normAutofit/>
          </a:bodyPr>
          <a:lstStyle/>
          <a:p>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15" name="Rectangle 14">
            <a:extLst>
              <a:ext uri="{FF2B5EF4-FFF2-40B4-BE49-F238E27FC236}">
                <a16:creationId xmlns:a16="http://schemas.microsoft.com/office/drawing/2014/main" id="{6C7CA271-CA3A-47D0-B322-3FDF2104C259}"/>
              </a:ext>
            </a:extLst>
          </p:cNvPr>
          <p:cNvSpPr>
            <a:spLocks noGrp="1"/>
          </p:cNvSpPr>
          <p:nvPr/>
        </p:nvSpPr>
        <p:spPr>
          <a:xfrm>
            <a:off x="4486275" y="3219450"/>
            <a:ext cx="3086100" cy="361950"/>
          </a:xfrm>
          <a:prstGeom prst="rect">
            <a:avLst/>
          </a:prstGeom>
          <a:noFill/>
          <a:ln w="0">
            <a:noFill/>
            <a:prstDash val="solid"/>
          </a:ln>
        </p:spPr>
        <p:txBody>
          <a:bodyPr lIns="0" tIns="0" rIns="0" bIns="0" anchor="t">
            <a:normAutofit/>
          </a:bodyPr>
          <a:lstStyle/>
          <a:p>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−0.0482</a:t>
            </a:r>
          </a:p>
        </p:txBody>
      </p:sp>
      <p:sp>
        <p:nvSpPr>
          <p:cNvPr id="16" name="Rectangle 15">
            <a:extLst>
              <a:ext uri="{FF2B5EF4-FFF2-40B4-BE49-F238E27FC236}">
                <a16:creationId xmlns:a16="http://schemas.microsoft.com/office/drawing/2014/main" id="{325757B9-36FF-4313-8901-F7421C0B2CA5}"/>
              </a:ext>
            </a:extLst>
          </p:cNvPr>
          <p:cNvSpPr>
            <a:spLocks noGrp="1"/>
          </p:cNvSpPr>
          <p:nvPr/>
        </p:nvSpPr>
        <p:spPr>
          <a:xfrm>
            <a:off x="4486275" y="3876675"/>
            <a:ext cx="3086100" cy="228600"/>
          </a:xfrm>
          <a:prstGeom prst="rect">
            <a:avLst/>
          </a:prstGeom>
          <a:noFill/>
          <a:ln w="0">
            <a:noFill/>
            <a:prstDash val="solid"/>
          </a:ln>
        </p:spPr>
        <p:txBody>
          <a:bodyPr lIns="0" tIns="0" rIns="0" bIns="0" anchor="t">
            <a:normAutofit/>
          </a:bodyPr>
          <a:lstStyle/>
          <a:p>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17" name="Rectangle 16">
            <a:extLst>
              <a:ext uri="{FF2B5EF4-FFF2-40B4-BE49-F238E27FC236}">
                <a16:creationId xmlns:a16="http://schemas.microsoft.com/office/drawing/2014/main" id="{17B52A60-868D-4FEA-85E9-21CFE8792EEE}"/>
              </a:ext>
            </a:extLst>
          </p:cNvPr>
          <p:cNvSpPr>
            <a:spLocks noGrp="1"/>
          </p:cNvSpPr>
          <p:nvPr/>
        </p:nvSpPr>
        <p:spPr>
          <a:xfrm>
            <a:off x="4486275" y="4257675"/>
            <a:ext cx="3086100" cy="304800"/>
          </a:xfrm>
          <a:prstGeom prst="rect">
            <a:avLst/>
          </a:prstGeom>
          <a:noFill/>
          <a:ln w="0">
            <a:noFill/>
            <a:prstDash val="solid"/>
          </a:ln>
        </p:spPr>
        <p:txBody>
          <a:bodyPr lIns="0" tIns="0" rIns="0" bIns="0" anchor="t">
            <a:normAutofit/>
          </a:bodyPr>
          <a:lstStyle/>
          <a:p>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Log loss +0.0745</a:t>
            </a:r>
          </a:p>
        </p:txBody>
      </p:sp>
      <p:sp>
        <p:nvSpPr>
          <p:cNvPr id="18" name="Rectangle: Rounded Corners 17">
            <a:extLst>
              <a:ext uri="{FF2B5EF4-FFF2-40B4-BE49-F238E27FC236}">
                <a16:creationId xmlns:a16="http://schemas.microsoft.com/office/drawing/2014/main" id="{141DCE48-A8D6-4082-A9F2-FCE4198CA492}"/>
              </a:ext>
            </a:extLst>
          </p:cNvPr>
          <p:cNvSpPr>
            <a:spLocks noGrp="1"/>
          </p:cNvSpPr>
          <p:nvPr/>
        </p:nvSpPr>
        <p:spPr>
          <a:xfrm>
            <a:off x="8115300" y="1809750"/>
            <a:ext cx="3543300" cy="2952750"/>
          </a:xfrm>
          <a:prstGeom prst="roundRect">
            <a:avLst>
              <a:gd name="adj" fmla="val 3871"/>
            </a:avLst>
          </a:prstGeom>
          <a:solidFill>
            <a:srgbClr val="FDE8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8AD027CE-B25F-40DD-BD44-9231354FE24D}"/>
              </a:ext>
            </a:extLst>
          </p:cNvPr>
          <p:cNvSpPr>
            <a:spLocks noGrp="1"/>
          </p:cNvSpPr>
          <p:nvPr/>
        </p:nvSpPr>
        <p:spPr>
          <a:xfrm>
            <a:off x="8343900" y="2095500"/>
            <a:ext cx="3086100" cy="266700"/>
          </a:xfrm>
          <a:prstGeom prst="rect">
            <a:avLst/>
          </a:prstGeom>
          <a:noFill/>
          <a:ln w="0">
            <a:noFill/>
            <a:prstDash val="solid"/>
          </a:ln>
        </p:spPr>
        <p:txBody>
          <a:bodyPr lIns="0" tIns="0" rIns="0" bIns="0" anchor="t">
            <a:normAutofit/>
          </a:bodyPr>
          <a:lstStyle/>
          <a:p>
            <a:pPr algn="ctr">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JOINT MISSPECIFICATION</a:t>
            </a:r>
          </a:p>
        </p:txBody>
      </p:sp>
      <p:sp>
        <p:nvSpPr>
          <p:cNvPr id="20" name="Rectangle 19">
            <a:extLst>
              <a:ext uri="{FF2B5EF4-FFF2-40B4-BE49-F238E27FC236}">
                <a16:creationId xmlns:a16="http://schemas.microsoft.com/office/drawing/2014/main" id="{302F6630-1278-4AF2-A495-9E059B595E1A}"/>
              </a:ext>
            </a:extLst>
          </p:cNvPr>
          <p:cNvSpPr>
            <a:spLocks noGrp="1"/>
          </p:cNvSpPr>
          <p:nvPr/>
        </p:nvSpPr>
        <p:spPr>
          <a:xfrm>
            <a:off x="8343900" y="2838450"/>
            <a:ext cx="3086100" cy="228600"/>
          </a:xfrm>
          <a:prstGeom prst="rect">
            <a:avLst/>
          </a:prstGeom>
          <a:noFill/>
          <a:ln w="0">
            <a:noFill/>
            <a:prstDash val="solid"/>
          </a:ln>
        </p:spPr>
        <p:txBody>
          <a:bodyPr lIns="0" tIns="0" rIns="0" bIns="0" anchor="t">
            <a:normAutofit/>
          </a:bodyPr>
          <a:lstStyle/>
          <a:p>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21" name="Rectangle 20">
            <a:extLst>
              <a:ext uri="{FF2B5EF4-FFF2-40B4-BE49-F238E27FC236}">
                <a16:creationId xmlns:a16="http://schemas.microsoft.com/office/drawing/2014/main" id="{28A028D6-4785-4ADF-A8BA-C806116534FC}"/>
              </a:ext>
            </a:extLst>
          </p:cNvPr>
          <p:cNvSpPr>
            <a:spLocks noGrp="1"/>
          </p:cNvSpPr>
          <p:nvPr/>
        </p:nvSpPr>
        <p:spPr>
          <a:xfrm>
            <a:off x="8343900" y="3219450"/>
            <a:ext cx="3086100" cy="361950"/>
          </a:xfrm>
          <a:prstGeom prst="rect">
            <a:avLst/>
          </a:prstGeom>
          <a:noFill/>
          <a:ln w="0">
            <a:noFill/>
            <a:prstDash val="solid"/>
          </a:ln>
        </p:spPr>
        <p:txBody>
          <a:bodyPr lIns="0" tIns="0" rIns="0" bIns="0" anchor="t">
            <a:normAutofit/>
          </a:bodyPr>
          <a:lstStyle/>
          <a:p>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−0.0706</a:t>
            </a:r>
          </a:p>
        </p:txBody>
      </p:sp>
      <p:sp>
        <p:nvSpPr>
          <p:cNvPr id="22" name="Rectangle 21">
            <a:extLst>
              <a:ext uri="{FF2B5EF4-FFF2-40B4-BE49-F238E27FC236}">
                <a16:creationId xmlns:a16="http://schemas.microsoft.com/office/drawing/2014/main" id="{B8D5B158-FD3D-4FE4-9A54-25DB5C1D3E26}"/>
              </a:ext>
            </a:extLst>
          </p:cNvPr>
          <p:cNvSpPr>
            <a:spLocks noGrp="1"/>
          </p:cNvSpPr>
          <p:nvPr/>
        </p:nvSpPr>
        <p:spPr>
          <a:xfrm>
            <a:off x="8343900" y="3876675"/>
            <a:ext cx="3086100" cy="228600"/>
          </a:xfrm>
          <a:prstGeom prst="rect">
            <a:avLst/>
          </a:prstGeom>
          <a:noFill/>
          <a:ln w="0">
            <a:noFill/>
            <a:prstDash val="solid"/>
          </a:ln>
        </p:spPr>
        <p:txBody>
          <a:bodyPr lIns="0" tIns="0" rIns="0" bIns="0" anchor="t">
            <a:normAutofit/>
          </a:bodyPr>
          <a:lstStyle/>
          <a:p>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23" name="Rectangle 22">
            <a:extLst>
              <a:ext uri="{FF2B5EF4-FFF2-40B4-BE49-F238E27FC236}">
                <a16:creationId xmlns:a16="http://schemas.microsoft.com/office/drawing/2014/main" id="{E802283E-5B62-4B52-850D-523932874E31}"/>
              </a:ext>
            </a:extLst>
          </p:cNvPr>
          <p:cNvSpPr>
            <a:spLocks noGrp="1"/>
          </p:cNvSpPr>
          <p:nvPr/>
        </p:nvSpPr>
        <p:spPr>
          <a:xfrm>
            <a:off x="8343900" y="4257675"/>
            <a:ext cx="3086100" cy="304800"/>
          </a:xfrm>
          <a:prstGeom prst="rect">
            <a:avLst/>
          </a:prstGeom>
          <a:noFill/>
          <a:ln w="0">
            <a:noFill/>
            <a:prstDash val="solid"/>
          </a:ln>
        </p:spPr>
        <p:txBody>
          <a:bodyPr lIns="0" tIns="0" rIns="0" bIns="0" anchor="t">
            <a:normAutofit/>
          </a:bodyPr>
          <a:lstStyle/>
          <a:p>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PR-AUC −0.139</a:t>
            </a:r>
          </a:p>
        </p:txBody>
      </p:sp>
      <p:sp>
        <p:nvSpPr>
          <p:cNvPr id="24" name="Rectangle: Rounded Corners 23">
            <a:extLst>
              <a:ext uri="{FF2B5EF4-FFF2-40B4-BE49-F238E27FC236}">
                <a16:creationId xmlns:a16="http://schemas.microsoft.com/office/drawing/2014/main" id="{99B7A552-E917-47CF-9B02-36D324C6EC38}"/>
              </a:ext>
            </a:extLst>
          </p:cNvPr>
          <p:cNvSpPr>
            <a:spLocks noGrp="1"/>
          </p:cNvSpPr>
          <p:nvPr/>
        </p:nvSpPr>
        <p:spPr>
          <a:xfrm>
            <a:off x="1905000" y="5191125"/>
            <a:ext cx="8382000" cy="685800"/>
          </a:xfrm>
          <a:prstGeom prst="roundRect">
            <a:avLst>
              <a:gd name="adj" fmla="val 16667"/>
            </a:avLst>
          </a:prstGeom>
          <a:solidFill>
            <a:srgbClr val="111318"/>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A7C5110D-33C7-46C8-81A0-36E6F514A939}"/>
              </a:ext>
            </a:extLst>
          </p:cNvPr>
          <p:cNvSpPr>
            <a:spLocks noGrp="1"/>
          </p:cNvSpPr>
          <p:nvPr/>
        </p:nvSpPr>
        <p:spPr>
          <a:xfrm>
            <a:off x="2190750" y="5400675"/>
            <a:ext cx="7810500" cy="304800"/>
          </a:xfrm>
          <a:prstGeom prst="rect">
            <a:avLst/>
          </a:prstGeom>
          <a:noFill/>
          <a:ln w="0">
            <a:noFill/>
            <a:prstDash val="solid"/>
          </a:ln>
        </p:spPr>
        <p:txBody>
          <a:bodyPr lIns="0" tIns="0" rIns="0" bIns="0" anchor="t">
            <a:normAutofit/>
          </a:bodyPr>
          <a:lstStyle/>
          <a:p>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Calibration and discrimination must accompany entropy or interval width.</a:t>
            </a:r>
          </a:p>
        </p:txBody>
      </p:sp>
    </p:spTree>
    <p:extLst>
      <p:ext uri="{BB962C8B-B14F-4D97-AF65-F5344CB8AC3E}">
        <p14:creationId xmlns:p14="http://schemas.microsoft.com/office/powerpoint/2010/main" val="1852365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B0885AB-3E59-4F23-BAE8-51C0E3C1D552}"/>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CAPABILITY STATUS</a:t>
            </a:r>
          </a:p>
        </p:txBody>
      </p:sp>
      <p:sp>
        <p:nvSpPr>
          <p:cNvPr id="2" name="Rectangle 1">
            <a:extLst>
              <a:ext uri="{FF2B5EF4-FFF2-40B4-BE49-F238E27FC236}">
                <a16:creationId xmlns:a16="http://schemas.microsoft.com/office/drawing/2014/main" id="{2F7C7466-10B3-44A4-9CB4-D671980CF962}"/>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Backup · Active learning is implemented, not yet validated</a:t>
            </a:r>
          </a:p>
        </p:txBody>
      </p:sp>
      <p:sp>
        <p:nvSpPr>
          <p:cNvPr id="3" name="Rectangle 2">
            <a:extLst>
              <a:ext uri="{FF2B5EF4-FFF2-40B4-BE49-F238E27FC236}">
                <a16:creationId xmlns:a16="http://schemas.microsoft.com/office/drawing/2014/main" id="{EDFA2369-14FE-42ED-8CAF-4DEECFEAD65C}"/>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238E2FF9-7632-43AD-B4C2-BA481CB65F04}"/>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4BF0574C-5764-4FE2-9DC7-A65CEB2AF8F4}"/>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36</a:t>
            </a:r>
          </a:p>
        </p:txBody>
      </p:sp>
      <p:sp>
        <p:nvSpPr>
          <p:cNvPr id="6" name="Rectangle: Rounded Corners 5">
            <a:extLst>
              <a:ext uri="{FF2B5EF4-FFF2-40B4-BE49-F238E27FC236}">
                <a16:creationId xmlns:a16="http://schemas.microsoft.com/office/drawing/2014/main" id="{4598456D-66C6-4C90-8F70-ACB9B0EEB1C3}"/>
              </a:ext>
            </a:extLst>
          </p:cNvPr>
          <p:cNvSpPr>
            <a:spLocks noGrp="1"/>
          </p:cNvSpPr>
          <p:nvPr/>
        </p:nvSpPr>
        <p:spPr>
          <a:xfrm>
            <a:off x="400050" y="1619250"/>
            <a:ext cx="5334000" cy="3619500"/>
          </a:xfrm>
          <a:prstGeom prst="roundRect">
            <a:avLst>
              <a:gd name="adj" fmla="val 3158"/>
            </a:avLst>
          </a:prstGeom>
          <a:solidFill>
            <a:srgbClr val="F2F3F5"/>
          </a:solidFill>
          <a:ln w="0">
            <a:noFill/>
            <a:prstDash val="solid"/>
          </a:ln>
        </p:spPr>
        <p:txBody>
          <a:bodyPr/>
          <a:lstStyle/>
          <a:p>
            <a:endParaRPr lang="en-US"/>
          </a:p>
        </p:txBody>
      </p:sp>
      <p:sp>
        <p:nvSpPr>
          <p:cNvPr id="7" name="Rectangle 6">
            <a:extLst>
              <a:ext uri="{FF2B5EF4-FFF2-40B4-BE49-F238E27FC236}">
                <a16:creationId xmlns:a16="http://schemas.microsoft.com/office/drawing/2014/main" id="{E460DC3A-C1FD-4428-A273-F28923772950}"/>
              </a:ext>
            </a:extLst>
          </p:cNvPr>
          <p:cNvSpPr>
            <a:spLocks noGrp="1"/>
          </p:cNvSpPr>
          <p:nvPr/>
        </p:nvSpPr>
        <p:spPr>
          <a:xfrm>
            <a:off x="666750" y="1866900"/>
            <a:ext cx="4762500" cy="228600"/>
          </a:xfrm>
          <a:prstGeom prst="rect">
            <a:avLst/>
          </a:prstGeom>
          <a:noFill/>
          <a:ln w="0">
            <a:noFill/>
            <a:prstDash val="solid"/>
          </a:ln>
        </p:spPr>
        <p:txBody>
          <a:bodyPr lIns="0" tIns="0" rIns="0" bIns="0" anchor="t">
            <a:normAutofit/>
          </a:bodyPr>
          <a:lstStyle/>
          <a:p>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CURRENT STATUS</a:t>
            </a:r>
          </a:p>
        </p:txBody>
      </p:sp>
      <p:sp>
        <p:nvSpPr>
          <p:cNvPr id="8" name="Rectangle 7">
            <a:extLst>
              <a:ext uri="{FF2B5EF4-FFF2-40B4-BE49-F238E27FC236}">
                <a16:creationId xmlns:a16="http://schemas.microsoft.com/office/drawing/2014/main" id="{D9DEACF6-4013-4256-9474-E79408AE5E83}"/>
              </a:ext>
            </a:extLst>
          </p:cNvPr>
          <p:cNvSpPr>
            <a:spLocks noGrp="1"/>
          </p:cNvSpPr>
          <p:nvPr/>
        </p:nvSpPr>
        <p:spPr>
          <a:xfrm>
            <a:off x="666750" y="2524125"/>
            <a:ext cx="4762500" cy="952500"/>
          </a:xfrm>
          <a:prstGeom prst="rect">
            <a:avLst/>
          </a:prstGeom>
          <a:noFill/>
          <a:ln w="0">
            <a:noFill/>
            <a:prstDash val="solid"/>
          </a:ln>
        </p:spPr>
        <p:txBody>
          <a:bodyPr lIns="0" tIns="0" rIns="0" bIns="0" anchor="t">
            <a:normAutofit/>
          </a:bodyPr>
          <a:lstStyle/>
          <a:p>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0 recommendations</a:t>
            </a:r>
          </a:p>
          <a:p>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from 0 scored edges</a:t>
            </a:r>
          </a:p>
        </p:txBody>
      </p:sp>
      <p:sp>
        <p:nvSpPr>
          <p:cNvPr id="9" name="Rectangle: Rounded Corners 8">
            <a:extLst>
              <a:ext uri="{FF2B5EF4-FFF2-40B4-BE49-F238E27FC236}">
                <a16:creationId xmlns:a16="http://schemas.microsoft.com/office/drawing/2014/main" id="{99CAE161-3A09-436C-A9BA-FFD6E28EC0A4}"/>
              </a:ext>
            </a:extLst>
          </p:cNvPr>
          <p:cNvSpPr>
            <a:spLocks noGrp="1"/>
          </p:cNvSpPr>
          <p:nvPr/>
        </p:nvSpPr>
        <p:spPr>
          <a:xfrm>
            <a:off x="1381125" y="3905250"/>
            <a:ext cx="3333750" cy="323850"/>
          </a:xfrm>
          <a:prstGeom prst="roundRect">
            <a:avLst>
              <a:gd name="adj" fmla="val 50000"/>
            </a:avLst>
          </a:prstGeom>
          <a:solidFill>
            <a:srgbClr val="FDE8E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B8C59ADA-12CC-45A4-BA1A-26DA10CA7EFB}"/>
              </a:ext>
            </a:extLst>
          </p:cNvPr>
          <p:cNvSpPr>
            <a:spLocks noGrp="1"/>
          </p:cNvSpPr>
          <p:nvPr/>
        </p:nvSpPr>
        <p:spPr>
          <a:xfrm>
            <a:off x="1476375" y="3971925"/>
            <a:ext cx="3143250" cy="190500"/>
          </a:xfrm>
          <a:prstGeom prst="rect">
            <a:avLst/>
          </a:prstGeom>
          <a:noFill/>
          <a:ln w="0">
            <a:noFill/>
            <a:prstDash val="solid"/>
          </a:ln>
        </p:spPr>
        <p:txBody>
          <a:bodyPr lIns="0" tIns="0" rIns="0" bIns="0" anchor="t">
            <a:normAutofit/>
          </a:bodyPr>
          <a:lstStyle/>
          <a:p>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A CLAIM-BEARING RESULT</a:t>
            </a:r>
          </a:p>
        </p:txBody>
      </p:sp>
      <p:sp>
        <p:nvSpPr>
          <p:cNvPr id="11" name="Rectangle: Rounded Corners 10">
            <a:extLst>
              <a:ext uri="{FF2B5EF4-FFF2-40B4-BE49-F238E27FC236}">
                <a16:creationId xmlns:a16="http://schemas.microsoft.com/office/drawing/2014/main" id="{6A50AD12-3061-44DB-B035-9AC162BC57F6}"/>
              </a:ext>
            </a:extLst>
          </p:cNvPr>
          <p:cNvSpPr>
            <a:spLocks noGrp="1"/>
          </p:cNvSpPr>
          <p:nvPr/>
        </p:nvSpPr>
        <p:spPr>
          <a:xfrm>
            <a:off x="6076950" y="1619250"/>
            <a:ext cx="5334000" cy="3619500"/>
          </a:xfrm>
          <a:prstGeom prst="roundRect">
            <a:avLst>
              <a:gd name="adj" fmla="val 3158"/>
            </a:avLst>
          </a:prstGeom>
          <a:solidFill>
            <a:srgbClr val="E7F7F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94D7AB1D-2F27-4A7B-96EB-2BE53DC7E6AD}"/>
              </a:ext>
            </a:extLst>
          </p:cNvPr>
          <p:cNvSpPr>
            <a:spLocks noGrp="1"/>
          </p:cNvSpPr>
          <p:nvPr/>
        </p:nvSpPr>
        <p:spPr>
          <a:xfrm>
            <a:off x="6343650" y="1866900"/>
            <a:ext cx="4762500" cy="228600"/>
          </a:xfrm>
          <a:prstGeom prst="rect">
            <a:avLst/>
          </a:prstGeom>
          <a:noFill/>
          <a:ln w="0">
            <a:noFill/>
            <a:prstDash val="solid"/>
          </a:ln>
        </p:spPr>
        <p:txBody>
          <a:bodyPr lIns="0" tIns="0" rIns="0" bIns="0" anchor="t">
            <a:normAutofit/>
          </a:bodyPr>
          <a:lstStyle/>
          <a:p>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WHAT WOULD EARN STATUS</a:t>
            </a:r>
          </a:p>
        </p:txBody>
      </p:sp>
      <p:sp>
        <p:nvSpPr>
          <p:cNvPr id="13" name="Rectangle 12">
            <a:extLst>
              <a:ext uri="{FF2B5EF4-FFF2-40B4-BE49-F238E27FC236}">
                <a16:creationId xmlns:a16="http://schemas.microsoft.com/office/drawing/2014/main" id="{627B072D-D981-48FF-8FBC-76701B43A158}"/>
              </a:ext>
            </a:extLst>
          </p:cNvPr>
          <p:cNvSpPr>
            <a:spLocks noGrp="1"/>
          </p:cNvSpPr>
          <p:nvPr/>
        </p:nvSpPr>
        <p:spPr>
          <a:xfrm>
            <a:off x="6515100" y="2476500"/>
            <a:ext cx="4429125" cy="1809750"/>
          </a:xfrm>
          <a:prstGeom prst="rect">
            <a:avLst/>
          </a:prstGeom>
          <a:noFill/>
          <a:ln w="0">
            <a:noFill/>
            <a:prstDash val="solid"/>
          </a:ln>
        </p:spPr>
        <p:txBody>
          <a:bodyPr lIns="0" tIns="0" rIns="0" bIns="0" anchor="t">
            <a:normAutofit/>
          </a:bodyPr>
          <a:lstStyle/>
          <a:p>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1  Jacobian-aware value of information</a:t>
            </a:r>
          </a:p>
          <a:p>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2  explicit costs and decision loss</a:t>
            </a:r>
          </a:p>
          <a:p>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3  prospective locked comparison</a:t>
            </a:r>
          </a:p>
          <a:p>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4  independent replication</a:t>
            </a:r>
          </a:p>
        </p:txBody>
      </p:sp>
      <p:sp>
        <p:nvSpPr>
          <p:cNvPr id="14" name="Rectangle 13">
            <a:extLst>
              <a:ext uri="{FF2B5EF4-FFF2-40B4-BE49-F238E27FC236}">
                <a16:creationId xmlns:a16="http://schemas.microsoft.com/office/drawing/2014/main" id="{D18B4CA2-AB93-4215-9264-4BFD28D5AA74}"/>
              </a:ext>
            </a:extLst>
          </p:cNvPr>
          <p:cNvSpPr>
            <a:spLocks noGrp="1"/>
          </p:cNvSpPr>
          <p:nvPr/>
        </p:nvSpPr>
        <p:spPr>
          <a:xfrm>
            <a:off x="400050" y="5676900"/>
            <a:ext cx="11391900" cy="285750"/>
          </a:xfrm>
          <a:prstGeom prst="rect">
            <a:avLst/>
          </a:prstGeom>
          <a:noFill/>
          <a:ln w="0">
            <a:noFill/>
            <a:prstDash val="solid"/>
          </a:ln>
        </p:spPr>
        <p:txBody>
          <a:bodyPr lIns="0" tIns="0" rIns="0" bIns="0" anchor="t">
            <a:normAutofit/>
          </a:bodyPr>
          <a:lstStyle/>
          <a:p>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Do not call the current method ‘excellent active learning’ in the viva.</a:t>
            </a:r>
          </a:p>
        </p:txBody>
      </p:sp>
    </p:spTree>
    <p:extLst>
      <p:ext uri="{BB962C8B-B14F-4D97-AF65-F5344CB8AC3E}">
        <p14:creationId xmlns:p14="http://schemas.microsoft.com/office/powerpoint/2010/main" val="909155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97A2191-C7E2-4F73-8401-0CE9D62526B8}"/>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AUDITABILITY</a:t>
            </a:r>
          </a:p>
        </p:txBody>
      </p:sp>
      <p:sp>
        <p:nvSpPr>
          <p:cNvPr id="2" name="Rectangle 1">
            <a:extLst>
              <a:ext uri="{FF2B5EF4-FFF2-40B4-BE49-F238E27FC236}">
                <a16:creationId xmlns:a16="http://schemas.microsoft.com/office/drawing/2014/main" id="{7EACD43E-49EB-402C-BB08-680160FE8903}"/>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Reproducibility status</a:t>
            </a:r>
          </a:p>
        </p:txBody>
      </p:sp>
      <p:sp>
        <p:nvSpPr>
          <p:cNvPr id="3" name="Rectangle 2">
            <a:extLst>
              <a:ext uri="{FF2B5EF4-FFF2-40B4-BE49-F238E27FC236}">
                <a16:creationId xmlns:a16="http://schemas.microsoft.com/office/drawing/2014/main" id="{3EB07EDB-2DA4-4BD6-BA67-403C890D998D}"/>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1EE0F1DD-6BBC-4956-B683-1A17D7CA5839}"/>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4F3E754D-43B9-4DE0-A549-07433D1171ED}"/>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37</a:t>
            </a:r>
          </a:p>
        </p:txBody>
      </p:sp>
      <p:sp>
        <p:nvSpPr>
          <p:cNvPr id="6" name="Rectangle: Rounded Corners 5">
            <a:extLst>
              <a:ext uri="{FF2B5EF4-FFF2-40B4-BE49-F238E27FC236}">
                <a16:creationId xmlns:a16="http://schemas.microsoft.com/office/drawing/2014/main" id="{7F83B2E8-4AA3-4DF7-A39D-060022F4F176}"/>
              </a:ext>
            </a:extLst>
          </p:cNvPr>
          <p:cNvSpPr>
            <a:spLocks noGrp="1"/>
          </p:cNvSpPr>
          <p:nvPr/>
        </p:nvSpPr>
        <p:spPr>
          <a:xfrm>
            <a:off x="400050" y="1581150"/>
            <a:ext cx="5429250" cy="1028700"/>
          </a:xfrm>
          <a:prstGeom prst="roundRect">
            <a:avLst>
              <a:gd name="adj" fmla="val 11111"/>
            </a:avLst>
          </a:prstGeom>
          <a:solidFill>
            <a:srgbClr val="F2F3F5"/>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27D8893B-7948-4BB5-A822-CD3634AF0607}"/>
              </a:ext>
            </a:extLst>
          </p:cNvPr>
          <p:cNvSpPr>
            <a:spLocks noGrp="1"/>
          </p:cNvSpPr>
          <p:nvPr/>
        </p:nvSpPr>
        <p:spPr>
          <a:xfrm>
            <a:off x="609600" y="1800225"/>
            <a:ext cx="1238250" cy="323850"/>
          </a:xfrm>
          <a:prstGeom prst="roundRect">
            <a:avLst>
              <a:gd name="adj" fmla="val 50000"/>
            </a:avLst>
          </a:prstGeom>
          <a:solidFill>
            <a:srgbClr val="E7F7F3"/>
          </a:solidFill>
          <a:ln w="0">
            <a:noFill/>
            <a:prstDash val="solid"/>
          </a:ln>
        </p:spPr>
        <p:txBody>
          <a:bodyPr/>
          <a:lstStyle/>
          <a:p>
            <a:endParaRPr lang="en-US"/>
          </a:p>
        </p:txBody>
      </p:sp>
      <p:sp>
        <p:nvSpPr>
          <p:cNvPr id="8" name="Rectangle 7">
            <a:extLst>
              <a:ext uri="{FF2B5EF4-FFF2-40B4-BE49-F238E27FC236}">
                <a16:creationId xmlns:a16="http://schemas.microsoft.com/office/drawing/2014/main" id="{3D3CA709-4353-4AC1-885D-F5858F473D4E}"/>
              </a:ext>
            </a:extLst>
          </p:cNvPr>
          <p:cNvSpPr>
            <a:spLocks noGrp="1"/>
          </p:cNvSpPr>
          <p:nvPr/>
        </p:nvSpPr>
        <p:spPr>
          <a:xfrm>
            <a:off x="704850" y="1866900"/>
            <a:ext cx="1047750" cy="190500"/>
          </a:xfrm>
          <a:prstGeom prst="rect">
            <a:avLst/>
          </a:prstGeom>
          <a:noFill/>
          <a:ln w="0">
            <a:noFill/>
            <a:prstDash val="solid"/>
          </a:ln>
        </p:spPr>
        <p:txBody>
          <a:bodyPr lIns="0" tIns="0" rIns="0" bIns="0" anchor="t">
            <a:normAutofit/>
          </a:bodyPr>
          <a:lstStyle/>
          <a:p>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9" name="Rectangle 8">
            <a:extLst>
              <a:ext uri="{FF2B5EF4-FFF2-40B4-BE49-F238E27FC236}">
                <a16:creationId xmlns:a16="http://schemas.microsoft.com/office/drawing/2014/main" id="{1B22DD70-8308-4DEA-A5F3-175E6B3DC257}"/>
              </a:ext>
            </a:extLst>
          </p:cNvPr>
          <p:cNvSpPr>
            <a:spLocks noGrp="1"/>
          </p:cNvSpPr>
          <p:nvPr/>
        </p:nvSpPr>
        <p:spPr>
          <a:xfrm>
            <a:off x="2019300" y="1809750"/>
            <a:ext cx="3524250" cy="523875"/>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Locked-case separation</a:t>
            </a:r>
          </a:p>
        </p:txBody>
      </p:sp>
      <p:sp>
        <p:nvSpPr>
          <p:cNvPr id="10" name="Rectangle: Rounded Corners 9">
            <a:extLst>
              <a:ext uri="{FF2B5EF4-FFF2-40B4-BE49-F238E27FC236}">
                <a16:creationId xmlns:a16="http://schemas.microsoft.com/office/drawing/2014/main" id="{FF608B49-8E66-4456-AB71-05675FD9B81A}"/>
              </a:ext>
            </a:extLst>
          </p:cNvPr>
          <p:cNvSpPr>
            <a:spLocks noGrp="1"/>
          </p:cNvSpPr>
          <p:nvPr/>
        </p:nvSpPr>
        <p:spPr>
          <a:xfrm>
            <a:off x="6191250" y="1581150"/>
            <a:ext cx="5429250" cy="1028700"/>
          </a:xfrm>
          <a:prstGeom prst="roundRect">
            <a:avLst>
              <a:gd name="adj" fmla="val 11111"/>
            </a:avLst>
          </a:prstGeom>
          <a:solidFill>
            <a:srgbClr val="F2F3F5"/>
          </a:solidFill>
          <a:ln w="0">
            <a:noFill/>
            <a:prstDash val="solid"/>
          </a:ln>
        </p:spPr>
        <p:txBody>
          <a:bodyPr/>
          <a:lstStyle/>
          <a:p>
            <a:endParaRPr lang="en-US"/>
          </a:p>
        </p:txBody>
      </p:sp>
      <p:sp>
        <p:nvSpPr>
          <p:cNvPr id="11" name="Rectangle: Rounded Corners 10">
            <a:extLst>
              <a:ext uri="{FF2B5EF4-FFF2-40B4-BE49-F238E27FC236}">
                <a16:creationId xmlns:a16="http://schemas.microsoft.com/office/drawing/2014/main" id="{CA707A12-2F7B-4E26-8A20-8C9C6DE4E6A6}"/>
              </a:ext>
            </a:extLst>
          </p:cNvPr>
          <p:cNvSpPr>
            <a:spLocks noGrp="1"/>
          </p:cNvSpPr>
          <p:nvPr/>
        </p:nvSpPr>
        <p:spPr>
          <a:xfrm>
            <a:off x="6400800" y="1800225"/>
            <a:ext cx="1238250" cy="323850"/>
          </a:xfrm>
          <a:prstGeom prst="roundRect">
            <a:avLst>
              <a:gd name="adj" fmla="val 50000"/>
            </a:avLst>
          </a:prstGeom>
          <a:solidFill>
            <a:srgbClr val="E7F7F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9BBAD2AD-957F-4AA8-A66D-0788118B3C7D}"/>
              </a:ext>
            </a:extLst>
          </p:cNvPr>
          <p:cNvSpPr>
            <a:spLocks noGrp="1"/>
          </p:cNvSpPr>
          <p:nvPr/>
        </p:nvSpPr>
        <p:spPr>
          <a:xfrm>
            <a:off x="6496050" y="1866900"/>
            <a:ext cx="1047750" cy="190500"/>
          </a:xfrm>
          <a:prstGeom prst="rect">
            <a:avLst/>
          </a:prstGeom>
          <a:noFill/>
          <a:ln w="0">
            <a:noFill/>
            <a:prstDash val="solid"/>
          </a:ln>
        </p:spPr>
        <p:txBody>
          <a:bodyPr lIns="0" tIns="0" rIns="0" bIns="0" anchor="t">
            <a:normAutofit/>
          </a:bodyPr>
          <a:lstStyle/>
          <a:p>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13" name="Rectangle 12">
            <a:extLst>
              <a:ext uri="{FF2B5EF4-FFF2-40B4-BE49-F238E27FC236}">
                <a16:creationId xmlns:a16="http://schemas.microsoft.com/office/drawing/2014/main" id="{381DAE8D-C158-4B69-BFD3-9BE67CDFC7AD}"/>
              </a:ext>
            </a:extLst>
          </p:cNvPr>
          <p:cNvSpPr>
            <a:spLocks noGrp="1"/>
          </p:cNvSpPr>
          <p:nvPr/>
        </p:nvSpPr>
        <p:spPr>
          <a:xfrm>
            <a:off x="7810500" y="1809750"/>
            <a:ext cx="3524250" cy="523875"/>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Frozen hashes and artifact regeneration gates</a:t>
            </a:r>
          </a:p>
        </p:txBody>
      </p:sp>
      <p:sp>
        <p:nvSpPr>
          <p:cNvPr id="14" name="Rectangle: Rounded Corners 13">
            <a:extLst>
              <a:ext uri="{FF2B5EF4-FFF2-40B4-BE49-F238E27FC236}">
                <a16:creationId xmlns:a16="http://schemas.microsoft.com/office/drawing/2014/main" id="{E7E5E99A-7C19-47F1-BAC9-E499310A97B7}"/>
              </a:ext>
            </a:extLst>
          </p:cNvPr>
          <p:cNvSpPr>
            <a:spLocks noGrp="1"/>
          </p:cNvSpPr>
          <p:nvPr/>
        </p:nvSpPr>
        <p:spPr>
          <a:xfrm>
            <a:off x="400050" y="2867025"/>
            <a:ext cx="5429250" cy="1028700"/>
          </a:xfrm>
          <a:prstGeom prst="roundRect">
            <a:avLst>
              <a:gd name="adj" fmla="val 11111"/>
            </a:avLst>
          </a:prstGeom>
          <a:solidFill>
            <a:srgbClr val="F2F3F5"/>
          </a:solidFill>
          <a:ln w="0">
            <a:noFill/>
            <a:prstDash val="solid"/>
          </a:ln>
        </p:spPr>
        <p:txBody>
          <a:bodyPr/>
          <a:lstStyle/>
          <a:p>
            <a:endParaRPr lang="en-US"/>
          </a:p>
        </p:txBody>
      </p:sp>
      <p:sp>
        <p:nvSpPr>
          <p:cNvPr id="15" name="Rectangle: Rounded Corners 14">
            <a:extLst>
              <a:ext uri="{FF2B5EF4-FFF2-40B4-BE49-F238E27FC236}">
                <a16:creationId xmlns:a16="http://schemas.microsoft.com/office/drawing/2014/main" id="{E1A5399D-D02C-4950-9F30-2C4E7DEF72F1}"/>
              </a:ext>
            </a:extLst>
          </p:cNvPr>
          <p:cNvSpPr>
            <a:spLocks noGrp="1"/>
          </p:cNvSpPr>
          <p:nvPr/>
        </p:nvSpPr>
        <p:spPr>
          <a:xfrm>
            <a:off x="609600" y="3086100"/>
            <a:ext cx="1238250" cy="323850"/>
          </a:xfrm>
          <a:prstGeom prst="roundRect">
            <a:avLst>
              <a:gd name="adj" fmla="val 50000"/>
            </a:avLst>
          </a:prstGeom>
          <a:solidFill>
            <a:srgbClr val="E7F7F3"/>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7F1CC55B-F32F-41E7-99D8-40F318BDC42C}"/>
              </a:ext>
            </a:extLst>
          </p:cNvPr>
          <p:cNvSpPr>
            <a:spLocks noGrp="1"/>
          </p:cNvSpPr>
          <p:nvPr/>
        </p:nvSpPr>
        <p:spPr>
          <a:xfrm>
            <a:off x="704850" y="3152775"/>
            <a:ext cx="1047750" cy="190500"/>
          </a:xfrm>
          <a:prstGeom prst="rect">
            <a:avLst/>
          </a:prstGeom>
          <a:noFill/>
          <a:ln w="0">
            <a:noFill/>
            <a:prstDash val="solid"/>
          </a:ln>
        </p:spPr>
        <p:txBody>
          <a:bodyPr lIns="0" tIns="0" rIns="0" bIns="0" anchor="t">
            <a:normAutofit/>
          </a:bodyPr>
          <a:lstStyle/>
          <a:p>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17" name="Rectangle 16">
            <a:extLst>
              <a:ext uri="{FF2B5EF4-FFF2-40B4-BE49-F238E27FC236}">
                <a16:creationId xmlns:a16="http://schemas.microsoft.com/office/drawing/2014/main" id="{E1E63C59-6C36-48DF-9CA4-800F3B2BA191}"/>
              </a:ext>
            </a:extLst>
          </p:cNvPr>
          <p:cNvSpPr>
            <a:spLocks noGrp="1"/>
          </p:cNvSpPr>
          <p:nvPr/>
        </p:nvSpPr>
        <p:spPr>
          <a:xfrm>
            <a:off x="2019300" y="3095625"/>
            <a:ext cx="3524250" cy="523875"/>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10,000-resample post-review audit</a:t>
            </a:r>
          </a:p>
        </p:txBody>
      </p:sp>
      <p:sp>
        <p:nvSpPr>
          <p:cNvPr id="18" name="Rectangle: Rounded Corners 17">
            <a:extLst>
              <a:ext uri="{FF2B5EF4-FFF2-40B4-BE49-F238E27FC236}">
                <a16:creationId xmlns:a16="http://schemas.microsoft.com/office/drawing/2014/main" id="{DFF1D4D9-51DA-4CAD-A666-D48B8C7AC2A8}"/>
              </a:ext>
            </a:extLst>
          </p:cNvPr>
          <p:cNvSpPr>
            <a:spLocks noGrp="1"/>
          </p:cNvSpPr>
          <p:nvPr/>
        </p:nvSpPr>
        <p:spPr>
          <a:xfrm>
            <a:off x="6191250" y="2867025"/>
            <a:ext cx="5429250" cy="1028700"/>
          </a:xfrm>
          <a:prstGeom prst="roundRect">
            <a:avLst>
              <a:gd name="adj" fmla="val 11111"/>
            </a:avLst>
          </a:prstGeom>
          <a:solidFill>
            <a:srgbClr val="F2F3F5"/>
          </a:solidFill>
          <a:ln w="0">
            <a:noFill/>
            <a:prstDash val="solid"/>
          </a:ln>
        </p:spPr>
        <p:txBody>
          <a:bodyPr/>
          <a:lstStyle/>
          <a:p>
            <a:endParaRPr lang="en-US"/>
          </a:p>
        </p:txBody>
      </p:sp>
      <p:sp>
        <p:nvSpPr>
          <p:cNvPr id="19" name="Rectangle: Rounded Corners 18">
            <a:extLst>
              <a:ext uri="{FF2B5EF4-FFF2-40B4-BE49-F238E27FC236}">
                <a16:creationId xmlns:a16="http://schemas.microsoft.com/office/drawing/2014/main" id="{6AA44C4C-0514-4880-BA92-E68EA69C541E}"/>
              </a:ext>
            </a:extLst>
          </p:cNvPr>
          <p:cNvSpPr>
            <a:spLocks noGrp="1"/>
          </p:cNvSpPr>
          <p:nvPr/>
        </p:nvSpPr>
        <p:spPr>
          <a:xfrm>
            <a:off x="6400800" y="3086100"/>
            <a:ext cx="1238250" cy="323850"/>
          </a:xfrm>
          <a:prstGeom prst="roundRect">
            <a:avLst>
              <a:gd name="adj" fmla="val 50000"/>
            </a:avLst>
          </a:prstGeom>
          <a:solidFill>
            <a:srgbClr val="E7F7F3"/>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94C66250-9722-4F7C-9DCF-10F94871E64D}"/>
              </a:ext>
            </a:extLst>
          </p:cNvPr>
          <p:cNvSpPr>
            <a:spLocks noGrp="1"/>
          </p:cNvSpPr>
          <p:nvPr/>
        </p:nvSpPr>
        <p:spPr>
          <a:xfrm>
            <a:off x="6496050" y="3152775"/>
            <a:ext cx="1047750" cy="190500"/>
          </a:xfrm>
          <a:prstGeom prst="rect">
            <a:avLst/>
          </a:prstGeom>
          <a:noFill/>
          <a:ln w="0">
            <a:noFill/>
            <a:prstDash val="solid"/>
          </a:ln>
        </p:spPr>
        <p:txBody>
          <a:bodyPr lIns="0" tIns="0" rIns="0" bIns="0" anchor="t">
            <a:normAutofit/>
          </a:bodyPr>
          <a:lstStyle/>
          <a:p>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21" name="Rectangle 20">
            <a:extLst>
              <a:ext uri="{FF2B5EF4-FFF2-40B4-BE49-F238E27FC236}">
                <a16:creationId xmlns:a16="http://schemas.microsoft.com/office/drawing/2014/main" id="{BA74FD35-FA8C-4E40-8A63-F053CF654360}"/>
              </a:ext>
            </a:extLst>
          </p:cNvPr>
          <p:cNvSpPr>
            <a:spLocks noGrp="1"/>
          </p:cNvSpPr>
          <p:nvPr/>
        </p:nvSpPr>
        <p:spPr>
          <a:xfrm>
            <a:off x="7810500" y="3095625"/>
            <a:ext cx="3524250" cy="523875"/>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14 focused tests</a:t>
            </a:r>
          </a:p>
        </p:txBody>
      </p:sp>
      <p:sp>
        <p:nvSpPr>
          <p:cNvPr id="22" name="Rectangle: Rounded Corners 21">
            <a:extLst>
              <a:ext uri="{FF2B5EF4-FFF2-40B4-BE49-F238E27FC236}">
                <a16:creationId xmlns:a16="http://schemas.microsoft.com/office/drawing/2014/main" id="{106F4FE5-6194-4915-8266-A4D40A627B0E}"/>
              </a:ext>
            </a:extLst>
          </p:cNvPr>
          <p:cNvSpPr>
            <a:spLocks noGrp="1"/>
          </p:cNvSpPr>
          <p:nvPr/>
        </p:nvSpPr>
        <p:spPr>
          <a:xfrm>
            <a:off x="400050" y="4152900"/>
            <a:ext cx="5429250" cy="1028700"/>
          </a:xfrm>
          <a:prstGeom prst="roundRect">
            <a:avLst>
              <a:gd name="adj" fmla="val 11111"/>
            </a:avLst>
          </a:prstGeom>
          <a:solidFill>
            <a:srgbClr val="F2F3F5"/>
          </a:solidFill>
          <a:ln w="0">
            <a:noFill/>
            <a:prstDash val="solid"/>
          </a:ln>
        </p:spPr>
        <p:txBody>
          <a:bodyPr/>
          <a:lstStyle/>
          <a:p>
            <a:endParaRPr lang="en-US"/>
          </a:p>
        </p:txBody>
      </p:sp>
      <p:sp>
        <p:nvSpPr>
          <p:cNvPr id="23" name="Rectangle: Rounded Corners 22">
            <a:extLst>
              <a:ext uri="{FF2B5EF4-FFF2-40B4-BE49-F238E27FC236}">
                <a16:creationId xmlns:a16="http://schemas.microsoft.com/office/drawing/2014/main" id="{D9D73C5A-F11E-4021-A489-E07557694324}"/>
              </a:ext>
            </a:extLst>
          </p:cNvPr>
          <p:cNvSpPr>
            <a:spLocks noGrp="1"/>
          </p:cNvSpPr>
          <p:nvPr/>
        </p:nvSpPr>
        <p:spPr>
          <a:xfrm>
            <a:off x="609600" y="4371975"/>
            <a:ext cx="1238250" cy="323850"/>
          </a:xfrm>
          <a:prstGeom prst="roundRect">
            <a:avLst>
              <a:gd name="adj" fmla="val 50000"/>
            </a:avLst>
          </a:prstGeom>
          <a:solidFill>
            <a:srgbClr val="FFF3D9"/>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B171B534-78DE-4FD0-9439-61156CBD4107}"/>
              </a:ext>
            </a:extLst>
          </p:cNvPr>
          <p:cNvSpPr>
            <a:spLocks noGrp="1"/>
          </p:cNvSpPr>
          <p:nvPr/>
        </p:nvSpPr>
        <p:spPr>
          <a:xfrm>
            <a:off x="704850" y="4438650"/>
            <a:ext cx="1047750" cy="190500"/>
          </a:xfrm>
          <a:prstGeom prst="rect">
            <a:avLst/>
          </a:prstGeom>
          <a:noFill/>
          <a:ln w="0">
            <a:noFill/>
            <a:prstDash val="solid"/>
          </a:ln>
        </p:spPr>
        <p:txBody>
          <a:bodyPr lIns="0" tIns="0" rIns="0" bIns="0" anchor="t">
            <a:normAutofit/>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PENDING</a:t>
            </a:r>
          </a:p>
        </p:txBody>
      </p:sp>
      <p:sp>
        <p:nvSpPr>
          <p:cNvPr id="25" name="Rectangle 24">
            <a:extLst>
              <a:ext uri="{FF2B5EF4-FFF2-40B4-BE49-F238E27FC236}">
                <a16:creationId xmlns:a16="http://schemas.microsoft.com/office/drawing/2014/main" id="{5853A037-DCFD-4D44-99BE-27959D89AEB4}"/>
              </a:ext>
            </a:extLst>
          </p:cNvPr>
          <p:cNvSpPr>
            <a:spLocks noGrp="1"/>
          </p:cNvSpPr>
          <p:nvPr/>
        </p:nvSpPr>
        <p:spPr>
          <a:xfrm>
            <a:off x="2019300" y="4381500"/>
            <a:ext cx="3524250" cy="523875"/>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Versioned public release and persistent identifiers</a:t>
            </a:r>
          </a:p>
        </p:txBody>
      </p:sp>
      <p:sp>
        <p:nvSpPr>
          <p:cNvPr id="26" name="Rectangle: Rounded Corners 25">
            <a:extLst>
              <a:ext uri="{FF2B5EF4-FFF2-40B4-BE49-F238E27FC236}">
                <a16:creationId xmlns:a16="http://schemas.microsoft.com/office/drawing/2014/main" id="{17887068-D086-40FF-8DB2-86CAD84ED21C}"/>
              </a:ext>
            </a:extLst>
          </p:cNvPr>
          <p:cNvSpPr>
            <a:spLocks noGrp="1"/>
          </p:cNvSpPr>
          <p:nvPr/>
        </p:nvSpPr>
        <p:spPr>
          <a:xfrm>
            <a:off x="6191250" y="4152900"/>
            <a:ext cx="5429250" cy="1028700"/>
          </a:xfrm>
          <a:prstGeom prst="roundRect">
            <a:avLst>
              <a:gd name="adj" fmla="val 11111"/>
            </a:avLst>
          </a:prstGeom>
          <a:solidFill>
            <a:srgbClr val="F2F3F5"/>
          </a:solidFill>
          <a:ln w="0">
            <a:noFill/>
            <a:prstDash val="solid"/>
          </a:ln>
        </p:spPr>
        <p:txBody>
          <a:bodyPr/>
          <a:lstStyle/>
          <a:p>
            <a:endParaRPr lang="en-US"/>
          </a:p>
        </p:txBody>
      </p:sp>
      <p:sp>
        <p:nvSpPr>
          <p:cNvPr id="27" name="Rectangle: Rounded Corners 26">
            <a:extLst>
              <a:ext uri="{FF2B5EF4-FFF2-40B4-BE49-F238E27FC236}">
                <a16:creationId xmlns:a16="http://schemas.microsoft.com/office/drawing/2014/main" id="{B3F29E00-9BBA-45F8-BD1E-BCB1B58B1A92}"/>
              </a:ext>
            </a:extLst>
          </p:cNvPr>
          <p:cNvSpPr>
            <a:spLocks noGrp="1"/>
          </p:cNvSpPr>
          <p:nvPr/>
        </p:nvSpPr>
        <p:spPr>
          <a:xfrm>
            <a:off x="6400800" y="4371975"/>
            <a:ext cx="1238250" cy="323850"/>
          </a:xfrm>
          <a:prstGeom prst="roundRect">
            <a:avLst>
              <a:gd name="adj" fmla="val 50000"/>
            </a:avLst>
          </a:prstGeom>
          <a:solidFill>
            <a:srgbClr val="FFF3D9"/>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B29195E5-59E6-4BD3-BFAB-A6F9A1AC2B2D}"/>
              </a:ext>
            </a:extLst>
          </p:cNvPr>
          <p:cNvSpPr>
            <a:spLocks noGrp="1"/>
          </p:cNvSpPr>
          <p:nvPr/>
        </p:nvSpPr>
        <p:spPr>
          <a:xfrm>
            <a:off x="6496050" y="4438650"/>
            <a:ext cx="1047750" cy="190500"/>
          </a:xfrm>
          <a:prstGeom prst="rect">
            <a:avLst/>
          </a:prstGeom>
          <a:noFill/>
          <a:ln w="0">
            <a:noFill/>
            <a:prstDash val="solid"/>
          </a:ln>
        </p:spPr>
        <p:txBody>
          <a:bodyPr lIns="0" tIns="0" rIns="0" bIns="0" anchor="t">
            <a:normAutofit/>
          </a:bodyPr>
          <a:lstStyle/>
          <a:p>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PENDING</a:t>
            </a:r>
          </a:p>
        </p:txBody>
      </p:sp>
      <p:sp>
        <p:nvSpPr>
          <p:cNvPr id="29" name="Rectangle 28">
            <a:extLst>
              <a:ext uri="{FF2B5EF4-FFF2-40B4-BE49-F238E27FC236}">
                <a16:creationId xmlns:a16="http://schemas.microsoft.com/office/drawing/2014/main" id="{57EC1956-4B6F-440D-BFE9-D652883A57F0}"/>
              </a:ext>
            </a:extLst>
          </p:cNvPr>
          <p:cNvSpPr>
            <a:spLocks noGrp="1"/>
          </p:cNvSpPr>
          <p:nvPr/>
        </p:nvSpPr>
        <p:spPr>
          <a:xfrm>
            <a:off x="7810500" y="4381500"/>
            <a:ext cx="3524250" cy="523875"/>
          </a:xfrm>
          <a:prstGeom prst="rect">
            <a:avLst/>
          </a:prstGeom>
          <a:noFill/>
          <a:ln w="0">
            <a:noFill/>
            <a:prstDash val="solid"/>
          </a:ln>
        </p:spPr>
        <p:txBody>
          <a:bodyPr lIns="0" tIns="0" rIns="0" bIns="0" anchor="t">
            <a:normAutofit/>
          </a:bodyPr>
          <a:lstStyle/>
          <a:p>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CRediT, funding and conflict-of-interest declarations</a:t>
            </a:r>
          </a:p>
        </p:txBody>
      </p:sp>
    </p:spTree>
    <p:extLst>
      <p:ext uri="{BB962C8B-B14F-4D97-AF65-F5344CB8AC3E}">
        <p14:creationId xmlns:p14="http://schemas.microsoft.com/office/powerpoint/2010/main" val="759825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808D1DA-23CF-4924-AD3D-A2C01CC4A670}"/>
              </a:ext>
            </a:extLst>
          </p:cNvPr>
          <p:cNvSpPr>
            <a:spLocks noGrp="1"/>
          </p:cNvSpPr>
          <p:nvPr/>
        </p:nvSpPr>
        <p:spPr>
          <a:xfrm>
            <a:off x="400050" y="228600"/>
            <a:ext cx="6953250" cy="228600"/>
          </a:xfrm>
          <a:prstGeom prst="rect">
            <a:avLst/>
          </a:prstGeom>
          <a:noFill/>
          <a:ln w="0">
            <a:noFill/>
            <a:prstDash val="solid"/>
          </a:ln>
        </p:spPr>
        <p:txBody>
          <a:bodyPr lIns="0" tIns="0" rIns="0" bIns="0" anchor="t">
            <a:normAutofit/>
          </a:bodyPr>
          <a:lstStyle/>
          <a:p>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RAPID RESPONSES</a:t>
            </a:r>
          </a:p>
        </p:txBody>
      </p:sp>
      <p:sp>
        <p:nvSpPr>
          <p:cNvPr id="2" name="Rectangle 1">
            <a:extLst>
              <a:ext uri="{FF2B5EF4-FFF2-40B4-BE49-F238E27FC236}">
                <a16:creationId xmlns:a16="http://schemas.microsoft.com/office/drawing/2014/main" id="{55F88906-4C62-48E7-BE48-77D4B9A30D97}"/>
              </a:ext>
            </a:extLst>
          </p:cNvPr>
          <p:cNvSpPr>
            <a:spLocks noGrp="1"/>
          </p:cNvSpPr>
          <p:nvPr/>
        </p:nvSpPr>
        <p:spPr>
          <a:xfrm>
            <a:off x="400050" y="495300"/>
            <a:ext cx="11049000" cy="685800"/>
          </a:xfrm>
          <a:prstGeom prst="rect">
            <a:avLst/>
          </a:prstGeom>
          <a:noFill/>
          <a:ln w="0">
            <a:noFill/>
            <a:prstDash val="solid"/>
          </a:ln>
        </p:spPr>
        <p:txBody>
          <a:bodyPr lIns="0" tIns="0" rIns="0" bIns="0" anchor="t">
            <a:noAutofit/>
          </a:bodyPr>
          <a:lstStyle/>
          <a:p>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Five one-sentence viva answers</a:t>
            </a:r>
          </a:p>
        </p:txBody>
      </p:sp>
      <p:sp>
        <p:nvSpPr>
          <p:cNvPr id="3" name="Rectangle 2">
            <a:extLst>
              <a:ext uri="{FF2B5EF4-FFF2-40B4-BE49-F238E27FC236}">
                <a16:creationId xmlns:a16="http://schemas.microsoft.com/office/drawing/2014/main" id="{49DC31F9-04EE-421B-B847-0CF104F2D5FA}"/>
              </a:ext>
            </a:extLst>
          </p:cNvPr>
          <p:cNvSpPr>
            <a:spLocks noGrp="1"/>
          </p:cNvSpPr>
          <p:nvPr/>
        </p:nvSpPr>
        <p:spPr>
          <a:xfrm>
            <a:off x="400050" y="1190625"/>
            <a:ext cx="11391900" cy="19050"/>
          </a:xfrm>
          <a:prstGeom prst="rect">
            <a:avLst/>
          </a:prstGeom>
          <a:solidFill>
            <a:srgbClr val="111318"/>
          </a:solidFill>
          <a:ln w="0">
            <a:noFill/>
            <a:prstDash val="solid"/>
          </a:ln>
        </p:spPr>
        <p:txBody>
          <a:bodyPr/>
          <a:lstStyle/>
          <a:p>
            <a:endParaRPr lang="en-US"/>
          </a:p>
        </p:txBody>
      </p:sp>
      <p:sp>
        <p:nvSpPr>
          <p:cNvPr id="4" name="Rectangle 3">
            <a:extLst>
              <a:ext uri="{FF2B5EF4-FFF2-40B4-BE49-F238E27FC236}">
                <a16:creationId xmlns:a16="http://schemas.microsoft.com/office/drawing/2014/main" id="{1920F224-3360-4944-AA90-CBE3E00D94A0}"/>
              </a:ext>
            </a:extLst>
          </p:cNvPr>
          <p:cNvSpPr>
            <a:spLocks noGrp="1"/>
          </p:cNvSpPr>
          <p:nvPr/>
        </p:nvSpPr>
        <p:spPr>
          <a:xfrm>
            <a:off x="400050" y="6438900"/>
            <a:ext cx="7810500" cy="171450"/>
          </a:xfrm>
          <a:prstGeom prst="rect">
            <a:avLst/>
          </a:prstGeom>
          <a:noFill/>
          <a:ln w="0">
            <a:noFill/>
            <a:prstDash val="solid"/>
          </a:ln>
        </p:spPr>
        <p:txBody>
          <a:bodyPr lIns="0" tIns="0" rIns="0" bIns="0" anchor="t">
            <a:normAutofit/>
          </a:bodyPr>
          <a:lstStyle/>
          <a:p>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Rectangle 4">
            <a:extLst>
              <a:ext uri="{FF2B5EF4-FFF2-40B4-BE49-F238E27FC236}">
                <a16:creationId xmlns:a16="http://schemas.microsoft.com/office/drawing/2014/main" id="{A0CC564A-E796-4B29-A6DD-272FD8DE670C}"/>
              </a:ext>
            </a:extLst>
          </p:cNvPr>
          <p:cNvSpPr>
            <a:spLocks noGrp="1"/>
          </p:cNvSpPr>
          <p:nvPr/>
        </p:nvSpPr>
        <p:spPr>
          <a:xfrm>
            <a:off x="11287125" y="6391275"/>
            <a:ext cx="476250" cy="190500"/>
          </a:xfrm>
          <a:prstGeom prst="rect">
            <a:avLst/>
          </a:prstGeom>
          <a:noFill/>
          <a:ln w="0">
            <a:noFill/>
            <a:prstDash val="solid"/>
          </a:ln>
        </p:spPr>
        <p:txBody>
          <a:bodyPr lIns="0" tIns="0" rIns="0" bIns="0" anchor="t">
            <a:normAutofit/>
          </a:bodyPr>
          <a:lstStyle/>
          <a:p>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38</a:t>
            </a:r>
          </a:p>
        </p:txBody>
      </p:sp>
      <p:sp>
        <p:nvSpPr>
          <p:cNvPr id="6" name="Rectangle: Rounded Corners 5">
            <a:extLst>
              <a:ext uri="{FF2B5EF4-FFF2-40B4-BE49-F238E27FC236}">
                <a16:creationId xmlns:a16="http://schemas.microsoft.com/office/drawing/2014/main" id="{B33A45D0-EB91-4546-9764-B2975DD0AA46}"/>
              </a:ext>
            </a:extLst>
          </p:cNvPr>
          <p:cNvSpPr>
            <a:spLocks noGrp="1"/>
          </p:cNvSpPr>
          <p:nvPr/>
        </p:nvSpPr>
        <p:spPr>
          <a:xfrm>
            <a:off x="400050" y="1428750"/>
            <a:ext cx="11391900" cy="742950"/>
          </a:xfrm>
          <a:prstGeom prst="roundRect">
            <a:avLst>
              <a:gd name="adj" fmla="val 15385"/>
            </a:avLst>
          </a:prstGeom>
          <a:solidFill>
            <a:srgbClr val="F2F3F5"/>
          </a:solidFill>
          <a:ln w="9525">
            <a:solidFill>
              <a:srgbClr val="B8BCC4"/>
            </a:solidFill>
            <a:prstDash val="solid"/>
          </a:ln>
        </p:spPr>
        <p:txBody>
          <a:bodyPr/>
          <a:lstStyle/>
          <a:p>
            <a:endParaRPr lang="en-US"/>
          </a:p>
        </p:txBody>
      </p:sp>
      <p:sp>
        <p:nvSpPr>
          <p:cNvPr id="7" name="Rectangle 6">
            <a:extLst>
              <a:ext uri="{FF2B5EF4-FFF2-40B4-BE49-F238E27FC236}">
                <a16:creationId xmlns:a16="http://schemas.microsoft.com/office/drawing/2014/main" id="{07CA4670-7698-4BF7-BF82-9A673E622ED5}"/>
              </a:ext>
            </a:extLst>
          </p:cNvPr>
          <p:cNvSpPr>
            <a:spLocks noGrp="1"/>
          </p:cNvSpPr>
          <p:nvPr/>
        </p:nvSpPr>
        <p:spPr>
          <a:xfrm>
            <a:off x="590550" y="1590675"/>
            <a:ext cx="2667000" cy="266700"/>
          </a:xfrm>
          <a:prstGeom prst="rect">
            <a:avLst/>
          </a:prstGeom>
          <a:noFill/>
          <a:ln w="0">
            <a:noFill/>
            <a:prstDash val="solid"/>
          </a:ln>
        </p:spPr>
        <p:txBody>
          <a:bodyPr lIns="0" tIns="0" rIns="0" bIns="0" anchor="t">
            <a:normAutofit/>
          </a:bodyPr>
          <a:lstStyle/>
          <a:p>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Why is this a PhD?</a:t>
            </a:r>
          </a:p>
        </p:txBody>
      </p:sp>
      <p:sp>
        <p:nvSpPr>
          <p:cNvPr id="8" name="Rectangle 7">
            <a:extLst>
              <a:ext uri="{FF2B5EF4-FFF2-40B4-BE49-F238E27FC236}">
                <a16:creationId xmlns:a16="http://schemas.microsoft.com/office/drawing/2014/main" id="{F3DE611F-B4F9-45EC-9D3A-89F95FF24114}"/>
              </a:ext>
            </a:extLst>
          </p:cNvPr>
          <p:cNvSpPr>
            <a:spLocks noGrp="1"/>
          </p:cNvSpPr>
          <p:nvPr/>
        </p:nvSpPr>
        <p:spPr>
          <a:xfrm>
            <a:off x="3429000" y="1562100"/>
            <a:ext cx="8001000" cy="4381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It contributes a falsifiable integration formalism, evidence logic and field supportability diagnosis—not merely software.</a:t>
            </a:r>
          </a:p>
        </p:txBody>
      </p:sp>
      <p:sp>
        <p:nvSpPr>
          <p:cNvPr id="9" name="Rectangle: Rounded Corners 8">
            <a:extLst>
              <a:ext uri="{FF2B5EF4-FFF2-40B4-BE49-F238E27FC236}">
                <a16:creationId xmlns:a16="http://schemas.microsoft.com/office/drawing/2014/main" id="{0D800F8E-8084-4245-8955-ADCE4DA91297}"/>
              </a:ext>
            </a:extLst>
          </p:cNvPr>
          <p:cNvSpPr>
            <a:spLocks noGrp="1"/>
          </p:cNvSpPr>
          <p:nvPr/>
        </p:nvSpPr>
        <p:spPr>
          <a:xfrm>
            <a:off x="400050" y="2362200"/>
            <a:ext cx="11391900" cy="742950"/>
          </a:xfrm>
          <a:prstGeom prst="roundRect">
            <a:avLst>
              <a:gd name="adj" fmla="val 15385"/>
            </a:avLst>
          </a:prstGeom>
          <a:solidFill>
            <a:srgbClr val="FFFFFF"/>
          </a:solidFill>
          <a:ln w="9525">
            <a:solidFill>
              <a:srgbClr val="B8BCC4"/>
            </a:solidFill>
            <a:prstDash val="solid"/>
          </a:ln>
        </p:spPr>
        <p:txBody>
          <a:bodyPr/>
          <a:lstStyle/>
          <a:p>
            <a:endParaRPr lang="en-US"/>
          </a:p>
        </p:txBody>
      </p:sp>
      <p:sp>
        <p:nvSpPr>
          <p:cNvPr id="10" name="Rectangle 9">
            <a:extLst>
              <a:ext uri="{FF2B5EF4-FFF2-40B4-BE49-F238E27FC236}">
                <a16:creationId xmlns:a16="http://schemas.microsoft.com/office/drawing/2014/main" id="{DC65E1AC-B288-4434-9722-6ED31BBBF0EF}"/>
              </a:ext>
            </a:extLst>
          </p:cNvPr>
          <p:cNvSpPr>
            <a:spLocks noGrp="1"/>
          </p:cNvSpPr>
          <p:nvPr/>
        </p:nvSpPr>
        <p:spPr>
          <a:xfrm>
            <a:off x="590550" y="2524125"/>
            <a:ext cx="2667000" cy="266700"/>
          </a:xfrm>
          <a:prstGeom prst="rect">
            <a:avLst/>
          </a:prstGeom>
          <a:noFill/>
          <a:ln w="0">
            <a:noFill/>
            <a:prstDash val="solid"/>
          </a:ln>
        </p:spPr>
        <p:txBody>
          <a:bodyPr lIns="0" tIns="0" rIns="0" bIns="0" anchor="t">
            <a:normAutofit/>
          </a:bodyPr>
          <a:lstStyle/>
          <a:p>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Did it beat TracerLPM?</a:t>
            </a:r>
          </a:p>
        </p:txBody>
      </p:sp>
      <p:sp>
        <p:nvSpPr>
          <p:cNvPr id="11" name="Rectangle 10">
            <a:extLst>
              <a:ext uri="{FF2B5EF4-FFF2-40B4-BE49-F238E27FC236}">
                <a16:creationId xmlns:a16="http://schemas.microsoft.com/office/drawing/2014/main" id="{764518BA-CE39-408F-A4C2-8DAE33CE831F}"/>
              </a:ext>
            </a:extLst>
          </p:cNvPr>
          <p:cNvSpPr>
            <a:spLocks noGrp="1"/>
          </p:cNvSpPr>
          <p:nvPr/>
        </p:nvSpPr>
        <p:spPr>
          <a:xfrm>
            <a:off x="3429000" y="2495550"/>
            <a:ext cx="8001000" cy="4381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It closely reproduced reported configurations; graph value was not established and harmful topology was detectable.</a:t>
            </a:r>
          </a:p>
        </p:txBody>
      </p:sp>
      <p:sp>
        <p:nvSpPr>
          <p:cNvPr id="12" name="Rectangle: Rounded Corners 11">
            <a:extLst>
              <a:ext uri="{FF2B5EF4-FFF2-40B4-BE49-F238E27FC236}">
                <a16:creationId xmlns:a16="http://schemas.microsoft.com/office/drawing/2014/main" id="{48798B2B-889B-4CBC-A920-2B2F205D92B1}"/>
              </a:ext>
            </a:extLst>
          </p:cNvPr>
          <p:cNvSpPr>
            <a:spLocks noGrp="1"/>
          </p:cNvSpPr>
          <p:nvPr/>
        </p:nvSpPr>
        <p:spPr>
          <a:xfrm>
            <a:off x="400050" y="3295650"/>
            <a:ext cx="11391900" cy="742950"/>
          </a:xfrm>
          <a:prstGeom prst="roundRect">
            <a:avLst>
              <a:gd name="adj" fmla="val 15385"/>
            </a:avLst>
          </a:prstGeom>
          <a:solidFill>
            <a:srgbClr val="F2F3F5"/>
          </a:solidFill>
          <a:ln w="9525">
            <a:solidFill>
              <a:srgbClr val="B8BCC4"/>
            </a:solidFill>
            <a:prstDash val="solid"/>
          </a:ln>
        </p:spPr>
        <p:txBody>
          <a:bodyPr/>
          <a:lstStyle/>
          <a:p>
            <a:endParaRPr lang="en-US"/>
          </a:p>
        </p:txBody>
      </p:sp>
      <p:sp>
        <p:nvSpPr>
          <p:cNvPr id="13" name="Rectangle 12">
            <a:extLst>
              <a:ext uri="{FF2B5EF4-FFF2-40B4-BE49-F238E27FC236}">
                <a16:creationId xmlns:a16="http://schemas.microsoft.com/office/drawing/2014/main" id="{E4C9081C-314D-4125-AE70-E08F5A61A713}"/>
              </a:ext>
            </a:extLst>
          </p:cNvPr>
          <p:cNvSpPr>
            <a:spLocks noGrp="1"/>
          </p:cNvSpPr>
          <p:nvPr/>
        </p:nvSpPr>
        <p:spPr>
          <a:xfrm>
            <a:off x="590550" y="3457575"/>
            <a:ext cx="2667000" cy="266700"/>
          </a:xfrm>
          <a:prstGeom prst="rect">
            <a:avLst/>
          </a:prstGeom>
          <a:noFill/>
          <a:ln w="0">
            <a:noFill/>
            <a:prstDash val="solid"/>
          </a:ln>
        </p:spPr>
        <p:txBody>
          <a:bodyPr lIns="0" tIns="0" rIns="0" bIns="0" anchor="t">
            <a:normAutofit/>
          </a:bodyPr>
          <a:lstStyle/>
          <a:p>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What does the sheaf add?</a:t>
            </a:r>
          </a:p>
        </p:txBody>
      </p:sp>
      <p:sp>
        <p:nvSpPr>
          <p:cNvPr id="14" name="Rectangle 13">
            <a:extLst>
              <a:ext uri="{FF2B5EF4-FFF2-40B4-BE49-F238E27FC236}">
                <a16:creationId xmlns:a16="http://schemas.microsoft.com/office/drawing/2014/main" id="{11FBE168-DD09-4B3D-B71D-FD4E5FE0337B}"/>
              </a:ext>
            </a:extLst>
          </p:cNvPr>
          <p:cNvSpPr>
            <a:spLocks noGrp="1"/>
          </p:cNvSpPr>
          <p:nvPr/>
        </p:nvSpPr>
        <p:spPr>
          <a:xfrm>
            <a:off x="3429000" y="3429000"/>
            <a:ext cx="8001000" cy="4381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Edge-specific transformations and global conflict localisation, conditionally—not universal superiority.</a:t>
            </a:r>
          </a:p>
        </p:txBody>
      </p:sp>
      <p:sp>
        <p:nvSpPr>
          <p:cNvPr id="15" name="Rectangle: Rounded Corners 14">
            <a:extLst>
              <a:ext uri="{FF2B5EF4-FFF2-40B4-BE49-F238E27FC236}">
                <a16:creationId xmlns:a16="http://schemas.microsoft.com/office/drawing/2014/main" id="{83685BDA-F3D1-4E58-8B8A-70C38EEC8C56}"/>
              </a:ext>
            </a:extLst>
          </p:cNvPr>
          <p:cNvSpPr>
            <a:spLocks noGrp="1"/>
          </p:cNvSpPr>
          <p:nvPr/>
        </p:nvSpPr>
        <p:spPr>
          <a:xfrm>
            <a:off x="400050" y="4229100"/>
            <a:ext cx="11391900" cy="742950"/>
          </a:xfrm>
          <a:prstGeom prst="roundRect">
            <a:avLst>
              <a:gd name="adj" fmla="val 15385"/>
            </a:avLst>
          </a:prstGeom>
          <a:solidFill>
            <a:srgbClr val="FFFFFF"/>
          </a:solidFill>
          <a:ln w="9525">
            <a:solidFill>
              <a:srgbClr val="B8BCC4"/>
            </a:solidFill>
            <a:prstDash val="solid"/>
          </a:ln>
        </p:spPr>
        <p:txBody>
          <a:bodyPr/>
          <a:lstStyle/>
          <a:p>
            <a:endParaRPr lang="en-US"/>
          </a:p>
        </p:txBody>
      </p:sp>
      <p:sp>
        <p:nvSpPr>
          <p:cNvPr id="16" name="Rectangle 15">
            <a:extLst>
              <a:ext uri="{FF2B5EF4-FFF2-40B4-BE49-F238E27FC236}">
                <a16:creationId xmlns:a16="http://schemas.microsoft.com/office/drawing/2014/main" id="{C3023396-CAEA-45F4-A8B0-C92E75B9E6E5}"/>
              </a:ext>
            </a:extLst>
          </p:cNvPr>
          <p:cNvSpPr>
            <a:spLocks noGrp="1"/>
          </p:cNvSpPr>
          <p:nvPr/>
        </p:nvSpPr>
        <p:spPr>
          <a:xfrm>
            <a:off x="590550" y="4391025"/>
            <a:ext cx="2667000" cy="266700"/>
          </a:xfrm>
          <a:prstGeom prst="rect">
            <a:avLst/>
          </a:prstGeom>
          <a:noFill/>
          <a:ln w="0">
            <a:noFill/>
            <a:prstDash val="solid"/>
          </a:ln>
        </p:spPr>
        <p:txBody>
          <a:bodyPr lIns="0" tIns="0" rIns="0" bIns="0" anchor="t">
            <a:normAutofit/>
          </a:bodyPr>
          <a:lstStyle/>
          <a:p>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Is Ghana validated?</a:t>
            </a:r>
          </a:p>
        </p:txBody>
      </p:sp>
      <p:sp>
        <p:nvSpPr>
          <p:cNvPr id="17" name="Rectangle 16">
            <a:extLst>
              <a:ext uri="{FF2B5EF4-FFF2-40B4-BE49-F238E27FC236}">
                <a16:creationId xmlns:a16="http://schemas.microsoft.com/office/drawing/2014/main" id="{C33E91EA-F7BC-44FC-BE0A-F91A8CE7DCF3}"/>
              </a:ext>
            </a:extLst>
          </p:cNvPr>
          <p:cNvSpPr>
            <a:spLocks noGrp="1"/>
          </p:cNvSpPr>
          <p:nvPr/>
        </p:nvSpPr>
        <p:spPr>
          <a:xfrm>
            <a:off x="3429000" y="4362450"/>
            <a:ext cx="8001000" cy="4381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No end-to-end truth; the field result identifies evidence ceilings and priority measurements.</a:t>
            </a:r>
          </a:p>
        </p:txBody>
      </p:sp>
      <p:sp>
        <p:nvSpPr>
          <p:cNvPr id="18" name="Rectangle: Rounded Corners 17">
            <a:extLst>
              <a:ext uri="{FF2B5EF4-FFF2-40B4-BE49-F238E27FC236}">
                <a16:creationId xmlns:a16="http://schemas.microsoft.com/office/drawing/2014/main" id="{6B19D5AB-343C-41BE-83D6-423646898C1E}"/>
              </a:ext>
            </a:extLst>
          </p:cNvPr>
          <p:cNvSpPr>
            <a:spLocks noGrp="1"/>
          </p:cNvSpPr>
          <p:nvPr/>
        </p:nvSpPr>
        <p:spPr>
          <a:xfrm>
            <a:off x="400050" y="5162550"/>
            <a:ext cx="11391900" cy="742950"/>
          </a:xfrm>
          <a:prstGeom prst="roundRect">
            <a:avLst>
              <a:gd name="adj" fmla="val 15385"/>
            </a:avLst>
          </a:prstGeom>
          <a:solidFill>
            <a:srgbClr val="F2F3F5"/>
          </a:solidFill>
          <a:ln w="9525">
            <a:solidFill>
              <a:srgbClr val="B8BCC4"/>
            </a:solidFill>
            <a:prstDash val="solid"/>
          </a:ln>
        </p:spPr>
        <p:txBody>
          <a:bodyPr/>
          <a:lstStyle/>
          <a:p>
            <a:endParaRPr lang="en-US"/>
          </a:p>
        </p:txBody>
      </p:sp>
      <p:sp>
        <p:nvSpPr>
          <p:cNvPr id="19" name="Rectangle 18">
            <a:extLst>
              <a:ext uri="{FF2B5EF4-FFF2-40B4-BE49-F238E27FC236}">
                <a16:creationId xmlns:a16="http://schemas.microsoft.com/office/drawing/2014/main" id="{3E6BF89D-6B0C-4722-B38F-049E64AB1B7B}"/>
              </a:ext>
            </a:extLst>
          </p:cNvPr>
          <p:cNvSpPr>
            <a:spLocks noGrp="1"/>
          </p:cNvSpPr>
          <p:nvPr/>
        </p:nvSpPr>
        <p:spPr>
          <a:xfrm>
            <a:off x="590550" y="5324475"/>
            <a:ext cx="2667000" cy="266700"/>
          </a:xfrm>
          <a:prstGeom prst="rect">
            <a:avLst/>
          </a:prstGeom>
          <a:noFill/>
          <a:ln w="0">
            <a:noFill/>
            <a:prstDash val="solid"/>
          </a:ln>
        </p:spPr>
        <p:txBody>
          <a:bodyPr lIns="0" tIns="0" rIns="0" bIns="0" anchor="t">
            <a:normAutofit/>
          </a:bodyPr>
          <a:lstStyle/>
          <a:p>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What is the decisive next test?</a:t>
            </a:r>
          </a:p>
        </p:txBody>
      </p:sp>
      <p:sp>
        <p:nvSpPr>
          <p:cNvPr id="20" name="Rectangle 19">
            <a:extLst>
              <a:ext uri="{FF2B5EF4-FFF2-40B4-BE49-F238E27FC236}">
                <a16:creationId xmlns:a16="http://schemas.microsoft.com/office/drawing/2014/main" id="{A6BB4C7A-72B1-4659-BEFC-D6316C077342}"/>
              </a:ext>
            </a:extLst>
          </p:cNvPr>
          <p:cNvSpPr>
            <a:spLocks noGrp="1"/>
          </p:cNvSpPr>
          <p:nvPr/>
        </p:nvSpPr>
        <p:spPr>
          <a:xfrm>
            <a:off x="3429000" y="5295900"/>
            <a:ext cx="8001000" cy="438150"/>
          </a:xfrm>
          <a:prstGeom prst="rect">
            <a:avLst/>
          </a:prstGeom>
          <a:noFill/>
          <a:ln w="0">
            <a:noFill/>
            <a:prstDash val="solid"/>
          </a:ln>
        </p:spPr>
        <p:txBody>
          <a:bodyPr lIns="0" tIns="0" rIns="0" bIns="0" anchor="t">
            <a:normAutofit/>
          </a:bodyPr>
          <a:lstStyle/>
          <a:p>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Independent replication under another generator or matched field connectivity truth.</a:t>
            </a:r>
          </a:p>
        </p:txBody>
      </p:sp>
    </p:spTree>
    <p:extLst>
      <p:ext uri="{BB962C8B-B14F-4D97-AF65-F5344CB8AC3E}">
        <p14:creationId xmlns:p14="http://schemas.microsoft.com/office/powerpoint/2010/main" val="194170081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11043</Words>
  <Application>Microsoft Office PowerPoint</Application>
  <DocSecurity>0</DocSecurity>
  <PresentationFormat>Widescreen</PresentationFormat>
  <Paragraphs>1202</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Dickson Abdul-Wahab</cp:lastModifiedBy>
  <cp:revision>1</cp:revision>
  <dcterms:created xsi:type="dcterms:W3CDTF">2026-07-30T15:49:57Z</dcterms:created>
  <dcterms:modified xsi:type="dcterms:W3CDTF">2026-07-30T22:25:36Z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2026-07-30T22:25:36Z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f5eefcdb-1752-47f9-8fe8-71fa465f7979</vt:lpwstr>
  </property>
  <property fmtid="{D5CDD505-2E9C-101B-9397-08002B2CF9AE}" pid="7" name="MSIP_Label_defa4170-0d19-0005-0004-bc88714345d2_ActionId">
    <vt:lpwstr>8830a599-fff5-4055-87fd-091216b7e5d5</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