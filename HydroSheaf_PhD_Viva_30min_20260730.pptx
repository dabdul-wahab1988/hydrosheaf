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9feb294c8974bed" /><Relationship Type="http://schemas.openxmlformats.org/officeDocument/2006/relationships/extended-properties" Target="/docProps/app.xml" Id="R92712912828e4b5a" /><Relationship Type="http://schemas.openxmlformats.org/officeDocument/2006/relationships/officeDocument" Target="/ppt/presentation.xml" Id="R498e370b1baa4439" /></Relationships>
</file>

<file path=ppt/presentation.xml><?xml version="1.0" encoding="utf-8"?>
<p:presentation xmlns:p="http://schemas.openxmlformats.org/presentationml/2006/main">
  <p:sldMasterIdLst>
    <p:sldMasterId xmlns:r="http://schemas.openxmlformats.org/officeDocument/2006/relationships" id="2147483648" r:id="R7bae920c672d4a88"/>
  </p:sldMasterIdLst>
  <p:notesMasterIdLst>
    <p:notesMasterId xmlns:r="http://schemas.openxmlformats.org/officeDocument/2006/relationships" r:id="R1d6650a0bb3c476b"/>
  </p:notesMasterIdLst>
  <p:sldIdLst>
    <p:sldId xmlns:r="http://schemas.openxmlformats.org/officeDocument/2006/relationships" id="256" r:id="Re4980b1dbbb84956"/>
    <p:sldId xmlns:r="http://schemas.openxmlformats.org/officeDocument/2006/relationships" id="257" r:id="Rebddf0b459344ede"/>
    <p:sldId xmlns:r="http://schemas.openxmlformats.org/officeDocument/2006/relationships" id="258" r:id="R25c7e30027ff4f9e"/>
    <p:sldId xmlns:r="http://schemas.openxmlformats.org/officeDocument/2006/relationships" id="259" r:id="R29a234d0070545bd"/>
    <p:sldId xmlns:r="http://schemas.openxmlformats.org/officeDocument/2006/relationships" id="260" r:id="Re6f933ec511246e6"/>
    <p:sldId xmlns:r="http://schemas.openxmlformats.org/officeDocument/2006/relationships" id="261" r:id="R093c854301e24860"/>
    <p:sldId xmlns:r="http://schemas.openxmlformats.org/officeDocument/2006/relationships" id="262" r:id="Rcb49e27787fa4e47"/>
    <p:sldId xmlns:r="http://schemas.openxmlformats.org/officeDocument/2006/relationships" id="263" r:id="R6a2fc547dd034b0c"/>
    <p:sldId xmlns:r="http://schemas.openxmlformats.org/officeDocument/2006/relationships" id="264" r:id="Ra488ccc63b3b433f"/>
    <p:sldId xmlns:r="http://schemas.openxmlformats.org/officeDocument/2006/relationships" id="265" r:id="R1101abb1ec7a4f55"/>
    <p:sldId xmlns:r="http://schemas.openxmlformats.org/officeDocument/2006/relationships" id="266" r:id="Rf0302923a0d049ea"/>
    <p:sldId xmlns:r="http://schemas.openxmlformats.org/officeDocument/2006/relationships" id="267" r:id="R8cc0765881f5491c"/>
    <p:sldId xmlns:r="http://schemas.openxmlformats.org/officeDocument/2006/relationships" id="268" r:id="Rb2744be6708f49a5"/>
    <p:sldId xmlns:r="http://schemas.openxmlformats.org/officeDocument/2006/relationships" id="269" r:id="Re408046bb6ae42a6"/>
    <p:sldId xmlns:r="http://schemas.openxmlformats.org/officeDocument/2006/relationships" id="270" r:id="R991f52987edb4352"/>
    <p:sldId xmlns:r="http://schemas.openxmlformats.org/officeDocument/2006/relationships" id="271" r:id="R1727d2e00e1c4e1c"/>
    <p:sldId xmlns:r="http://schemas.openxmlformats.org/officeDocument/2006/relationships" id="272" r:id="R069f608a277c4b57"/>
    <p:sldId xmlns:r="http://schemas.openxmlformats.org/officeDocument/2006/relationships" id="273" r:id="R91ef6ab133674b9f"/>
    <p:sldId xmlns:r="http://schemas.openxmlformats.org/officeDocument/2006/relationships" id="274" r:id="R7161d8a308c044bf"/>
    <p:sldId xmlns:r="http://schemas.openxmlformats.org/officeDocument/2006/relationships" id="275" r:id="R54e53330b8c8445f"/>
    <p:sldId xmlns:r="http://schemas.openxmlformats.org/officeDocument/2006/relationships" id="276" r:id="R503e7e5af370498d"/>
    <p:sldId xmlns:r="http://schemas.openxmlformats.org/officeDocument/2006/relationships" id="277" r:id="Rd84b54b2a71b403a"/>
    <p:sldId xmlns:r="http://schemas.openxmlformats.org/officeDocument/2006/relationships" id="278" r:id="R18d6cb34578149c8"/>
    <p:sldId xmlns:r="http://schemas.openxmlformats.org/officeDocument/2006/relationships" id="279" r:id="Rece74e5ebc084f47"/>
    <p:sldId xmlns:r="http://schemas.openxmlformats.org/officeDocument/2006/relationships" id="280" r:id="R65c3a1fd5f434be1"/>
    <p:sldId xmlns:r="http://schemas.openxmlformats.org/officeDocument/2006/relationships" id="281" r:id="Rda3c54601e454b98"/>
    <p:sldId xmlns:r="http://schemas.openxmlformats.org/officeDocument/2006/relationships" id="282" r:id="R51c37e273d2040fd"/>
    <p:sldId xmlns:r="http://schemas.openxmlformats.org/officeDocument/2006/relationships" id="283" r:id="Rbba03cfe86c8482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88cadd6cbc046c7" /><Relationship Type="http://schemas.openxmlformats.org/officeDocument/2006/relationships/slideMaster" Target="/ppt/slideMasters/slideMaster1.xml" Id="R7bae920c672d4a88" /><Relationship Type="http://schemas.openxmlformats.org/officeDocument/2006/relationships/notesMaster" Target="/ppt/notesMasters/notesMaster1.xml" Id="R1d6650a0bb3c476b" /><Relationship Type="http://schemas.openxmlformats.org/officeDocument/2006/relationships/presProps" Target="/ppt/presProps.xml" Id="R9cc466639d9e4afd" /><Relationship Type="http://schemas.openxmlformats.org/officeDocument/2006/relationships/tableStyles" Target="/ppt/tableStyles.xml" Id="R77be12bd20264e18" /><Relationship Type="http://schemas.openxmlformats.org/officeDocument/2006/relationships/slide" Target="/ppt/slides/slide1.xml" Id="Re4980b1dbbb84956" /><Relationship Type="http://schemas.openxmlformats.org/officeDocument/2006/relationships/slide" Target="/ppt/slides/slide2.xml" Id="Rebddf0b459344ede" /><Relationship Type="http://schemas.openxmlformats.org/officeDocument/2006/relationships/slide" Target="/ppt/slides/slide3.xml" Id="R25c7e30027ff4f9e" /><Relationship Type="http://schemas.openxmlformats.org/officeDocument/2006/relationships/slide" Target="/ppt/slides/slide4.xml" Id="R29a234d0070545bd" /><Relationship Type="http://schemas.openxmlformats.org/officeDocument/2006/relationships/slide" Target="/ppt/slides/slide5.xml" Id="Re6f933ec511246e6" /><Relationship Type="http://schemas.openxmlformats.org/officeDocument/2006/relationships/slide" Target="/ppt/slides/slide6.xml" Id="R093c854301e24860" /><Relationship Type="http://schemas.openxmlformats.org/officeDocument/2006/relationships/slide" Target="/ppt/slides/slide7.xml" Id="Rcb49e27787fa4e47" /><Relationship Type="http://schemas.openxmlformats.org/officeDocument/2006/relationships/slide" Target="/ppt/slides/slide8.xml" Id="R6a2fc547dd034b0c" /><Relationship Type="http://schemas.openxmlformats.org/officeDocument/2006/relationships/slide" Target="/ppt/slides/slide9.xml" Id="Ra488ccc63b3b433f" /><Relationship Type="http://schemas.openxmlformats.org/officeDocument/2006/relationships/slide" Target="/ppt/slides/slide10.xml" Id="R1101abb1ec7a4f55" /><Relationship Type="http://schemas.openxmlformats.org/officeDocument/2006/relationships/slide" Target="/ppt/slides/slide11.xml" Id="Rf0302923a0d049ea" /><Relationship Type="http://schemas.openxmlformats.org/officeDocument/2006/relationships/slide" Target="/ppt/slides/slide12.xml" Id="R8cc0765881f5491c" /><Relationship Type="http://schemas.openxmlformats.org/officeDocument/2006/relationships/slide" Target="/ppt/slides/slide13.xml" Id="Rb2744be6708f49a5" /><Relationship Type="http://schemas.openxmlformats.org/officeDocument/2006/relationships/slide" Target="/ppt/slides/slide14.xml" Id="Re408046bb6ae42a6" /><Relationship Type="http://schemas.openxmlformats.org/officeDocument/2006/relationships/slide" Target="/ppt/slides/slide15.xml" Id="R991f52987edb4352" /><Relationship Type="http://schemas.openxmlformats.org/officeDocument/2006/relationships/slide" Target="/ppt/slides/slide16.xml" Id="R1727d2e00e1c4e1c" /><Relationship Type="http://schemas.openxmlformats.org/officeDocument/2006/relationships/slide" Target="/ppt/slides/slide17.xml" Id="R069f608a277c4b57" /><Relationship Type="http://schemas.openxmlformats.org/officeDocument/2006/relationships/slide" Target="/ppt/slides/slide18.xml" Id="R91ef6ab133674b9f" /><Relationship Type="http://schemas.openxmlformats.org/officeDocument/2006/relationships/slide" Target="/ppt/slides/slide19.xml" Id="R7161d8a308c044bf" /><Relationship Type="http://schemas.openxmlformats.org/officeDocument/2006/relationships/slide" Target="/ppt/slides/slide20.xml" Id="R54e53330b8c8445f" /><Relationship Type="http://schemas.openxmlformats.org/officeDocument/2006/relationships/slide" Target="/ppt/slides/slide21.xml" Id="R503e7e5af370498d" /><Relationship Type="http://schemas.openxmlformats.org/officeDocument/2006/relationships/slide" Target="/ppt/slides/slide22.xml" Id="Rd84b54b2a71b403a" /><Relationship Type="http://schemas.openxmlformats.org/officeDocument/2006/relationships/slide" Target="/ppt/slides/slide23.xml" Id="R18d6cb34578149c8" /><Relationship Type="http://schemas.openxmlformats.org/officeDocument/2006/relationships/slide" Target="/ppt/slides/slide24.xml" Id="Rece74e5ebc084f47" /><Relationship Type="http://schemas.openxmlformats.org/officeDocument/2006/relationships/slide" Target="/ppt/slides/slide25.xml" Id="R65c3a1fd5f434be1" /><Relationship Type="http://schemas.openxmlformats.org/officeDocument/2006/relationships/slide" Target="/ppt/slides/slide26.xml" Id="Rda3c54601e454b98" /><Relationship Type="http://schemas.openxmlformats.org/officeDocument/2006/relationships/slide" Target="/ppt/slides/slide27.xml" Id="R51c37e273d2040fd" /><Relationship Type="http://schemas.openxmlformats.org/officeDocument/2006/relationships/slide" Target="/ppt/slides/slide28.xml" Id="Rbba03cfe86c8482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72e1abc808949c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73e4455f729407c" /><Relationship Type="http://schemas.openxmlformats.org/officeDocument/2006/relationships/notesMaster" Target="/ppt/notesMasters/notesMaster1.xml" Id="Rda858142f1a946e3" /></Relationships>
</file>

<file path=ppt/notesSlides/_rels/notesSlide2.xml.rels>&#65279;<?xml version="1.0" encoding="utf-8"?><Relationships xmlns="http://schemas.openxmlformats.org/package/2006/relationships"><Relationship Type="http://schemas.openxmlformats.org/officeDocument/2006/relationships/slide" Target="/ppt/slides/slide2.xml" Id="R840657e3113448bd" /><Relationship Type="http://schemas.openxmlformats.org/officeDocument/2006/relationships/notesMaster" Target="/ppt/notesMasters/notesMaster1.xml" Id="R00a0b08d4b9544fd" /></Relationships>
</file>

<file path=ppt/notesSlides/_rels/notesSlide3.xml.rels>&#65279;<?xml version="1.0" encoding="utf-8"?><Relationships xmlns="http://schemas.openxmlformats.org/package/2006/relationships"><Relationship Type="http://schemas.openxmlformats.org/officeDocument/2006/relationships/slide" Target="/ppt/slides/slide3.xml" Id="R9e5b46b98c554a20" /><Relationship Type="http://schemas.openxmlformats.org/officeDocument/2006/relationships/notesMaster" Target="/ppt/notesMasters/notesMaster1.xml" Id="Re24844a9a535459b" /></Relationships>
</file>

<file path=ppt/notesSlides/_rels/notesSlide4.xml.rels>&#65279;<?xml version="1.0" encoding="utf-8"?><Relationships xmlns="http://schemas.openxmlformats.org/package/2006/relationships"><Relationship Type="http://schemas.openxmlformats.org/officeDocument/2006/relationships/slide" Target="/ppt/slides/slide4.xml" Id="R83e7efb0206f4306" /><Relationship Type="http://schemas.openxmlformats.org/officeDocument/2006/relationships/notesMaster" Target="/ppt/notesMasters/notesMaster1.xml" Id="R3d4eeda0815442d2" /></Relationships>
</file>

<file path=ppt/notesSlides/_rels/notesSlide5.xml.rels>&#65279;<?xml version="1.0" encoding="utf-8"?><Relationships xmlns="http://schemas.openxmlformats.org/package/2006/relationships"><Relationship Type="http://schemas.openxmlformats.org/officeDocument/2006/relationships/slide" Target="/ppt/slides/slide5.xml" Id="Rd54001e1979142d1" /><Relationship Type="http://schemas.openxmlformats.org/officeDocument/2006/relationships/notesMaster" Target="/ppt/notesMasters/notesMaster1.xml" Id="R76a0649610ef4435" /></Relationships>
</file>

<file path=ppt/notesSlides/_rels/notesSlide6.xml.rels>&#65279;<?xml version="1.0" encoding="utf-8"?><Relationships xmlns="http://schemas.openxmlformats.org/package/2006/relationships"><Relationship Type="http://schemas.openxmlformats.org/officeDocument/2006/relationships/slide" Target="/ppt/slides/slide6.xml" Id="R61978e562ee443c6" /><Relationship Type="http://schemas.openxmlformats.org/officeDocument/2006/relationships/notesMaster" Target="/ppt/notesMasters/notesMaster1.xml" Id="R915e049975ab4e8c" /></Relationships>
</file>

<file path=ppt/notesSlides/_rels/notesSlide7.xml.rels>&#65279;<?xml version="1.0" encoding="utf-8"?><Relationships xmlns="http://schemas.openxmlformats.org/package/2006/relationships"><Relationship Type="http://schemas.openxmlformats.org/officeDocument/2006/relationships/slide" Target="/ppt/slides/slide7.xml" Id="Re13814d8474f48e5" /><Relationship Type="http://schemas.openxmlformats.org/officeDocument/2006/relationships/notesMaster" Target="/ppt/notesMasters/notesMaster1.xml" Id="Ra2db24c054324ee3" /></Relationships>
</file>

<file path=ppt/notesSlides/_rels/notesSlide8.xml.rels>&#65279;<?xml version="1.0" encoding="utf-8"?><Relationships xmlns="http://schemas.openxmlformats.org/package/2006/relationships"><Relationship Type="http://schemas.openxmlformats.org/officeDocument/2006/relationships/slide" Target="/ppt/slides/slide8.xml" Id="Rcd5f1d21bdcc45fe" /><Relationship Type="http://schemas.openxmlformats.org/officeDocument/2006/relationships/notesMaster" Target="/ppt/notesMasters/notesMaster1.xml" Id="Refcf06e1ddb24195" /></Relationships>
</file>

<file path=ppt/notesSlides/_rels/notesSlide9.xml.rels>&#65279;<?xml version="1.0" encoding="utf-8"?><Relationships xmlns="http://schemas.openxmlformats.org/package/2006/relationships"><Relationship Type="http://schemas.openxmlformats.org/officeDocument/2006/relationships/slide" Target="/ppt/slides/slide9.xml" Id="Rb0d06e184e2241dc" /><Relationship Type="http://schemas.openxmlformats.org/officeDocument/2006/relationships/notesMaster" Target="/ppt/notesMasters/notesMaster1.xml" Id="Rf96f357702d7427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9f00b2e040b4bda" /><Relationship Type="http://schemas.openxmlformats.org/officeDocument/2006/relationships/notesMaster" Target="/ppt/notesMasters/notesMaster1.xml" Id="R4d810ac0898d469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f1c97a3adb34400" /><Relationship Type="http://schemas.openxmlformats.org/officeDocument/2006/relationships/notesMaster" Target="/ppt/notesMasters/notesMaster1.xml" Id="R8dccc20ee9d54da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e8027c7db1b4bbb" /><Relationship Type="http://schemas.openxmlformats.org/officeDocument/2006/relationships/notesMaster" Target="/ppt/notesMasters/notesMaster1.xml" Id="R879442da763643a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eda397237e84fc3" /><Relationship Type="http://schemas.openxmlformats.org/officeDocument/2006/relationships/notesMaster" Target="/ppt/notesMasters/notesMaster1.xml" Id="R327c1c417b164ab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ee0b997ebe5493e" /><Relationship Type="http://schemas.openxmlformats.org/officeDocument/2006/relationships/notesMaster" Target="/ppt/notesMasters/notesMaster1.xml" Id="R4ce70c42cb69461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c7e651540b24c6c" /><Relationship Type="http://schemas.openxmlformats.org/officeDocument/2006/relationships/notesMaster" Target="/ppt/notesMasters/notesMaster1.xml" Id="Rf6b3928b16a94cc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991cd4b10bf4e23" /><Relationship Type="http://schemas.openxmlformats.org/officeDocument/2006/relationships/notesMaster" Target="/ppt/notesMasters/notesMaster1.xml" Id="R942eea847cb74b9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0e7c5f9e9524397" /><Relationship Type="http://schemas.openxmlformats.org/officeDocument/2006/relationships/notesMaster" Target="/ppt/notesMasters/notesMaster1.xml" Id="R8d20767881a4406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14df648f20444a2" /><Relationship Type="http://schemas.openxmlformats.org/officeDocument/2006/relationships/notesMaster" Target="/ppt/notesMasters/notesMaster1.xml" Id="R0a9aba12e76f46b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b352de77f4d4b40" /><Relationship Type="http://schemas.openxmlformats.org/officeDocument/2006/relationships/notesMaster" Target="/ppt/notesMasters/notesMaster1.xml" Id="Rb07fcdd928e5490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e6a5350d5b44506" /><Relationship Type="http://schemas.openxmlformats.org/officeDocument/2006/relationships/notesMaster" Target="/ppt/notesMasters/notesMaster1.xml" Id="R2db4dac430964b9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1ff1ab8e6e94339" /><Relationship Type="http://schemas.openxmlformats.org/officeDocument/2006/relationships/notesMaster" Target="/ppt/notesMasters/notesMaster1.xml" Id="R7c5cff01babd4b7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a74880b3b75466d" /><Relationship Type="http://schemas.openxmlformats.org/officeDocument/2006/relationships/notesMaster" Target="/ppt/notesMasters/notesMaster1.xml" Id="R94623532609a45c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c2982194b0e414b" /><Relationship Type="http://schemas.openxmlformats.org/officeDocument/2006/relationships/notesMaster" Target="/ppt/notesMasters/notesMaster1.xml" Id="Rea3692cc6f4f434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a98de7e96bd466e" /><Relationship Type="http://schemas.openxmlformats.org/officeDocument/2006/relationships/notesMaster" Target="/ppt/notesMasters/notesMaster1.xml" Id="Raf11f8b731e9428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7134395da4c493a" /><Relationship Type="http://schemas.openxmlformats.org/officeDocument/2006/relationships/notesMaster" Target="/ppt/notesMasters/notesMaster1.xml" Id="R0c742bb3cfdb414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27e6f9c12f04c2f" /><Relationship Type="http://schemas.openxmlformats.org/officeDocument/2006/relationships/notesMaster" Target="/ppt/notesMasters/notesMaster1.xml" Id="Rd51a9d835005421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431635455404b6a" /><Relationship Type="http://schemas.openxmlformats.org/officeDocument/2006/relationships/notesMaster" Target="/ppt/notesMasters/notesMaster1.xml" Id="R2299c4430abf487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91e595e2cc14a3d" /><Relationship Type="http://schemas.openxmlformats.org/officeDocument/2006/relationships/notesMaster" Target="/ppt/notesMasters/notesMaster1.xml" Id="R83b32bd5182a449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0:00–0:35</a:t>
            </a:r>
          </a:p>
          <a:p xmlns:a="http://schemas.openxmlformats.org/drawingml/2006/main">
            <a:r>
              <a:t/>
            </a:r>
          </a:p>
          <a:p xmlns:a="http://schemas.openxmlformats.org/drawingml/2006/main">
            <a:r>
              <a:t>Open with the central scientific position, not the software inventory. HydroSheaf asks whether uncertain age, connectivity and chemical evidence can be combined without hiding non-uniqueness. State that universal predictive superiority is not the thesis claim.</a:t>
            </a:r>
          </a:p>
          <a:p xmlns:a="http://schemas.openxmlformats.org/drawingml/2006/main">
            <a:r>
              <a:t/>
            </a:r>
          </a:p>
          <a:p xmlns:a="http://schemas.openxmlformats.org/drawingml/2006/main">
            <a:r>
              <a:t>[Sources]</a:t>
            </a:r>
          </a:p>
          <a:p xmlns:a="http://schemas.openxmlformats.org/drawingml/2006/main">
            <a:r>
              <a:t>- C:\Users\ThinkPad P1 G4\Documents\July_2026\NeutroProject\Groundwater\Hydrosheaf\draftbychapter\PhDChapter1_refined.docx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0:35–1:55</a:t>
            </a:r>
          </a:p>
          <a:p xmlns:a="http://schemas.openxmlformats.org/drawingml/2006/main">
            <a:r>
              <a:t/>
            </a:r>
          </a:p>
          <a:p xmlns:a="http://schemas.openxmlformats.org/drawingml/2006/main">
            <a:r>
              <a:t>Explain the shared inverse-problem structure. The same observation can support several ages, graphs or reaction pathways. The key danger is false certainty: an integrated model can become more confident while becoming less correct. This motivates the evaluation criteria used throughout the thesis.</a:t>
            </a:r>
          </a:p>
          <a:p xmlns:a="http://schemas.openxmlformats.org/drawingml/2006/main">
            <a:r>
              <a:t/>
            </a:r>
          </a:p>
          <a:p xmlns:a="http://schemas.openxmlformats.org/drawingml/2006/main">
            <a:r>
              <a:t>[Sources]</a:t>
            </a:r>
          </a:p>
          <a:p xmlns:a="http://schemas.openxmlformats.org/drawingml/2006/main">
            <a:r>
              <a:t>- C:\Users\ThinkPad P1 G4\Documents\July_2026\NeutroProject\Groundwater\Hydrosheaf\M5\m5_inverse_reaction_benchmark\docs\m5_results_summary.md</a:t>
            </a:r>
          </a:p>
          <a:p xmlns:a="http://schemas.openxmlformats.org/drawingml/2006/main">
            <a:r>
              <a:t>- C:\Users\ThinkPad P1 G4\Documents\July_2026\NeutroProject\Groundwater\Hydrosheaf\M7\m7_nonuniqueness_benchmark\docs\m7_3_results.md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1:55–3:00</a:t>
            </a:r>
          </a:p>
          <a:p xmlns:a="http://schemas.openxmlformats.org/drawingml/2006/main">
            <a:r>
              <a:t/>
            </a:r>
          </a:p>
          <a:p xmlns:a="http://schemas.openxmlformats.org/drawingml/2006/main">
            <a:r>
              <a:t>Age constrains plausible travel direction, topology conditions which samples can be compared, and chemistry constrains processes along edges. Existing workflows often estimate these sequentially and treat upstream outputs as fixed. HydroSheaf formalises their relations and propagates incompatibility instead of silently resolving it.</a:t>
            </a:r>
          </a:p>
          <a:p xmlns:a="http://schemas.openxmlformats.org/drawingml/2006/main">
            <a:r>
              <a:t/>
            </a:r>
          </a:p>
          <a:p xmlns:a="http://schemas.openxmlformats.org/drawingml/2006/main">
            <a:r>
              <a:t>[Sources]</a:t>
            </a:r>
          </a:p>
          <a:p xmlns:a="http://schemas.openxmlformats.org/drawingml/2006/main">
            <a:r>
              <a:t>- C:\Users\ThinkPad P1 G4\Documents\July_2026\NeutroProject\Groundwater\Hydrosheaf\draftbychapter\PhDChapter1_refined.docx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3:00–4:00</a:t>
            </a:r>
          </a:p>
          <a:p xmlns:a="http://schemas.openxmlformats.org/drawingml/2006/main">
            <a:r>
              <a:t/>
            </a:r>
          </a:p>
          <a:p xmlns:a="http://schemas.openxmlformats.org/drawingml/2006/main">
            <a:r>
              <a:t>State the aim and use four self-describing questions. Do not introduce internal milestone labels. Explain that the objectives are operationalised through component checks, integration experiments, representation tests and field supportability analysis.</a:t>
            </a:r>
          </a:p>
          <a:p xmlns:a="http://schemas.openxmlformats.org/drawingml/2006/main">
            <a:r>
              <a:t/>
            </a:r>
          </a:p>
          <a:p xmlns:a="http://schemas.openxmlformats.org/drawingml/2006/main">
            <a:r>
              <a:t>[Sources]</a:t>
            </a:r>
          </a:p>
          <a:p xmlns:a="http://schemas.openxmlformats.org/drawingml/2006/main">
            <a:r>
              <a:t>- C:\Users\ThinkPad P1 G4\Documents\July_2026\NeutroProject\Groundwater\Hydrosheaf\draftbychapter\PhDChapter1_refined.docx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4:00–5:00</a:t>
            </a:r>
          </a:p>
          <a:p xmlns:a="http://schemas.openxmlformats.org/drawingml/2006/main">
            <a:r>
              <a:t/>
            </a:r>
          </a:p>
          <a:p xmlns:a="http://schemas.openxmlformats.org/drawingml/2006/main">
            <a:r>
              <a:t>Be explicit: the thesis does not claim to invent tracer dating, graph modelling, sheaf theory or inverse hydrogeochemistry. The contribution is their formal, executable, groundwater-specific coupling with uncertainty propagation, adverse controls and claim rules. This is a defensible methodological novelty.</a:t>
            </a:r>
          </a:p>
          <a:p xmlns:a="http://schemas.openxmlformats.org/drawingml/2006/main">
            <a:r>
              <a:t/>
            </a:r>
          </a:p>
          <a:p xmlns:a="http://schemas.openxmlformats.org/drawingml/2006/main">
            <a:r>
              <a:t>[Sources]</a:t>
            </a:r>
          </a:p>
          <a:p xmlns:a="http://schemas.openxmlformats.org/drawingml/2006/main">
            <a:r>
              <a:t>- C:\Users\ThinkPad P1 G4\Documents\July_2026\NeutroProject\Groundwater\Hydrosheaf\draftbychapter\PhDChapter1_refined.docx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5:00–6:20</a:t>
            </a:r>
          </a:p>
          <a:p xmlns:a="http://schemas.openxmlformats.org/drawingml/2006/main">
            <a:r>
              <a:t/>
            </a:r>
          </a:p>
          <a:p xmlns:a="http://schemas.openxmlformats.org/drawingml/2006/main">
            <a:r>
              <a:t>Use the simplest mathematical distinction. A weighted graph assigns a scalar relation to an edge. The M7 representation benchmark tested static scalar affine relations with edge-specific gain and offset, global compatibility and conflict localisation. The wider framework can represent multivariate stalks, but that capability was not validated here. Do not imply that representation automatically improves every prediction.</a:t>
            </a:r>
          </a:p>
          <a:p xmlns:a="http://schemas.openxmlformats.org/drawingml/2006/main">
            <a:r>
              <a:t/>
            </a:r>
          </a:p>
          <a:p xmlns:a="http://schemas.openxmlformats.org/drawingml/2006/main">
            <a:r>
              <a:t>[Sources]</a:t>
            </a:r>
          </a:p>
          <a:p xmlns:a="http://schemas.openxmlformats.org/drawingml/2006/main">
            <a:r>
              <a:t>- C:\Users\ThinkPad P1 G4\Documents\July_2026\NeutroProject\Groundwater\Hydrosheaf\hydrosheaf\sheaf\directed_section.py</a:t>
            </a:r>
          </a:p>
          <a:p xmlns:a="http://schemas.openxmlformats.org/drawingml/2006/main">
            <a:r>
              <a:t>- C:\Users\ThinkPad P1 G4\Documents\July_2026\NeutroProject\Groundwater\Hydrosheaf\M7\m7_nonuniqueness_benchmark\docs\m7_sheaf_vs_graph_results.md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6:20–7:40</a:t>
            </a:r>
          </a:p>
          <a:p xmlns:a="http://schemas.openxmlformats.org/drawingml/2006/main">
            <a:r>
              <a:t/>
            </a:r>
          </a:p>
          <a:p xmlns:a="http://schemas.openxmlformats.org/drawingml/2006/main">
            <a:r>
              <a:t>Define a locked test: the generator and decision rules are fixed using development data; the held-out cases are opened once for the confirmatory comparison. Emphasise that different evidence tiers support different claims. Synthetic known truth and field transfer are complementary, but neither substitutes for matched field truth.</a:t>
            </a:r>
          </a:p>
          <a:p xmlns:a="http://schemas.openxmlformats.org/drawingml/2006/main">
            <a:r>
              <a:t/>
            </a:r>
          </a:p>
          <a:p xmlns:a="http://schemas.openxmlformats.org/drawingml/2006/main">
            <a:r>
              <a:t>[Sources]</a:t>
            </a:r>
          </a:p>
          <a:p xmlns:a="http://schemas.openxmlformats.org/drawingml/2006/main">
            <a:r>
              <a:t>- C:\Users\ThinkPad P1 G4\Documents\July_2026\NeutroProject\Groundwater\Hydrosheaf\M7\m7_nonuniqueness_benchmark\manuscript\revision\FINAL_VERIFICATION_20260730.md</a:t>
            </a:r>
          </a:p>
          <a:p xmlns:a="http://schemas.openxmlformats.org/drawingml/2006/main">
            <a:r>
              <a:t>- C:\Users\ThinkPad P1 G4\Documents\July_2026\NeutroProject\Groundwater\Hydrosheaf\draftbychapter\PhDChapter1_refined.docx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7:40–8:35</a:t>
            </a:r>
          </a:p>
          <a:p xmlns:a="http://schemas.openxmlformats.org/drawingml/2006/main">
            <a:r>
              <a:t/>
            </a:r>
          </a:p>
          <a:p xmlns:a="http://schemas.openxmlformats.org/drawingml/2006/main">
            <a:r>
              <a:t>The early controlled benchmark checked whether the framework could recover planted transport and reaction behaviour. M2 used a PHREEQC-compatible deterministic proxy; the later reaction benchmark supplied the live-PHREEQC evidence. The perfect 174-edge MODPATH result is deliberately labelled conversion verification, not unknown-topology inference.</a:t>
            </a:r>
          </a:p>
          <a:p xmlns:a="http://schemas.openxmlformats.org/drawingml/2006/main">
            <a:r>
              <a:t/>
            </a:r>
          </a:p>
          <a:p xmlns:a="http://schemas.openxmlformats.org/drawingml/2006/main">
            <a:r>
              <a:t>[Sources]</a:t>
            </a:r>
          </a:p>
          <a:p xmlns:a="http://schemas.openxmlformats.org/drawingml/2006/main">
            <a:r>
              <a:t>- C:\Users\ThinkPad P1 G4\Documents\July_2026\NeutroProject\Groundwater\Hydrosheaf\M2\m2_benchmark\docs\m2_results_summary.md</a:t>
            </a:r>
          </a:p>
          <a:p xmlns:a="http://schemas.openxmlformats.org/drawingml/2006/main">
            <a:r>
              <a:t>- C:\Users\ThinkPad P1 G4\Documents\July_2026\NeutroProject\Groundwater\Hydrosheaf\M5\m5_inverse_reaction_benchmark\docs\m5_results_summary.md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8:35–10:25</a:t>
            </a:r>
          </a:p>
          <a:p xmlns:a="http://schemas.openxmlformats.org/drawingml/2006/main">
            <a:r>
              <a:t/>
            </a:r>
          </a:p>
          <a:p xmlns:a="http://schemas.openxmlformats.org/drawingml/2006/main">
            <a:r>
              <a:t>This is close agreement with a reported TracerLPM/USGS configuration, not formal equivalence and not error-free field-age truth. HydroSheaf reproduced the reported outputs closely on 329 strict fits. It did not need to beat TracerLPM; the test asked whether topology supplied independent information. The weak proxy failed the locked improvement rule, while wrong and random graphs demonstrated negative transfer.</a:t>
            </a:r>
          </a:p>
          <a:p xmlns:a="http://schemas.openxmlformats.org/drawingml/2006/main">
            <a:r>
              <a:t/>
            </a:r>
          </a:p>
          <a:p xmlns:a="http://schemas.openxmlformats.org/drawingml/2006/main">
            <a:r>
              <a:t>[Sources]</a:t>
            </a:r>
          </a:p>
          <a:p xmlns:a="http://schemas.openxmlformats.org/drawingml/2006/main">
            <a:r>
              <a:t>- C:\Users\ThinkPad P1 G4\Documents\July_2026\NeutroProject\Groundwater\Hydrosheaf\M3\m3_age_benchmark\M3_FINAL_ACCURACY_AUDIT.md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10:25–12:00</a:t>
            </a:r>
          </a:p>
          <a:p xmlns:a="http://schemas.openxmlformats.org/drawingml/2006/main">
            <a:r>
              <a:t/>
            </a:r>
          </a:p>
          <a:p xmlns:a="http://schemas.openxmlformats.org/drawingml/2006/main">
            <a:r>
              <a:t>Explain the difference between reference construction and independent inference. The headline publication figure gives a model-conditioned head-gradient diagnostic around P 0.49, R 0.84 and F1 0.62, with negative controls near zero. Independent scenario performance varies with evidence and scale. This is conditional topology skill against MODPATH-derived reference transitions, not independently measured field connectivity.</a:t>
            </a:r>
          </a:p>
          <a:p xmlns:a="http://schemas.openxmlformats.org/drawingml/2006/main">
            <a:r>
              <a:t/>
            </a:r>
          </a:p>
          <a:p xmlns:a="http://schemas.openxmlformats.org/drawingml/2006/main">
            <a:r>
              <a:t>[Sources]</a:t>
            </a:r>
          </a:p>
          <a:p xmlns:a="http://schemas.openxmlformats.org/drawingml/2006/main">
            <a:r>
              <a:t>- C:\Users\ThinkPad P1 G4\Documents\July_2026\NeutroProject\Groundwater\Hydrosheaf\M4\m4_topology_benchmark\docs\02_figures.md</a:t>
            </a:r>
          </a:p>
          <a:p xmlns:a="http://schemas.openxmlformats.org/drawingml/2006/main">
            <a:r>
              <a:t>- C:\Users\ThinkPad P1 G4\Documents\July_2026\NeutroProject\Groundwater\Hydrosheaf\M4\m4_topology_benchmark\docs\m4_results_summary.md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12:00–14:00</a:t>
            </a:r>
          </a:p>
          <a:p xmlns:a="http://schemas.openxmlformats.org/drawingml/2006/main">
            <a:r>
              <a:t/>
            </a:r>
          </a:p>
          <a:p xmlns:a="http://schemas.openxmlformats.org/drawingml/2006/main">
            <a:r>
              <a:t>Use the figure to show that concentration reconstruction can be excellent while the recovered pathway is wrong. Conventional inverse PHREEQC produced many feasible and minimal models. The defensible output is family or equivalence-class support, not unique mineral truth. This result changes the reporting target from a single best pathway to a constrained ensemble.</a:t>
            </a:r>
          </a:p>
          <a:p xmlns:a="http://schemas.openxmlformats.org/drawingml/2006/main">
            <a:r>
              <a:t/>
            </a:r>
          </a:p>
          <a:p xmlns:a="http://schemas.openxmlformats.org/drawingml/2006/main">
            <a:r>
              <a:t>[Sources]</a:t>
            </a:r>
          </a:p>
          <a:p xmlns:a="http://schemas.openxmlformats.org/drawingml/2006/main">
            <a:r>
              <a:t>- C:\Users\ThinkPad P1 G4\Documents\July_2026\NeutroProject\Groundwater\Hydrosheaf\M5\m5_inverse_reaction_benchmark\docs\m5_results_summary.md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14:00–16:00</a:t>
            </a:r>
          </a:p>
          <a:p xmlns:a="http://schemas.openxmlformats.org/drawingml/2006/main">
            <a:r>
              <a:t/>
            </a:r>
          </a:p>
          <a:p xmlns:a="http://schemas.openxmlformats.org/drawingml/2006/main">
            <a:r>
              <a:t>The Ghana result is not exact age, flow-path or reaction validation. It is an operational evidence-ceiling diagnosis under a predeclared gate, with a synthetic check supporting the direction of the result. Removing strontium and silica moved about 52 percent of wells to non-identifiable, while fit metrics and bootstrap stability remained high. This shows why conventional good-fit criteria can conceal loss of mechanistic resolution.</a:t>
            </a:r>
          </a:p>
          <a:p xmlns:a="http://schemas.openxmlformats.org/drawingml/2006/main">
            <a:r>
              <a:t/>
            </a:r>
          </a:p>
          <a:p xmlns:a="http://schemas.openxmlformats.org/drawingml/2006/main">
            <a:r>
              <a:t>[Sources]</a:t>
            </a:r>
          </a:p>
          <a:p xmlns:a="http://schemas.openxmlformats.org/drawingml/2006/main">
            <a:r>
              <a:t>- C:\Users\ThinkPad P1 G4\Documents\July_2026\NeutroProject\Groundwater\Hydrosheaf\M6\m6_field_transfer_benchmark\docs\m6_results_summary.md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16:00–17:50</a:t>
            </a:r>
          </a:p>
          <a:p xmlns:a="http://schemas.openxmlformats.org/drawingml/2006/main">
            <a:r>
              <a:t/>
            </a:r>
          </a:p>
          <a:p xmlns:a="http://schemas.openxmlformats.org/drawingml/2006/main">
            <a:r>
              <a:t>In the independent generator, chemistry added strong topology-ranking information and its PR-AUC gain survived family-wise correction. The +0.0091 hydraulic PR-AUC contrast did not survive correction, although Brier and log-loss improvements did. The −0.0060 age ranking contrast also did not survive correction and supplies no evidence of positive value. The conclusion is conditional complementarity, not that every stream always helps.</a:t>
            </a:r>
          </a:p>
          <a:p xmlns:a="http://schemas.openxmlformats.org/drawingml/2006/main">
            <a:r>
              <a:t/>
            </a:r>
          </a:p>
          <a:p xmlns:a="http://schemas.openxmlformats.org/drawingml/2006/main">
            <a:r>
              <a:t>[Sources]</a:t>
            </a:r>
          </a:p>
          <a:p xmlns:a="http://schemas.openxmlformats.org/drawingml/2006/main">
            <a:r>
              <a:t>- C:\Users\ThinkPad P1 G4\Documents\July_2026\NeutroProject\Groundwater\Hydrosheaf\M7\m7_nonuniqueness_benchmark\docs\m7_3_results.md</a:t>
            </a:r>
          </a:p>
          <a:p xmlns:a="http://schemas.openxmlformats.org/drawingml/2006/main">
            <a:r>
              <a:t>- C:\Users\ThinkPad P1 G4\Documents\July_2026\NeutroProject\Groundwater\Hydrosheaf\M7\m7_nonuniqueness_benchmark\manuscript\sections\03-results\section.md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17:50–19:10</a:t>
            </a:r>
          </a:p>
          <a:p xmlns:a="http://schemas.openxmlformats.org/drawingml/2006/main">
            <a:r>
              <a:t/>
            </a:r>
          </a:p>
          <a:p xmlns:a="http://schemas.openxmlformats.org/drawingml/2006/main">
            <a:r>
              <a:t>This experiment reverses the direction of conditioning. Correct topology produced statistically precise but practically small MAE improvements: 2.24 and 3.46 percent of their baselines; practical planning margins were post-review diagnostics. Reversed topology harmed inference. The result supports correct topology as useful information while warning against treating an estimated graph as known.</a:t>
            </a:r>
          </a:p>
          <a:p xmlns:a="http://schemas.openxmlformats.org/drawingml/2006/main">
            <a:r>
              <a:t/>
            </a:r>
          </a:p>
          <a:p xmlns:a="http://schemas.openxmlformats.org/drawingml/2006/main">
            <a:r>
              <a:t>[Sources]</a:t>
            </a:r>
          </a:p>
          <a:p xmlns:a="http://schemas.openxmlformats.org/drawingml/2006/main">
            <a:r>
              <a:t>- C:\Users\ThinkPad P1 G4\Documents\July_2026\NeutroProject\Groundwater\Hydrosheaf\M7\m7_nonuniqueness_benchmark\docs\m7_3_results.md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19:10–21:30</a:t>
            </a:r>
          </a:p>
          <a:p xmlns:a="http://schemas.openxmlformats.org/drawingml/2006/main">
            <a:r>
              <a:t/>
            </a:r>
          </a:p>
          <a:p xmlns:a="http://schemas.openxmlformats.org/drawingml/2006/main">
            <a:r>
              <a:t>This is the centrepiece. The affine sheaf beats the identity Laplacian and permuted-map control, and exactly nests the identity limit. Against the stronger edge-local weighted graph, the overall difference is small and the simultaneous interval crosses zero; log loss is worse in the original estimator. The supported contribution is scalar edge-specific transformations, global compatibility and conflict localisation, especially in incompatible-cycle scenarios.</a:t>
            </a:r>
          </a:p>
          <a:p xmlns:a="http://schemas.openxmlformats.org/drawingml/2006/main">
            <a:r>
              <a:t/>
            </a:r>
          </a:p>
          <a:p xmlns:a="http://schemas.openxmlformats.org/drawingml/2006/main">
            <a:r>
              <a:t>[Sources]</a:t>
            </a:r>
          </a:p>
          <a:p xmlns:a="http://schemas.openxmlformats.org/drawingml/2006/main">
            <a:r>
              <a:t>- C:\Users\ThinkPad P1 G4\Documents\July_2026\NeutroProject\Groundwater\Hydrosheaf\M7\m7_nonuniqueness_benchmark\docs\m7_sheaf_vs_graph_results.md</a:t>
            </a:r>
          </a:p>
          <a:p xmlns:a="http://schemas.openxmlformats.org/drawingml/2006/main">
            <a:r>
              <a:t>- C:\Users\ThinkPad P1 G4\Documents\July_2026\NeutroProject\Groundwater\Hydrosheaf\M7\m7_nonuniqueness_benchmark\M7_SHEAF_VS_GRAPH_CLAIM_DECISION.md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21:30–22:45</a:t>
            </a:r>
          </a:p>
          <a:p xmlns:a="http://schemas.openxmlformats.org/drawingml/2006/main">
            <a:r>
              <a:t/>
            </a:r>
          </a:p>
          <a:p xmlns:a="http://schemas.openxmlformats.org/drawingml/2006/main">
            <a:r>
              <a:t>The development stage selected a local-first/global-fallback estimator and it was tested once on 128 fresh locked cases. The PR-AUC point estimate was higher, but its family-wise simultaneous interval crossed zero; Brier score and log loss also failed the all-outcome superiority gate. Leave-one-edge-out robust global weighting worsened calibration. Therefore retain an estimator diagnostic, not a general superiority claim.</a:t>
            </a:r>
          </a:p>
          <a:p xmlns:a="http://schemas.openxmlformats.org/drawingml/2006/main">
            <a:r>
              <a:t/>
            </a:r>
          </a:p>
          <a:p xmlns:a="http://schemas.openxmlformats.org/drawingml/2006/main">
            <a:r>
              <a:t>[Sources]</a:t>
            </a:r>
          </a:p>
          <a:p xmlns:a="http://schemas.openxmlformats.org/drawingml/2006/main">
            <a:r>
              <a:t>- C:\Users\ThinkPad P1 G4\Documents\July_2026\NeutroProject\Groundwater\Hydrosheaf\M7\m7_nonuniqueness_benchmark\manuscript\sections\03-results\section.md</a:t>
            </a:r>
          </a:p>
          <a:p xmlns:a="http://schemas.openxmlformats.org/drawingml/2006/main">
            <a:r>
              <a:t>- C:\Users\ThinkPad P1 G4\Documents\July_2026\NeutroProject\Groundwater\Hydrosheaf\M7\m7_nonuniqueness_benchmark\M7_ROBUST_HYBRID_CLAIM_DECISION.md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22:45–23:35</a:t>
            </a:r>
          </a:p>
          <a:p xmlns:a="http://schemas.openxmlformats.org/drawingml/2006/main">
            <a:r>
              <a:t/>
            </a:r>
          </a:p>
          <a:p xmlns:a="http://schemas.openxmlformats.org/drawingml/2006/main">
            <a:r>
              <a:t>Present the negative results as scientific findings. The weak graph prior did not improve age inference; the old-water prior was withdrawn; carbonate families were not recovered under either tested indicator panel, which does not prove universal non-identifiability; the general sheaf-superiority gate failed; and active learning has not produced a claim-bearing evaluation.</a:t>
            </a:r>
          </a:p>
          <a:p xmlns:a="http://schemas.openxmlformats.org/drawingml/2006/main">
            <a:r>
              <a:t/>
            </a:r>
          </a:p>
          <a:p xmlns:a="http://schemas.openxmlformats.org/drawingml/2006/main">
            <a:r>
              <a:t>[Sources]</a:t>
            </a:r>
          </a:p>
          <a:p xmlns:a="http://schemas.openxmlformats.org/drawingml/2006/main">
            <a:r>
              <a:t>- C:\Users\ThinkPad P1 G4\Documents\July_2026\NeutroProject\Groundwater\Hydrosheaf\M3\m3_age_benchmark\M3_FINAL_ACCURACY_AUDIT.md</a:t>
            </a:r>
          </a:p>
          <a:p xmlns:a="http://schemas.openxmlformats.org/drawingml/2006/main">
            <a:r>
              <a:t>- C:\Users\ThinkPad P1 G4\Documents\July_2026\NeutroProject\Groundwater\Hydrosheaf\M7\m7_nonuniqueness_benchmark\docs\m7_3_results.md</a:t>
            </a:r>
          </a:p>
          <a:p xmlns:a="http://schemas.openxmlformats.org/drawingml/2006/main">
            <a:r>
              <a:t>- C:\Users\ThinkPad P1 G4\Documents\July_2026\NeutroProject\Groundwater\Hydrosheaf\HYDROSHEAF_REMAINING_CAPABILITIES_DECISION_20260728.md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23:35–24:35</a:t>
            </a:r>
          </a:p>
          <a:p xmlns:a="http://schemas.openxmlformats.org/drawingml/2006/main">
            <a:r>
              <a:t/>
            </a:r>
          </a:p>
          <a:p xmlns:a="http://schemas.openxmlformats.org/drawingml/2006/main">
            <a:r>
              <a:t>Use the claim ledger to answer the research questions directly. The thesis supports controlled and conditional integration claims, plus field supportability diagnostics. It does not support universal superiority, exact Ghana truth, complete field validation or untested capability claims. This slide prevents overclaiming under viva pressure.</a:t>
            </a:r>
          </a:p>
          <a:p xmlns:a="http://schemas.openxmlformats.org/drawingml/2006/main">
            <a:r>
              <a:t/>
            </a:r>
          </a:p>
          <a:p xmlns:a="http://schemas.openxmlformats.org/drawingml/2006/main">
            <a:r>
              <a:t>[Sources]</a:t>
            </a:r>
          </a:p>
          <a:p xmlns:a="http://schemas.openxmlformats.org/drawingml/2006/main">
            <a:r>
              <a:t>- C:\Users\ThinkPad P1 G4\Documents\July_2026\NeutroProject\Groundwater\Hydrosheaf\draftbychapter\PhDChapter1_refined.docx</a:t>
            </a:r>
          </a:p>
          <a:p xmlns:a="http://schemas.openxmlformats.org/drawingml/2006/main">
            <a:r>
              <a:t>- C:\Users\ThinkPad P1 G4\Documents\July_2026\NeutroProject\Groundwater\Hydrosheaf\M7\m7_nonuniqueness_benchmark\manuscript\revision\FINAL_VERIFICATION_20260730.md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24:35–25:35</a:t>
            </a:r>
          </a:p>
          <a:p xmlns:a="http://schemas.openxmlformats.org/drawingml/2006/main">
            <a:r>
              <a:t/>
            </a:r>
          </a:p>
          <a:p xmlns:a="http://schemas.openxmlformats.org/drawingml/2006/main">
            <a:r>
              <a:t>Summarise the contribution at the level of knowledge, not software features. First, a formal groundwater representation. Second, diagnostics that expose non-uniqueness. Third, a falsifiable evaluation logic. Fourth, a field-data design contribution that identifies which missing measurements block interpretation.</a:t>
            </a:r>
          </a:p>
          <a:p xmlns:a="http://schemas.openxmlformats.org/drawingml/2006/main">
            <a:r>
              <a:t/>
            </a:r>
          </a:p>
          <a:p xmlns:a="http://schemas.openxmlformats.org/drawingml/2006/main">
            <a:r>
              <a:t>[Sources]</a:t>
            </a:r>
          </a:p>
          <a:p xmlns:a="http://schemas.openxmlformats.org/drawingml/2006/main">
            <a:r>
              <a:t>- C:\Users\ThinkPad P1 G4\Documents\July_2026\NeutroProject\Groundwater\Hydrosheaf\draftbychapter\PhDChapter1_refined.docx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25:35–27:00</a:t>
            </a:r>
          </a:p>
          <a:p xmlns:a="http://schemas.openxmlformats.org/drawingml/2006/main">
            <a:r>
              <a:t/>
            </a:r>
          </a:p>
          <a:p xmlns:a="http://schemas.openxmlformats.org/drawingml/2006/main">
            <a:r>
              <a:t>Return to the opening tension. HydroSheaf’s contribution is not universal superiority. It is a reproducible way to represent cross-domain relations, test global compatibility, measure incremental information and expose confident error. End with the decisive next validation: a different independent generator or a matched field dataset with connectivity truth. This leaves approximately three minutes of contingency within a 30-minute slot.</a:t>
            </a:r>
          </a:p>
          <a:p xmlns:a="http://schemas.openxmlformats.org/drawingml/2006/main">
            <a:r>
              <a:t/>
            </a:r>
          </a:p>
          <a:p xmlns:a="http://schemas.openxmlformats.org/drawingml/2006/main">
            <a:r>
              <a:t>[Sources]</a:t>
            </a:r>
          </a:p>
          <a:p xmlns:a="http://schemas.openxmlformats.org/drawingml/2006/main">
            <a:r>
              <a:t>- C:\Users\ThinkPad P1 G4\Documents\July_2026\NeutroProject\Groundwater\Hydrosheaf\M7\m7_nonuniqueness_benchmark\manuscript\sections\05-conclusion\section.md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Backup</a:t>
            </a:r>
          </a:p>
          <a:p xmlns:a="http://schemas.openxmlformats.org/drawingml/2006/main">
            <a:r>
              <a:t/>
            </a:r>
          </a:p>
          <a:p xmlns:a="http://schemas.openxmlformats.org/drawingml/2006/main">
            <a:r>
              <a:t>Use only if asked what the sheaf layer contributes beyond an ordinary weighted graph. Lead with representation, nesting and conflict localisation. Then volunteer the null overall comparison with the strong edge-local graph to show command of the limitation.</a:t>
            </a:r>
          </a:p>
          <a:p xmlns:a="http://schemas.openxmlformats.org/drawingml/2006/main">
            <a:r>
              <a:t/>
            </a:r>
          </a:p>
          <a:p xmlns:a="http://schemas.openxmlformats.org/drawingml/2006/main">
            <a:r>
              <a:t>[Sources]</a:t>
            </a:r>
          </a:p>
          <a:p xmlns:a="http://schemas.openxmlformats.org/drawingml/2006/main">
            <a:r>
              <a:t>- C:\Users\ThinkPad P1 G4\Documents\July_2026\NeutroProject\Groundwater\Hydrosheaf\M7\m7_nonuniqueness_benchmark\docs\m7_sheaf_vs_graph_results.md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Backup</a:t>
            </a:r>
          </a:p>
          <a:p xmlns:a="http://schemas.openxmlformats.org/drawingml/2006/main">
            <a:r>
              <a:t/>
            </a:r>
          </a:p>
          <a:p xmlns:a="http://schemas.openxmlformats.org/drawingml/2006/main">
            <a:r>
              <a:t>Explain that the benchmark target and scientific truth are not the same thing. HydroSheaf need not replace TracerLPM. The key negative result is that the available graph proxy did not add independent age information and harmful graphs could be detected.</a:t>
            </a:r>
          </a:p>
          <a:p xmlns:a="http://schemas.openxmlformats.org/drawingml/2006/main">
            <a:r>
              <a:t/>
            </a:r>
          </a:p>
          <a:p xmlns:a="http://schemas.openxmlformats.org/drawingml/2006/main">
            <a:r>
              <a:t>[Sources]</a:t>
            </a:r>
          </a:p>
          <a:p xmlns:a="http://schemas.openxmlformats.org/drawingml/2006/main">
            <a:r>
              <a:t>- C:\Users\ThinkPad P1 G4\Documents\July_2026\NeutroProject\Groundwater\Hydrosheaf\M3\m3_age_benchmark\M3_FINAL_ACCURACY_AUDIT.md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Backup</a:t>
            </a:r>
          </a:p>
          <a:p xmlns:a="http://schemas.openxmlformats.org/drawingml/2006/main">
            <a:r>
              <a:t/>
            </a:r>
          </a:p>
          <a:p xmlns:a="http://schemas.openxmlformats.org/drawingml/2006/main">
            <a:r>
              <a:t>A locked test protects the confirmatory comparison from iterative tuning. Distinguish this from preregistration: the protocol was Git-locked before test access, but not externally preregistered. Minimum important differences and planning margins were introduced post-review and were not prespecified. Also distinguish local auditability from a completed public release.</a:t>
            </a:r>
          </a:p>
          <a:p xmlns:a="http://schemas.openxmlformats.org/drawingml/2006/main">
            <a:r>
              <a:t/>
            </a:r>
          </a:p>
          <a:p xmlns:a="http://schemas.openxmlformats.org/drawingml/2006/main">
            <a:r>
              <a:t>[Sources]</a:t>
            </a:r>
          </a:p>
          <a:p xmlns:a="http://schemas.openxmlformats.org/drawingml/2006/main">
            <a:r>
              <a:t>- C:\Users\ThinkPad P1 G4\Documents\July_2026\NeutroProject\Groundwater\Hydrosheaf\M7\m7_nonuniqueness_benchmark\manuscript\revision\FINAL_VERIFICATION_20260730.md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Backup</a:t>
            </a:r>
          </a:p>
          <a:p xmlns:a="http://schemas.openxmlformats.org/drawingml/2006/main">
            <a:r>
              <a:t/>
            </a:r>
          </a:p>
          <a:p xmlns:a="http://schemas.openxmlformats.org/drawingml/2006/main">
            <a:r>
              <a:t>Answer directly: no, the thesis does not contain one field dataset with matched age, repeated heads, chemistry and independent connectivity. The validation strategy triangulates controlled known truth, component reference checks and field transfer. The missing matched field test remains future work.</a:t>
            </a:r>
          </a:p>
          <a:p xmlns:a="http://schemas.openxmlformats.org/drawingml/2006/main">
            <a:r>
              <a:t/>
            </a:r>
          </a:p>
          <a:p xmlns:a="http://schemas.openxmlformats.org/drawingml/2006/main">
            <a:r>
              <a:t>[Sources]</a:t>
            </a:r>
          </a:p>
          <a:p xmlns:a="http://schemas.openxmlformats.org/drawingml/2006/main">
            <a:r>
              <a:t>- C:\Users\ThinkPad P1 G4\Documents\July_2026\NeutroProject\Groundwater\Hydrosheaf\draftbychapter\PhDChapter1_refined.docx</a:t>
            </a:r>
          </a:p>
          <a:p xmlns:a="http://schemas.openxmlformats.org/drawingml/2006/main">
            <a:r>
              <a:t>- C:\Users\ThinkPad P1 G4\Documents\July_2026\NeutroProject\Groundwater\Hydrosheaf\M7\m7_nonuniqueness_benchmark\docs\m7_3_results.md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Backup</a:t>
            </a:r>
          </a:p>
          <a:p xmlns:a="http://schemas.openxmlformats.org/drawingml/2006/main">
            <a:r>
              <a:t/>
            </a:r>
          </a:p>
          <a:p xmlns:a="http://schemas.openxmlformats.org/drawingml/2006/main">
            <a:r>
              <a:t>This is one of the strongest results. Permuting evidence can reduce entropy while worsening discrimination and calibration. Therefore narrow intervals or low entropy are not validation. HydroSheaf includes adverse controls specifically to detect this failure mode.</a:t>
            </a:r>
          </a:p>
          <a:p xmlns:a="http://schemas.openxmlformats.org/drawingml/2006/main">
            <a:r>
              <a:t/>
            </a:r>
          </a:p>
          <a:p xmlns:a="http://schemas.openxmlformats.org/drawingml/2006/main">
            <a:r>
              <a:t>[Sources]</a:t>
            </a:r>
          </a:p>
          <a:p xmlns:a="http://schemas.openxmlformats.org/drawingml/2006/main">
            <a:r>
              <a:t>- C:\Users\ThinkPad P1 G4\Documents\July_2026\NeutroProject\Groundwater\Hydrosheaf\M7\m7_nonuniqueness_benchmark\docs\m7_3_results.md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Backup</a:t>
            </a:r>
          </a:p>
          <a:p xmlns:a="http://schemas.openxmlformats.org/drawingml/2006/main">
            <a:r>
              <a:t/>
            </a:r>
          </a:p>
          <a:p xmlns:a="http://schemas.openxmlformats.org/drawingml/2006/main">
            <a:r>
              <a:t>If challenged, be candid. The capability exists in code, but the current report contains no scored edges and no recommendations. It does not consume candidate-time Jacobians for transport-time selection. It belongs in future work until a prospective cost-aware benchmark demonstrates value.</a:t>
            </a:r>
          </a:p>
          <a:p xmlns:a="http://schemas.openxmlformats.org/drawingml/2006/main">
            <a:r>
              <a:t/>
            </a:r>
          </a:p>
          <a:p xmlns:a="http://schemas.openxmlformats.org/drawingml/2006/main">
            <a:r>
              <a:t>[Sources]</a:t>
            </a:r>
          </a:p>
          <a:p xmlns:a="http://schemas.openxmlformats.org/drawingml/2006/main">
            <a:r>
              <a:t>- C:\Users\ThinkPad P1 G4\Documents\July_2026\NeutroProject\Groundwater\Hydrosheaf\M4\m4_topology_benchmark\results\active_learning_report.md</a:t>
            </a:r>
          </a:p>
          <a:p xmlns:a="http://schemas.openxmlformats.org/drawingml/2006/main">
            <a:r>
              <a:t>- C:\Users\ThinkPad P1 G4\Documents\July_2026\NeutroProject\Groundwater\Hydrosheaf\HYDROSHEAF_REMAINING_CAPABILITIES_DECISION_20260728.md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Backup</a:t>
            </a:r>
          </a:p>
          <a:p xmlns:a="http://schemas.openxmlformats.org/drawingml/2006/main">
            <a:r>
              <a:t/>
            </a:r>
          </a:p>
          <a:p xmlns:a="http://schemas.openxmlformats.org/drawingml/2006/main">
            <a:r>
              <a:t>State precisely that the analysis is locally auditable and the locked-test controls passed. Do not overstate external reproducibility until the exact code and data snapshot has a retrievable versioned release with persistent identifiers and the authorship declarations are complete.</a:t>
            </a:r>
          </a:p>
          <a:p xmlns:a="http://schemas.openxmlformats.org/drawingml/2006/main">
            <a:r>
              <a:t/>
            </a:r>
          </a:p>
          <a:p xmlns:a="http://schemas.openxmlformats.org/drawingml/2006/main">
            <a:r>
              <a:t>[Sources]</a:t>
            </a:r>
          </a:p>
          <a:p xmlns:a="http://schemas.openxmlformats.org/drawingml/2006/main">
            <a:r>
              <a:t>- C:\Users\ThinkPad P1 G4\Documents\July_2026\NeutroProject\Groundwater\Hydrosheaf\M7\m7_nonuniqueness_benchmark\manuscript\revision\FINAL_VERIFICATION_20260730.md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Backup</a:t>
            </a:r>
          </a:p>
          <a:p xmlns:a="http://schemas.openxmlformats.org/drawingml/2006/main">
            <a:r>
              <a:t/>
            </a:r>
          </a:p>
          <a:p xmlns:a="http://schemas.openxmlformats.org/drawingml/2006/main">
            <a:r>
              <a:t>Use these as concise first answers, then expand only if the examiner requests evidence. The strongest defence style is direct claim, exact result, limitation, and implication.</a:t>
            </a:r>
          </a:p>
          <a:p xmlns:a="http://schemas.openxmlformats.org/drawingml/2006/main">
            <a:r>
              <a:t/>
            </a:r>
          </a:p>
          <a:p xmlns:a="http://schemas.openxmlformats.org/drawingml/2006/main">
            <a:r>
              <a:t>[Sources]</a:t>
            </a:r>
          </a:p>
          <a:p xmlns:a="http://schemas.openxmlformats.org/drawingml/2006/main">
            <a:r>
              <a:t>- C:\Users\ThinkPad P1 G4\Documents\July_2026\NeutroProject\Groundwater\Hydrosheaf\draftbychapter\PhDChapter1_refined.docx</a:t>
            </a:r>
          </a:p>
          <a:p xmlns:a="http://schemas.openxmlformats.org/drawingml/2006/main">
            <a:r>
              <a:t>- C:\Users\ThinkPad P1 G4\Documents\July_2026\NeutroProject\Groundwater\Hydrosheaf\M7\m7_nonuniqueness_benchmark\manuscript\revision\FINAL_VERIFICATION_20260730.md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d311dd6154a4bd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43ab3952f914e00" /><Relationship Type="http://schemas.openxmlformats.org/officeDocument/2006/relationships/slideLayout" Target="/ppt/slideLayouts/slideLayout1.xml" Id="R0a06a03b337f49f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a06a03b337f49f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a00065018a94f2e" /><Relationship Type="http://schemas.openxmlformats.org/officeDocument/2006/relationships/notesSlide" Target="/ppt/notesSlides/notesSlide1.xml" Id="Re852c64b25324d3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021fd4ab8044a6e" /><Relationship Type="http://schemas.openxmlformats.org/officeDocument/2006/relationships/notesSlide" Target="/ppt/notesSlides/notesSlide2.xml" Id="R32ae84f6c0ab443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0eeb4612ee84310" /><Relationship Type="http://schemas.openxmlformats.org/officeDocument/2006/relationships/notesSlide" Target="/ppt/notesSlides/notesSlide3.xml" Id="Rbbb9839f6d844dd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6a96c6d2da24ce2" /><Relationship Type="http://schemas.openxmlformats.org/officeDocument/2006/relationships/notesSlide" Target="/ppt/notesSlides/notesSlide4.xml" Id="R955ce8912b0045a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01bbb8bbd44476f" /><Relationship Type="http://schemas.openxmlformats.org/officeDocument/2006/relationships/notesSlide" Target="/ppt/notesSlides/notesSlide5.xml" Id="R7579bcfc389d4df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1773ed1c16d414a" /><Relationship Type="http://schemas.openxmlformats.org/officeDocument/2006/relationships/notesSlide" Target="/ppt/notesSlides/notesSlide6.xml" Id="Rad17a4a52efc4d0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b7afbde4e994587" /><Relationship Type="http://schemas.openxmlformats.org/officeDocument/2006/relationships/notesSlide" Target="/ppt/notesSlides/notesSlide7.xml" Id="R9700c0e8b027468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5440d5e44a440a5" /><Relationship Type="http://schemas.openxmlformats.org/officeDocument/2006/relationships/notesSlide" Target="/ppt/notesSlides/notesSlide8.xml" Id="R55b52634d573425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2cb08c1e4d847f8" /><Relationship Type="http://schemas.openxmlformats.org/officeDocument/2006/relationships/notesSlide" Target="/ppt/notesSlides/notesSlide9.xml" Id="R3b8ada67fc0f4af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0f50ec7511748e1" /><Relationship Type="http://schemas.openxmlformats.org/officeDocument/2006/relationships/image" Target="/ppt/media/image.png" Id="R2b7ac11a1ae84247" /><Relationship Type="http://schemas.openxmlformats.org/officeDocument/2006/relationships/notesSlide" Target="/ppt/notesSlides/notesSlide10.xml" Id="R14641f1b78714e5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412818e47bf4fce" /><Relationship Type="http://schemas.openxmlformats.org/officeDocument/2006/relationships/image" Target="/ppt/media/image2.png" Id="R54cd7be5bf40497b" /><Relationship Type="http://schemas.openxmlformats.org/officeDocument/2006/relationships/notesSlide" Target="/ppt/notesSlides/notesSlide11.xml" Id="R97fc74b39ec84c6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ae6d07787d9407c" /><Relationship Type="http://schemas.openxmlformats.org/officeDocument/2006/relationships/image" Target="/ppt/media/image3.png" Id="R23e504550cb045fc" /><Relationship Type="http://schemas.openxmlformats.org/officeDocument/2006/relationships/notesSlide" Target="/ppt/notesSlides/notesSlide12.xml" Id="R9a76893222f4448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20be530e5aa434a" /><Relationship Type="http://schemas.openxmlformats.org/officeDocument/2006/relationships/image" Target="/ppt/media/image4.png" Id="Raf1f940af9f54aea" /><Relationship Type="http://schemas.openxmlformats.org/officeDocument/2006/relationships/notesSlide" Target="/ppt/notesSlides/notesSlide13.xml" Id="R46c76b1bb6644f0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7b652d1ba1746a3" /><Relationship Type="http://schemas.openxmlformats.org/officeDocument/2006/relationships/image" Target="/ppt/media/image5.png" Id="R241c0fe6826f44b5" /><Relationship Type="http://schemas.openxmlformats.org/officeDocument/2006/relationships/notesSlide" Target="/ppt/notesSlides/notesSlide14.xml" Id="Re298f817d6524e7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1c6241d3aa74b2c" /><Relationship Type="http://schemas.openxmlformats.org/officeDocument/2006/relationships/image" Target="/ppt/media/image6.png" Id="R3f38556f4cf94cc1" /><Relationship Type="http://schemas.openxmlformats.org/officeDocument/2006/relationships/notesSlide" Target="/ppt/notesSlides/notesSlide15.xml" Id="R9f54350e218644f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eb7aa7d8bae4275" /><Relationship Type="http://schemas.openxmlformats.org/officeDocument/2006/relationships/image" Target="/ppt/media/image7.png" Id="Rfb744bef268d4752" /><Relationship Type="http://schemas.openxmlformats.org/officeDocument/2006/relationships/notesSlide" Target="/ppt/notesSlides/notesSlide16.xml" Id="R09133d3ccf2f498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efd6f485c8644d7" /><Relationship Type="http://schemas.openxmlformats.org/officeDocument/2006/relationships/notesSlide" Target="/ppt/notesSlides/notesSlide17.xml" Id="R4c4eb3a314a54cc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39d9f8b26734378" /><Relationship Type="http://schemas.openxmlformats.org/officeDocument/2006/relationships/notesSlide" Target="/ppt/notesSlides/notesSlide18.xml" Id="R979ef535594245e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ba7ce5a99a74090" /><Relationship Type="http://schemas.openxmlformats.org/officeDocument/2006/relationships/notesSlide" Target="/ppt/notesSlides/notesSlide19.xml" Id="R3732e8b0295f4b2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84d1898d97c4d07" /><Relationship Type="http://schemas.openxmlformats.org/officeDocument/2006/relationships/notesSlide" Target="/ppt/notesSlides/notesSlide20.xml" Id="Rbf7f617ec988442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1f8ab33b8af442a" /><Relationship Type="http://schemas.openxmlformats.org/officeDocument/2006/relationships/notesSlide" Target="/ppt/notesSlides/notesSlide21.xml" Id="Rbad8ad18dea745f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1cda633696e48c3" /><Relationship Type="http://schemas.openxmlformats.org/officeDocument/2006/relationships/notesSlide" Target="/ppt/notesSlides/notesSlide22.xml" Id="R618221005ab0421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c6c0255bdef841fc" /><Relationship Type="http://schemas.openxmlformats.org/officeDocument/2006/relationships/notesSlide" Target="/ppt/notesSlides/notesSlide23.xml" Id="R9ad38363d80d430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ce649f782f34d93" /><Relationship Type="http://schemas.openxmlformats.org/officeDocument/2006/relationships/notesSlide" Target="/ppt/notesSlides/notesSlide24.xml" Id="Reed6f8e5e812459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0f5b4536d24d4475" /><Relationship Type="http://schemas.openxmlformats.org/officeDocument/2006/relationships/notesSlide" Target="/ppt/notesSlides/notesSlide25.xml" Id="R8225b150c80d48c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79516b3f0411415b" /><Relationship Type="http://schemas.openxmlformats.org/officeDocument/2006/relationships/notesSlide" Target="/ppt/notesSlides/notesSlide26.xml" Id="Ra4664e9f3312463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3f83d6d42a1c4adb" /><Relationship Type="http://schemas.openxmlformats.org/officeDocument/2006/relationships/notesSlide" Target="/ppt/notesSlides/notesSlide27.xml" Id="Reab3dc628b0647d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161aeceb28f04683" /><Relationship Type="http://schemas.openxmlformats.org/officeDocument/2006/relationships/notesSlide" Target="/ppt/notesSlides/notesSlide28.xml" Id="Rd29635308848405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CD2BBD4-4B81-46EF-9073-B2628F767BAC}"/>
              </a:ext>
            </a:extLst>
          </p:cNvPr>
          <p:cNvSpPr>
            <a:spLocks xmlns:a="http://schemas.openxmlformats.org/drawingml/2006/main" noGrp="1"/>
          </p:cNvSpPr>
          <p:nvPr/>
        </p:nvSpPr>
        <p:spPr>
          <a:xfrm xmlns:a="http://schemas.openxmlformats.org/drawingml/2006/main">
            <a:off x="400050" y="333375"/>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UNIVERSITY OF GHANA · SCHOOL OF NUCLEAR AND ALLIED SCIENCES</a:t>
            </a:r>
          </a:p>
        </p:txBody>
      </p:sp>
      <p:sp>
        <p:nvSpPr>
          <p:cNvPr id="2" name="">
            <a:extLst xmlns:a="http://schemas.openxmlformats.org/drawingml/2006/main">
              <a:ext uri="{FF2B5EF4-FFF2-40B4-BE49-F238E27FC236}">
                <a16:creationId xmlns:a16="http://schemas.microsoft.com/office/drawing/2014/main" id="{64E50DDD-1CCA-4F81-8ABB-EA3400C4D2F0}"/>
              </a:ext>
            </a:extLst>
          </p:cNvPr>
          <p:cNvSpPr>
            <a:spLocks xmlns:a="http://schemas.openxmlformats.org/drawingml/2006/main" noGrp="1"/>
          </p:cNvSpPr>
          <p:nvPr/>
        </p:nvSpPr>
        <p:spPr>
          <a:xfrm xmlns:a="http://schemas.openxmlformats.org/drawingml/2006/main">
            <a:off x="400050" y="1428750"/>
            <a:ext cx="7239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5100" b="1">
                <a:solidFill>
                  <a:srgbClr val="111318"/>
                </a:solidFill>
                <a:latin typeface="Helvetica Neue"/>
                <a:ea typeface="Helvetica Neue"/>
                <a:cs typeface="Helvetica Neue"/>
              </a:defRPr>
            </a:pPr>
            <a:r>
              <a:rPr sz="5100" b="1">
                <a:solidFill>
                  <a:srgbClr val="111318"/>
                </a:solidFill>
                <a:latin typeface="Helvetica Neue"/>
                <a:ea typeface="Helvetica Neue"/>
                <a:cs typeface="Helvetica Neue"/>
              </a:rPr>
              <a:t>HydroSheaf</a:t>
            </a:r>
          </a:p>
        </p:txBody>
      </p:sp>
      <p:sp>
        <p:nvSpPr>
          <p:cNvPr id="3" name="">
            <a:extLst xmlns:a="http://schemas.openxmlformats.org/drawingml/2006/main">
              <a:ext uri="{FF2B5EF4-FFF2-40B4-BE49-F238E27FC236}">
                <a16:creationId xmlns:a16="http://schemas.microsoft.com/office/drawing/2014/main" id="{A4A00425-2FFF-410F-A1DB-963338E12342}"/>
              </a:ext>
            </a:extLst>
          </p:cNvPr>
          <p:cNvSpPr>
            <a:spLocks xmlns:a="http://schemas.openxmlformats.org/drawingml/2006/main" noGrp="1"/>
          </p:cNvSpPr>
          <p:nvPr/>
        </p:nvSpPr>
        <p:spPr>
          <a:xfrm xmlns:a="http://schemas.openxmlformats.org/drawingml/2006/main">
            <a:off x="400050" y="2381250"/>
            <a:ext cx="106680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0">
                <a:solidFill>
                  <a:srgbClr val="153A63"/>
                </a:solidFill>
                <a:latin typeface="Helvetica Neue"/>
                <a:ea typeface="Helvetica Neue"/>
                <a:cs typeface="Helvetica Neue"/>
              </a:defRPr>
            </a:pPr>
            <a:r>
              <a:rPr sz="1800" b="0">
                <a:solidFill>
                  <a:srgbClr val="153A63"/>
                </a:solidFill>
                <a:latin typeface="Helvetica Neue"/>
                <a:ea typeface="Helvetica Neue"/>
                <a:cs typeface="Helvetica Neue"/>
              </a:rPr>
              <a:t>Graph-constrained environmental and nuclear tracer modelling with inverse hydrogeochemistry for diagnosing groundwater residence time and evolution in data-limited semi-arid aquifers: development and application of HydroSheaf</a:t>
            </a:r>
          </a:p>
        </p:txBody>
      </p:sp>
      <p:sp>
        <p:nvSpPr>
          <p:cNvPr id="4" name="">
            <a:extLst xmlns:a="http://schemas.openxmlformats.org/drawingml/2006/main">
              <a:ext uri="{FF2B5EF4-FFF2-40B4-BE49-F238E27FC236}">
                <a16:creationId xmlns:a16="http://schemas.microsoft.com/office/drawing/2014/main" id="{91E4EBEC-A87E-4C35-A22F-209A536355D0}"/>
              </a:ext>
            </a:extLst>
          </p:cNvPr>
          <p:cNvSpPr>
            <a:spLocks xmlns:a="http://schemas.openxmlformats.org/drawingml/2006/main" noGrp="1"/>
          </p:cNvSpPr>
          <p:nvPr/>
        </p:nvSpPr>
        <p:spPr>
          <a:xfrm xmlns:a="http://schemas.openxmlformats.org/drawingml/2006/main">
            <a:off x="400050" y="3914775"/>
            <a:ext cx="11391900" cy="19050"/>
          </a:xfrm>
          <a:prstGeom xmlns:a="http://schemas.openxmlformats.org/drawingml/2006/main" prst="rect">
            <a:avLst/>
          </a:prstGeom>
          <a:solidFill xmlns:a="http://schemas.openxmlformats.org/drawingml/2006/main">
            <a:srgbClr val="11131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0497D2E-4566-4FE3-90BD-0655478B71F2}"/>
              </a:ext>
            </a:extLst>
          </p:cNvPr>
          <p:cNvSpPr>
            <a:spLocks xmlns:a="http://schemas.openxmlformats.org/drawingml/2006/main" noGrp="1"/>
          </p:cNvSpPr>
          <p:nvPr/>
        </p:nvSpPr>
        <p:spPr>
          <a:xfrm xmlns:a="http://schemas.openxmlformats.org/drawingml/2006/main">
            <a:off x="400050" y="4257675"/>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11318"/>
                </a:solidFill>
                <a:latin typeface="Helvetica Neue"/>
                <a:ea typeface="Helvetica Neue"/>
                <a:cs typeface="Helvetica Neue"/>
              </a:defRPr>
            </a:pPr>
            <a:r>
              <a:rPr sz="1650" b="1">
                <a:solidFill>
                  <a:srgbClr val="111318"/>
                </a:solidFill>
                <a:latin typeface="Helvetica Neue"/>
                <a:ea typeface="Helvetica Neue"/>
                <a:cs typeface="Helvetica Neue"/>
              </a:rPr>
              <a:t>PhD viva defence · Dickson Abdul-Wahab · 11004418</a:t>
            </a:r>
          </a:p>
        </p:txBody>
      </p:sp>
      <p:sp>
        <p:nvSpPr>
          <p:cNvPr id="6" name="">
            <a:extLst xmlns:a="http://schemas.openxmlformats.org/drawingml/2006/main">
              <a:ext uri="{FF2B5EF4-FFF2-40B4-BE49-F238E27FC236}">
                <a16:creationId xmlns:a16="http://schemas.microsoft.com/office/drawing/2014/main" id="{2E7F6A1B-68ED-4FFA-9B2E-2EE88BE7B04D}"/>
              </a:ext>
            </a:extLst>
          </p:cNvPr>
          <p:cNvSpPr>
            <a:spLocks xmlns:a="http://schemas.openxmlformats.org/drawingml/2006/main" noGrp="1"/>
          </p:cNvSpPr>
          <p:nvPr/>
        </p:nvSpPr>
        <p:spPr>
          <a:xfrm xmlns:a="http://schemas.openxmlformats.org/drawingml/2006/main">
            <a:off x="400050" y="47053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5D6470"/>
                </a:solidFill>
                <a:latin typeface="Helvetica Neue"/>
                <a:ea typeface="Helvetica Neue"/>
                <a:cs typeface="Helvetica Neue"/>
              </a:defRPr>
            </a:pPr>
            <a:r>
              <a:rPr sz="1350" b="0">
                <a:solidFill>
                  <a:srgbClr val="5D6470"/>
                </a:solidFill>
                <a:latin typeface="Helvetica Neue"/>
                <a:ea typeface="Helvetica Neue"/>
                <a:cs typeface="Helvetica Neue"/>
              </a:rPr>
              <a:t>August 2026</a:t>
            </a:r>
          </a:p>
        </p:txBody>
      </p:sp>
      <p:sp>
        <p:nvSpPr>
          <p:cNvPr id="7" name="">
            <a:extLst xmlns:a="http://schemas.openxmlformats.org/drawingml/2006/main">
              <a:ext uri="{FF2B5EF4-FFF2-40B4-BE49-F238E27FC236}">
                <a16:creationId xmlns:a16="http://schemas.microsoft.com/office/drawing/2014/main" id="{6BC9E4C9-3CF8-468D-BE88-FE2629388069}"/>
              </a:ext>
            </a:extLst>
          </p:cNvPr>
          <p:cNvSpPr>
            <a:spLocks xmlns:a="http://schemas.openxmlformats.org/drawingml/2006/main" noGrp="1"/>
          </p:cNvSpPr>
          <p:nvPr/>
        </p:nvSpPr>
        <p:spPr>
          <a:xfrm xmlns:a="http://schemas.openxmlformats.org/drawingml/2006/main">
            <a:off x="9382125" y="400050"/>
            <a:ext cx="2381250" cy="323850"/>
          </a:xfrm>
          <a:prstGeom xmlns:a="http://schemas.openxmlformats.org/drawingml/2006/main" prst="roundRect">
            <a:avLst>
              <a:gd name="adj" fmla="val 50000"/>
            </a:avLst>
          </a:prstGeom>
          <a:solidFill xmlns:a="http://schemas.openxmlformats.org/drawingml/2006/main">
            <a:srgbClr val="E9F4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13BB40A-B315-4B5B-9472-673309C80D38}"/>
              </a:ext>
            </a:extLst>
          </p:cNvPr>
          <p:cNvSpPr>
            <a:spLocks xmlns:a="http://schemas.openxmlformats.org/drawingml/2006/main" noGrp="1"/>
          </p:cNvSpPr>
          <p:nvPr/>
        </p:nvSpPr>
        <p:spPr>
          <a:xfrm xmlns:a="http://schemas.openxmlformats.org/drawingml/2006/main">
            <a:off x="9477375" y="466725"/>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30-MINUTE DEFENCE</a:t>
            </a:r>
          </a:p>
        </p:txBody>
      </p:sp>
      <p:sp>
        <p:nvSpPr>
          <p:cNvPr id="9" name="">
            <a:extLst xmlns:a="http://schemas.openxmlformats.org/drawingml/2006/main">
              <a:ext uri="{FF2B5EF4-FFF2-40B4-BE49-F238E27FC236}">
                <a16:creationId xmlns:a16="http://schemas.microsoft.com/office/drawing/2014/main" id="{1FC5ACA6-FDED-4C4C-A98F-0E4BDD913413}"/>
              </a:ext>
            </a:extLst>
          </p:cNvPr>
          <p:cNvSpPr>
            <a:spLocks xmlns:a="http://schemas.openxmlformats.org/drawingml/2006/main" noGrp="1"/>
          </p:cNvSpPr>
          <p:nvPr/>
        </p:nvSpPr>
        <p:spPr>
          <a:xfrm xmlns:a="http://schemas.openxmlformats.org/drawingml/2006/main">
            <a:off x="8001000" y="5286375"/>
            <a:ext cx="333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One-sentence thesis</a:t>
            </a:r>
          </a:p>
        </p:txBody>
      </p:sp>
      <p:sp>
        <p:nvSpPr>
          <p:cNvPr id="10" name="">
            <a:extLst xmlns:a="http://schemas.openxmlformats.org/drawingml/2006/main">
              <a:ext uri="{FF2B5EF4-FFF2-40B4-BE49-F238E27FC236}">
                <a16:creationId xmlns:a16="http://schemas.microsoft.com/office/drawing/2014/main" id="{8F82A9B8-A277-424F-8636-2894A5EF602C}"/>
              </a:ext>
            </a:extLst>
          </p:cNvPr>
          <p:cNvSpPr>
            <a:spLocks xmlns:a="http://schemas.openxmlformats.org/drawingml/2006/main" noGrp="1"/>
          </p:cNvSpPr>
          <p:nvPr/>
        </p:nvSpPr>
        <p:spPr>
          <a:xfrm xmlns:a="http://schemas.openxmlformats.org/drawingml/2006/main">
            <a:off x="8001000" y="5581650"/>
            <a:ext cx="342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6667"/>
          </a:bodyPr>
          <a:lstStyle xmlns:a="http://schemas.openxmlformats.org/drawingml/2006/main"/>
          <a:p xmlns:a="http://schemas.openxmlformats.org/drawingml/2006/main">
            <a:pPr algn="l">
              <a:defRPr sz="1875" b="1">
                <a:solidFill>
                  <a:srgbClr val="111318"/>
                </a:solidFill>
                <a:latin typeface="Helvetica Neue"/>
                <a:ea typeface="Helvetica Neue"/>
                <a:cs typeface="Helvetica Neue"/>
              </a:defRPr>
            </a:pPr>
            <a:r>
              <a:rPr sz="1875" b="1">
                <a:solidFill>
                  <a:srgbClr val="111318"/>
                </a:solidFill>
                <a:latin typeface="Helvetica Neue"/>
                <a:ea typeface="Helvetica Neue"/>
                <a:cs typeface="Helvetica Neue"/>
              </a:rPr>
              <a:t>Integration is scientifically useful only when it exposes—not hides—non-uniqueness.</a:t>
            </a:r>
          </a:p>
        </p:txBody>
      </p:sp>
    </p:spTree>
    <p:extLst>
      <p:ext uri="{BB962C8B-B14F-4D97-AF65-F5344CB8AC3E}">
        <p14:creationId xmlns:p14="http://schemas.microsoft.com/office/powerpoint/2010/main" val="70566235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B1B6842-D432-4A0F-9004-5785D09B61D5}"/>
              </a:ext>
            </a:extLst>
          </p:cNvPr>
          <p:cNvSpPr>
            <a:spLocks xmlns:a="http://schemas.openxmlformats.org/drawingml/2006/main" noGrp="1"/>
          </p:cNvSpPr>
          <p:nvPr/>
        </p:nvSpPr>
        <p:spPr>
          <a:xfrm xmlns:a="http://schemas.openxmlformats.org/drawingml/2006/main">
            <a:off x="400050" y="228600"/>
            <a:ext cx="695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OPENING TENSION</a:t>
            </a:r>
          </a:p>
        </p:txBody>
      </p:sp>
      <p:sp>
        <p:nvSpPr>
          <p:cNvPr id="2" name="">
            <a:extLst xmlns:a="http://schemas.openxmlformats.org/drawingml/2006/main">
              <a:ext uri="{FF2B5EF4-FFF2-40B4-BE49-F238E27FC236}">
                <a16:creationId xmlns:a16="http://schemas.microsoft.com/office/drawing/2014/main" id="{44590A3F-5100-4335-9D36-A37EDC915C14}"/>
              </a:ext>
            </a:extLst>
          </p:cNvPr>
          <p:cNvSpPr>
            <a:spLocks xmlns:a="http://schemas.openxmlformats.org/drawingml/2006/main" noGrp="1"/>
          </p:cNvSpPr>
          <p:nvPr/>
        </p:nvSpPr>
        <p:spPr>
          <a:xfrm xmlns:a="http://schemas.openxmlformats.org/drawingml/2006/main">
            <a:off x="400050" y="49530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A good fit can still describe the wrong aquifer</a:t>
            </a:r>
          </a:p>
        </p:txBody>
      </p:sp>
      <p:sp>
        <p:nvSpPr>
          <p:cNvPr id="3" name="">
            <a:extLst xmlns:a="http://schemas.openxmlformats.org/drawingml/2006/main">
              <a:ext uri="{FF2B5EF4-FFF2-40B4-BE49-F238E27FC236}">
                <a16:creationId xmlns:a16="http://schemas.microsoft.com/office/drawing/2014/main" id="{DC2972C2-35BF-4F46-9FFF-7E23ADFC9F26}"/>
              </a:ext>
            </a:extLst>
          </p:cNvPr>
          <p:cNvSpPr>
            <a:spLocks xmlns:a="http://schemas.openxmlformats.org/drawingml/2006/main" noGrp="1"/>
          </p:cNvSpPr>
          <p:nvPr/>
        </p:nvSpPr>
        <p:spPr>
          <a:xfrm xmlns:a="http://schemas.openxmlformats.org/drawingml/2006/main">
            <a:off x="400050" y="1190625"/>
            <a:ext cx="11391900" cy="19050"/>
          </a:xfrm>
          <a:prstGeom xmlns:a="http://schemas.openxmlformats.org/drawingml/2006/main" prst="rect">
            <a:avLst/>
          </a:prstGeom>
          <a:solidFill xmlns:a="http://schemas.openxmlformats.org/drawingml/2006/main">
            <a:srgbClr val="11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E64A1EF-14D5-4D51-9DCF-1900B99A8BCA}"/>
              </a:ext>
            </a:extLst>
          </p:cNvPr>
          <p:cNvSpPr>
            <a:spLocks xmlns:a="http://schemas.openxmlformats.org/drawingml/2006/main" noGrp="1"/>
          </p:cNvSpPr>
          <p:nvPr/>
        </p:nvSpPr>
        <p:spPr>
          <a:xfrm xmlns:a="http://schemas.openxmlformats.org/drawingml/2006/main">
            <a:off x="400050" y="6438900"/>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Problem</a:t>
            </a:r>
          </a:p>
        </p:txBody>
      </p:sp>
      <p:sp>
        <p:nvSpPr>
          <p:cNvPr id="5" name="">
            <a:extLst xmlns:a="http://schemas.openxmlformats.org/drawingml/2006/main">
              <a:ext uri="{FF2B5EF4-FFF2-40B4-BE49-F238E27FC236}">
                <a16:creationId xmlns:a16="http://schemas.microsoft.com/office/drawing/2014/main" id="{FBBE4386-FF24-4A8D-AD52-5DA76A038FDF}"/>
              </a:ext>
            </a:extLst>
          </p:cNvPr>
          <p:cNvSpPr>
            <a:spLocks xmlns:a="http://schemas.openxmlformats.org/drawingml/2006/main" noGrp="1"/>
          </p:cNvSpPr>
          <p:nvPr/>
        </p:nvSpPr>
        <p:spPr>
          <a:xfrm xmlns:a="http://schemas.openxmlformats.org/drawingml/2006/main">
            <a:off x="11287125" y="63912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FB9C3F60-C615-4036-9458-260BC2B042D8}"/>
              </a:ext>
            </a:extLst>
          </p:cNvPr>
          <p:cNvSpPr>
            <a:spLocks xmlns:a="http://schemas.openxmlformats.org/drawingml/2006/main" noGrp="1"/>
          </p:cNvSpPr>
          <p:nvPr/>
        </p:nvSpPr>
        <p:spPr>
          <a:xfrm xmlns:a="http://schemas.openxmlformats.org/drawingml/2006/main">
            <a:off x="400050" y="1657350"/>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5D6470"/>
                </a:solidFill>
                <a:latin typeface="Helvetica Neue"/>
                <a:ea typeface="Helvetica Neue"/>
                <a:cs typeface="Helvetica Neue"/>
              </a:defRPr>
            </a:pPr>
            <a:r>
              <a:rPr sz="1800" b="1">
                <a:solidFill>
                  <a:srgbClr val="5D6470"/>
                </a:solidFill>
                <a:latin typeface="Helvetica Neue"/>
                <a:ea typeface="Helvetica Neue"/>
                <a:cs typeface="Helvetica Neue"/>
              </a:rPr>
              <a:t>Three plausible answers</a:t>
            </a:r>
          </a:p>
        </p:txBody>
      </p:sp>
      <p:sp>
        <p:nvSpPr>
          <p:cNvPr id="7" name="">
            <a:extLst xmlns:a="http://schemas.openxmlformats.org/drawingml/2006/main">
              <a:ext uri="{FF2B5EF4-FFF2-40B4-BE49-F238E27FC236}">
                <a16:creationId xmlns:a16="http://schemas.microsoft.com/office/drawing/2014/main" id="{5D818767-561B-4D57-8A77-62ED675AA3BC}"/>
              </a:ext>
            </a:extLst>
          </p:cNvPr>
          <p:cNvSpPr>
            <a:spLocks xmlns:a="http://schemas.openxmlformats.org/drawingml/2006/main" noGrp="1"/>
          </p:cNvSpPr>
          <p:nvPr/>
        </p:nvSpPr>
        <p:spPr>
          <a:xfrm xmlns:a="http://schemas.openxmlformats.org/drawingml/2006/main">
            <a:off x="400050" y="2143125"/>
            <a:ext cx="5095875" cy="876300"/>
          </a:xfrm>
          <a:prstGeom xmlns:a="http://schemas.openxmlformats.org/drawingml/2006/main" prst="roundRect">
            <a:avLst>
              <a:gd name="adj" fmla="val 13043"/>
            </a:avLst>
          </a:prstGeom>
          <a:solidFill xmlns:a="http://schemas.openxmlformats.org/drawingml/2006/main">
            <a:srgbClr val="F2F3F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AA882A8-00B0-455E-8F85-29CC9E16134A}"/>
              </a:ext>
            </a:extLst>
          </p:cNvPr>
          <p:cNvSpPr>
            <a:spLocks xmlns:a="http://schemas.openxmlformats.org/drawingml/2006/main" noGrp="1"/>
          </p:cNvSpPr>
          <p:nvPr/>
        </p:nvSpPr>
        <p:spPr>
          <a:xfrm xmlns:a="http://schemas.openxmlformats.org/drawingml/2006/main">
            <a:off x="400050" y="2143125"/>
            <a:ext cx="76200" cy="190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D295634-0677-49C0-8A1C-3191E159AD1B}"/>
              </a:ext>
            </a:extLst>
          </p:cNvPr>
          <p:cNvSpPr>
            <a:spLocks xmlns:a="http://schemas.openxmlformats.org/drawingml/2006/main" noGrp="1"/>
          </p:cNvSpPr>
          <p:nvPr/>
        </p:nvSpPr>
        <p:spPr>
          <a:xfrm xmlns:a="http://schemas.openxmlformats.org/drawingml/2006/main">
            <a:off x="666750" y="2276475"/>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3D8DFF"/>
                </a:solidFill>
                <a:latin typeface="Helvetica Neue"/>
                <a:ea typeface="Helvetica Neue"/>
                <a:cs typeface="Helvetica Neue"/>
              </a:defRPr>
            </a:pPr>
            <a:r>
              <a:rPr sz="1575" b="1">
                <a:solidFill>
                  <a:srgbClr val="3D8DFF"/>
                </a:solidFill>
                <a:latin typeface="Helvetica Neue"/>
                <a:ea typeface="Helvetica Neue"/>
                <a:cs typeface="Helvetica Neue"/>
              </a:rPr>
              <a:t>Residence time</a:t>
            </a:r>
          </a:p>
        </p:txBody>
      </p:sp>
      <p:sp>
        <p:nvSpPr>
          <p:cNvPr id="10" name="">
            <a:extLst xmlns:a="http://schemas.openxmlformats.org/drawingml/2006/main">
              <a:ext uri="{FF2B5EF4-FFF2-40B4-BE49-F238E27FC236}">
                <a16:creationId xmlns:a16="http://schemas.microsoft.com/office/drawing/2014/main" id="{3C4FF413-EAB7-4C07-8130-B4043DC10BD1}"/>
              </a:ext>
            </a:extLst>
          </p:cNvPr>
          <p:cNvSpPr>
            <a:spLocks xmlns:a="http://schemas.openxmlformats.org/drawingml/2006/main" noGrp="1"/>
          </p:cNvSpPr>
          <p:nvPr/>
        </p:nvSpPr>
        <p:spPr>
          <a:xfrm xmlns:a="http://schemas.openxmlformats.org/drawingml/2006/main">
            <a:off x="2381250" y="2266950"/>
            <a:ext cx="285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11318"/>
                </a:solidFill>
                <a:latin typeface="Helvetica Neue"/>
                <a:ea typeface="Helvetica Neue"/>
                <a:cs typeface="Helvetica Neue"/>
              </a:defRPr>
            </a:pPr>
            <a:r>
              <a:rPr sz="1350" b="0">
                <a:solidFill>
                  <a:srgbClr val="111318"/>
                </a:solidFill>
                <a:latin typeface="Helvetica Neue"/>
                <a:ea typeface="Helvetica Neue"/>
                <a:cs typeface="Helvetica Neue"/>
              </a:rPr>
              <a:t>Several age distributions reproduce the same tracer signal</a:t>
            </a:r>
          </a:p>
        </p:txBody>
      </p:sp>
      <p:sp>
        <p:nvSpPr>
          <p:cNvPr id="11" name="">
            <a:extLst xmlns:a="http://schemas.openxmlformats.org/drawingml/2006/main">
              <a:ext uri="{FF2B5EF4-FFF2-40B4-BE49-F238E27FC236}">
                <a16:creationId xmlns:a16="http://schemas.microsoft.com/office/drawing/2014/main" id="{8C7ACDAF-B9FD-43C0-AAF5-5CE11DE4CB9F}"/>
              </a:ext>
            </a:extLst>
          </p:cNvPr>
          <p:cNvSpPr>
            <a:spLocks xmlns:a="http://schemas.openxmlformats.org/drawingml/2006/main" noGrp="1"/>
          </p:cNvSpPr>
          <p:nvPr/>
        </p:nvSpPr>
        <p:spPr>
          <a:xfrm xmlns:a="http://schemas.openxmlformats.org/drawingml/2006/main">
            <a:off x="400050" y="3267075"/>
            <a:ext cx="5095875" cy="876300"/>
          </a:xfrm>
          <a:prstGeom xmlns:a="http://schemas.openxmlformats.org/drawingml/2006/main" prst="roundRect">
            <a:avLst>
              <a:gd name="adj" fmla="val 13043"/>
            </a:avLst>
          </a:prstGeom>
          <a:solidFill xmlns:a="http://schemas.openxmlformats.org/drawingml/2006/main">
            <a:srgbClr val="F2F3F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DF8EF6B-69FA-4408-9222-C958BD3DBC16}"/>
              </a:ext>
            </a:extLst>
          </p:cNvPr>
          <p:cNvSpPr>
            <a:spLocks xmlns:a="http://schemas.openxmlformats.org/drawingml/2006/main" noGrp="1"/>
          </p:cNvSpPr>
          <p:nvPr/>
        </p:nvSpPr>
        <p:spPr>
          <a:xfrm xmlns:a="http://schemas.openxmlformats.org/drawingml/2006/main">
            <a:off x="400050" y="3267075"/>
            <a:ext cx="76200" cy="19050"/>
          </a:xfrm>
          <a:prstGeom xmlns:a="http://schemas.openxmlformats.org/drawingml/2006/main" prst="rect">
            <a:avLst/>
          </a:prstGeom>
          <a:solidFill xmlns:a="http://schemas.openxmlformats.org/drawingml/2006/main">
            <a:srgbClr val="149A8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45E7C8B-237C-4A1D-9165-7329C63F8A7C}"/>
              </a:ext>
            </a:extLst>
          </p:cNvPr>
          <p:cNvSpPr>
            <a:spLocks xmlns:a="http://schemas.openxmlformats.org/drawingml/2006/main" noGrp="1"/>
          </p:cNvSpPr>
          <p:nvPr/>
        </p:nvSpPr>
        <p:spPr>
          <a:xfrm xmlns:a="http://schemas.openxmlformats.org/drawingml/2006/main">
            <a:off x="666750" y="3400425"/>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49A84"/>
                </a:solidFill>
                <a:latin typeface="Helvetica Neue"/>
                <a:ea typeface="Helvetica Neue"/>
                <a:cs typeface="Helvetica Neue"/>
              </a:defRPr>
            </a:pPr>
            <a:r>
              <a:rPr sz="1575" b="1">
                <a:solidFill>
                  <a:srgbClr val="149A84"/>
                </a:solidFill>
                <a:latin typeface="Helvetica Neue"/>
                <a:ea typeface="Helvetica Neue"/>
                <a:cs typeface="Helvetica Neue"/>
              </a:rPr>
              <a:t>Connectivity</a:t>
            </a:r>
          </a:p>
        </p:txBody>
      </p:sp>
      <p:sp>
        <p:nvSpPr>
          <p:cNvPr id="14" name="">
            <a:extLst xmlns:a="http://schemas.openxmlformats.org/drawingml/2006/main">
              <a:ext uri="{FF2B5EF4-FFF2-40B4-BE49-F238E27FC236}">
                <a16:creationId xmlns:a16="http://schemas.microsoft.com/office/drawing/2014/main" id="{0CD9C02E-B8A5-43A0-BF8A-7FCCE1788652}"/>
              </a:ext>
            </a:extLst>
          </p:cNvPr>
          <p:cNvSpPr>
            <a:spLocks xmlns:a="http://schemas.openxmlformats.org/drawingml/2006/main" noGrp="1"/>
          </p:cNvSpPr>
          <p:nvPr/>
        </p:nvSpPr>
        <p:spPr>
          <a:xfrm xmlns:a="http://schemas.openxmlformats.org/drawingml/2006/main">
            <a:off x="2381250" y="3390900"/>
            <a:ext cx="285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11318"/>
                </a:solidFill>
                <a:latin typeface="Helvetica Neue"/>
                <a:ea typeface="Helvetica Neue"/>
                <a:cs typeface="Helvetica Neue"/>
              </a:defRPr>
            </a:pPr>
            <a:r>
              <a:rPr sz="1350" b="0">
                <a:solidFill>
                  <a:srgbClr val="111318"/>
                </a:solidFill>
                <a:latin typeface="Helvetica Neue"/>
                <a:ea typeface="Helvetica Neue"/>
                <a:cs typeface="Helvetica Neue"/>
              </a:rPr>
              <a:t>Several directed graphs explain sparse hydraulic and chemical patterns</a:t>
            </a:r>
          </a:p>
        </p:txBody>
      </p:sp>
      <p:sp>
        <p:nvSpPr>
          <p:cNvPr id="15" name="">
            <a:extLst xmlns:a="http://schemas.openxmlformats.org/drawingml/2006/main">
              <a:ext uri="{FF2B5EF4-FFF2-40B4-BE49-F238E27FC236}">
                <a16:creationId xmlns:a16="http://schemas.microsoft.com/office/drawing/2014/main" id="{EC7832A5-869A-46DE-9C75-CF5ADE571B15}"/>
              </a:ext>
            </a:extLst>
          </p:cNvPr>
          <p:cNvSpPr>
            <a:spLocks xmlns:a="http://schemas.openxmlformats.org/drawingml/2006/main" noGrp="1"/>
          </p:cNvSpPr>
          <p:nvPr/>
        </p:nvSpPr>
        <p:spPr>
          <a:xfrm xmlns:a="http://schemas.openxmlformats.org/drawingml/2006/main">
            <a:off x="400050" y="4391025"/>
            <a:ext cx="5095875" cy="876300"/>
          </a:xfrm>
          <a:prstGeom xmlns:a="http://schemas.openxmlformats.org/drawingml/2006/main" prst="roundRect">
            <a:avLst>
              <a:gd name="adj" fmla="val 13043"/>
            </a:avLst>
          </a:prstGeom>
          <a:solidFill xmlns:a="http://schemas.openxmlformats.org/drawingml/2006/main">
            <a:srgbClr val="F2F3F5"/>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70C47E9-E2BD-47D9-A35E-1233CBA6F99B}"/>
              </a:ext>
            </a:extLst>
          </p:cNvPr>
          <p:cNvSpPr>
            <a:spLocks xmlns:a="http://schemas.openxmlformats.org/drawingml/2006/main" noGrp="1"/>
          </p:cNvSpPr>
          <p:nvPr/>
        </p:nvSpPr>
        <p:spPr>
          <a:xfrm xmlns:a="http://schemas.openxmlformats.org/drawingml/2006/main">
            <a:off x="400050" y="4391025"/>
            <a:ext cx="76200" cy="19050"/>
          </a:xfrm>
          <a:prstGeom xmlns:a="http://schemas.openxmlformats.org/drawingml/2006/main" prst="rect">
            <a:avLst/>
          </a:prstGeom>
          <a:solidFill xmlns:a="http://schemas.openxmlformats.org/drawingml/2006/main">
            <a:srgbClr val="D9770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1D34A96-A41E-4EC7-985D-A98A1C424D58}"/>
              </a:ext>
            </a:extLst>
          </p:cNvPr>
          <p:cNvSpPr>
            <a:spLocks xmlns:a="http://schemas.openxmlformats.org/drawingml/2006/main" noGrp="1"/>
          </p:cNvSpPr>
          <p:nvPr/>
        </p:nvSpPr>
        <p:spPr>
          <a:xfrm xmlns:a="http://schemas.openxmlformats.org/drawingml/2006/main">
            <a:off x="666750" y="4524375"/>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D97706"/>
                </a:solidFill>
                <a:latin typeface="Helvetica Neue"/>
                <a:ea typeface="Helvetica Neue"/>
                <a:cs typeface="Helvetica Neue"/>
              </a:defRPr>
            </a:pPr>
            <a:r>
              <a:rPr sz="1575" b="1">
                <a:solidFill>
                  <a:srgbClr val="D97706"/>
                </a:solidFill>
                <a:latin typeface="Helvetica Neue"/>
                <a:ea typeface="Helvetica Neue"/>
                <a:cs typeface="Helvetica Neue"/>
              </a:rPr>
              <a:t>Reactions</a:t>
            </a:r>
          </a:p>
        </p:txBody>
      </p:sp>
      <p:sp>
        <p:nvSpPr>
          <p:cNvPr id="18" name="">
            <a:extLst xmlns:a="http://schemas.openxmlformats.org/drawingml/2006/main">
              <a:ext uri="{FF2B5EF4-FFF2-40B4-BE49-F238E27FC236}">
                <a16:creationId xmlns:a16="http://schemas.microsoft.com/office/drawing/2014/main" id="{D64DDAFE-64AF-40E0-8E75-9B3911A346CC}"/>
              </a:ext>
            </a:extLst>
          </p:cNvPr>
          <p:cNvSpPr>
            <a:spLocks xmlns:a="http://schemas.openxmlformats.org/drawingml/2006/main" noGrp="1"/>
          </p:cNvSpPr>
          <p:nvPr/>
        </p:nvSpPr>
        <p:spPr>
          <a:xfrm xmlns:a="http://schemas.openxmlformats.org/drawingml/2006/main">
            <a:off x="2381250" y="4514850"/>
            <a:ext cx="285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11318"/>
                </a:solidFill>
                <a:latin typeface="Helvetica Neue"/>
                <a:ea typeface="Helvetica Neue"/>
                <a:cs typeface="Helvetica Neue"/>
              </a:defRPr>
            </a:pPr>
            <a:r>
              <a:rPr sz="1350" b="0">
                <a:solidFill>
                  <a:srgbClr val="111318"/>
                </a:solidFill>
                <a:latin typeface="Helvetica Neue"/>
                <a:ea typeface="Helvetica Neue"/>
                <a:cs typeface="Helvetica Neue"/>
              </a:rPr>
              <a:t>Several mineral pathways reproduce nearly identical concentrations</a:t>
            </a:r>
          </a:p>
        </p:txBody>
      </p:sp>
      <p:sp>
        <p:nvSpPr>
          <p:cNvPr id="19" name="">
            <a:extLst xmlns:a="http://schemas.openxmlformats.org/drawingml/2006/main">
              <a:ext uri="{FF2B5EF4-FFF2-40B4-BE49-F238E27FC236}">
                <a16:creationId xmlns:a16="http://schemas.microsoft.com/office/drawing/2014/main" id="{DABD3018-3578-4DA5-A5D1-4BE5AF02AF13}"/>
              </a:ext>
            </a:extLst>
          </p:cNvPr>
          <p:cNvSpPr>
            <a:spLocks xmlns:a="http://schemas.openxmlformats.org/drawingml/2006/main" noGrp="1"/>
          </p:cNvSpPr>
          <p:nvPr/>
        </p:nvSpPr>
        <p:spPr>
          <a:xfrm xmlns:a="http://schemas.openxmlformats.org/drawingml/2006/main">
            <a:off x="6191250" y="1676400"/>
            <a:ext cx="5219700" cy="3714750"/>
          </a:xfrm>
          <a:prstGeom xmlns:a="http://schemas.openxmlformats.org/drawingml/2006/main" prst="roundRect">
            <a:avLst>
              <a:gd name="adj" fmla="val 3077"/>
            </a:avLst>
          </a:prstGeom>
          <a:solidFill xmlns:a="http://schemas.openxmlformats.org/drawingml/2006/main">
            <a:srgbClr val="11131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7F69C8D-8DD2-45BE-932E-EAD25ED0D116}"/>
              </a:ext>
            </a:extLst>
          </p:cNvPr>
          <p:cNvSpPr>
            <a:spLocks xmlns:a="http://schemas.openxmlformats.org/drawingml/2006/main" noGrp="1"/>
          </p:cNvSpPr>
          <p:nvPr/>
        </p:nvSpPr>
        <p:spPr>
          <a:xfrm xmlns:a="http://schemas.openxmlformats.org/drawingml/2006/main">
            <a:off x="6572250" y="2038350"/>
            <a:ext cx="442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The hidden error</a:t>
            </a:r>
          </a:p>
        </p:txBody>
      </p:sp>
      <p:sp>
        <p:nvSpPr>
          <p:cNvPr id="21" name="">
            <a:extLst xmlns:a="http://schemas.openxmlformats.org/drawingml/2006/main">
              <a:ext uri="{FF2B5EF4-FFF2-40B4-BE49-F238E27FC236}">
                <a16:creationId xmlns:a16="http://schemas.microsoft.com/office/drawing/2014/main" id="{A6EE296A-A39B-4C78-A311-21AE053B2D57}"/>
              </a:ext>
            </a:extLst>
          </p:cNvPr>
          <p:cNvSpPr>
            <a:spLocks xmlns:a="http://schemas.openxmlformats.org/drawingml/2006/main" noGrp="1"/>
          </p:cNvSpPr>
          <p:nvPr/>
        </p:nvSpPr>
        <p:spPr>
          <a:xfrm xmlns:a="http://schemas.openxmlformats.org/drawingml/2006/main">
            <a:off x="6572250" y="2809875"/>
            <a:ext cx="4429125"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611"/>
          </a:bodyPr>
          <a:lstStyle xmlns:a="http://schemas.openxmlformats.org/drawingml/2006/main"/>
          <a:p xmlns:a="http://schemas.openxmlformats.org/drawingml/2006/main">
            <a:pPr algn="ctr">
              <a:defRPr sz="3000" b="1">
                <a:solidFill>
                  <a:srgbClr val="6DCBF4"/>
                </a:solidFill>
                <a:latin typeface="Helvetica Neue"/>
                <a:ea typeface="Helvetica Neue"/>
                <a:cs typeface="Helvetica Neue"/>
              </a:defRPr>
            </a:pPr>
            <a:r>
              <a:rPr sz="3000" b="1">
                <a:solidFill>
                  <a:srgbClr val="6DCBF4"/>
                </a:solidFill>
                <a:latin typeface="Helvetica Neue"/>
                <a:ea typeface="Helvetica Neue"/>
                <a:cs typeface="Helvetica Neue"/>
              </a:rPr>
              <a:t>Narrow uncertainty</a:t>
            </a:r>
          </a:p>
          <a:p xmlns:a="http://schemas.openxmlformats.org/drawingml/2006/main">
            <a:pPr algn="ctr">
              <a:defRPr sz="3000" b="1">
                <a:solidFill>
                  <a:srgbClr val="6DCBF4"/>
                </a:solidFill>
                <a:latin typeface="Helvetica Neue"/>
                <a:ea typeface="Helvetica Neue"/>
                <a:cs typeface="Helvetica Neue"/>
              </a:defRPr>
            </a:pPr>
            <a:r>
              <a:rPr sz="3000" b="1">
                <a:solidFill>
                  <a:srgbClr val="6DCBF4"/>
                </a:solidFill>
                <a:latin typeface="Helvetica Neue"/>
                <a:ea typeface="Helvetica Neue"/>
                <a:cs typeface="Helvetica Neue"/>
              </a:rPr>
              <a:t>≠</a:t>
            </a:r>
          </a:p>
          <a:p xmlns:a="http://schemas.openxmlformats.org/drawingml/2006/main">
            <a:pPr algn="ctr">
              <a:defRPr sz="3000" b="1">
                <a:solidFill>
                  <a:srgbClr val="6DCBF4"/>
                </a:solidFill>
                <a:latin typeface="Helvetica Neue"/>
                <a:ea typeface="Helvetica Neue"/>
                <a:cs typeface="Helvetica Neue"/>
              </a:defRPr>
            </a:pPr>
            <a:r>
              <a:rPr sz="3000" b="1">
                <a:solidFill>
                  <a:srgbClr val="6DCBF4"/>
                </a:solidFill>
                <a:latin typeface="Helvetica Neue"/>
                <a:ea typeface="Helvetica Neue"/>
                <a:cs typeface="Helvetica Neue"/>
              </a:rPr>
              <a:t>correct interpretation</a:t>
            </a:r>
          </a:p>
        </p:txBody>
      </p:sp>
      <p:sp>
        <p:nvSpPr>
          <p:cNvPr id="22" name="">
            <a:extLst xmlns:a="http://schemas.openxmlformats.org/drawingml/2006/main">
              <a:ext uri="{FF2B5EF4-FFF2-40B4-BE49-F238E27FC236}">
                <a16:creationId xmlns:a16="http://schemas.microsoft.com/office/drawing/2014/main" id="{C29C34EF-2D6E-4641-B89C-0BED62380288}"/>
              </a:ext>
            </a:extLst>
          </p:cNvPr>
          <p:cNvSpPr>
            <a:spLocks xmlns:a="http://schemas.openxmlformats.org/drawingml/2006/main" noGrp="1"/>
          </p:cNvSpPr>
          <p:nvPr/>
        </p:nvSpPr>
        <p:spPr>
          <a:xfrm xmlns:a="http://schemas.openxmlformats.org/drawingml/2006/main">
            <a:off x="6667500" y="4495800"/>
            <a:ext cx="4238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222"/>
          </a:bodyPr>
          <a:lstStyle xmlns:a="http://schemas.openxmlformats.org/drawingml/2006/main"/>
          <a:p xmlns:a="http://schemas.openxmlformats.org/drawingml/2006/main">
            <a:pPr algn="ctr">
              <a:defRPr sz="1500" b="0">
                <a:solidFill>
                  <a:srgbClr val="FFFFFF"/>
                </a:solidFill>
                <a:latin typeface="Helvetica Neue"/>
                <a:ea typeface="Helvetica Neue"/>
                <a:cs typeface="Helvetica Neue"/>
              </a:defRPr>
            </a:pPr>
            <a:r>
              <a:rPr sz="1500" b="0">
                <a:solidFill>
                  <a:srgbClr val="FFFFFF"/>
                </a:solidFill>
                <a:latin typeface="Helvetica Neue"/>
                <a:ea typeface="Helvetica Neue"/>
                <a:cs typeface="Helvetica Neue"/>
              </a:rPr>
              <a:t>The thesis therefore evaluates discrimination, calibration, identifiability and adverse controls—not residual fit alone.</a:t>
            </a:r>
          </a:p>
        </p:txBody>
      </p:sp>
    </p:spTree>
    <p:extLst>
      <p:ext uri="{BB962C8B-B14F-4D97-AF65-F5344CB8AC3E}">
        <p14:creationId xmlns:p14="http://schemas.microsoft.com/office/powerpoint/2010/main" val="144164618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98C56C1-DAD0-4CAE-8603-372E1F596954}"/>
              </a:ext>
            </a:extLst>
          </p:cNvPr>
          <p:cNvSpPr>
            <a:spLocks xmlns:a="http://schemas.openxmlformats.org/drawingml/2006/main" noGrp="1"/>
          </p:cNvSpPr>
          <p:nvPr/>
        </p:nvSpPr>
        <p:spPr>
          <a:xfrm xmlns:a="http://schemas.openxmlformats.org/drawingml/2006/main">
            <a:off x="400050" y="228600"/>
            <a:ext cx="695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SCIENTIFIC GAP</a:t>
            </a:r>
          </a:p>
        </p:txBody>
      </p:sp>
      <p:sp>
        <p:nvSpPr>
          <p:cNvPr id="2" name="">
            <a:extLst xmlns:a="http://schemas.openxmlformats.org/drawingml/2006/main">
              <a:ext uri="{FF2B5EF4-FFF2-40B4-BE49-F238E27FC236}">
                <a16:creationId xmlns:a16="http://schemas.microsoft.com/office/drawing/2014/main" id="{B94D1D76-0690-4327-BCA3-D15E3795C873}"/>
              </a:ext>
            </a:extLst>
          </p:cNvPr>
          <p:cNvSpPr>
            <a:spLocks xmlns:a="http://schemas.openxmlformats.org/drawingml/2006/main" noGrp="1"/>
          </p:cNvSpPr>
          <p:nvPr/>
        </p:nvSpPr>
        <p:spPr>
          <a:xfrm xmlns:a="http://schemas.openxmlformats.org/drawingml/2006/main">
            <a:off x="400050" y="49530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The unknowns are coupled—but usually inferred separately</a:t>
            </a:r>
          </a:p>
        </p:txBody>
      </p:sp>
      <p:sp>
        <p:nvSpPr>
          <p:cNvPr id="3" name="">
            <a:extLst xmlns:a="http://schemas.openxmlformats.org/drawingml/2006/main">
              <a:ext uri="{FF2B5EF4-FFF2-40B4-BE49-F238E27FC236}">
                <a16:creationId xmlns:a16="http://schemas.microsoft.com/office/drawing/2014/main" id="{6E38DE90-45FB-4618-B992-2237948BD8F4}"/>
              </a:ext>
            </a:extLst>
          </p:cNvPr>
          <p:cNvSpPr>
            <a:spLocks xmlns:a="http://schemas.openxmlformats.org/drawingml/2006/main" noGrp="1"/>
          </p:cNvSpPr>
          <p:nvPr/>
        </p:nvSpPr>
        <p:spPr>
          <a:xfrm xmlns:a="http://schemas.openxmlformats.org/drawingml/2006/main">
            <a:off x="400050" y="1190625"/>
            <a:ext cx="11391900" cy="19050"/>
          </a:xfrm>
          <a:prstGeom xmlns:a="http://schemas.openxmlformats.org/drawingml/2006/main" prst="rect">
            <a:avLst/>
          </a:prstGeom>
          <a:solidFill xmlns:a="http://schemas.openxmlformats.org/drawingml/2006/main">
            <a:srgbClr val="11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9D5AD4F-3AF4-473F-B86D-F71AD8275492}"/>
              </a:ext>
            </a:extLst>
          </p:cNvPr>
          <p:cNvSpPr>
            <a:spLocks xmlns:a="http://schemas.openxmlformats.org/drawingml/2006/main" noGrp="1"/>
          </p:cNvSpPr>
          <p:nvPr/>
        </p:nvSpPr>
        <p:spPr>
          <a:xfrm xmlns:a="http://schemas.openxmlformats.org/drawingml/2006/main">
            <a:off x="400050" y="6438900"/>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Problem</a:t>
            </a:r>
          </a:p>
        </p:txBody>
      </p:sp>
      <p:sp>
        <p:nvSpPr>
          <p:cNvPr id="5" name="">
            <a:extLst xmlns:a="http://schemas.openxmlformats.org/drawingml/2006/main">
              <a:ext uri="{FF2B5EF4-FFF2-40B4-BE49-F238E27FC236}">
                <a16:creationId xmlns:a16="http://schemas.microsoft.com/office/drawing/2014/main" id="{5B293688-7CD0-4436-B050-1C6CE81E2AD1}"/>
              </a:ext>
            </a:extLst>
          </p:cNvPr>
          <p:cNvSpPr>
            <a:spLocks xmlns:a="http://schemas.openxmlformats.org/drawingml/2006/main" noGrp="1"/>
          </p:cNvSpPr>
          <p:nvPr/>
        </p:nvSpPr>
        <p:spPr>
          <a:xfrm xmlns:a="http://schemas.openxmlformats.org/drawingml/2006/main">
            <a:off x="11287125" y="63912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03</a:t>
            </a:r>
          </a:p>
        </p:txBody>
      </p:sp>
      <p:sp>
        <p:nvSpPr>
          <p:cNvPr id="6" name="">
            <a:extLst xmlns:a="http://schemas.openxmlformats.org/drawingml/2006/main">
              <a:ext uri="{FF2B5EF4-FFF2-40B4-BE49-F238E27FC236}">
                <a16:creationId xmlns:a16="http://schemas.microsoft.com/office/drawing/2014/main" id="{5238108E-1872-4B00-B1C9-11195B62C4BE}"/>
              </a:ext>
            </a:extLst>
          </p:cNvPr>
          <p:cNvSpPr>
            <a:spLocks xmlns:a="http://schemas.openxmlformats.org/drawingml/2006/main" noGrp="1"/>
          </p:cNvSpPr>
          <p:nvPr/>
        </p:nvSpPr>
        <p:spPr>
          <a:xfrm xmlns:a="http://schemas.openxmlformats.org/drawingml/2006/main">
            <a:off x="857250" y="2000250"/>
            <a:ext cx="2857500" cy="2190750"/>
          </a:xfrm>
          <a:prstGeom xmlns:a="http://schemas.openxmlformats.org/drawingml/2006/main" prst="roundRect">
            <a:avLst>
              <a:gd name="adj" fmla="val 5217"/>
            </a:avLst>
          </a:prstGeom>
          <a:solidFill xmlns:a="http://schemas.openxmlformats.org/drawingml/2006/main">
            <a:srgbClr val="F2F3F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F680BEE-10A9-426E-8F68-B381EDC019E6}"/>
              </a:ext>
            </a:extLst>
          </p:cNvPr>
          <p:cNvSpPr>
            <a:spLocks xmlns:a="http://schemas.openxmlformats.org/drawingml/2006/main" noGrp="1"/>
          </p:cNvSpPr>
          <p:nvPr/>
        </p:nvSpPr>
        <p:spPr>
          <a:xfrm xmlns:a="http://schemas.openxmlformats.org/drawingml/2006/main">
            <a:off x="1085850" y="2247900"/>
            <a:ext cx="2400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100" b="1">
                <a:solidFill>
                  <a:srgbClr val="3D8DFF"/>
                </a:solidFill>
                <a:latin typeface="Helvetica Neue"/>
                <a:ea typeface="Helvetica Neue"/>
                <a:cs typeface="Helvetica Neue"/>
              </a:defRPr>
            </a:pPr>
            <a:r>
              <a:rPr sz="2100" b="1">
                <a:solidFill>
                  <a:srgbClr val="3D8DFF"/>
                </a:solidFill>
                <a:latin typeface="Helvetica Neue"/>
                <a:ea typeface="Helvetica Neue"/>
                <a:cs typeface="Helvetica Neue"/>
              </a:rPr>
              <a:t>AGE</a:t>
            </a:r>
          </a:p>
        </p:txBody>
      </p:sp>
      <p:sp>
        <p:nvSpPr>
          <p:cNvPr id="8" name="">
            <a:extLst xmlns:a="http://schemas.openxmlformats.org/drawingml/2006/main">
              <a:ext uri="{FF2B5EF4-FFF2-40B4-BE49-F238E27FC236}">
                <a16:creationId xmlns:a16="http://schemas.microsoft.com/office/drawing/2014/main" id="{D1453023-BD50-4059-BC3D-736B19D67405}"/>
              </a:ext>
            </a:extLst>
          </p:cNvPr>
          <p:cNvSpPr>
            <a:spLocks xmlns:a="http://schemas.openxmlformats.org/drawingml/2006/main" noGrp="1"/>
          </p:cNvSpPr>
          <p:nvPr/>
        </p:nvSpPr>
        <p:spPr>
          <a:xfrm xmlns:a="http://schemas.openxmlformats.org/drawingml/2006/main">
            <a:off x="1190625" y="2905125"/>
            <a:ext cx="2190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0">
                <a:solidFill>
                  <a:srgbClr val="111318"/>
                </a:solidFill>
                <a:latin typeface="Helvetica Neue"/>
                <a:ea typeface="Helvetica Neue"/>
                <a:cs typeface="Helvetica Neue"/>
              </a:defRPr>
            </a:pPr>
            <a:r>
              <a:rPr sz="1725" b="0">
                <a:solidFill>
                  <a:srgbClr val="111318"/>
                </a:solidFill>
                <a:latin typeface="Helvetica Neue"/>
                <a:ea typeface="Helvetica Neue"/>
                <a:cs typeface="Helvetica Neue"/>
              </a:rPr>
              <a:t>Tracer history and mixing</a:t>
            </a:r>
          </a:p>
        </p:txBody>
      </p:sp>
      <p:sp>
        <p:nvSpPr>
          <p:cNvPr id="9" name="">
            <a:extLst xmlns:a="http://schemas.openxmlformats.org/drawingml/2006/main">
              <a:ext uri="{FF2B5EF4-FFF2-40B4-BE49-F238E27FC236}">
                <a16:creationId xmlns:a16="http://schemas.microsoft.com/office/drawing/2014/main" id="{DA5F5107-6056-4FD7-971F-2CF7647B90BF}"/>
              </a:ext>
            </a:extLst>
          </p:cNvPr>
          <p:cNvSpPr>
            <a:spLocks xmlns:a="http://schemas.openxmlformats.org/drawingml/2006/main" noGrp="1"/>
          </p:cNvSpPr>
          <p:nvPr/>
        </p:nvSpPr>
        <p:spPr>
          <a:xfrm xmlns:a="http://schemas.openxmlformats.org/drawingml/2006/main">
            <a:off x="4381500" y="2000250"/>
            <a:ext cx="2857500" cy="2190750"/>
          </a:xfrm>
          <a:prstGeom xmlns:a="http://schemas.openxmlformats.org/drawingml/2006/main" prst="roundRect">
            <a:avLst>
              <a:gd name="adj" fmla="val 5217"/>
            </a:avLst>
          </a:prstGeom>
          <a:solidFill xmlns:a="http://schemas.openxmlformats.org/drawingml/2006/main">
            <a:srgbClr val="F2F3F5"/>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8C4214C-B8C2-4AC4-9EE0-20DDE0203FFD}"/>
              </a:ext>
            </a:extLst>
          </p:cNvPr>
          <p:cNvSpPr>
            <a:spLocks xmlns:a="http://schemas.openxmlformats.org/drawingml/2006/main" noGrp="1"/>
          </p:cNvSpPr>
          <p:nvPr/>
        </p:nvSpPr>
        <p:spPr>
          <a:xfrm xmlns:a="http://schemas.openxmlformats.org/drawingml/2006/main">
            <a:off x="4610100" y="2247900"/>
            <a:ext cx="2400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100" b="1">
                <a:solidFill>
                  <a:srgbClr val="149A84"/>
                </a:solidFill>
                <a:latin typeface="Helvetica Neue"/>
                <a:ea typeface="Helvetica Neue"/>
                <a:cs typeface="Helvetica Neue"/>
              </a:defRPr>
            </a:pPr>
            <a:r>
              <a:rPr sz="2100" b="1">
                <a:solidFill>
                  <a:srgbClr val="149A84"/>
                </a:solidFill>
                <a:latin typeface="Helvetica Neue"/>
                <a:ea typeface="Helvetica Neue"/>
                <a:cs typeface="Helvetica Neue"/>
              </a:rPr>
              <a:t>TOPOLOGY</a:t>
            </a:r>
          </a:p>
        </p:txBody>
      </p:sp>
      <p:sp>
        <p:nvSpPr>
          <p:cNvPr id="11" name="">
            <a:extLst xmlns:a="http://schemas.openxmlformats.org/drawingml/2006/main">
              <a:ext uri="{FF2B5EF4-FFF2-40B4-BE49-F238E27FC236}">
                <a16:creationId xmlns:a16="http://schemas.microsoft.com/office/drawing/2014/main" id="{8B37F462-BC0F-48B0-A158-E311D338045D}"/>
              </a:ext>
            </a:extLst>
          </p:cNvPr>
          <p:cNvSpPr>
            <a:spLocks xmlns:a="http://schemas.openxmlformats.org/drawingml/2006/main" noGrp="1"/>
          </p:cNvSpPr>
          <p:nvPr/>
        </p:nvSpPr>
        <p:spPr>
          <a:xfrm xmlns:a="http://schemas.openxmlformats.org/drawingml/2006/main">
            <a:off x="4714875" y="2905125"/>
            <a:ext cx="2190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0">
                <a:solidFill>
                  <a:srgbClr val="111318"/>
                </a:solidFill>
                <a:latin typeface="Helvetica Neue"/>
                <a:ea typeface="Helvetica Neue"/>
                <a:cs typeface="Helvetica Neue"/>
              </a:defRPr>
            </a:pPr>
            <a:r>
              <a:rPr sz="1725" b="0">
                <a:solidFill>
                  <a:srgbClr val="111318"/>
                </a:solidFill>
                <a:latin typeface="Helvetica Neue"/>
                <a:ea typeface="Helvetica Neue"/>
                <a:cs typeface="Helvetica Neue"/>
              </a:rPr>
              <a:t>Directed flow paths</a:t>
            </a:r>
          </a:p>
        </p:txBody>
      </p:sp>
      <p:sp>
        <p:nvSpPr>
          <p:cNvPr id="12" name="">
            <a:extLst xmlns:a="http://schemas.openxmlformats.org/drawingml/2006/main">
              <a:ext uri="{FF2B5EF4-FFF2-40B4-BE49-F238E27FC236}">
                <a16:creationId xmlns:a16="http://schemas.microsoft.com/office/drawing/2014/main" id="{4F7B8D92-0E20-4285-B4BE-5CE60A631F43}"/>
              </a:ext>
            </a:extLst>
          </p:cNvPr>
          <p:cNvSpPr>
            <a:spLocks xmlns:a="http://schemas.openxmlformats.org/drawingml/2006/main" noGrp="1"/>
          </p:cNvSpPr>
          <p:nvPr/>
        </p:nvSpPr>
        <p:spPr>
          <a:xfrm xmlns:a="http://schemas.openxmlformats.org/drawingml/2006/main">
            <a:off x="7905750" y="2000250"/>
            <a:ext cx="2857500" cy="2190750"/>
          </a:xfrm>
          <a:prstGeom xmlns:a="http://schemas.openxmlformats.org/drawingml/2006/main" prst="roundRect">
            <a:avLst>
              <a:gd name="adj" fmla="val 5217"/>
            </a:avLst>
          </a:prstGeom>
          <a:solidFill xmlns:a="http://schemas.openxmlformats.org/drawingml/2006/main">
            <a:srgbClr val="F2F3F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4A77C6C-18FA-4020-A379-1A5F0CF5E1EC}"/>
              </a:ext>
            </a:extLst>
          </p:cNvPr>
          <p:cNvSpPr>
            <a:spLocks xmlns:a="http://schemas.openxmlformats.org/drawingml/2006/main" noGrp="1"/>
          </p:cNvSpPr>
          <p:nvPr/>
        </p:nvSpPr>
        <p:spPr>
          <a:xfrm xmlns:a="http://schemas.openxmlformats.org/drawingml/2006/main">
            <a:off x="8134350" y="2247900"/>
            <a:ext cx="2400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100" b="1">
                <a:solidFill>
                  <a:srgbClr val="D97706"/>
                </a:solidFill>
                <a:latin typeface="Helvetica Neue"/>
                <a:ea typeface="Helvetica Neue"/>
                <a:cs typeface="Helvetica Neue"/>
              </a:defRPr>
            </a:pPr>
            <a:r>
              <a:rPr sz="2100" b="1">
                <a:solidFill>
                  <a:srgbClr val="D97706"/>
                </a:solidFill>
                <a:latin typeface="Helvetica Neue"/>
                <a:ea typeface="Helvetica Neue"/>
                <a:cs typeface="Helvetica Neue"/>
              </a:rPr>
              <a:t>CHEMISTRY</a:t>
            </a:r>
          </a:p>
        </p:txBody>
      </p:sp>
      <p:sp>
        <p:nvSpPr>
          <p:cNvPr id="14" name="">
            <a:extLst xmlns:a="http://schemas.openxmlformats.org/drawingml/2006/main">
              <a:ext uri="{FF2B5EF4-FFF2-40B4-BE49-F238E27FC236}">
                <a16:creationId xmlns:a16="http://schemas.microsoft.com/office/drawing/2014/main" id="{4BB3B628-8755-4EFD-893D-26450A343CBE}"/>
              </a:ext>
            </a:extLst>
          </p:cNvPr>
          <p:cNvSpPr>
            <a:spLocks xmlns:a="http://schemas.openxmlformats.org/drawingml/2006/main" noGrp="1"/>
          </p:cNvSpPr>
          <p:nvPr/>
        </p:nvSpPr>
        <p:spPr>
          <a:xfrm xmlns:a="http://schemas.openxmlformats.org/drawingml/2006/main">
            <a:off x="8239125" y="2905125"/>
            <a:ext cx="2190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0">
                <a:solidFill>
                  <a:srgbClr val="111318"/>
                </a:solidFill>
                <a:latin typeface="Helvetica Neue"/>
                <a:ea typeface="Helvetica Neue"/>
                <a:cs typeface="Helvetica Neue"/>
              </a:defRPr>
            </a:pPr>
            <a:r>
              <a:rPr sz="1725" b="0">
                <a:solidFill>
                  <a:srgbClr val="111318"/>
                </a:solidFill>
                <a:latin typeface="Helvetica Neue"/>
                <a:ea typeface="Helvetica Neue"/>
                <a:cs typeface="Helvetica Neue"/>
              </a:rPr>
              <a:t>Reaction families and extents</a:t>
            </a:r>
          </a:p>
        </p:txBody>
      </p:sp>
      <p:sp>
        <p:nvSpPr>
          <p:cNvPr id="15" name="">
            <a:extLst xmlns:a="http://schemas.openxmlformats.org/drawingml/2006/main">
              <a:ext uri="{FF2B5EF4-FFF2-40B4-BE49-F238E27FC236}">
                <a16:creationId xmlns:a16="http://schemas.microsoft.com/office/drawing/2014/main" id="{CDF3F8BF-34CE-4218-91F2-F97E8755FFE6}"/>
              </a:ext>
            </a:extLst>
          </p:cNvPr>
          <p:cNvSpPr>
            <a:spLocks xmlns:a="http://schemas.openxmlformats.org/drawingml/2006/main" noGrp="1"/>
          </p:cNvSpPr>
          <p:nvPr/>
        </p:nvSpPr>
        <p:spPr>
          <a:xfrm xmlns:a="http://schemas.openxmlformats.org/drawingml/2006/main">
            <a:off x="3781425" y="2762250"/>
            <a:ext cx="57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697"/>
          </a:bodyPr>
          <a:lstStyle xmlns:a="http://schemas.openxmlformats.org/drawingml/2006/main"/>
          <a:p xmlns:a="http://schemas.openxmlformats.org/drawingml/2006/main">
            <a:pPr algn="ctr">
              <a:defRPr sz="3300" b="1">
                <a:solidFill>
                  <a:srgbClr val="111318"/>
                </a:solidFill>
                <a:latin typeface="Helvetica Neue"/>
                <a:ea typeface="Helvetica Neue"/>
                <a:cs typeface="Helvetica Neue"/>
              </a:defRPr>
            </a:pPr>
            <a:r>
              <a:rPr sz="3300" b="1">
                <a:solidFill>
                  <a:srgbClr val="111318"/>
                </a:solidFill>
                <a:latin typeface="Helvetica Neue"/>
                <a:ea typeface="Helvetica Neue"/>
                <a:cs typeface="Helvetica Neue"/>
              </a:rPr>
              <a:t>↔</a:t>
            </a:r>
          </a:p>
        </p:txBody>
      </p:sp>
      <p:sp>
        <p:nvSpPr>
          <p:cNvPr id="16" name="">
            <a:extLst xmlns:a="http://schemas.openxmlformats.org/drawingml/2006/main">
              <a:ext uri="{FF2B5EF4-FFF2-40B4-BE49-F238E27FC236}">
                <a16:creationId xmlns:a16="http://schemas.microsoft.com/office/drawing/2014/main" id="{FDD31F4E-8BD6-4368-80BF-6865083D9D2A}"/>
              </a:ext>
            </a:extLst>
          </p:cNvPr>
          <p:cNvSpPr>
            <a:spLocks xmlns:a="http://schemas.openxmlformats.org/drawingml/2006/main" noGrp="1"/>
          </p:cNvSpPr>
          <p:nvPr/>
        </p:nvSpPr>
        <p:spPr>
          <a:xfrm xmlns:a="http://schemas.openxmlformats.org/drawingml/2006/main">
            <a:off x="7305675" y="2762250"/>
            <a:ext cx="57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697"/>
          </a:bodyPr>
          <a:lstStyle xmlns:a="http://schemas.openxmlformats.org/drawingml/2006/main"/>
          <a:p xmlns:a="http://schemas.openxmlformats.org/drawingml/2006/main">
            <a:pPr algn="ctr">
              <a:defRPr sz="3300" b="1">
                <a:solidFill>
                  <a:srgbClr val="111318"/>
                </a:solidFill>
                <a:latin typeface="Helvetica Neue"/>
                <a:ea typeface="Helvetica Neue"/>
                <a:cs typeface="Helvetica Neue"/>
              </a:defRPr>
            </a:pPr>
            <a:r>
              <a:rPr sz="3300" b="1">
                <a:solidFill>
                  <a:srgbClr val="111318"/>
                </a:solidFill>
                <a:latin typeface="Helvetica Neue"/>
                <a:ea typeface="Helvetica Neue"/>
                <a:cs typeface="Helvetica Neue"/>
              </a:rPr>
              <a:t>↔</a:t>
            </a:r>
          </a:p>
        </p:txBody>
      </p:sp>
      <p:sp>
        <p:nvSpPr>
          <p:cNvPr id="17" name="">
            <a:extLst xmlns:a="http://schemas.openxmlformats.org/drawingml/2006/main">
              <a:ext uri="{FF2B5EF4-FFF2-40B4-BE49-F238E27FC236}">
                <a16:creationId xmlns:a16="http://schemas.microsoft.com/office/drawing/2014/main" id="{39D848DB-3E7D-4EC0-928E-1475A565C59E}"/>
              </a:ext>
            </a:extLst>
          </p:cNvPr>
          <p:cNvSpPr>
            <a:spLocks xmlns:a="http://schemas.openxmlformats.org/drawingml/2006/main" noGrp="1"/>
          </p:cNvSpPr>
          <p:nvPr/>
        </p:nvSpPr>
        <p:spPr>
          <a:xfrm xmlns:a="http://schemas.openxmlformats.org/drawingml/2006/main">
            <a:off x="2047875" y="4686300"/>
            <a:ext cx="8096250" cy="876300"/>
          </a:xfrm>
          <a:prstGeom xmlns:a="http://schemas.openxmlformats.org/drawingml/2006/main" prst="roundRect">
            <a:avLst>
              <a:gd name="adj" fmla="val 13043"/>
            </a:avLst>
          </a:prstGeom>
          <a:solidFill xmlns:a="http://schemas.openxmlformats.org/drawingml/2006/main">
            <a:srgbClr val="E9F4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DBFEAC9-729A-4B71-92ED-1F4F99118B35}"/>
              </a:ext>
            </a:extLst>
          </p:cNvPr>
          <p:cNvSpPr>
            <a:spLocks xmlns:a="http://schemas.openxmlformats.org/drawingml/2006/main" noGrp="1"/>
          </p:cNvSpPr>
          <p:nvPr/>
        </p:nvSpPr>
        <p:spPr>
          <a:xfrm xmlns:a="http://schemas.openxmlformats.org/drawingml/2006/main">
            <a:off x="2428875" y="4905375"/>
            <a:ext cx="7334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333"/>
          </a:bodyPr>
          <a:lstStyle xmlns:a="http://schemas.openxmlformats.org/drawingml/2006/main"/>
          <a:p xmlns:a="http://schemas.openxmlformats.org/drawingml/2006/main">
            <a:pPr algn="ctr">
              <a:defRPr sz="1875" b="1">
                <a:solidFill>
                  <a:srgbClr val="153A63"/>
                </a:solidFill>
                <a:latin typeface="Helvetica Neue"/>
                <a:ea typeface="Helvetica Neue"/>
                <a:cs typeface="Helvetica Neue"/>
              </a:defRPr>
            </a:pPr>
            <a:r>
              <a:rPr sz="1875" b="1">
                <a:solidFill>
                  <a:srgbClr val="153A63"/>
                </a:solidFill>
                <a:latin typeface="Helvetica Neue"/>
                <a:ea typeface="Helvetica Neue"/>
                <a:cs typeface="Helvetica Neue"/>
              </a:rPr>
              <a:t>HydroSheaf asks whether locally plausible relations compose into a globally compatible groundwater interpretation.</a:t>
            </a:r>
          </a:p>
        </p:txBody>
      </p:sp>
    </p:spTree>
    <p:extLst>
      <p:ext uri="{BB962C8B-B14F-4D97-AF65-F5344CB8AC3E}">
        <p14:creationId xmlns:p14="http://schemas.microsoft.com/office/powerpoint/2010/main" val="147636539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D5D4CD5-03EF-40F2-AE63-83ABE5A78CA8}"/>
              </a:ext>
            </a:extLst>
          </p:cNvPr>
          <p:cNvSpPr>
            <a:spLocks xmlns:a="http://schemas.openxmlformats.org/drawingml/2006/main" noGrp="1"/>
          </p:cNvSpPr>
          <p:nvPr/>
        </p:nvSpPr>
        <p:spPr>
          <a:xfrm xmlns:a="http://schemas.openxmlformats.org/drawingml/2006/main">
            <a:off x="400050" y="228600"/>
            <a:ext cx="695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AIM AND QUESTIONS</a:t>
            </a:r>
          </a:p>
        </p:txBody>
      </p:sp>
      <p:sp>
        <p:nvSpPr>
          <p:cNvPr id="2" name="">
            <a:extLst xmlns:a="http://schemas.openxmlformats.org/drawingml/2006/main">
              <a:ext uri="{FF2B5EF4-FFF2-40B4-BE49-F238E27FC236}">
                <a16:creationId xmlns:a16="http://schemas.microsoft.com/office/drawing/2014/main" id="{D3A5B959-68DE-4996-BD9B-9065FC4AA08F}"/>
              </a:ext>
            </a:extLst>
          </p:cNvPr>
          <p:cNvSpPr>
            <a:spLocks xmlns:a="http://schemas.openxmlformats.org/drawingml/2006/main" noGrp="1"/>
          </p:cNvSpPr>
          <p:nvPr/>
        </p:nvSpPr>
        <p:spPr>
          <a:xfrm xmlns:a="http://schemas.openxmlformats.org/drawingml/2006/main">
            <a:off x="400050" y="49530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One aim, four answerable questions</a:t>
            </a:r>
          </a:p>
        </p:txBody>
      </p:sp>
      <p:sp>
        <p:nvSpPr>
          <p:cNvPr id="3" name="">
            <a:extLst xmlns:a="http://schemas.openxmlformats.org/drawingml/2006/main">
              <a:ext uri="{FF2B5EF4-FFF2-40B4-BE49-F238E27FC236}">
                <a16:creationId xmlns:a16="http://schemas.microsoft.com/office/drawing/2014/main" id="{30B95986-BF6F-40DE-BA1F-853214E7A835}"/>
              </a:ext>
            </a:extLst>
          </p:cNvPr>
          <p:cNvSpPr>
            <a:spLocks xmlns:a="http://schemas.openxmlformats.org/drawingml/2006/main" noGrp="1"/>
          </p:cNvSpPr>
          <p:nvPr/>
        </p:nvSpPr>
        <p:spPr>
          <a:xfrm xmlns:a="http://schemas.openxmlformats.org/drawingml/2006/main">
            <a:off x="400050" y="1190625"/>
            <a:ext cx="11391900" cy="19050"/>
          </a:xfrm>
          <a:prstGeom xmlns:a="http://schemas.openxmlformats.org/drawingml/2006/main" prst="rect">
            <a:avLst/>
          </a:prstGeom>
          <a:solidFill xmlns:a="http://schemas.openxmlformats.org/drawingml/2006/main">
            <a:srgbClr val="11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91EDD1B-0A35-4896-94BD-79187D34CE3C}"/>
              </a:ext>
            </a:extLst>
          </p:cNvPr>
          <p:cNvSpPr>
            <a:spLocks xmlns:a="http://schemas.openxmlformats.org/drawingml/2006/main" noGrp="1"/>
          </p:cNvSpPr>
          <p:nvPr/>
        </p:nvSpPr>
        <p:spPr>
          <a:xfrm xmlns:a="http://schemas.openxmlformats.org/drawingml/2006/main">
            <a:off x="400050" y="6438900"/>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Research design</a:t>
            </a:r>
          </a:p>
        </p:txBody>
      </p:sp>
      <p:sp>
        <p:nvSpPr>
          <p:cNvPr id="5" name="">
            <a:extLst xmlns:a="http://schemas.openxmlformats.org/drawingml/2006/main">
              <a:ext uri="{FF2B5EF4-FFF2-40B4-BE49-F238E27FC236}">
                <a16:creationId xmlns:a16="http://schemas.microsoft.com/office/drawing/2014/main" id="{D7A9F5ED-39A0-46B8-BA9E-9A3D6B2687A4}"/>
              </a:ext>
            </a:extLst>
          </p:cNvPr>
          <p:cNvSpPr>
            <a:spLocks xmlns:a="http://schemas.openxmlformats.org/drawingml/2006/main" noGrp="1"/>
          </p:cNvSpPr>
          <p:nvPr/>
        </p:nvSpPr>
        <p:spPr>
          <a:xfrm xmlns:a="http://schemas.openxmlformats.org/drawingml/2006/main">
            <a:off x="11287125" y="63912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04</a:t>
            </a:r>
          </a:p>
        </p:txBody>
      </p:sp>
      <p:sp>
        <p:nvSpPr>
          <p:cNvPr id="6" name="">
            <a:extLst xmlns:a="http://schemas.openxmlformats.org/drawingml/2006/main">
              <a:ext uri="{FF2B5EF4-FFF2-40B4-BE49-F238E27FC236}">
                <a16:creationId xmlns:a16="http://schemas.microsoft.com/office/drawing/2014/main" id="{ECFC7389-7FDE-4FA2-9F02-28001DB4104B}"/>
              </a:ext>
            </a:extLst>
          </p:cNvPr>
          <p:cNvSpPr>
            <a:spLocks xmlns:a="http://schemas.openxmlformats.org/drawingml/2006/main" noGrp="1"/>
          </p:cNvSpPr>
          <p:nvPr/>
        </p:nvSpPr>
        <p:spPr>
          <a:xfrm xmlns:a="http://schemas.openxmlformats.org/drawingml/2006/main">
            <a:off x="400050" y="1524000"/>
            <a:ext cx="11391900" cy="876300"/>
          </a:xfrm>
          <a:prstGeom xmlns:a="http://schemas.openxmlformats.org/drawingml/2006/main" prst="roundRect">
            <a:avLst>
              <a:gd name="adj" fmla="val 13043"/>
            </a:avLst>
          </a:prstGeom>
          <a:solidFill xmlns:a="http://schemas.openxmlformats.org/drawingml/2006/main">
            <a:srgbClr val="153A63"/>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047F2F2-7118-43D2-B9A5-0A08AF4D59A9}"/>
              </a:ext>
            </a:extLst>
          </p:cNvPr>
          <p:cNvSpPr>
            <a:spLocks xmlns:a="http://schemas.openxmlformats.org/drawingml/2006/main" noGrp="1"/>
          </p:cNvSpPr>
          <p:nvPr/>
        </p:nvSpPr>
        <p:spPr>
          <a:xfrm xmlns:a="http://schemas.openxmlformats.org/drawingml/2006/main">
            <a:off x="723900" y="1743075"/>
            <a:ext cx="10744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6667"/>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Develop, benchmark and apply HydroSheaf to jointly diagnose residence-time distributions, directed flow paths and hydrogeochemical evolution.</a:t>
            </a:r>
          </a:p>
        </p:txBody>
      </p:sp>
      <p:sp>
        <p:nvSpPr>
          <p:cNvPr id="8" name="">
            <a:extLst xmlns:a="http://schemas.openxmlformats.org/drawingml/2006/main">
              <a:ext uri="{FF2B5EF4-FFF2-40B4-BE49-F238E27FC236}">
                <a16:creationId xmlns:a16="http://schemas.microsoft.com/office/drawing/2014/main" id="{55C04B7B-E035-4C51-8881-DFF4D8321437}"/>
              </a:ext>
            </a:extLst>
          </p:cNvPr>
          <p:cNvSpPr>
            <a:spLocks xmlns:a="http://schemas.openxmlformats.org/drawingml/2006/main" noGrp="1"/>
          </p:cNvSpPr>
          <p:nvPr/>
        </p:nvSpPr>
        <p:spPr>
          <a:xfrm xmlns:a="http://schemas.openxmlformats.org/drawingml/2006/main">
            <a:off x="400050" y="2714625"/>
            <a:ext cx="5429250" cy="1143000"/>
          </a:xfrm>
          <a:prstGeom xmlns:a="http://schemas.openxmlformats.org/drawingml/2006/main" prst="roundRect">
            <a:avLst>
              <a:gd name="adj" fmla="val 10000"/>
            </a:avLst>
          </a:prstGeom>
          <a:solidFill xmlns:a="http://schemas.openxmlformats.org/drawingml/2006/main">
            <a:srgbClr val="F2F3F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4BA5F4E-1ECC-4AFB-BED2-EF394F9D9FF3}"/>
              </a:ext>
            </a:extLst>
          </p:cNvPr>
          <p:cNvSpPr>
            <a:spLocks xmlns:a="http://schemas.openxmlformats.org/drawingml/2006/main" noGrp="1"/>
          </p:cNvSpPr>
          <p:nvPr/>
        </p:nvSpPr>
        <p:spPr>
          <a:xfrm xmlns:a="http://schemas.openxmlformats.org/drawingml/2006/main">
            <a:off x="609600" y="2943225"/>
            <a:ext cx="647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00" b="1">
                <a:solidFill>
                  <a:srgbClr val="3D8DFF"/>
                </a:solidFill>
                <a:latin typeface="Helvetica Neue"/>
                <a:ea typeface="Helvetica Neue"/>
                <a:cs typeface="Helvetica Neue"/>
              </a:defRPr>
            </a:pPr>
            <a:r>
              <a:rPr sz="2400" b="1">
                <a:solidFill>
                  <a:srgbClr val="3D8DFF"/>
                </a:solidFill>
                <a:latin typeface="Helvetica Neue"/>
                <a:ea typeface="Helvetica Neue"/>
                <a:cs typeface="Helvetica Neue"/>
              </a:rPr>
              <a:t>01</a:t>
            </a:r>
          </a:p>
        </p:txBody>
      </p:sp>
      <p:sp>
        <p:nvSpPr>
          <p:cNvPr id="10" name="">
            <a:extLst xmlns:a="http://schemas.openxmlformats.org/drawingml/2006/main">
              <a:ext uri="{FF2B5EF4-FFF2-40B4-BE49-F238E27FC236}">
                <a16:creationId xmlns:a16="http://schemas.microsoft.com/office/drawing/2014/main" id="{8D3D67B6-B70F-490B-AF1D-D655C5B48CFD}"/>
              </a:ext>
            </a:extLst>
          </p:cNvPr>
          <p:cNvSpPr>
            <a:spLocks xmlns:a="http://schemas.openxmlformats.org/drawingml/2006/main" noGrp="1"/>
          </p:cNvSpPr>
          <p:nvPr/>
        </p:nvSpPr>
        <p:spPr>
          <a:xfrm xmlns:a="http://schemas.openxmlformats.org/drawingml/2006/main">
            <a:off x="1371600" y="2924175"/>
            <a:ext cx="41719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11318"/>
                </a:solidFill>
                <a:latin typeface="Helvetica Neue"/>
                <a:ea typeface="Helvetica Neue"/>
                <a:cs typeface="Helvetica Neue"/>
              </a:defRPr>
            </a:pPr>
            <a:r>
              <a:rPr sz="1650" b="1">
                <a:solidFill>
                  <a:srgbClr val="111318"/>
                </a:solidFill>
                <a:latin typeface="Helvetica Neue"/>
                <a:ea typeface="Helvetica Neue"/>
                <a:cs typeface="Helvetica Neue"/>
              </a:rPr>
              <a:t>Can component methods recover known or reference behaviour?</a:t>
            </a:r>
          </a:p>
        </p:txBody>
      </p:sp>
      <p:sp>
        <p:nvSpPr>
          <p:cNvPr id="11" name="">
            <a:extLst xmlns:a="http://schemas.openxmlformats.org/drawingml/2006/main">
              <a:ext uri="{FF2B5EF4-FFF2-40B4-BE49-F238E27FC236}">
                <a16:creationId xmlns:a16="http://schemas.microsoft.com/office/drawing/2014/main" id="{D9EF4B6F-35E0-49F0-A3E5-1D49539C6608}"/>
              </a:ext>
            </a:extLst>
          </p:cNvPr>
          <p:cNvSpPr>
            <a:spLocks xmlns:a="http://schemas.openxmlformats.org/drawingml/2006/main" noGrp="1"/>
          </p:cNvSpPr>
          <p:nvPr/>
        </p:nvSpPr>
        <p:spPr>
          <a:xfrm xmlns:a="http://schemas.openxmlformats.org/drawingml/2006/main">
            <a:off x="6191250" y="2714625"/>
            <a:ext cx="5429250" cy="1143000"/>
          </a:xfrm>
          <a:prstGeom xmlns:a="http://schemas.openxmlformats.org/drawingml/2006/main" prst="roundRect">
            <a:avLst>
              <a:gd name="adj" fmla="val 10000"/>
            </a:avLst>
          </a:prstGeom>
          <a:solidFill xmlns:a="http://schemas.openxmlformats.org/drawingml/2006/main">
            <a:srgbClr val="F2F3F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50BB200-3F5A-487C-AC1A-C6EE40A143EA}"/>
              </a:ext>
            </a:extLst>
          </p:cNvPr>
          <p:cNvSpPr>
            <a:spLocks xmlns:a="http://schemas.openxmlformats.org/drawingml/2006/main" noGrp="1"/>
          </p:cNvSpPr>
          <p:nvPr/>
        </p:nvSpPr>
        <p:spPr>
          <a:xfrm xmlns:a="http://schemas.openxmlformats.org/drawingml/2006/main">
            <a:off x="6400800" y="2943225"/>
            <a:ext cx="647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00" b="1">
                <a:solidFill>
                  <a:srgbClr val="3D8DFF"/>
                </a:solidFill>
                <a:latin typeface="Helvetica Neue"/>
                <a:ea typeface="Helvetica Neue"/>
                <a:cs typeface="Helvetica Neue"/>
              </a:defRPr>
            </a:pPr>
            <a:r>
              <a:rPr sz="2400" b="1">
                <a:solidFill>
                  <a:srgbClr val="3D8DFF"/>
                </a:solidFill>
                <a:latin typeface="Helvetica Neue"/>
                <a:ea typeface="Helvetica Neue"/>
                <a:cs typeface="Helvetica Neue"/>
              </a:rPr>
              <a:t>02</a:t>
            </a:r>
          </a:p>
        </p:txBody>
      </p:sp>
      <p:sp>
        <p:nvSpPr>
          <p:cNvPr id="13" name="">
            <a:extLst xmlns:a="http://schemas.openxmlformats.org/drawingml/2006/main">
              <a:ext uri="{FF2B5EF4-FFF2-40B4-BE49-F238E27FC236}">
                <a16:creationId xmlns:a16="http://schemas.microsoft.com/office/drawing/2014/main" id="{3C78472E-BC82-43F6-B778-A4C3B5CA44AF}"/>
              </a:ext>
            </a:extLst>
          </p:cNvPr>
          <p:cNvSpPr>
            <a:spLocks xmlns:a="http://schemas.openxmlformats.org/drawingml/2006/main" noGrp="1"/>
          </p:cNvSpPr>
          <p:nvPr/>
        </p:nvSpPr>
        <p:spPr>
          <a:xfrm xmlns:a="http://schemas.openxmlformats.org/drawingml/2006/main">
            <a:off x="7162800" y="2924175"/>
            <a:ext cx="41719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11318"/>
                </a:solidFill>
                <a:latin typeface="Helvetica Neue"/>
                <a:ea typeface="Helvetica Neue"/>
                <a:cs typeface="Helvetica Neue"/>
              </a:defRPr>
            </a:pPr>
            <a:r>
              <a:rPr sz="1650" b="1">
                <a:solidFill>
                  <a:srgbClr val="111318"/>
                </a:solidFill>
                <a:latin typeface="Helvetica Neue"/>
                <a:ea typeface="Helvetica Neue"/>
                <a:cs typeface="Helvetica Neue"/>
              </a:rPr>
              <a:t>When does one evidence stream add information to another?</a:t>
            </a:r>
          </a:p>
        </p:txBody>
      </p:sp>
      <p:sp>
        <p:nvSpPr>
          <p:cNvPr id="14" name="">
            <a:extLst xmlns:a="http://schemas.openxmlformats.org/drawingml/2006/main">
              <a:ext uri="{FF2B5EF4-FFF2-40B4-BE49-F238E27FC236}">
                <a16:creationId xmlns:a16="http://schemas.microsoft.com/office/drawing/2014/main" id="{6FA8C76D-069E-4AC8-B0F4-FF9315FCCB00}"/>
              </a:ext>
            </a:extLst>
          </p:cNvPr>
          <p:cNvSpPr>
            <a:spLocks xmlns:a="http://schemas.openxmlformats.org/drawingml/2006/main" noGrp="1"/>
          </p:cNvSpPr>
          <p:nvPr/>
        </p:nvSpPr>
        <p:spPr>
          <a:xfrm xmlns:a="http://schemas.openxmlformats.org/drawingml/2006/main">
            <a:off x="400050" y="4124325"/>
            <a:ext cx="5429250" cy="1143000"/>
          </a:xfrm>
          <a:prstGeom xmlns:a="http://schemas.openxmlformats.org/drawingml/2006/main" prst="roundRect">
            <a:avLst>
              <a:gd name="adj" fmla="val 10000"/>
            </a:avLst>
          </a:prstGeom>
          <a:solidFill xmlns:a="http://schemas.openxmlformats.org/drawingml/2006/main">
            <a:srgbClr val="F2F3F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9C370A2-2C52-49EA-BAAB-8BD76A3E49EC}"/>
              </a:ext>
            </a:extLst>
          </p:cNvPr>
          <p:cNvSpPr>
            <a:spLocks xmlns:a="http://schemas.openxmlformats.org/drawingml/2006/main" noGrp="1"/>
          </p:cNvSpPr>
          <p:nvPr/>
        </p:nvSpPr>
        <p:spPr>
          <a:xfrm xmlns:a="http://schemas.openxmlformats.org/drawingml/2006/main">
            <a:off x="609600" y="4352925"/>
            <a:ext cx="647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00" b="1">
                <a:solidFill>
                  <a:srgbClr val="3D8DFF"/>
                </a:solidFill>
                <a:latin typeface="Helvetica Neue"/>
                <a:ea typeface="Helvetica Neue"/>
                <a:cs typeface="Helvetica Neue"/>
              </a:defRPr>
            </a:pPr>
            <a:r>
              <a:rPr sz="2400" b="1">
                <a:solidFill>
                  <a:srgbClr val="3D8DFF"/>
                </a:solidFill>
                <a:latin typeface="Helvetica Neue"/>
                <a:ea typeface="Helvetica Neue"/>
                <a:cs typeface="Helvetica Neue"/>
              </a:rPr>
              <a:t>03</a:t>
            </a:r>
          </a:p>
        </p:txBody>
      </p:sp>
      <p:sp>
        <p:nvSpPr>
          <p:cNvPr id="16" name="">
            <a:extLst xmlns:a="http://schemas.openxmlformats.org/drawingml/2006/main">
              <a:ext uri="{FF2B5EF4-FFF2-40B4-BE49-F238E27FC236}">
                <a16:creationId xmlns:a16="http://schemas.microsoft.com/office/drawing/2014/main" id="{5D613613-F4EB-4298-83BB-9DEC4F2CE006}"/>
              </a:ext>
            </a:extLst>
          </p:cNvPr>
          <p:cNvSpPr>
            <a:spLocks xmlns:a="http://schemas.openxmlformats.org/drawingml/2006/main" noGrp="1"/>
          </p:cNvSpPr>
          <p:nvPr/>
        </p:nvSpPr>
        <p:spPr>
          <a:xfrm xmlns:a="http://schemas.openxmlformats.org/drawingml/2006/main">
            <a:off x="1371600" y="4333875"/>
            <a:ext cx="41719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11318"/>
                </a:solidFill>
                <a:latin typeface="Helvetica Neue"/>
                <a:ea typeface="Helvetica Neue"/>
                <a:cs typeface="Helvetica Neue"/>
              </a:defRPr>
            </a:pPr>
            <a:r>
              <a:rPr sz="1650" b="1">
                <a:solidFill>
                  <a:srgbClr val="111318"/>
                </a:solidFill>
                <a:latin typeface="Helvetica Neue"/>
                <a:ea typeface="Helvetica Neue"/>
                <a:cs typeface="Helvetica Neue"/>
              </a:rPr>
              <a:t>What does affine sheaf structure add beyond weighted graphs?</a:t>
            </a:r>
          </a:p>
        </p:txBody>
      </p:sp>
      <p:sp>
        <p:nvSpPr>
          <p:cNvPr id="17" name="">
            <a:extLst xmlns:a="http://schemas.openxmlformats.org/drawingml/2006/main">
              <a:ext uri="{FF2B5EF4-FFF2-40B4-BE49-F238E27FC236}">
                <a16:creationId xmlns:a16="http://schemas.microsoft.com/office/drawing/2014/main" id="{9A25EBAE-41A4-4A63-9A6B-BC1E498ED0BF}"/>
              </a:ext>
            </a:extLst>
          </p:cNvPr>
          <p:cNvSpPr>
            <a:spLocks xmlns:a="http://schemas.openxmlformats.org/drawingml/2006/main" noGrp="1"/>
          </p:cNvSpPr>
          <p:nvPr/>
        </p:nvSpPr>
        <p:spPr>
          <a:xfrm xmlns:a="http://schemas.openxmlformats.org/drawingml/2006/main">
            <a:off x="6191250" y="4124325"/>
            <a:ext cx="5429250" cy="1143000"/>
          </a:xfrm>
          <a:prstGeom xmlns:a="http://schemas.openxmlformats.org/drawingml/2006/main" prst="roundRect">
            <a:avLst>
              <a:gd name="adj" fmla="val 10000"/>
            </a:avLst>
          </a:prstGeom>
          <a:solidFill xmlns:a="http://schemas.openxmlformats.org/drawingml/2006/main">
            <a:srgbClr val="F2F3F5"/>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40B8009-303B-46B2-9851-451BE6C8C5F7}"/>
              </a:ext>
            </a:extLst>
          </p:cNvPr>
          <p:cNvSpPr>
            <a:spLocks xmlns:a="http://schemas.openxmlformats.org/drawingml/2006/main" noGrp="1"/>
          </p:cNvSpPr>
          <p:nvPr/>
        </p:nvSpPr>
        <p:spPr>
          <a:xfrm xmlns:a="http://schemas.openxmlformats.org/drawingml/2006/main">
            <a:off x="6400800" y="4352925"/>
            <a:ext cx="647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00" b="1">
                <a:solidFill>
                  <a:srgbClr val="3D8DFF"/>
                </a:solidFill>
                <a:latin typeface="Helvetica Neue"/>
                <a:ea typeface="Helvetica Neue"/>
                <a:cs typeface="Helvetica Neue"/>
              </a:defRPr>
            </a:pPr>
            <a:r>
              <a:rPr sz="2400" b="1">
                <a:solidFill>
                  <a:srgbClr val="3D8DFF"/>
                </a:solidFill>
                <a:latin typeface="Helvetica Neue"/>
                <a:ea typeface="Helvetica Neue"/>
                <a:cs typeface="Helvetica Neue"/>
              </a:rPr>
              <a:t>04</a:t>
            </a:r>
          </a:p>
        </p:txBody>
      </p:sp>
      <p:sp>
        <p:nvSpPr>
          <p:cNvPr id="19" name="">
            <a:extLst xmlns:a="http://schemas.openxmlformats.org/drawingml/2006/main">
              <a:ext uri="{FF2B5EF4-FFF2-40B4-BE49-F238E27FC236}">
                <a16:creationId xmlns:a16="http://schemas.microsoft.com/office/drawing/2014/main" id="{2E5E6982-472B-474B-9E28-5B1022CFF77D}"/>
              </a:ext>
            </a:extLst>
          </p:cNvPr>
          <p:cNvSpPr>
            <a:spLocks xmlns:a="http://schemas.openxmlformats.org/drawingml/2006/main" noGrp="1"/>
          </p:cNvSpPr>
          <p:nvPr/>
        </p:nvSpPr>
        <p:spPr>
          <a:xfrm xmlns:a="http://schemas.openxmlformats.org/drawingml/2006/main">
            <a:off x="7162800" y="4333875"/>
            <a:ext cx="41719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11318"/>
                </a:solidFill>
                <a:latin typeface="Helvetica Neue"/>
                <a:ea typeface="Helvetica Neue"/>
                <a:cs typeface="Helvetica Neue"/>
              </a:defRPr>
            </a:pPr>
            <a:r>
              <a:rPr sz="1650" b="1">
                <a:solidFill>
                  <a:srgbClr val="111318"/>
                </a:solidFill>
                <a:latin typeface="Helvetica Neue"/>
                <a:ea typeface="Helvetica Neue"/>
                <a:cs typeface="Helvetica Neue"/>
              </a:rPr>
              <a:t>What can available Ghana data support—and what remains unknowable?</a:t>
            </a:r>
          </a:p>
        </p:txBody>
      </p:sp>
    </p:spTree>
    <p:extLst>
      <p:ext uri="{BB962C8B-B14F-4D97-AF65-F5344CB8AC3E}">
        <p14:creationId xmlns:p14="http://schemas.microsoft.com/office/powerpoint/2010/main" val="19105512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1770DF50-667C-40C6-8619-823A4758CC8A}"/>
              </a:ext>
            </a:extLst>
          </p:cNvPr>
          <p:cNvSpPr>
            <a:spLocks xmlns:a="http://schemas.openxmlformats.org/drawingml/2006/main" noGrp="1"/>
          </p:cNvSpPr>
          <p:nvPr/>
        </p:nvSpPr>
        <p:spPr>
          <a:xfrm xmlns:a="http://schemas.openxmlformats.org/drawingml/2006/main">
            <a:off x="400050" y="228600"/>
            <a:ext cx="695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WHAT IS NEW</a:t>
            </a:r>
          </a:p>
        </p:txBody>
      </p:sp>
      <p:sp>
        <p:nvSpPr>
          <p:cNvPr id="2" name="">
            <a:extLst xmlns:a="http://schemas.openxmlformats.org/drawingml/2006/main">
              <a:ext uri="{FF2B5EF4-FFF2-40B4-BE49-F238E27FC236}">
                <a16:creationId xmlns:a16="http://schemas.microsoft.com/office/drawing/2014/main" id="{734E0929-BF3B-40D6-9957-FAF7E8A12977}"/>
              </a:ext>
            </a:extLst>
          </p:cNvPr>
          <p:cNvSpPr>
            <a:spLocks xmlns:a="http://schemas.openxmlformats.org/drawingml/2006/main" noGrp="1"/>
          </p:cNvSpPr>
          <p:nvPr/>
        </p:nvSpPr>
        <p:spPr>
          <a:xfrm xmlns:a="http://schemas.openxmlformats.org/drawingml/2006/main">
            <a:off x="400050" y="49530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The novelty is the coupling and the validation logic</a:t>
            </a:r>
          </a:p>
        </p:txBody>
      </p:sp>
      <p:sp>
        <p:nvSpPr>
          <p:cNvPr id="3" name="">
            <a:extLst xmlns:a="http://schemas.openxmlformats.org/drawingml/2006/main">
              <a:ext uri="{FF2B5EF4-FFF2-40B4-BE49-F238E27FC236}">
                <a16:creationId xmlns:a16="http://schemas.microsoft.com/office/drawing/2014/main" id="{1C39689E-C7B4-43FA-8CAC-477B3F2B330B}"/>
              </a:ext>
            </a:extLst>
          </p:cNvPr>
          <p:cNvSpPr>
            <a:spLocks xmlns:a="http://schemas.openxmlformats.org/drawingml/2006/main" noGrp="1"/>
          </p:cNvSpPr>
          <p:nvPr/>
        </p:nvSpPr>
        <p:spPr>
          <a:xfrm xmlns:a="http://schemas.openxmlformats.org/drawingml/2006/main">
            <a:off x="400050" y="1190625"/>
            <a:ext cx="11391900" cy="19050"/>
          </a:xfrm>
          <a:prstGeom xmlns:a="http://schemas.openxmlformats.org/drawingml/2006/main" prst="rect">
            <a:avLst/>
          </a:prstGeom>
          <a:solidFill xmlns:a="http://schemas.openxmlformats.org/drawingml/2006/main">
            <a:srgbClr val="11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6D12D0E-9E3F-4355-8F71-06D88C668415}"/>
              </a:ext>
            </a:extLst>
          </p:cNvPr>
          <p:cNvSpPr>
            <a:spLocks xmlns:a="http://schemas.openxmlformats.org/drawingml/2006/main" noGrp="1"/>
          </p:cNvSpPr>
          <p:nvPr/>
        </p:nvSpPr>
        <p:spPr>
          <a:xfrm xmlns:a="http://schemas.openxmlformats.org/drawingml/2006/main">
            <a:off x="400050" y="6438900"/>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Contribution</a:t>
            </a:r>
          </a:p>
        </p:txBody>
      </p:sp>
      <p:sp>
        <p:nvSpPr>
          <p:cNvPr id="5" name="">
            <a:extLst xmlns:a="http://schemas.openxmlformats.org/drawingml/2006/main">
              <a:ext uri="{FF2B5EF4-FFF2-40B4-BE49-F238E27FC236}">
                <a16:creationId xmlns:a16="http://schemas.microsoft.com/office/drawing/2014/main" id="{7322BC18-C03E-4B50-B844-F37D5A1251C7}"/>
              </a:ext>
            </a:extLst>
          </p:cNvPr>
          <p:cNvSpPr>
            <a:spLocks xmlns:a="http://schemas.openxmlformats.org/drawingml/2006/main" noGrp="1"/>
          </p:cNvSpPr>
          <p:nvPr/>
        </p:nvSpPr>
        <p:spPr>
          <a:xfrm xmlns:a="http://schemas.openxmlformats.org/drawingml/2006/main">
            <a:off x="11287125" y="63912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05</a:t>
            </a:r>
          </a:p>
        </p:txBody>
      </p:sp>
      <p:sp>
        <p:nvSpPr>
          <p:cNvPr id="6" name="">
            <a:extLst xmlns:a="http://schemas.openxmlformats.org/drawingml/2006/main">
              <a:ext uri="{FF2B5EF4-FFF2-40B4-BE49-F238E27FC236}">
                <a16:creationId xmlns:a16="http://schemas.microsoft.com/office/drawing/2014/main" id="{12B9E05C-A180-4B7F-8F5D-CB217F8DF414}"/>
              </a:ext>
            </a:extLst>
          </p:cNvPr>
          <p:cNvSpPr>
            <a:spLocks xmlns:a="http://schemas.openxmlformats.org/drawingml/2006/main" noGrp="1"/>
          </p:cNvSpPr>
          <p:nvPr/>
        </p:nvSpPr>
        <p:spPr>
          <a:xfrm xmlns:a="http://schemas.openxmlformats.org/drawingml/2006/main">
            <a:off x="400050" y="16383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5D6470"/>
                </a:solidFill>
                <a:latin typeface="Helvetica Neue"/>
                <a:ea typeface="Helvetica Neue"/>
                <a:cs typeface="Helvetica Neue"/>
              </a:defRPr>
            </a:pPr>
            <a:r>
              <a:rPr sz="1800" b="1">
                <a:solidFill>
                  <a:srgbClr val="5D6470"/>
                </a:solidFill>
                <a:latin typeface="Helvetica Neue"/>
                <a:ea typeface="Helvetica Neue"/>
                <a:cs typeface="Helvetica Neue"/>
              </a:rPr>
              <a:t>Inherited foundations</a:t>
            </a:r>
          </a:p>
        </p:txBody>
      </p:sp>
      <p:sp>
        <p:nvSpPr>
          <p:cNvPr id="7" name="">
            <a:extLst xmlns:a="http://schemas.openxmlformats.org/drawingml/2006/main">
              <a:ext uri="{FF2B5EF4-FFF2-40B4-BE49-F238E27FC236}">
                <a16:creationId xmlns:a16="http://schemas.microsoft.com/office/drawing/2014/main" id="{ACC2B74A-6FE9-4978-87F7-D235F16ED338}"/>
              </a:ext>
            </a:extLst>
          </p:cNvPr>
          <p:cNvSpPr>
            <a:spLocks xmlns:a="http://schemas.openxmlformats.org/drawingml/2006/main" noGrp="1"/>
          </p:cNvSpPr>
          <p:nvPr/>
        </p:nvSpPr>
        <p:spPr>
          <a:xfrm xmlns:a="http://schemas.openxmlformats.org/drawingml/2006/main">
            <a:off x="400050" y="2095500"/>
            <a:ext cx="4762500" cy="495300"/>
          </a:xfrm>
          <a:prstGeom xmlns:a="http://schemas.openxmlformats.org/drawingml/2006/main" prst="roundRect">
            <a:avLst>
              <a:gd name="adj" fmla="val 23077"/>
            </a:avLst>
          </a:prstGeom>
          <a:solidFill xmlns:a="http://schemas.openxmlformats.org/drawingml/2006/main">
            <a:srgbClr val="F2F3F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45DBAB1-65A8-4DBB-B4A9-A8387C8E44B7}"/>
              </a:ext>
            </a:extLst>
          </p:cNvPr>
          <p:cNvSpPr>
            <a:spLocks xmlns:a="http://schemas.openxmlformats.org/drawingml/2006/main" noGrp="1"/>
          </p:cNvSpPr>
          <p:nvPr/>
        </p:nvSpPr>
        <p:spPr>
          <a:xfrm xmlns:a="http://schemas.openxmlformats.org/drawingml/2006/main">
            <a:off x="590550" y="222885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11318"/>
                </a:solidFill>
                <a:latin typeface="Helvetica Neue"/>
                <a:ea typeface="Helvetica Neue"/>
                <a:cs typeface="Helvetica Neue"/>
              </a:defRPr>
            </a:pPr>
            <a:r>
              <a:rPr sz="1350" b="0">
                <a:solidFill>
                  <a:srgbClr val="111318"/>
                </a:solidFill>
                <a:latin typeface="Helvetica Neue"/>
                <a:ea typeface="Helvetica Neue"/>
                <a:cs typeface="Helvetica Neue"/>
              </a:rPr>
              <a:t>Tracer dating and lumped-parameter models</a:t>
            </a:r>
          </a:p>
        </p:txBody>
      </p:sp>
      <p:sp>
        <p:nvSpPr>
          <p:cNvPr id="9" name="">
            <a:extLst xmlns:a="http://schemas.openxmlformats.org/drawingml/2006/main">
              <a:ext uri="{FF2B5EF4-FFF2-40B4-BE49-F238E27FC236}">
                <a16:creationId xmlns:a16="http://schemas.microsoft.com/office/drawing/2014/main" id="{302972E4-0BE0-4200-9AEE-8EAA6B8248FA}"/>
              </a:ext>
            </a:extLst>
          </p:cNvPr>
          <p:cNvSpPr>
            <a:spLocks xmlns:a="http://schemas.openxmlformats.org/drawingml/2006/main" noGrp="1"/>
          </p:cNvSpPr>
          <p:nvPr/>
        </p:nvSpPr>
        <p:spPr>
          <a:xfrm xmlns:a="http://schemas.openxmlformats.org/drawingml/2006/main">
            <a:off x="400050" y="2762250"/>
            <a:ext cx="4762500" cy="495300"/>
          </a:xfrm>
          <a:prstGeom xmlns:a="http://schemas.openxmlformats.org/drawingml/2006/main" prst="roundRect">
            <a:avLst>
              <a:gd name="adj" fmla="val 23077"/>
            </a:avLst>
          </a:prstGeom>
          <a:solidFill xmlns:a="http://schemas.openxmlformats.org/drawingml/2006/main">
            <a:srgbClr val="F2F3F5"/>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3C085CB-4D02-477D-992F-F590E26F8A6B}"/>
              </a:ext>
            </a:extLst>
          </p:cNvPr>
          <p:cNvSpPr>
            <a:spLocks xmlns:a="http://schemas.openxmlformats.org/drawingml/2006/main" noGrp="1"/>
          </p:cNvSpPr>
          <p:nvPr/>
        </p:nvSpPr>
        <p:spPr>
          <a:xfrm xmlns:a="http://schemas.openxmlformats.org/drawingml/2006/main">
            <a:off x="590550" y="289560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11318"/>
                </a:solidFill>
                <a:latin typeface="Helvetica Neue"/>
                <a:ea typeface="Helvetica Neue"/>
                <a:cs typeface="Helvetica Neue"/>
              </a:defRPr>
            </a:pPr>
            <a:r>
              <a:rPr sz="1350" b="0">
                <a:solidFill>
                  <a:srgbClr val="111318"/>
                </a:solidFill>
                <a:latin typeface="Helvetica Neue"/>
                <a:ea typeface="Helvetica Neue"/>
                <a:cs typeface="Helvetica Neue"/>
              </a:rPr>
              <a:t>Directed weighted graphs</a:t>
            </a:r>
          </a:p>
        </p:txBody>
      </p:sp>
      <p:sp>
        <p:nvSpPr>
          <p:cNvPr id="11" name="">
            <a:extLst xmlns:a="http://schemas.openxmlformats.org/drawingml/2006/main">
              <a:ext uri="{FF2B5EF4-FFF2-40B4-BE49-F238E27FC236}">
                <a16:creationId xmlns:a16="http://schemas.microsoft.com/office/drawing/2014/main" id="{B2F457EA-D1A4-447E-8B5B-279665A78282}"/>
              </a:ext>
            </a:extLst>
          </p:cNvPr>
          <p:cNvSpPr>
            <a:spLocks xmlns:a="http://schemas.openxmlformats.org/drawingml/2006/main" noGrp="1"/>
          </p:cNvSpPr>
          <p:nvPr/>
        </p:nvSpPr>
        <p:spPr>
          <a:xfrm xmlns:a="http://schemas.openxmlformats.org/drawingml/2006/main">
            <a:off x="400050" y="3429000"/>
            <a:ext cx="4762500" cy="495300"/>
          </a:xfrm>
          <a:prstGeom xmlns:a="http://schemas.openxmlformats.org/drawingml/2006/main" prst="roundRect">
            <a:avLst>
              <a:gd name="adj" fmla="val 23077"/>
            </a:avLst>
          </a:prstGeom>
          <a:solidFill xmlns:a="http://schemas.openxmlformats.org/drawingml/2006/main">
            <a:srgbClr val="F2F3F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86928C7-C221-4DB8-B19D-0F3C3B5D3398}"/>
              </a:ext>
            </a:extLst>
          </p:cNvPr>
          <p:cNvSpPr>
            <a:spLocks xmlns:a="http://schemas.openxmlformats.org/drawingml/2006/main" noGrp="1"/>
          </p:cNvSpPr>
          <p:nvPr/>
        </p:nvSpPr>
        <p:spPr>
          <a:xfrm xmlns:a="http://schemas.openxmlformats.org/drawingml/2006/main">
            <a:off x="590550" y="356235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11318"/>
                </a:solidFill>
                <a:latin typeface="Helvetica Neue"/>
                <a:ea typeface="Helvetica Neue"/>
                <a:cs typeface="Helvetica Neue"/>
              </a:defRPr>
            </a:pPr>
            <a:r>
              <a:rPr sz="1350" b="0">
                <a:solidFill>
                  <a:srgbClr val="111318"/>
                </a:solidFill>
                <a:latin typeface="Helvetica Neue"/>
                <a:ea typeface="Helvetica Neue"/>
                <a:cs typeface="Helvetica Neue"/>
              </a:rPr>
              <a:t>Sheaf-theoretic compatibility</a:t>
            </a:r>
          </a:p>
        </p:txBody>
      </p:sp>
      <p:sp>
        <p:nvSpPr>
          <p:cNvPr id="13" name="">
            <a:extLst xmlns:a="http://schemas.openxmlformats.org/drawingml/2006/main">
              <a:ext uri="{FF2B5EF4-FFF2-40B4-BE49-F238E27FC236}">
                <a16:creationId xmlns:a16="http://schemas.microsoft.com/office/drawing/2014/main" id="{2EA0B664-8800-413F-BB80-7879749C525D}"/>
              </a:ext>
            </a:extLst>
          </p:cNvPr>
          <p:cNvSpPr>
            <a:spLocks xmlns:a="http://schemas.openxmlformats.org/drawingml/2006/main" noGrp="1"/>
          </p:cNvSpPr>
          <p:nvPr/>
        </p:nvSpPr>
        <p:spPr>
          <a:xfrm xmlns:a="http://schemas.openxmlformats.org/drawingml/2006/main">
            <a:off x="400050" y="4095750"/>
            <a:ext cx="4762500" cy="495300"/>
          </a:xfrm>
          <a:prstGeom xmlns:a="http://schemas.openxmlformats.org/drawingml/2006/main" prst="roundRect">
            <a:avLst>
              <a:gd name="adj" fmla="val 23077"/>
            </a:avLst>
          </a:prstGeom>
          <a:solidFill xmlns:a="http://schemas.openxmlformats.org/drawingml/2006/main">
            <a:srgbClr val="F2F3F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C6446DB-F859-488F-8C20-02F1009DDFD3}"/>
              </a:ext>
            </a:extLst>
          </p:cNvPr>
          <p:cNvSpPr>
            <a:spLocks xmlns:a="http://schemas.openxmlformats.org/drawingml/2006/main" noGrp="1"/>
          </p:cNvSpPr>
          <p:nvPr/>
        </p:nvSpPr>
        <p:spPr>
          <a:xfrm xmlns:a="http://schemas.openxmlformats.org/drawingml/2006/main">
            <a:off x="590550" y="422910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11318"/>
                </a:solidFill>
                <a:latin typeface="Helvetica Neue"/>
                <a:ea typeface="Helvetica Neue"/>
                <a:cs typeface="Helvetica Neue"/>
              </a:defRPr>
            </a:pPr>
            <a:r>
              <a:rPr sz="1350" b="0">
                <a:solidFill>
                  <a:srgbClr val="111318"/>
                </a:solidFill>
                <a:latin typeface="Helvetica Neue"/>
                <a:ea typeface="Helvetica Neue"/>
                <a:cs typeface="Helvetica Neue"/>
              </a:rPr>
              <a:t>PHREEQC inverse modelling</a:t>
            </a:r>
          </a:p>
        </p:txBody>
      </p:sp>
      <p:sp>
        <p:nvSpPr>
          <p:cNvPr id="15" name="">
            <a:extLst xmlns:a="http://schemas.openxmlformats.org/drawingml/2006/main">
              <a:ext uri="{FF2B5EF4-FFF2-40B4-BE49-F238E27FC236}">
                <a16:creationId xmlns:a16="http://schemas.microsoft.com/office/drawing/2014/main" id="{9F1F096B-68F9-48FE-8904-332E104E048B}"/>
              </a:ext>
            </a:extLst>
          </p:cNvPr>
          <p:cNvSpPr>
            <a:spLocks xmlns:a="http://schemas.openxmlformats.org/drawingml/2006/main" noGrp="1"/>
          </p:cNvSpPr>
          <p:nvPr/>
        </p:nvSpPr>
        <p:spPr>
          <a:xfrm xmlns:a="http://schemas.openxmlformats.org/drawingml/2006/main">
            <a:off x="400050" y="4762500"/>
            <a:ext cx="4762500" cy="495300"/>
          </a:xfrm>
          <a:prstGeom xmlns:a="http://schemas.openxmlformats.org/drawingml/2006/main" prst="roundRect">
            <a:avLst>
              <a:gd name="adj" fmla="val 23077"/>
            </a:avLst>
          </a:prstGeom>
          <a:solidFill xmlns:a="http://schemas.openxmlformats.org/drawingml/2006/main">
            <a:srgbClr val="F2F3F5"/>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DFDC597-DC94-4E04-8F61-296F95633948}"/>
              </a:ext>
            </a:extLst>
          </p:cNvPr>
          <p:cNvSpPr>
            <a:spLocks xmlns:a="http://schemas.openxmlformats.org/drawingml/2006/main" noGrp="1"/>
          </p:cNvSpPr>
          <p:nvPr/>
        </p:nvSpPr>
        <p:spPr>
          <a:xfrm xmlns:a="http://schemas.openxmlformats.org/drawingml/2006/main">
            <a:off x="590550" y="489585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11318"/>
                </a:solidFill>
                <a:latin typeface="Helvetica Neue"/>
                <a:ea typeface="Helvetica Neue"/>
                <a:cs typeface="Helvetica Neue"/>
              </a:defRPr>
            </a:pPr>
            <a:r>
              <a:rPr sz="1350" b="0">
                <a:solidFill>
                  <a:srgbClr val="111318"/>
                </a:solidFill>
                <a:latin typeface="Helvetica Neue"/>
                <a:ea typeface="Helvetica Neue"/>
                <a:cs typeface="Helvetica Neue"/>
              </a:rPr>
              <a:t>MODFLOW / MODPATH reference transport</a:t>
            </a:r>
          </a:p>
        </p:txBody>
      </p:sp>
      <p:sp>
        <p:nvSpPr>
          <p:cNvPr id="17" name="">
            <a:extLst xmlns:a="http://schemas.openxmlformats.org/drawingml/2006/main">
              <a:ext uri="{FF2B5EF4-FFF2-40B4-BE49-F238E27FC236}">
                <a16:creationId xmlns:a16="http://schemas.microsoft.com/office/drawing/2014/main" id="{9351C3E7-DBD1-46C1-AE6B-5013074B57A6}"/>
              </a:ext>
            </a:extLst>
          </p:cNvPr>
          <p:cNvSpPr>
            <a:spLocks xmlns:a="http://schemas.openxmlformats.org/drawingml/2006/main" noGrp="1"/>
          </p:cNvSpPr>
          <p:nvPr/>
        </p:nvSpPr>
        <p:spPr>
          <a:xfrm xmlns:a="http://schemas.openxmlformats.org/drawingml/2006/main">
            <a:off x="6429375" y="16383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3D8DFF"/>
                </a:solidFill>
                <a:latin typeface="Helvetica Neue"/>
                <a:ea typeface="Helvetica Neue"/>
                <a:cs typeface="Helvetica Neue"/>
              </a:defRPr>
            </a:pPr>
            <a:r>
              <a:rPr sz="1800" b="1">
                <a:solidFill>
                  <a:srgbClr val="3D8DFF"/>
                </a:solidFill>
                <a:latin typeface="Helvetica Neue"/>
                <a:ea typeface="Helvetica Neue"/>
                <a:cs typeface="Helvetica Neue"/>
              </a:rPr>
              <a:t>Thesis contributions</a:t>
            </a:r>
          </a:p>
        </p:txBody>
      </p:sp>
      <p:sp>
        <p:nvSpPr>
          <p:cNvPr id="18" name="">
            <a:extLst xmlns:a="http://schemas.openxmlformats.org/drawingml/2006/main">
              <a:ext uri="{FF2B5EF4-FFF2-40B4-BE49-F238E27FC236}">
                <a16:creationId xmlns:a16="http://schemas.microsoft.com/office/drawing/2014/main" id="{19108F63-9697-4315-B188-0CDE384ECBD7}"/>
              </a:ext>
            </a:extLst>
          </p:cNvPr>
          <p:cNvSpPr>
            <a:spLocks xmlns:a="http://schemas.openxmlformats.org/drawingml/2006/main" noGrp="1"/>
          </p:cNvSpPr>
          <p:nvPr/>
        </p:nvSpPr>
        <p:spPr>
          <a:xfrm xmlns:a="http://schemas.openxmlformats.org/drawingml/2006/main">
            <a:off x="6429375" y="2095500"/>
            <a:ext cx="4762500" cy="495300"/>
          </a:xfrm>
          <a:prstGeom xmlns:a="http://schemas.openxmlformats.org/drawingml/2006/main" prst="roundRect">
            <a:avLst>
              <a:gd name="adj" fmla="val 23077"/>
            </a:avLst>
          </a:prstGeom>
          <a:solidFill xmlns:a="http://schemas.openxmlformats.org/drawingml/2006/main">
            <a:srgbClr val="E9F4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5FA4BB5-D841-46E1-9DAB-E4A744C211AB}"/>
              </a:ext>
            </a:extLst>
          </p:cNvPr>
          <p:cNvSpPr>
            <a:spLocks xmlns:a="http://schemas.openxmlformats.org/drawingml/2006/main" noGrp="1"/>
          </p:cNvSpPr>
          <p:nvPr/>
        </p:nvSpPr>
        <p:spPr>
          <a:xfrm xmlns:a="http://schemas.openxmlformats.org/drawingml/2006/main">
            <a:off x="6619875" y="222885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53A63"/>
                </a:solidFill>
                <a:latin typeface="Helvetica Neue"/>
                <a:ea typeface="Helvetica Neue"/>
                <a:cs typeface="Helvetica Neue"/>
              </a:defRPr>
            </a:pPr>
            <a:r>
              <a:rPr sz="1350" b="1">
                <a:solidFill>
                  <a:srgbClr val="153A63"/>
                </a:solidFill>
                <a:latin typeface="Helvetica Neue"/>
                <a:ea typeface="Helvetica Neue"/>
                <a:cs typeface="Helvetica Neue"/>
              </a:rPr>
              <a:t>Groundwater-specific executable coupling</a:t>
            </a:r>
          </a:p>
        </p:txBody>
      </p:sp>
      <p:sp>
        <p:nvSpPr>
          <p:cNvPr id="20" name="">
            <a:extLst xmlns:a="http://schemas.openxmlformats.org/drawingml/2006/main">
              <a:ext uri="{FF2B5EF4-FFF2-40B4-BE49-F238E27FC236}">
                <a16:creationId xmlns:a16="http://schemas.microsoft.com/office/drawing/2014/main" id="{6102D00B-B8AA-4729-9E71-51144F44447D}"/>
              </a:ext>
            </a:extLst>
          </p:cNvPr>
          <p:cNvSpPr>
            <a:spLocks xmlns:a="http://schemas.openxmlformats.org/drawingml/2006/main" noGrp="1"/>
          </p:cNvSpPr>
          <p:nvPr/>
        </p:nvSpPr>
        <p:spPr>
          <a:xfrm xmlns:a="http://schemas.openxmlformats.org/drawingml/2006/main">
            <a:off x="6429375" y="2762250"/>
            <a:ext cx="4762500" cy="495300"/>
          </a:xfrm>
          <a:prstGeom xmlns:a="http://schemas.openxmlformats.org/drawingml/2006/main" prst="roundRect">
            <a:avLst>
              <a:gd name="adj" fmla="val 23077"/>
            </a:avLst>
          </a:prstGeom>
          <a:solidFill xmlns:a="http://schemas.openxmlformats.org/drawingml/2006/main">
            <a:srgbClr val="E9F4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5B755D7-331E-4D34-9D14-C5A1509EDCDA}"/>
              </a:ext>
            </a:extLst>
          </p:cNvPr>
          <p:cNvSpPr>
            <a:spLocks xmlns:a="http://schemas.openxmlformats.org/drawingml/2006/main" noGrp="1"/>
          </p:cNvSpPr>
          <p:nvPr/>
        </p:nvSpPr>
        <p:spPr>
          <a:xfrm xmlns:a="http://schemas.openxmlformats.org/drawingml/2006/main">
            <a:off x="6619875" y="289560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53A63"/>
                </a:solidFill>
                <a:latin typeface="Helvetica Neue"/>
                <a:ea typeface="Helvetica Neue"/>
                <a:cs typeface="Helvetica Neue"/>
              </a:defRPr>
            </a:pPr>
            <a:r>
              <a:rPr sz="1350" b="1">
                <a:solidFill>
                  <a:srgbClr val="153A63"/>
                </a:solidFill>
                <a:latin typeface="Helvetica Neue"/>
                <a:ea typeface="Helvetica Neue"/>
                <a:cs typeface="Helvetica Neue"/>
              </a:rPr>
              <a:t>Uncertainty and identifiability as outputs</a:t>
            </a:r>
          </a:p>
        </p:txBody>
      </p:sp>
      <p:sp>
        <p:nvSpPr>
          <p:cNvPr id="22" name="">
            <a:extLst xmlns:a="http://schemas.openxmlformats.org/drawingml/2006/main">
              <a:ext uri="{FF2B5EF4-FFF2-40B4-BE49-F238E27FC236}">
                <a16:creationId xmlns:a16="http://schemas.microsoft.com/office/drawing/2014/main" id="{D71423EE-107A-4FAF-BB4F-9A50EA58A254}"/>
              </a:ext>
            </a:extLst>
          </p:cNvPr>
          <p:cNvSpPr>
            <a:spLocks xmlns:a="http://schemas.openxmlformats.org/drawingml/2006/main" noGrp="1"/>
          </p:cNvSpPr>
          <p:nvPr/>
        </p:nvSpPr>
        <p:spPr>
          <a:xfrm xmlns:a="http://schemas.openxmlformats.org/drawingml/2006/main">
            <a:off x="6429375" y="3429000"/>
            <a:ext cx="4762500" cy="495300"/>
          </a:xfrm>
          <a:prstGeom xmlns:a="http://schemas.openxmlformats.org/drawingml/2006/main" prst="roundRect">
            <a:avLst>
              <a:gd name="adj" fmla="val 23077"/>
            </a:avLst>
          </a:prstGeom>
          <a:solidFill xmlns:a="http://schemas.openxmlformats.org/drawingml/2006/main">
            <a:srgbClr val="E9F4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FC973BC7-B959-45A5-AA4A-D6210587DBA8}"/>
              </a:ext>
            </a:extLst>
          </p:cNvPr>
          <p:cNvSpPr>
            <a:spLocks xmlns:a="http://schemas.openxmlformats.org/drawingml/2006/main" noGrp="1"/>
          </p:cNvSpPr>
          <p:nvPr/>
        </p:nvSpPr>
        <p:spPr>
          <a:xfrm xmlns:a="http://schemas.openxmlformats.org/drawingml/2006/main">
            <a:off x="6619875" y="356235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53A63"/>
                </a:solidFill>
                <a:latin typeface="Helvetica Neue"/>
                <a:ea typeface="Helvetica Neue"/>
                <a:cs typeface="Helvetica Neue"/>
              </a:defRPr>
            </a:pPr>
            <a:r>
              <a:rPr sz="1350" b="1">
                <a:solidFill>
                  <a:srgbClr val="153A63"/>
                </a:solidFill>
                <a:latin typeface="Helvetica Neue"/>
                <a:ea typeface="Helvetica Neue"/>
                <a:cs typeface="Helvetica Neue"/>
              </a:rPr>
              <a:t>Adverse controls for false confidence</a:t>
            </a:r>
          </a:p>
        </p:txBody>
      </p:sp>
      <p:sp>
        <p:nvSpPr>
          <p:cNvPr id="24" name="">
            <a:extLst xmlns:a="http://schemas.openxmlformats.org/drawingml/2006/main">
              <a:ext uri="{FF2B5EF4-FFF2-40B4-BE49-F238E27FC236}">
                <a16:creationId xmlns:a16="http://schemas.microsoft.com/office/drawing/2014/main" id="{DFDAB999-B1C9-4E57-BF7B-239F20D35B17}"/>
              </a:ext>
            </a:extLst>
          </p:cNvPr>
          <p:cNvSpPr>
            <a:spLocks xmlns:a="http://schemas.openxmlformats.org/drawingml/2006/main" noGrp="1"/>
          </p:cNvSpPr>
          <p:nvPr/>
        </p:nvSpPr>
        <p:spPr>
          <a:xfrm xmlns:a="http://schemas.openxmlformats.org/drawingml/2006/main">
            <a:off x="6429375" y="4095750"/>
            <a:ext cx="4762500" cy="495300"/>
          </a:xfrm>
          <a:prstGeom xmlns:a="http://schemas.openxmlformats.org/drawingml/2006/main" prst="roundRect">
            <a:avLst>
              <a:gd name="adj" fmla="val 23077"/>
            </a:avLst>
          </a:prstGeom>
          <a:solidFill xmlns:a="http://schemas.openxmlformats.org/drawingml/2006/main">
            <a:srgbClr val="E9F4FF"/>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CCFC7F37-ADDB-41DA-B725-977D06BCBE9D}"/>
              </a:ext>
            </a:extLst>
          </p:cNvPr>
          <p:cNvSpPr>
            <a:spLocks xmlns:a="http://schemas.openxmlformats.org/drawingml/2006/main" noGrp="1"/>
          </p:cNvSpPr>
          <p:nvPr/>
        </p:nvSpPr>
        <p:spPr>
          <a:xfrm xmlns:a="http://schemas.openxmlformats.org/drawingml/2006/main">
            <a:off x="6619875" y="422910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53A63"/>
                </a:solidFill>
                <a:latin typeface="Helvetica Neue"/>
                <a:ea typeface="Helvetica Neue"/>
                <a:cs typeface="Helvetica Neue"/>
              </a:defRPr>
            </a:pPr>
            <a:r>
              <a:rPr sz="1350" b="1">
                <a:solidFill>
                  <a:srgbClr val="153A63"/>
                </a:solidFill>
                <a:latin typeface="Helvetica Neue"/>
                <a:ea typeface="Helvetica Neue"/>
                <a:cs typeface="Helvetica Neue"/>
              </a:rPr>
              <a:t>Locked claim-decision protocols</a:t>
            </a:r>
          </a:p>
        </p:txBody>
      </p:sp>
      <p:sp>
        <p:nvSpPr>
          <p:cNvPr id="26" name="">
            <a:extLst xmlns:a="http://schemas.openxmlformats.org/drawingml/2006/main">
              <a:ext uri="{FF2B5EF4-FFF2-40B4-BE49-F238E27FC236}">
                <a16:creationId xmlns:a16="http://schemas.microsoft.com/office/drawing/2014/main" id="{E7E74F11-4586-4662-8060-0DBCDF6B1B3D}"/>
              </a:ext>
            </a:extLst>
          </p:cNvPr>
          <p:cNvSpPr>
            <a:spLocks xmlns:a="http://schemas.openxmlformats.org/drawingml/2006/main" noGrp="1"/>
          </p:cNvSpPr>
          <p:nvPr/>
        </p:nvSpPr>
        <p:spPr>
          <a:xfrm xmlns:a="http://schemas.openxmlformats.org/drawingml/2006/main">
            <a:off x="6429375" y="4762500"/>
            <a:ext cx="4762500" cy="495300"/>
          </a:xfrm>
          <a:prstGeom xmlns:a="http://schemas.openxmlformats.org/drawingml/2006/main" prst="roundRect">
            <a:avLst>
              <a:gd name="adj" fmla="val 23077"/>
            </a:avLst>
          </a:prstGeom>
          <a:solidFill xmlns:a="http://schemas.openxmlformats.org/drawingml/2006/main">
            <a:srgbClr val="E9F4F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2BB0338-C5E7-4F5E-A24B-DE77B56420B4}"/>
              </a:ext>
            </a:extLst>
          </p:cNvPr>
          <p:cNvSpPr>
            <a:spLocks xmlns:a="http://schemas.openxmlformats.org/drawingml/2006/main" noGrp="1"/>
          </p:cNvSpPr>
          <p:nvPr/>
        </p:nvSpPr>
        <p:spPr>
          <a:xfrm xmlns:a="http://schemas.openxmlformats.org/drawingml/2006/main">
            <a:off x="6619875" y="489585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53A63"/>
                </a:solidFill>
                <a:latin typeface="Helvetica Neue"/>
                <a:ea typeface="Helvetica Neue"/>
                <a:cs typeface="Helvetica Neue"/>
              </a:defRPr>
            </a:pPr>
            <a:r>
              <a:rPr sz="1350" b="1">
                <a:solidFill>
                  <a:srgbClr val="153A63"/>
                </a:solidFill>
                <a:latin typeface="Helvetica Neue"/>
                <a:ea typeface="Helvetica Neue"/>
                <a:cs typeface="Helvetica Neue"/>
              </a:rPr>
              <a:t>Field evidence-ceiling diagnostics</a:t>
            </a:r>
          </a:p>
        </p:txBody>
      </p:sp>
    </p:spTree>
    <p:extLst>
      <p:ext uri="{BB962C8B-B14F-4D97-AF65-F5344CB8AC3E}">
        <p14:creationId xmlns:p14="http://schemas.microsoft.com/office/powerpoint/2010/main" val="206380910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62D0A9D2-91D5-4241-8016-59ACFFBFAD03}"/>
              </a:ext>
            </a:extLst>
          </p:cNvPr>
          <p:cNvSpPr>
            <a:spLocks xmlns:a="http://schemas.openxmlformats.org/drawingml/2006/main" noGrp="1"/>
          </p:cNvSpPr>
          <p:nvPr/>
        </p:nvSpPr>
        <p:spPr>
          <a:xfrm xmlns:a="http://schemas.openxmlformats.org/drawingml/2006/main">
            <a:off x="400050" y="228600"/>
            <a:ext cx="695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MECHANISM</a:t>
            </a:r>
          </a:p>
        </p:txBody>
      </p:sp>
      <p:sp>
        <p:nvSpPr>
          <p:cNvPr id="2" name="">
            <a:extLst xmlns:a="http://schemas.openxmlformats.org/drawingml/2006/main">
              <a:ext uri="{FF2B5EF4-FFF2-40B4-BE49-F238E27FC236}">
                <a16:creationId xmlns:a16="http://schemas.microsoft.com/office/drawing/2014/main" id="{ED2CE7B6-27FA-4831-A868-32CDEF1F51FA}"/>
              </a:ext>
            </a:extLst>
          </p:cNvPr>
          <p:cNvSpPr>
            <a:spLocks xmlns:a="http://schemas.openxmlformats.org/drawingml/2006/main" noGrp="1"/>
          </p:cNvSpPr>
          <p:nvPr/>
        </p:nvSpPr>
        <p:spPr>
          <a:xfrm xmlns:a="http://schemas.openxmlformats.org/drawingml/2006/main">
            <a:off x="400050" y="49530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A sheaf represents how evidence changes across an edge</a:t>
            </a:r>
          </a:p>
        </p:txBody>
      </p:sp>
      <p:sp>
        <p:nvSpPr>
          <p:cNvPr id="3" name="">
            <a:extLst xmlns:a="http://schemas.openxmlformats.org/drawingml/2006/main">
              <a:ext uri="{FF2B5EF4-FFF2-40B4-BE49-F238E27FC236}">
                <a16:creationId xmlns:a16="http://schemas.microsoft.com/office/drawing/2014/main" id="{5F43826C-7AD1-4F0F-88B3-852657C3D643}"/>
              </a:ext>
            </a:extLst>
          </p:cNvPr>
          <p:cNvSpPr>
            <a:spLocks xmlns:a="http://schemas.openxmlformats.org/drawingml/2006/main" noGrp="1"/>
          </p:cNvSpPr>
          <p:nvPr/>
        </p:nvSpPr>
        <p:spPr>
          <a:xfrm xmlns:a="http://schemas.openxmlformats.org/drawingml/2006/main">
            <a:off x="400050" y="1190625"/>
            <a:ext cx="11391900" cy="19050"/>
          </a:xfrm>
          <a:prstGeom xmlns:a="http://schemas.openxmlformats.org/drawingml/2006/main" prst="rect">
            <a:avLst/>
          </a:prstGeom>
          <a:solidFill xmlns:a="http://schemas.openxmlformats.org/drawingml/2006/main">
            <a:srgbClr val="11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489C38A-3BC2-462E-B256-7456AD78ADA6}"/>
              </a:ext>
            </a:extLst>
          </p:cNvPr>
          <p:cNvSpPr>
            <a:spLocks xmlns:a="http://schemas.openxmlformats.org/drawingml/2006/main" noGrp="1"/>
          </p:cNvSpPr>
          <p:nvPr/>
        </p:nvSpPr>
        <p:spPr>
          <a:xfrm xmlns:a="http://schemas.openxmlformats.org/drawingml/2006/main">
            <a:off x="400050" y="6438900"/>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Method</a:t>
            </a:r>
          </a:p>
        </p:txBody>
      </p:sp>
      <p:sp>
        <p:nvSpPr>
          <p:cNvPr id="5" name="">
            <a:extLst xmlns:a="http://schemas.openxmlformats.org/drawingml/2006/main">
              <a:ext uri="{FF2B5EF4-FFF2-40B4-BE49-F238E27FC236}">
                <a16:creationId xmlns:a16="http://schemas.microsoft.com/office/drawing/2014/main" id="{13BA6919-DFE1-41EC-A38D-A017BC0CE0EC}"/>
              </a:ext>
            </a:extLst>
          </p:cNvPr>
          <p:cNvSpPr>
            <a:spLocks xmlns:a="http://schemas.openxmlformats.org/drawingml/2006/main" noGrp="1"/>
          </p:cNvSpPr>
          <p:nvPr/>
        </p:nvSpPr>
        <p:spPr>
          <a:xfrm xmlns:a="http://schemas.openxmlformats.org/drawingml/2006/main">
            <a:off x="11287125" y="63912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06</a:t>
            </a:r>
          </a:p>
        </p:txBody>
      </p:sp>
      <p:sp>
        <p:nvSpPr>
          <p:cNvPr id="6" name="">
            <a:extLst xmlns:a="http://schemas.openxmlformats.org/drawingml/2006/main">
              <a:ext uri="{FF2B5EF4-FFF2-40B4-BE49-F238E27FC236}">
                <a16:creationId xmlns:a16="http://schemas.microsoft.com/office/drawing/2014/main" id="{503A22EC-57B5-48E7-8600-B7929C57FB94}"/>
              </a:ext>
            </a:extLst>
          </p:cNvPr>
          <p:cNvSpPr>
            <a:spLocks xmlns:a="http://schemas.openxmlformats.org/drawingml/2006/main" noGrp="1"/>
          </p:cNvSpPr>
          <p:nvPr/>
        </p:nvSpPr>
        <p:spPr>
          <a:xfrm xmlns:a="http://schemas.openxmlformats.org/drawingml/2006/main">
            <a:off x="400050" y="1581150"/>
            <a:ext cx="5048250" cy="4095750"/>
          </a:xfrm>
          <a:prstGeom xmlns:a="http://schemas.openxmlformats.org/drawingml/2006/main" prst="roundRect">
            <a:avLst>
              <a:gd name="adj" fmla="val 2791"/>
            </a:avLst>
          </a:prstGeom>
          <a:solidFill xmlns:a="http://schemas.openxmlformats.org/drawingml/2006/main">
            <a:srgbClr val="F2F3F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F8D0BA9-3B4D-4E8D-B38C-3C0C1C45FA93}"/>
              </a:ext>
            </a:extLst>
          </p:cNvPr>
          <p:cNvSpPr>
            <a:spLocks xmlns:a="http://schemas.openxmlformats.org/drawingml/2006/main" noGrp="1"/>
          </p:cNvSpPr>
          <p:nvPr/>
        </p:nvSpPr>
        <p:spPr>
          <a:xfrm xmlns:a="http://schemas.openxmlformats.org/drawingml/2006/main">
            <a:off x="685800" y="1847850"/>
            <a:ext cx="447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318"/>
                </a:solidFill>
                <a:latin typeface="Helvetica Neue"/>
                <a:ea typeface="Helvetica Neue"/>
                <a:cs typeface="Helvetica Neue"/>
              </a:defRPr>
            </a:pPr>
            <a:r>
              <a:rPr sz="1875" b="1">
                <a:solidFill>
                  <a:srgbClr val="111318"/>
                </a:solidFill>
                <a:latin typeface="Helvetica Neue"/>
                <a:ea typeface="Helvetica Neue"/>
                <a:cs typeface="Helvetica Neue"/>
              </a:rPr>
              <a:t>Weighted graph</a:t>
            </a:r>
          </a:p>
        </p:txBody>
      </p:sp>
      <p:sp>
        <p:nvSpPr>
          <p:cNvPr id="8" name="">
            <a:extLst xmlns:a="http://schemas.openxmlformats.org/drawingml/2006/main">
              <a:ext uri="{FF2B5EF4-FFF2-40B4-BE49-F238E27FC236}">
                <a16:creationId xmlns:a16="http://schemas.microsoft.com/office/drawing/2014/main" id="{5D3773C9-5E03-4672-93E6-919EB9D5E158}"/>
              </a:ext>
            </a:extLst>
          </p:cNvPr>
          <p:cNvSpPr>
            <a:spLocks xmlns:a="http://schemas.openxmlformats.org/drawingml/2006/main" noGrp="1"/>
          </p:cNvSpPr>
          <p:nvPr/>
        </p:nvSpPr>
        <p:spPr>
          <a:xfrm xmlns:a="http://schemas.openxmlformats.org/drawingml/2006/main">
            <a:off x="857250" y="2990850"/>
            <a:ext cx="1381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111318"/>
                </a:solidFill>
                <a:latin typeface="Helvetica Neue"/>
                <a:ea typeface="Helvetica Neue"/>
                <a:cs typeface="Helvetica Neue"/>
              </a:defRPr>
            </a:pPr>
            <a:r>
              <a:rPr sz="1650" b="1">
                <a:solidFill>
                  <a:srgbClr val="111318"/>
                </a:solidFill>
                <a:latin typeface="Helvetica Neue"/>
                <a:ea typeface="Helvetica Neue"/>
                <a:cs typeface="Helvetica Neue"/>
              </a:rPr>
              <a:t>NODE A</a:t>
            </a:r>
          </a:p>
        </p:txBody>
      </p:sp>
      <p:sp>
        <p:nvSpPr>
          <p:cNvPr id="9" name="">
            <a:extLst xmlns:a="http://schemas.openxmlformats.org/drawingml/2006/main">
              <a:ext uri="{FF2B5EF4-FFF2-40B4-BE49-F238E27FC236}">
                <a16:creationId xmlns:a16="http://schemas.microsoft.com/office/drawing/2014/main" id="{874B9B99-74E4-4CA9-BA98-532BD798B73F}"/>
              </a:ext>
            </a:extLst>
          </p:cNvPr>
          <p:cNvSpPr>
            <a:spLocks xmlns:a="http://schemas.openxmlformats.org/drawingml/2006/main" noGrp="1"/>
          </p:cNvSpPr>
          <p:nvPr/>
        </p:nvSpPr>
        <p:spPr>
          <a:xfrm xmlns:a="http://schemas.openxmlformats.org/drawingml/2006/main">
            <a:off x="3667125" y="2990850"/>
            <a:ext cx="1381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111318"/>
                </a:solidFill>
                <a:latin typeface="Helvetica Neue"/>
                <a:ea typeface="Helvetica Neue"/>
                <a:cs typeface="Helvetica Neue"/>
              </a:defRPr>
            </a:pPr>
            <a:r>
              <a:rPr sz="1650" b="1">
                <a:solidFill>
                  <a:srgbClr val="111318"/>
                </a:solidFill>
                <a:latin typeface="Helvetica Neue"/>
                <a:ea typeface="Helvetica Neue"/>
                <a:cs typeface="Helvetica Neue"/>
              </a:rPr>
              <a:t>NODE B</a:t>
            </a:r>
          </a:p>
        </p:txBody>
      </p:sp>
      <p:sp>
        <p:nvSpPr>
          <p:cNvPr id="10" name="">
            <a:extLst xmlns:a="http://schemas.openxmlformats.org/drawingml/2006/main">
              <a:ext uri="{FF2B5EF4-FFF2-40B4-BE49-F238E27FC236}">
                <a16:creationId xmlns:a16="http://schemas.microsoft.com/office/drawing/2014/main" id="{686FCD23-17FC-466D-8CA4-16E5C2908DA2}"/>
              </a:ext>
            </a:extLst>
          </p:cNvPr>
          <p:cNvSpPr>
            <a:spLocks xmlns:a="http://schemas.openxmlformats.org/drawingml/2006/main" noGrp="1"/>
          </p:cNvSpPr>
          <p:nvPr/>
        </p:nvSpPr>
        <p:spPr>
          <a:xfrm xmlns:a="http://schemas.openxmlformats.org/drawingml/2006/main">
            <a:off x="876300" y="2609850"/>
            <a:ext cx="1333500" cy="1123950"/>
          </a:xfrm>
          <a:prstGeom xmlns:a="http://schemas.openxmlformats.org/drawingml/2006/main" prst="roundRect">
            <a:avLst>
              <a:gd name="adj" fmla="val 10169"/>
            </a:avLst>
          </a:prstGeom>
          <a:solidFill xmlns:a="http://schemas.openxmlformats.org/drawingml/2006/main">
            <a:srgbClr val="FFFFFF"/>
          </a:solidFill>
          <a:ln xmlns:a="http://schemas.openxmlformats.org/drawingml/2006/main" w="9525">
            <a:solidFill>
              <a:srgbClr val="B8BCC4"/>
            </a:solidFill>
            <a:prstDash val="solid"/>
          </a:ln>
        </p:spPr>
      </p:sp>
      <p:sp>
        <p:nvSpPr>
          <p:cNvPr id="11" name="">
            <a:extLst xmlns:a="http://schemas.openxmlformats.org/drawingml/2006/main">
              <a:ext uri="{FF2B5EF4-FFF2-40B4-BE49-F238E27FC236}">
                <a16:creationId xmlns:a16="http://schemas.microsoft.com/office/drawing/2014/main" id="{A171CDE6-8EAE-4FAA-A47F-B3D91A58B67B}"/>
              </a:ext>
            </a:extLst>
          </p:cNvPr>
          <p:cNvSpPr>
            <a:spLocks xmlns:a="http://schemas.openxmlformats.org/drawingml/2006/main" noGrp="1"/>
          </p:cNvSpPr>
          <p:nvPr/>
        </p:nvSpPr>
        <p:spPr>
          <a:xfrm xmlns:a="http://schemas.openxmlformats.org/drawingml/2006/main">
            <a:off x="3686175" y="2609850"/>
            <a:ext cx="1333500" cy="1123950"/>
          </a:xfrm>
          <a:prstGeom xmlns:a="http://schemas.openxmlformats.org/drawingml/2006/main" prst="roundRect">
            <a:avLst>
              <a:gd name="adj" fmla="val 10169"/>
            </a:avLst>
          </a:prstGeom>
          <a:solidFill xmlns:a="http://schemas.openxmlformats.org/drawingml/2006/main">
            <a:srgbClr val="FFFFFF"/>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83895A60-BE14-4D53-AD1D-95860DBF49E6}"/>
              </a:ext>
            </a:extLst>
          </p:cNvPr>
          <p:cNvSpPr>
            <a:spLocks xmlns:a="http://schemas.openxmlformats.org/drawingml/2006/main" noGrp="1"/>
          </p:cNvSpPr>
          <p:nvPr/>
        </p:nvSpPr>
        <p:spPr>
          <a:xfrm xmlns:a="http://schemas.openxmlformats.org/drawingml/2006/main">
            <a:off x="2247900" y="302895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a:solidFill>
                  <a:srgbClr val="149A84"/>
                </a:solidFill>
                <a:latin typeface="Helvetica Neue"/>
                <a:ea typeface="Helvetica Neue"/>
                <a:cs typeface="Helvetica Neue"/>
              </a:defRPr>
            </a:pPr>
            <a:r>
              <a:rPr sz="1800" b="1">
                <a:solidFill>
                  <a:srgbClr val="149A84"/>
                </a:solidFill>
                <a:latin typeface="Helvetica Neue"/>
                <a:ea typeface="Helvetica Neue"/>
                <a:cs typeface="Helvetica Neue"/>
              </a:rPr>
              <a:t>——  w  ——</a:t>
            </a:r>
          </a:p>
        </p:txBody>
      </p:sp>
      <p:sp>
        <p:nvSpPr>
          <p:cNvPr id="13" name="">
            <a:extLst xmlns:a="http://schemas.openxmlformats.org/drawingml/2006/main">
              <a:ext uri="{FF2B5EF4-FFF2-40B4-BE49-F238E27FC236}">
                <a16:creationId xmlns:a16="http://schemas.microsoft.com/office/drawing/2014/main" id="{B411014E-6B44-4F1E-9848-4264A7CA1F99}"/>
              </a:ext>
            </a:extLst>
          </p:cNvPr>
          <p:cNvSpPr>
            <a:spLocks xmlns:a="http://schemas.openxmlformats.org/drawingml/2006/main" noGrp="1"/>
          </p:cNvSpPr>
          <p:nvPr/>
        </p:nvSpPr>
        <p:spPr>
          <a:xfrm xmlns:a="http://schemas.openxmlformats.org/drawingml/2006/main">
            <a:off x="800100" y="4333875"/>
            <a:ext cx="423862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0">
                <a:solidFill>
                  <a:srgbClr val="111318"/>
                </a:solidFill>
                <a:latin typeface="Helvetica Neue"/>
                <a:ea typeface="Helvetica Neue"/>
                <a:cs typeface="Helvetica Neue"/>
              </a:defRPr>
            </a:pPr>
            <a:r>
              <a:rPr sz="1650" b="0">
                <a:solidFill>
                  <a:srgbClr val="111318"/>
                </a:solidFill>
                <a:latin typeface="Helvetica Neue"/>
                <a:ea typeface="Helvetica Neue"/>
                <a:cs typeface="Helvetica Neue"/>
              </a:rPr>
              <a:t>One scalar edge weight says how strongly nodes are related.</a:t>
            </a:r>
          </a:p>
        </p:txBody>
      </p:sp>
      <p:sp>
        <p:nvSpPr>
          <p:cNvPr id="14" name="">
            <a:extLst xmlns:a="http://schemas.openxmlformats.org/drawingml/2006/main">
              <a:ext uri="{FF2B5EF4-FFF2-40B4-BE49-F238E27FC236}">
                <a16:creationId xmlns:a16="http://schemas.microsoft.com/office/drawing/2014/main" id="{4FD53309-7AC2-449C-A59D-73BB532FF96C}"/>
              </a:ext>
            </a:extLst>
          </p:cNvPr>
          <p:cNvSpPr>
            <a:spLocks xmlns:a="http://schemas.openxmlformats.org/drawingml/2006/main" noGrp="1"/>
          </p:cNvSpPr>
          <p:nvPr/>
        </p:nvSpPr>
        <p:spPr>
          <a:xfrm xmlns:a="http://schemas.openxmlformats.org/drawingml/2006/main">
            <a:off x="5905500" y="1581150"/>
            <a:ext cx="5886450" cy="4095750"/>
          </a:xfrm>
          <a:prstGeom xmlns:a="http://schemas.openxmlformats.org/drawingml/2006/main" prst="roundRect">
            <a:avLst>
              <a:gd name="adj" fmla="val 2791"/>
            </a:avLst>
          </a:prstGeom>
          <a:solidFill xmlns:a="http://schemas.openxmlformats.org/drawingml/2006/main">
            <a:srgbClr val="E9F4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50DB89D-F363-4621-B1CD-726BEF2505FA}"/>
              </a:ext>
            </a:extLst>
          </p:cNvPr>
          <p:cNvSpPr>
            <a:spLocks xmlns:a="http://schemas.openxmlformats.org/drawingml/2006/main" noGrp="1"/>
          </p:cNvSpPr>
          <p:nvPr/>
        </p:nvSpPr>
        <p:spPr>
          <a:xfrm xmlns:a="http://schemas.openxmlformats.org/drawingml/2006/main">
            <a:off x="6191250" y="1847850"/>
            <a:ext cx="5314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53A63"/>
                </a:solidFill>
                <a:latin typeface="Helvetica Neue"/>
                <a:ea typeface="Helvetica Neue"/>
                <a:cs typeface="Helvetica Neue"/>
              </a:defRPr>
            </a:pPr>
            <a:r>
              <a:rPr sz="1875" b="1">
                <a:solidFill>
                  <a:srgbClr val="153A63"/>
                </a:solidFill>
                <a:latin typeface="Helvetica Neue"/>
                <a:ea typeface="Helvetica Neue"/>
                <a:cs typeface="Helvetica Neue"/>
              </a:rPr>
              <a:t>Affine sheaf</a:t>
            </a:r>
          </a:p>
        </p:txBody>
      </p:sp>
      <p:sp>
        <p:nvSpPr>
          <p:cNvPr id="16" name="">
            <a:extLst xmlns:a="http://schemas.openxmlformats.org/drawingml/2006/main">
              <a:ext uri="{FF2B5EF4-FFF2-40B4-BE49-F238E27FC236}">
                <a16:creationId xmlns:a16="http://schemas.microsoft.com/office/drawing/2014/main" id="{3835807D-8EFD-47FC-80A1-9C5C82BACCE7}"/>
              </a:ext>
            </a:extLst>
          </p:cNvPr>
          <p:cNvSpPr>
            <a:spLocks xmlns:a="http://schemas.openxmlformats.org/drawingml/2006/main" noGrp="1"/>
          </p:cNvSpPr>
          <p:nvPr/>
        </p:nvSpPr>
        <p:spPr>
          <a:xfrm xmlns:a="http://schemas.openxmlformats.org/drawingml/2006/main">
            <a:off x="6429375" y="2238375"/>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M7 evidence: static scalar affine test</a:t>
            </a:r>
          </a:p>
        </p:txBody>
      </p:sp>
      <p:sp>
        <p:nvSpPr>
          <p:cNvPr id="17" name="">
            <a:extLst xmlns:a="http://schemas.openxmlformats.org/drawingml/2006/main">
              <a:ext uri="{FF2B5EF4-FFF2-40B4-BE49-F238E27FC236}">
                <a16:creationId xmlns:a16="http://schemas.microsoft.com/office/drawing/2014/main" id="{C43C49D1-575D-4BC4-BE63-424543B36CDA}"/>
              </a:ext>
            </a:extLst>
          </p:cNvPr>
          <p:cNvSpPr>
            <a:spLocks xmlns:a="http://schemas.openxmlformats.org/drawingml/2006/main" noGrp="1"/>
          </p:cNvSpPr>
          <p:nvPr/>
        </p:nvSpPr>
        <p:spPr>
          <a:xfrm xmlns:a="http://schemas.openxmlformats.org/drawingml/2006/main">
            <a:off x="6429375" y="2695575"/>
            <a:ext cx="1476375" cy="1047750"/>
          </a:xfrm>
          <a:prstGeom xmlns:a="http://schemas.openxmlformats.org/drawingml/2006/main" prst="roundRect">
            <a:avLst>
              <a:gd name="adj" fmla="val 10909"/>
            </a:avLst>
          </a:prstGeom>
          <a:solidFill xmlns:a="http://schemas.openxmlformats.org/drawingml/2006/main">
            <a:srgbClr val="FFFFFF"/>
          </a:solidFill>
          <a:ln xmlns:a="http://schemas.openxmlformats.org/drawingml/2006/main" w="9525">
            <a:solidFill>
              <a:srgbClr val="3D8DFF"/>
            </a:solidFill>
            <a:prstDash val="solid"/>
          </a:ln>
        </p:spPr>
      </p:sp>
      <p:sp>
        <p:nvSpPr>
          <p:cNvPr id="18" name="">
            <a:extLst xmlns:a="http://schemas.openxmlformats.org/drawingml/2006/main">
              <a:ext uri="{FF2B5EF4-FFF2-40B4-BE49-F238E27FC236}">
                <a16:creationId xmlns:a16="http://schemas.microsoft.com/office/drawing/2014/main" id="{F89BE469-3521-4C2B-84D1-FF228E0BEDE8}"/>
              </a:ext>
            </a:extLst>
          </p:cNvPr>
          <p:cNvSpPr>
            <a:spLocks xmlns:a="http://schemas.openxmlformats.org/drawingml/2006/main" noGrp="1"/>
          </p:cNvSpPr>
          <p:nvPr/>
        </p:nvSpPr>
        <p:spPr>
          <a:xfrm xmlns:a="http://schemas.openxmlformats.org/drawingml/2006/main">
            <a:off x="9744075" y="2695575"/>
            <a:ext cx="1476375" cy="1047750"/>
          </a:xfrm>
          <a:prstGeom xmlns:a="http://schemas.openxmlformats.org/drawingml/2006/main" prst="roundRect">
            <a:avLst>
              <a:gd name="adj" fmla="val 10909"/>
            </a:avLst>
          </a:prstGeom>
          <a:solidFill xmlns:a="http://schemas.openxmlformats.org/drawingml/2006/main">
            <a:srgbClr val="FFFFFF"/>
          </a:solidFill>
          <a:ln xmlns:a="http://schemas.openxmlformats.org/drawingml/2006/main" w="9525">
            <a:solidFill>
              <a:srgbClr val="3D8DFF"/>
            </a:solidFill>
            <a:prstDash val="solid"/>
          </a:ln>
        </p:spPr>
      </p:sp>
      <p:sp>
        <p:nvSpPr>
          <p:cNvPr id="19" name="">
            <a:extLst xmlns:a="http://schemas.openxmlformats.org/drawingml/2006/main">
              <a:ext uri="{FF2B5EF4-FFF2-40B4-BE49-F238E27FC236}">
                <a16:creationId xmlns:a16="http://schemas.microsoft.com/office/drawing/2014/main" id="{6BB69D04-C64D-4B8F-ACF4-E3CB3CE1A75D}"/>
              </a:ext>
            </a:extLst>
          </p:cNvPr>
          <p:cNvSpPr>
            <a:spLocks xmlns:a="http://schemas.openxmlformats.org/drawingml/2006/main" noGrp="1"/>
          </p:cNvSpPr>
          <p:nvPr/>
        </p:nvSpPr>
        <p:spPr>
          <a:xfrm xmlns:a="http://schemas.openxmlformats.org/drawingml/2006/main">
            <a:off x="6534150" y="2981325"/>
            <a:ext cx="1266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175" b="1">
                <a:solidFill>
                  <a:srgbClr val="111318"/>
                </a:solidFill>
                <a:latin typeface="Helvetica Neue"/>
                <a:ea typeface="Helvetica Neue"/>
                <a:cs typeface="Helvetica Neue"/>
              </a:defRPr>
            </a:pPr>
            <a:r>
              <a:rPr sz="2175" b="1">
                <a:solidFill>
                  <a:srgbClr val="111318"/>
                </a:solidFill>
                <a:latin typeface="Helvetica Neue"/>
                <a:ea typeface="Helvetica Neue"/>
                <a:cs typeface="Helvetica Neue"/>
              </a:rPr>
              <a:t>xᵤ</a:t>
            </a:r>
          </a:p>
        </p:txBody>
      </p:sp>
      <p:sp>
        <p:nvSpPr>
          <p:cNvPr id="20" name="">
            <a:extLst xmlns:a="http://schemas.openxmlformats.org/drawingml/2006/main">
              <a:ext uri="{FF2B5EF4-FFF2-40B4-BE49-F238E27FC236}">
                <a16:creationId xmlns:a16="http://schemas.microsoft.com/office/drawing/2014/main" id="{66169E91-F331-489C-8A21-633670C7EB36}"/>
              </a:ext>
            </a:extLst>
          </p:cNvPr>
          <p:cNvSpPr>
            <a:spLocks xmlns:a="http://schemas.openxmlformats.org/drawingml/2006/main" noGrp="1"/>
          </p:cNvSpPr>
          <p:nvPr/>
        </p:nvSpPr>
        <p:spPr>
          <a:xfrm xmlns:a="http://schemas.openxmlformats.org/drawingml/2006/main">
            <a:off x="9848850" y="2981325"/>
            <a:ext cx="1266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175" b="1">
                <a:solidFill>
                  <a:srgbClr val="111318"/>
                </a:solidFill>
                <a:latin typeface="Helvetica Neue"/>
                <a:ea typeface="Helvetica Neue"/>
                <a:cs typeface="Helvetica Neue"/>
              </a:defRPr>
            </a:pPr>
            <a:r>
              <a:rPr sz="2175" b="1">
                <a:solidFill>
                  <a:srgbClr val="111318"/>
                </a:solidFill>
                <a:latin typeface="Helvetica Neue"/>
                <a:ea typeface="Helvetica Neue"/>
                <a:cs typeface="Helvetica Neue"/>
              </a:rPr>
              <a:t>xᵥ</a:t>
            </a:r>
          </a:p>
        </p:txBody>
      </p:sp>
      <p:sp>
        <p:nvSpPr>
          <p:cNvPr id="21" name="">
            <a:extLst xmlns:a="http://schemas.openxmlformats.org/drawingml/2006/main">
              <a:ext uri="{FF2B5EF4-FFF2-40B4-BE49-F238E27FC236}">
                <a16:creationId xmlns:a16="http://schemas.microsoft.com/office/drawing/2014/main" id="{DE20EC9A-DF45-4408-80CF-8772D52A568A}"/>
              </a:ext>
            </a:extLst>
          </p:cNvPr>
          <p:cNvSpPr>
            <a:spLocks xmlns:a="http://schemas.openxmlformats.org/drawingml/2006/main" noGrp="1"/>
          </p:cNvSpPr>
          <p:nvPr/>
        </p:nvSpPr>
        <p:spPr>
          <a:xfrm xmlns:a="http://schemas.openxmlformats.org/drawingml/2006/main">
            <a:off x="7981950" y="3019425"/>
            <a:ext cx="1695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3D8DFF"/>
                </a:solidFill>
                <a:latin typeface="Helvetica Neue"/>
                <a:ea typeface="Helvetica Neue"/>
                <a:cs typeface="Helvetica Neue"/>
              </a:defRPr>
            </a:pPr>
            <a:r>
              <a:rPr sz="1725" b="1">
                <a:solidFill>
                  <a:srgbClr val="3D8DFF"/>
                </a:solidFill>
                <a:latin typeface="Helvetica Neue"/>
                <a:ea typeface="Helvetica Neue"/>
                <a:cs typeface="Helvetica Neue"/>
              </a:rPr>
              <a:t>xᵥ ≈ αₑxᵤ + bₑ</a:t>
            </a:r>
          </a:p>
        </p:txBody>
      </p:sp>
      <p:sp>
        <p:nvSpPr>
          <p:cNvPr id="22" name="">
            <a:extLst xmlns:a="http://schemas.openxmlformats.org/drawingml/2006/main">
              <a:ext uri="{FF2B5EF4-FFF2-40B4-BE49-F238E27FC236}">
                <a16:creationId xmlns:a16="http://schemas.microsoft.com/office/drawing/2014/main" id="{26961EE9-802A-4665-9CB6-62B611432FBB}"/>
              </a:ext>
            </a:extLst>
          </p:cNvPr>
          <p:cNvSpPr>
            <a:spLocks xmlns:a="http://schemas.openxmlformats.org/drawingml/2006/main" noGrp="1"/>
          </p:cNvSpPr>
          <p:nvPr/>
        </p:nvSpPr>
        <p:spPr>
          <a:xfrm xmlns:a="http://schemas.openxmlformats.org/drawingml/2006/main">
            <a:off x="6429375" y="4095750"/>
            <a:ext cx="4838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153A63"/>
                </a:solidFill>
                <a:latin typeface="Helvetica Neue"/>
                <a:ea typeface="Helvetica Neue"/>
                <a:cs typeface="Helvetica Neue"/>
              </a:defRPr>
            </a:pPr>
            <a:r>
              <a:rPr sz="1650" b="1">
                <a:solidFill>
                  <a:srgbClr val="153A63"/>
                </a:solidFill>
                <a:latin typeface="Helvetica Neue"/>
                <a:ea typeface="Helvetica Neue"/>
                <a:cs typeface="Helvetica Neue"/>
              </a:rPr>
              <a:t>Edge-specific gain and offset; global inconsistency localises conflict.</a:t>
            </a:r>
          </a:p>
        </p:txBody>
      </p:sp>
      <p:sp>
        <p:nvSpPr>
          <p:cNvPr id="23" name="">
            <a:extLst xmlns:a="http://schemas.openxmlformats.org/drawingml/2006/main">
              <a:ext uri="{FF2B5EF4-FFF2-40B4-BE49-F238E27FC236}">
                <a16:creationId xmlns:a16="http://schemas.microsoft.com/office/drawing/2014/main" id="{F869D68C-90B0-4A00-B978-1BB262AFE204}"/>
              </a:ext>
            </a:extLst>
          </p:cNvPr>
          <p:cNvSpPr>
            <a:spLocks xmlns:a="http://schemas.openxmlformats.org/drawingml/2006/main" noGrp="1"/>
          </p:cNvSpPr>
          <p:nvPr/>
        </p:nvSpPr>
        <p:spPr>
          <a:xfrm xmlns:a="http://schemas.openxmlformats.org/drawingml/2006/main">
            <a:off x="6429375" y="4867275"/>
            <a:ext cx="4838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C53030"/>
                </a:solidFill>
                <a:latin typeface="Helvetica Neue"/>
                <a:ea typeface="Helvetica Neue"/>
                <a:cs typeface="Helvetica Neue"/>
              </a:defRPr>
            </a:pPr>
            <a:r>
              <a:rPr sz="1275" b="1">
                <a:solidFill>
                  <a:srgbClr val="C53030"/>
                </a:solidFill>
                <a:latin typeface="Helvetica Neue"/>
                <a:ea typeface="Helvetica Neue"/>
                <a:cs typeface="Helvetica Neue"/>
              </a:rPr>
              <a:t>Multivariate vector-stalk performance remains unvalidated.</a:t>
            </a:r>
          </a:p>
        </p:txBody>
      </p:sp>
    </p:spTree>
    <p:extLst>
      <p:ext uri="{BB962C8B-B14F-4D97-AF65-F5344CB8AC3E}">
        <p14:creationId xmlns:p14="http://schemas.microsoft.com/office/powerpoint/2010/main" val="81282239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0497E0DA-99E4-462D-8780-8B3B0B242D84}"/>
              </a:ext>
            </a:extLst>
          </p:cNvPr>
          <p:cNvSpPr>
            <a:spLocks xmlns:a="http://schemas.openxmlformats.org/drawingml/2006/main" noGrp="1"/>
          </p:cNvSpPr>
          <p:nvPr/>
        </p:nvSpPr>
        <p:spPr>
          <a:xfrm xmlns:a="http://schemas.openxmlformats.org/drawingml/2006/main">
            <a:off x="400050" y="228600"/>
            <a:ext cx="695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LOCKED EVALUATION</a:t>
            </a:r>
          </a:p>
        </p:txBody>
      </p:sp>
      <p:sp>
        <p:nvSpPr>
          <p:cNvPr id="2" name="">
            <a:extLst xmlns:a="http://schemas.openxmlformats.org/drawingml/2006/main">
              <a:ext uri="{FF2B5EF4-FFF2-40B4-BE49-F238E27FC236}">
                <a16:creationId xmlns:a16="http://schemas.microsoft.com/office/drawing/2014/main" id="{42DC1E2E-72E7-4A4A-8FA6-6CFA1F08A728}"/>
              </a:ext>
            </a:extLst>
          </p:cNvPr>
          <p:cNvSpPr>
            <a:spLocks xmlns:a="http://schemas.openxmlformats.org/drawingml/2006/main" noGrp="1"/>
          </p:cNvSpPr>
          <p:nvPr/>
        </p:nvSpPr>
        <p:spPr>
          <a:xfrm xmlns:a="http://schemas.openxmlformats.org/drawingml/2006/main">
            <a:off x="400050" y="49530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Claims were matched to an evidence ladder</a:t>
            </a:r>
          </a:p>
        </p:txBody>
      </p:sp>
      <p:sp>
        <p:nvSpPr>
          <p:cNvPr id="3" name="">
            <a:extLst xmlns:a="http://schemas.openxmlformats.org/drawingml/2006/main">
              <a:ext uri="{FF2B5EF4-FFF2-40B4-BE49-F238E27FC236}">
                <a16:creationId xmlns:a16="http://schemas.microsoft.com/office/drawing/2014/main" id="{BA709768-DD79-4585-8348-4EB04D1AE50F}"/>
              </a:ext>
            </a:extLst>
          </p:cNvPr>
          <p:cNvSpPr>
            <a:spLocks xmlns:a="http://schemas.openxmlformats.org/drawingml/2006/main" noGrp="1"/>
          </p:cNvSpPr>
          <p:nvPr/>
        </p:nvSpPr>
        <p:spPr>
          <a:xfrm xmlns:a="http://schemas.openxmlformats.org/drawingml/2006/main">
            <a:off x="400050" y="1190625"/>
            <a:ext cx="11391900" cy="19050"/>
          </a:xfrm>
          <a:prstGeom xmlns:a="http://schemas.openxmlformats.org/drawingml/2006/main" prst="rect">
            <a:avLst/>
          </a:prstGeom>
          <a:solidFill xmlns:a="http://schemas.openxmlformats.org/drawingml/2006/main">
            <a:srgbClr val="11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6CDCE39-7CFA-436B-B925-751A7CA4C500}"/>
              </a:ext>
            </a:extLst>
          </p:cNvPr>
          <p:cNvSpPr>
            <a:spLocks xmlns:a="http://schemas.openxmlformats.org/drawingml/2006/main" noGrp="1"/>
          </p:cNvSpPr>
          <p:nvPr/>
        </p:nvSpPr>
        <p:spPr>
          <a:xfrm xmlns:a="http://schemas.openxmlformats.org/drawingml/2006/main">
            <a:off x="400050" y="6438900"/>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Validation</a:t>
            </a:r>
          </a:p>
        </p:txBody>
      </p:sp>
      <p:sp>
        <p:nvSpPr>
          <p:cNvPr id="5" name="">
            <a:extLst xmlns:a="http://schemas.openxmlformats.org/drawingml/2006/main">
              <a:ext uri="{FF2B5EF4-FFF2-40B4-BE49-F238E27FC236}">
                <a16:creationId xmlns:a16="http://schemas.microsoft.com/office/drawing/2014/main" id="{E7954CD1-0DD0-42F3-BBEE-87174F38100C}"/>
              </a:ext>
            </a:extLst>
          </p:cNvPr>
          <p:cNvSpPr>
            <a:spLocks xmlns:a="http://schemas.openxmlformats.org/drawingml/2006/main" noGrp="1"/>
          </p:cNvSpPr>
          <p:nvPr/>
        </p:nvSpPr>
        <p:spPr>
          <a:xfrm xmlns:a="http://schemas.openxmlformats.org/drawingml/2006/main">
            <a:off x="11287125" y="63912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07</a:t>
            </a:r>
          </a:p>
        </p:txBody>
      </p:sp>
      <p:sp>
        <p:nvSpPr>
          <p:cNvPr id="6" name="">
            <a:extLst xmlns:a="http://schemas.openxmlformats.org/drawingml/2006/main">
              <a:ext uri="{FF2B5EF4-FFF2-40B4-BE49-F238E27FC236}">
                <a16:creationId xmlns:a16="http://schemas.microsoft.com/office/drawing/2014/main" id="{2AF10039-8104-4CC5-ACDE-3F98E56497F0}"/>
              </a:ext>
            </a:extLst>
          </p:cNvPr>
          <p:cNvSpPr>
            <a:spLocks xmlns:a="http://schemas.openxmlformats.org/drawingml/2006/main" noGrp="1"/>
          </p:cNvSpPr>
          <p:nvPr/>
        </p:nvSpPr>
        <p:spPr>
          <a:xfrm xmlns:a="http://schemas.openxmlformats.org/drawingml/2006/main">
            <a:off x="400050" y="1466850"/>
            <a:ext cx="11391900" cy="685800"/>
          </a:xfrm>
          <a:prstGeom xmlns:a="http://schemas.openxmlformats.org/drawingml/2006/main" prst="roundRect">
            <a:avLst>
              <a:gd name="adj" fmla="val 16667"/>
            </a:avLst>
          </a:prstGeom>
          <a:solidFill xmlns:a="http://schemas.openxmlformats.org/drawingml/2006/main">
            <a:srgbClr val="F2F3F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BB7B253-99C8-4CBD-9645-6F714C0D956D}"/>
              </a:ext>
            </a:extLst>
          </p:cNvPr>
          <p:cNvSpPr>
            <a:spLocks xmlns:a="http://schemas.openxmlformats.org/drawingml/2006/main" noGrp="1"/>
          </p:cNvSpPr>
          <p:nvPr/>
        </p:nvSpPr>
        <p:spPr>
          <a:xfrm xmlns:a="http://schemas.openxmlformats.org/drawingml/2006/main">
            <a:off x="552450" y="1609725"/>
            <a:ext cx="49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025" b="1">
                <a:solidFill>
                  <a:srgbClr val="5D6470"/>
                </a:solidFill>
                <a:latin typeface="Helvetica Neue"/>
                <a:ea typeface="Helvetica Neue"/>
                <a:cs typeface="Helvetica Neue"/>
              </a:defRPr>
            </a:pPr>
            <a:r>
              <a:rPr sz="2025" b="1">
                <a:solidFill>
                  <a:srgbClr val="5D6470"/>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A11BC333-BE23-452A-A639-FF647AA17592}"/>
              </a:ext>
            </a:extLst>
          </p:cNvPr>
          <p:cNvSpPr>
            <a:spLocks xmlns:a="http://schemas.openxmlformats.org/drawingml/2006/main" noGrp="1"/>
          </p:cNvSpPr>
          <p:nvPr/>
        </p:nvSpPr>
        <p:spPr>
          <a:xfrm xmlns:a="http://schemas.openxmlformats.org/drawingml/2006/main">
            <a:off x="1209675" y="1590675"/>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11318"/>
                </a:solidFill>
                <a:latin typeface="Helvetica Neue"/>
                <a:ea typeface="Helvetica Neue"/>
                <a:cs typeface="Helvetica Neue"/>
              </a:defRPr>
            </a:pPr>
            <a:r>
              <a:rPr sz="1575" b="1">
                <a:solidFill>
                  <a:srgbClr val="111318"/>
                </a:solidFill>
                <a:latin typeface="Helvetica Neue"/>
                <a:ea typeface="Helvetica Neue"/>
                <a:cs typeface="Helvetica Neue"/>
              </a:rPr>
              <a:t>Unit and conversion verification</a:t>
            </a:r>
          </a:p>
        </p:txBody>
      </p:sp>
      <p:sp>
        <p:nvSpPr>
          <p:cNvPr id="9" name="">
            <a:extLst xmlns:a="http://schemas.openxmlformats.org/drawingml/2006/main">
              <a:ext uri="{FF2B5EF4-FFF2-40B4-BE49-F238E27FC236}">
                <a16:creationId xmlns:a16="http://schemas.microsoft.com/office/drawing/2014/main" id="{5DACF109-911A-4F9F-8092-939CE8FF7CE5}"/>
              </a:ext>
            </a:extLst>
          </p:cNvPr>
          <p:cNvSpPr>
            <a:spLocks xmlns:a="http://schemas.openxmlformats.org/drawingml/2006/main" noGrp="1"/>
          </p:cNvSpPr>
          <p:nvPr/>
        </p:nvSpPr>
        <p:spPr>
          <a:xfrm xmlns:a="http://schemas.openxmlformats.org/drawingml/2006/main">
            <a:off x="5095875" y="1609725"/>
            <a:ext cx="638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5D6470"/>
                </a:solidFill>
                <a:latin typeface="Helvetica Neue"/>
                <a:ea typeface="Helvetica Neue"/>
                <a:cs typeface="Helvetica Neue"/>
              </a:defRPr>
            </a:pPr>
            <a:r>
              <a:rPr sz="1350" b="0">
                <a:solidFill>
                  <a:srgbClr val="5D6470"/>
                </a:solidFill>
                <a:latin typeface="Helvetica Neue"/>
                <a:ea typeface="Helvetica Neue"/>
                <a:cs typeface="Helvetica Neue"/>
              </a:rPr>
              <a:t>Does the implementation reproduce its declared input?</a:t>
            </a:r>
          </a:p>
        </p:txBody>
      </p:sp>
      <p:sp>
        <p:nvSpPr>
          <p:cNvPr id="10" name="">
            <a:extLst xmlns:a="http://schemas.openxmlformats.org/drawingml/2006/main">
              <a:ext uri="{FF2B5EF4-FFF2-40B4-BE49-F238E27FC236}">
                <a16:creationId xmlns:a16="http://schemas.microsoft.com/office/drawing/2014/main" id="{46FFA485-DDCB-4B76-A0F7-1D7E8D5C083A}"/>
              </a:ext>
            </a:extLst>
          </p:cNvPr>
          <p:cNvSpPr>
            <a:spLocks xmlns:a="http://schemas.openxmlformats.org/drawingml/2006/main" noGrp="1"/>
          </p:cNvSpPr>
          <p:nvPr/>
        </p:nvSpPr>
        <p:spPr>
          <a:xfrm xmlns:a="http://schemas.openxmlformats.org/drawingml/2006/main">
            <a:off x="400050" y="2343150"/>
            <a:ext cx="11391900" cy="685800"/>
          </a:xfrm>
          <a:prstGeom xmlns:a="http://schemas.openxmlformats.org/drawingml/2006/main" prst="roundRect">
            <a:avLst>
              <a:gd name="adj" fmla="val 16667"/>
            </a:avLst>
          </a:prstGeom>
          <a:solidFill xmlns:a="http://schemas.openxmlformats.org/drawingml/2006/main">
            <a:srgbClr val="F2F3F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0087113-5DF5-4626-B74F-C80D7ED2BDF4}"/>
              </a:ext>
            </a:extLst>
          </p:cNvPr>
          <p:cNvSpPr>
            <a:spLocks xmlns:a="http://schemas.openxmlformats.org/drawingml/2006/main" noGrp="1"/>
          </p:cNvSpPr>
          <p:nvPr/>
        </p:nvSpPr>
        <p:spPr>
          <a:xfrm xmlns:a="http://schemas.openxmlformats.org/drawingml/2006/main">
            <a:off x="552450" y="2486025"/>
            <a:ext cx="49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025" b="1">
                <a:solidFill>
                  <a:srgbClr val="3D8DFF"/>
                </a:solidFill>
                <a:latin typeface="Helvetica Neue"/>
                <a:ea typeface="Helvetica Neue"/>
                <a:cs typeface="Helvetica Neue"/>
              </a:defRPr>
            </a:pPr>
            <a:r>
              <a:rPr sz="2025" b="1">
                <a:solidFill>
                  <a:srgbClr val="3D8DFF"/>
                </a:solidFill>
                <a:latin typeface="Helvetica Neue"/>
                <a:ea typeface="Helvetica Neue"/>
                <a:cs typeface="Helvetica Neue"/>
              </a:rPr>
              <a:t>2</a:t>
            </a:r>
          </a:p>
        </p:txBody>
      </p:sp>
      <p:sp>
        <p:nvSpPr>
          <p:cNvPr id="12" name="">
            <a:extLst xmlns:a="http://schemas.openxmlformats.org/drawingml/2006/main">
              <a:ext uri="{FF2B5EF4-FFF2-40B4-BE49-F238E27FC236}">
                <a16:creationId xmlns:a16="http://schemas.microsoft.com/office/drawing/2014/main" id="{25FD7CE2-0BF6-4DE3-B781-76DA23CFF5A6}"/>
              </a:ext>
            </a:extLst>
          </p:cNvPr>
          <p:cNvSpPr>
            <a:spLocks xmlns:a="http://schemas.openxmlformats.org/drawingml/2006/main" noGrp="1"/>
          </p:cNvSpPr>
          <p:nvPr/>
        </p:nvSpPr>
        <p:spPr>
          <a:xfrm xmlns:a="http://schemas.openxmlformats.org/drawingml/2006/main">
            <a:off x="1209675" y="2466975"/>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11318"/>
                </a:solidFill>
                <a:latin typeface="Helvetica Neue"/>
                <a:ea typeface="Helvetica Neue"/>
                <a:cs typeface="Helvetica Neue"/>
              </a:defRPr>
            </a:pPr>
            <a:r>
              <a:rPr sz="1575" b="1">
                <a:solidFill>
                  <a:srgbClr val="111318"/>
                </a:solidFill>
                <a:latin typeface="Helvetica Neue"/>
                <a:ea typeface="Helvetica Neue"/>
                <a:cs typeface="Helvetica Neue"/>
              </a:rPr>
              <a:t>Reference emulation</a:t>
            </a:r>
          </a:p>
        </p:txBody>
      </p:sp>
      <p:sp>
        <p:nvSpPr>
          <p:cNvPr id="13" name="">
            <a:extLst xmlns:a="http://schemas.openxmlformats.org/drawingml/2006/main">
              <a:ext uri="{FF2B5EF4-FFF2-40B4-BE49-F238E27FC236}">
                <a16:creationId xmlns:a16="http://schemas.microsoft.com/office/drawing/2014/main" id="{1FF9B03A-6D86-44FB-AF6F-BBC144347910}"/>
              </a:ext>
            </a:extLst>
          </p:cNvPr>
          <p:cNvSpPr>
            <a:spLocks xmlns:a="http://schemas.openxmlformats.org/drawingml/2006/main" noGrp="1"/>
          </p:cNvSpPr>
          <p:nvPr/>
        </p:nvSpPr>
        <p:spPr>
          <a:xfrm xmlns:a="http://schemas.openxmlformats.org/drawingml/2006/main">
            <a:off x="5095875" y="2486025"/>
            <a:ext cx="638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5D6470"/>
                </a:solidFill>
                <a:latin typeface="Helvetica Neue"/>
                <a:ea typeface="Helvetica Neue"/>
                <a:cs typeface="Helvetica Neue"/>
              </a:defRPr>
            </a:pPr>
            <a:r>
              <a:rPr sz="1350" b="0">
                <a:solidFill>
                  <a:srgbClr val="5D6470"/>
                </a:solidFill>
                <a:latin typeface="Helvetica Neue"/>
                <a:ea typeface="Helvetica Neue"/>
                <a:cs typeface="Helvetica Neue"/>
              </a:rPr>
              <a:t>Does it agree with an established public workflow?</a:t>
            </a:r>
          </a:p>
        </p:txBody>
      </p:sp>
      <p:sp>
        <p:nvSpPr>
          <p:cNvPr id="14" name="">
            <a:extLst xmlns:a="http://schemas.openxmlformats.org/drawingml/2006/main">
              <a:ext uri="{FF2B5EF4-FFF2-40B4-BE49-F238E27FC236}">
                <a16:creationId xmlns:a16="http://schemas.microsoft.com/office/drawing/2014/main" id="{B039F586-0C52-431F-B0A4-97E7DF0B409F}"/>
              </a:ext>
            </a:extLst>
          </p:cNvPr>
          <p:cNvSpPr>
            <a:spLocks xmlns:a="http://schemas.openxmlformats.org/drawingml/2006/main" noGrp="1"/>
          </p:cNvSpPr>
          <p:nvPr/>
        </p:nvSpPr>
        <p:spPr>
          <a:xfrm xmlns:a="http://schemas.openxmlformats.org/drawingml/2006/main">
            <a:off x="400050" y="3219450"/>
            <a:ext cx="11391900" cy="685800"/>
          </a:xfrm>
          <a:prstGeom xmlns:a="http://schemas.openxmlformats.org/drawingml/2006/main" prst="roundRect">
            <a:avLst>
              <a:gd name="adj" fmla="val 16667"/>
            </a:avLst>
          </a:prstGeom>
          <a:solidFill xmlns:a="http://schemas.openxmlformats.org/drawingml/2006/main">
            <a:srgbClr val="F2F3F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B271E04-691B-44DA-BCCF-A422437BE5C6}"/>
              </a:ext>
            </a:extLst>
          </p:cNvPr>
          <p:cNvSpPr>
            <a:spLocks xmlns:a="http://schemas.openxmlformats.org/drawingml/2006/main" noGrp="1"/>
          </p:cNvSpPr>
          <p:nvPr/>
        </p:nvSpPr>
        <p:spPr>
          <a:xfrm xmlns:a="http://schemas.openxmlformats.org/drawingml/2006/main">
            <a:off x="552450" y="3362325"/>
            <a:ext cx="49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025" b="1">
                <a:solidFill>
                  <a:srgbClr val="149A84"/>
                </a:solidFill>
                <a:latin typeface="Helvetica Neue"/>
                <a:ea typeface="Helvetica Neue"/>
                <a:cs typeface="Helvetica Neue"/>
              </a:defRPr>
            </a:pPr>
            <a:r>
              <a:rPr sz="2025" b="1">
                <a:solidFill>
                  <a:srgbClr val="149A84"/>
                </a:solidFill>
                <a:latin typeface="Helvetica Neue"/>
                <a:ea typeface="Helvetica Neue"/>
                <a:cs typeface="Helvetica Neue"/>
              </a:rPr>
              <a:t>3</a:t>
            </a:r>
          </a:p>
        </p:txBody>
      </p:sp>
      <p:sp>
        <p:nvSpPr>
          <p:cNvPr id="16" name="">
            <a:extLst xmlns:a="http://schemas.openxmlformats.org/drawingml/2006/main">
              <a:ext uri="{FF2B5EF4-FFF2-40B4-BE49-F238E27FC236}">
                <a16:creationId xmlns:a16="http://schemas.microsoft.com/office/drawing/2014/main" id="{B158BFBA-4FAD-4988-974C-E6DDFE07433F}"/>
              </a:ext>
            </a:extLst>
          </p:cNvPr>
          <p:cNvSpPr>
            <a:spLocks xmlns:a="http://schemas.openxmlformats.org/drawingml/2006/main" noGrp="1"/>
          </p:cNvSpPr>
          <p:nvPr/>
        </p:nvSpPr>
        <p:spPr>
          <a:xfrm xmlns:a="http://schemas.openxmlformats.org/drawingml/2006/main">
            <a:off x="1209675" y="3343275"/>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11318"/>
                </a:solidFill>
                <a:latin typeface="Helvetica Neue"/>
                <a:ea typeface="Helvetica Neue"/>
                <a:cs typeface="Helvetica Neue"/>
              </a:defRPr>
            </a:pPr>
            <a:r>
              <a:rPr sz="1575" b="1">
                <a:solidFill>
                  <a:srgbClr val="111318"/>
                </a:solidFill>
                <a:latin typeface="Helvetica Neue"/>
                <a:ea typeface="Helvetica Neue"/>
                <a:cs typeface="Helvetica Neue"/>
              </a:rPr>
              <a:t>Controlled known-truth benchmarks</a:t>
            </a:r>
          </a:p>
        </p:txBody>
      </p:sp>
      <p:sp>
        <p:nvSpPr>
          <p:cNvPr id="17" name="">
            <a:extLst xmlns:a="http://schemas.openxmlformats.org/drawingml/2006/main">
              <a:ext uri="{FF2B5EF4-FFF2-40B4-BE49-F238E27FC236}">
                <a16:creationId xmlns:a16="http://schemas.microsoft.com/office/drawing/2014/main" id="{8F71B9B8-33E0-4431-88A9-EBCC59AA54C7}"/>
              </a:ext>
            </a:extLst>
          </p:cNvPr>
          <p:cNvSpPr>
            <a:spLocks xmlns:a="http://schemas.openxmlformats.org/drawingml/2006/main" noGrp="1"/>
          </p:cNvSpPr>
          <p:nvPr/>
        </p:nvSpPr>
        <p:spPr>
          <a:xfrm xmlns:a="http://schemas.openxmlformats.org/drawingml/2006/main">
            <a:off x="5095875" y="3362325"/>
            <a:ext cx="638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5D6470"/>
                </a:solidFill>
                <a:latin typeface="Helvetica Neue"/>
                <a:ea typeface="Helvetica Neue"/>
                <a:cs typeface="Helvetica Neue"/>
              </a:defRPr>
            </a:pPr>
            <a:r>
              <a:rPr sz="1350" b="0">
                <a:solidFill>
                  <a:srgbClr val="5D6470"/>
                </a:solidFill>
                <a:latin typeface="Helvetica Neue"/>
                <a:ea typeface="Helvetica Neue"/>
                <a:cs typeface="Helvetica Neue"/>
              </a:rPr>
              <a:t>Can it recover planted topology, age and reactions?</a:t>
            </a:r>
          </a:p>
        </p:txBody>
      </p:sp>
      <p:sp>
        <p:nvSpPr>
          <p:cNvPr id="18" name="">
            <a:extLst xmlns:a="http://schemas.openxmlformats.org/drawingml/2006/main">
              <a:ext uri="{FF2B5EF4-FFF2-40B4-BE49-F238E27FC236}">
                <a16:creationId xmlns:a16="http://schemas.microsoft.com/office/drawing/2014/main" id="{40097DDE-11ED-4048-8C11-E2AFA5F86EEC}"/>
              </a:ext>
            </a:extLst>
          </p:cNvPr>
          <p:cNvSpPr>
            <a:spLocks xmlns:a="http://schemas.openxmlformats.org/drawingml/2006/main" noGrp="1"/>
          </p:cNvSpPr>
          <p:nvPr/>
        </p:nvSpPr>
        <p:spPr>
          <a:xfrm xmlns:a="http://schemas.openxmlformats.org/drawingml/2006/main">
            <a:off x="400050" y="4095750"/>
            <a:ext cx="11391900" cy="685800"/>
          </a:xfrm>
          <a:prstGeom xmlns:a="http://schemas.openxmlformats.org/drawingml/2006/main" prst="roundRect">
            <a:avLst>
              <a:gd name="adj" fmla="val 16667"/>
            </a:avLst>
          </a:prstGeom>
          <a:solidFill xmlns:a="http://schemas.openxmlformats.org/drawingml/2006/main">
            <a:srgbClr val="F2F3F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C45A8BF-8B7A-45D3-A66C-245648B80DC3}"/>
              </a:ext>
            </a:extLst>
          </p:cNvPr>
          <p:cNvSpPr>
            <a:spLocks xmlns:a="http://schemas.openxmlformats.org/drawingml/2006/main" noGrp="1"/>
          </p:cNvSpPr>
          <p:nvPr/>
        </p:nvSpPr>
        <p:spPr>
          <a:xfrm xmlns:a="http://schemas.openxmlformats.org/drawingml/2006/main">
            <a:off x="552450" y="4238625"/>
            <a:ext cx="49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025" b="1">
                <a:solidFill>
                  <a:srgbClr val="D97706"/>
                </a:solidFill>
                <a:latin typeface="Helvetica Neue"/>
                <a:ea typeface="Helvetica Neue"/>
                <a:cs typeface="Helvetica Neue"/>
              </a:defRPr>
            </a:pPr>
            <a:r>
              <a:rPr sz="2025" b="1">
                <a:solidFill>
                  <a:srgbClr val="D97706"/>
                </a:solidFill>
                <a:latin typeface="Helvetica Neue"/>
                <a:ea typeface="Helvetica Neue"/>
                <a:cs typeface="Helvetica Neue"/>
              </a:rPr>
              <a:t>4</a:t>
            </a:r>
          </a:p>
        </p:txBody>
      </p:sp>
      <p:sp>
        <p:nvSpPr>
          <p:cNvPr id="20" name="">
            <a:extLst xmlns:a="http://schemas.openxmlformats.org/drawingml/2006/main">
              <a:ext uri="{FF2B5EF4-FFF2-40B4-BE49-F238E27FC236}">
                <a16:creationId xmlns:a16="http://schemas.microsoft.com/office/drawing/2014/main" id="{A9C61E2D-06FA-4673-A366-C09D786AB367}"/>
              </a:ext>
            </a:extLst>
          </p:cNvPr>
          <p:cNvSpPr>
            <a:spLocks xmlns:a="http://schemas.openxmlformats.org/drawingml/2006/main" noGrp="1"/>
          </p:cNvSpPr>
          <p:nvPr/>
        </p:nvSpPr>
        <p:spPr>
          <a:xfrm xmlns:a="http://schemas.openxmlformats.org/drawingml/2006/main">
            <a:off x="1209675" y="4219575"/>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11318"/>
                </a:solidFill>
                <a:latin typeface="Helvetica Neue"/>
                <a:ea typeface="Helvetica Neue"/>
                <a:cs typeface="Helvetica Neue"/>
              </a:defRPr>
            </a:pPr>
            <a:r>
              <a:rPr sz="1575" b="1">
                <a:solidFill>
                  <a:srgbClr val="111318"/>
                </a:solidFill>
                <a:latin typeface="Helvetica Neue"/>
                <a:ea typeface="Helvetica Neue"/>
                <a:cs typeface="Helvetica Neue"/>
              </a:rPr>
              <a:t>Field transfer and supportability</a:t>
            </a:r>
          </a:p>
        </p:txBody>
      </p:sp>
      <p:sp>
        <p:nvSpPr>
          <p:cNvPr id="21" name="">
            <a:extLst xmlns:a="http://schemas.openxmlformats.org/drawingml/2006/main">
              <a:ext uri="{FF2B5EF4-FFF2-40B4-BE49-F238E27FC236}">
                <a16:creationId xmlns:a16="http://schemas.microsoft.com/office/drawing/2014/main" id="{A77188DE-DEC6-47D4-9435-EABE082BA65F}"/>
              </a:ext>
            </a:extLst>
          </p:cNvPr>
          <p:cNvSpPr>
            <a:spLocks xmlns:a="http://schemas.openxmlformats.org/drawingml/2006/main" noGrp="1"/>
          </p:cNvSpPr>
          <p:nvPr/>
        </p:nvSpPr>
        <p:spPr>
          <a:xfrm xmlns:a="http://schemas.openxmlformats.org/drawingml/2006/main">
            <a:off x="5095875" y="4238625"/>
            <a:ext cx="638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5D6470"/>
                </a:solidFill>
                <a:latin typeface="Helvetica Neue"/>
                <a:ea typeface="Helvetica Neue"/>
                <a:cs typeface="Helvetica Neue"/>
              </a:defRPr>
            </a:pPr>
            <a:r>
              <a:rPr sz="1350" b="0">
                <a:solidFill>
                  <a:srgbClr val="5D6470"/>
                </a:solidFill>
                <a:latin typeface="Helvetica Neue"/>
                <a:ea typeface="Helvetica Neue"/>
                <a:cs typeface="Helvetica Neue"/>
              </a:rPr>
              <a:t>What do real data permit without known truth?</a:t>
            </a:r>
          </a:p>
        </p:txBody>
      </p:sp>
      <p:sp>
        <p:nvSpPr>
          <p:cNvPr id="22" name="">
            <a:extLst xmlns:a="http://schemas.openxmlformats.org/drawingml/2006/main">
              <a:ext uri="{FF2B5EF4-FFF2-40B4-BE49-F238E27FC236}">
                <a16:creationId xmlns:a16="http://schemas.microsoft.com/office/drawing/2014/main" id="{8CFE6C62-5ACC-4209-98CC-4D6F0333FBDE}"/>
              </a:ext>
            </a:extLst>
          </p:cNvPr>
          <p:cNvSpPr>
            <a:spLocks xmlns:a="http://schemas.openxmlformats.org/drawingml/2006/main" noGrp="1"/>
          </p:cNvSpPr>
          <p:nvPr/>
        </p:nvSpPr>
        <p:spPr>
          <a:xfrm xmlns:a="http://schemas.openxmlformats.org/drawingml/2006/main">
            <a:off x="400050" y="4972050"/>
            <a:ext cx="11391900" cy="685800"/>
          </a:xfrm>
          <a:prstGeom xmlns:a="http://schemas.openxmlformats.org/drawingml/2006/main" prst="roundRect">
            <a:avLst>
              <a:gd name="adj" fmla="val 16667"/>
            </a:avLst>
          </a:prstGeom>
          <a:solidFill xmlns:a="http://schemas.openxmlformats.org/drawingml/2006/main">
            <a:srgbClr val="FDE8E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FF4B177E-AA0A-454A-B062-7766696809F5}"/>
              </a:ext>
            </a:extLst>
          </p:cNvPr>
          <p:cNvSpPr>
            <a:spLocks xmlns:a="http://schemas.openxmlformats.org/drawingml/2006/main" noGrp="1"/>
          </p:cNvSpPr>
          <p:nvPr/>
        </p:nvSpPr>
        <p:spPr>
          <a:xfrm xmlns:a="http://schemas.openxmlformats.org/drawingml/2006/main">
            <a:off x="552450" y="5114925"/>
            <a:ext cx="49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025" b="1">
                <a:solidFill>
                  <a:srgbClr val="C53030"/>
                </a:solidFill>
                <a:latin typeface="Helvetica Neue"/>
                <a:ea typeface="Helvetica Neue"/>
                <a:cs typeface="Helvetica Neue"/>
              </a:defRPr>
            </a:pPr>
            <a:r>
              <a:rPr sz="2025" b="1">
                <a:solidFill>
                  <a:srgbClr val="C53030"/>
                </a:solidFill>
                <a:latin typeface="Helvetica Neue"/>
                <a:ea typeface="Helvetica Neue"/>
                <a:cs typeface="Helvetica Neue"/>
              </a:rPr>
              <a:t>5</a:t>
            </a:r>
          </a:p>
        </p:txBody>
      </p:sp>
      <p:sp>
        <p:nvSpPr>
          <p:cNvPr id="24" name="">
            <a:extLst xmlns:a="http://schemas.openxmlformats.org/drawingml/2006/main">
              <a:ext uri="{FF2B5EF4-FFF2-40B4-BE49-F238E27FC236}">
                <a16:creationId xmlns:a16="http://schemas.microsoft.com/office/drawing/2014/main" id="{D9A74DD9-C721-4FF5-883C-8A68D6CB1EBE}"/>
              </a:ext>
            </a:extLst>
          </p:cNvPr>
          <p:cNvSpPr>
            <a:spLocks xmlns:a="http://schemas.openxmlformats.org/drawingml/2006/main" noGrp="1"/>
          </p:cNvSpPr>
          <p:nvPr/>
        </p:nvSpPr>
        <p:spPr>
          <a:xfrm xmlns:a="http://schemas.openxmlformats.org/drawingml/2006/main">
            <a:off x="1209675" y="5095875"/>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11318"/>
                </a:solidFill>
                <a:latin typeface="Helvetica Neue"/>
                <a:ea typeface="Helvetica Neue"/>
                <a:cs typeface="Helvetica Neue"/>
              </a:defRPr>
            </a:pPr>
            <a:r>
              <a:rPr sz="1575" b="1">
                <a:solidFill>
                  <a:srgbClr val="111318"/>
                </a:solidFill>
                <a:latin typeface="Helvetica Neue"/>
                <a:ea typeface="Helvetica Neue"/>
                <a:cs typeface="Helvetica Neue"/>
              </a:rPr>
              <a:t>Matched end-to-end field truth</a:t>
            </a:r>
          </a:p>
        </p:txBody>
      </p:sp>
      <p:sp>
        <p:nvSpPr>
          <p:cNvPr id="25" name="">
            <a:extLst xmlns:a="http://schemas.openxmlformats.org/drawingml/2006/main">
              <a:ext uri="{FF2B5EF4-FFF2-40B4-BE49-F238E27FC236}">
                <a16:creationId xmlns:a16="http://schemas.microsoft.com/office/drawing/2014/main" id="{472D98D7-34EB-47B0-BEBB-766571B71CDE}"/>
              </a:ext>
            </a:extLst>
          </p:cNvPr>
          <p:cNvSpPr>
            <a:spLocks xmlns:a="http://schemas.openxmlformats.org/drawingml/2006/main" noGrp="1"/>
          </p:cNvSpPr>
          <p:nvPr/>
        </p:nvSpPr>
        <p:spPr>
          <a:xfrm xmlns:a="http://schemas.openxmlformats.org/drawingml/2006/main">
            <a:off x="5095875" y="5114925"/>
            <a:ext cx="638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C53030"/>
                </a:solidFill>
                <a:latin typeface="Helvetica Neue"/>
                <a:ea typeface="Helvetica Neue"/>
                <a:cs typeface="Helvetica Neue"/>
              </a:defRPr>
            </a:pPr>
            <a:r>
              <a:rPr sz="1350" b="0">
                <a:solidFill>
                  <a:srgbClr val="C53030"/>
                </a:solidFill>
                <a:latin typeface="Helvetica Neue"/>
                <a:ea typeface="Helvetica Neue"/>
                <a:cs typeface="Helvetica Neue"/>
              </a:rPr>
              <a:t>Still missing: age + repeated heads + chemistry + connectivity</a:t>
            </a:r>
          </a:p>
        </p:txBody>
      </p:sp>
    </p:spTree>
    <p:extLst>
      <p:ext uri="{BB962C8B-B14F-4D97-AF65-F5344CB8AC3E}">
        <p14:creationId xmlns:p14="http://schemas.microsoft.com/office/powerpoint/2010/main" val="74502522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11728F3C-F890-48A0-AF20-989BEC26CCE9}"/>
              </a:ext>
            </a:extLst>
          </p:cNvPr>
          <p:cNvSpPr>
            <a:spLocks xmlns:a="http://schemas.openxmlformats.org/drawingml/2006/main" noGrp="1"/>
          </p:cNvSpPr>
          <p:nvPr/>
        </p:nvSpPr>
        <p:spPr>
          <a:xfrm xmlns:a="http://schemas.openxmlformats.org/drawingml/2006/main">
            <a:off x="400050" y="228600"/>
            <a:ext cx="695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COMPONENT VERIFICATION</a:t>
            </a:r>
          </a:p>
        </p:txBody>
      </p:sp>
      <p:sp>
        <p:nvSpPr>
          <p:cNvPr id="2" name="">
            <a:extLst xmlns:a="http://schemas.openxmlformats.org/drawingml/2006/main">
              <a:ext uri="{FF2B5EF4-FFF2-40B4-BE49-F238E27FC236}">
                <a16:creationId xmlns:a16="http://schemas.microsoft.com/office/drawing/2014/main" id="{A11CB3F3-465C-4AC3-9A55-B3CC1B95FEAE}"/>
              </a:ext>
            </a:extLst>
          </p:cNvPr>
          <p:cNvSpPr>
            <a:spLocks xmlns:a="http://schemas.openxmlformats.org/drawingml/2006/main" noGrp="1"/>
          </p:cNvSpPr>
          <p:nvPr/>
        </p:nvSpPr>
        <p:spPr>
          <a:xfrm xmlns:a="http://schemas.openxmlformats.org/drawingml/2006/main">
            <a:off x="400050" y="49530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Foundations: recover capability before testing novelty</a:t>
            </a:r>
          </a:p>
        </p:txBody>
      </p:sp>
      <p:sp>
        <p:nvSpPr>
          <p:cNvPr id="3" name="">
            <a:extLst xmlns:a="http://schemas.openxmlformats.org/drawingml/2006/main">
              <a:ext uri="{FF2B5EF4-FFF2-40B4-BE49-F238E27FC236}">
                <a16:creationId xmlns:a16="http://schemas.microsoft.com/office/drawing/2014/main" id="{14464C8D-F048-4B11-BB76-A8A8B16E537E}"/>
              </a:ext>
            </a:extLst>
          </p:cNvPr>
          <p:cNvSpPr>
            <a:spLocks xmlns:a="http://schemas.openxmlformats.org/drawingml/2006/main" noGrp="1"/>
          </p:cNvSpPr>
          <p:nvPr/>
        </p:nvSpPr>
        <p:spPr>
          <a:xfrm xmlns:a="http://schemas.openxmlformats.org/drawingml/2006/main">
            <a:off x="400050" y="1190625"/>
            <a:ext cx="11391900" cy="19050"/>
          </a:xfrm>
          <a:prstGeom xmlns:a="http://schemas.openxmlformats.org/drawingml/2006/main" prst="rect">
            <a:avLst/>
          </a:prstGeom>
          <a:solidFill xmlns:a="http://schemas.openxmlformats.org/drawingml/2006/main">
            <a:srgbClr val="11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F603AAF-B2AB-4921-A541-168CA6A18CBB}"/>
              </a:ext>
            </a:extLst>
          </p:cNvPr>
          <p:cNvSpPr>
            <a:spLocks xmlns:a="http://schemas.openxmlformats.org/drawingml/2006/main" noGrp="1"/>
          </p:cNvSpPr>
          <p:nvPr/>
        </p:nvSpPr>
        <p:spPr>
          <a:xfrm xmlns:a="http://schemas.openxmlformats.org/drawingml/2006/main">
            <a:off x="400050" y="6438900"/>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Results</a:t>
            </a:r>
          </a:p>
        </p:txBody>
      </p:sp>
      <p:sp>
        <p:nvSpPr>
          <p:cNvPr id="5" name="">
            <a:extLst xmlns:a="http://schemas.openxmlformats.org/drawingml/2006/main">
              <a:ext uri="{FF2B5EF4-FFF2-40B4-BE49-F238E27FC236}">
                <a16:creationId xmlns:a16="http://schemas.microsoft.com/office/drawing/2014/main" id="{B2466DFB-0004-49DA-AA77-92E219F41039}"/>
              </a:ext>
            </a:extLst>
          </p:cNvPr>
          <p:cNvSpPr>
            <a:spLocks xmlns:a="http://schemas.openxmlformats.org/drawingml/2006/main" noGrp="1"/>
          </p:cNvSpPr>
          <p:nvPr/>
        </p:nvSpPr>
        <p:spPr>
          <a:xfrm xmlns:a="http://schemas.openxmlformats.org/drawingml/2006/main">
            <a:off x="11287125" y="63912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08</a:t>
            </a:r>
          </a:p>
        </p:txBody>
      </p:sp>
      <p:sp>
        <p:nvSpPr>
          <p:cNvPr id="6" name="">
            <a:extLst xmlns:a="http://schemas.openxmlformats.org/drawingml/2006/main">
              <a:ext uri="{FF2B5EF4-FFF2-40B4-BE49-F238E27FC236}">
                <a16:creationId xmlns:a16="http://schemas.microsoft.com/office/drawing/2014/main" id="{9545F400-F658-451D-8B8A-E379AF3627B9}"/>
              </a:ext>
            </a:extLst>
          </p:cNvPr>
          <p:cNvSpPr>
            <a:spLocks xmlns:a="http://schemas.openxmlformats.org/drawingml/2006/main" noGrp="1"/>
          </p:cNvSpPr>
          <p:nvPr/>
        </p:nvSpPr>
        <p:spPr>
          <a:xfrm xmlns:a="http://schemas.openxmlformats.org/drawingml/2006/main">
            <a:off x="400050" y="1619250"/>
            <a:ext cx="3333750" cy="1257300"/>
          </a:xfrm>
          <a:prstGeom xmlns:a="http://schemas.openxmlformats.org/drawingml/2006/main" prst="roundRect">
            <a:avLst>
              <a:gd name="adj" fmla="val 9091"/>
            </a:avLst>
          </a:prstGeom>
          <a:solidFill xmlns:a="http://schemas.openxmlformats.org/drawingml/2006/main">
            <a:srgbClr val="F2F3F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0777A77-7619-4DB4-9227-010AC360EC4B}"/>
              </a:ext>
            </a:extLst>
          </p:cNvPr>
          <p:cNvSpPr>
            <a:spLocks xmlns:a="http://schemas.openxmlformats.org/drawingml/2006/main" noGrp="1"/>
          </p:cNvSpPr>
          <p:nvPr/>
        </p:nvSpPr>
        <p:spPr>
          <a:xfrm xmlns:a="http://schemas.openxmlformats.org/drawingml/2006/main">
            <a:off x="400050" y="1619250"/>
            <a:ext cx="76200" cy="12573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AED0A7C-8E90-4C3F-8403-5D04BED89795}"/>
              </a:ext>
            </a:extLst>
          </p:cNvPr>
          <p:cNvSpPr>
            <a:spLocks xmlns:a="http://schemas.openxmlformats.org/drawingml/2006/main" noGrp="1"/>
          </p:cNvSpPr>
          <p:nvPr/>
        </p:nvSpPr>
        <p:spPr>
          <a:xfrm xmlns:a="http://schemas.openxmlformats.org/drawingml/2006/main">
            <a:off x="590550" y="1771650"/>
            <a:ext cx="3009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625" b="1">
                <a:solidFill>
                  <a:srgbClr val="3D8DFF"/>
                </a:solidFill>
                <a:latin typeface="Helvetica Neue"/>
                <a:ea typeface="Helvetica Neue"/>
                <a:cs typeface="Helvetica Neue"/>
              </a:defRPr>
            </a:pPr>
            <a:r>
              <a:rPr sz="2625" b="1">
                <a:solidFill>
                  <a:srgbClr val="3D8DFF"/>
                </a:solidFill>
                <a:latin typeface="Helvetica Neue"/>
                <a:ea typeface="Helvetica Neue"/>
                <a:cs typeface="Helvetica Neue"/>
              </a:rPr>
              <a:t>100</a:t>
            </a:r>
          </a:p>
        </p:txBody>
      </p:sp>
      <p:sp>
        <p:nvSpPr>
          <p:cNvPr id="9" name="">
            <a:extLst xmlns:a="http://schemas.openxmlformats.org/drawingml/2006/main">
              <a:ext uri="{FF2B5EF4-FFF2-40B4-BE49-F238E27FC236}">
                <a16:creationId xmlns:a16="http://schemas.microsoft.com/office/drawing/2014/main" id="{738F453E-D9A6-4BE1-A050-3886CF7BC0D4}"/>
              </a:ext>
            </a:extLst>
          </p:cNvPr>
          <p:cNvSpPr>
            <a:spLocks xmlns:a="http://schemas.openxmlformats.org/drawingml/2006/main" noGrp="1"/>
          </p:cNvSpPr>
          <p:nvPr/>
        </p:nvSpPr>
        <p:spPr>
          <a:xfrm xmlns:a="http://schemas.openxmlformats.org/drawingml/2006/main">
            <a:off x="590550" y="2305050"/>
            <a:ext cx="3009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5D6470"/>
                </a:solidFill>
                <a:latin typeface="Helvetica Neue"/>
                <a:ea typeface="Helvetica Neue"/>
                <a:cs typeface="Helvetica Neue"/>
              </a:defRPr>
            </a:pPr>
            <a:r>
              <a:rPr sz="1275" b="0">
                <a:solidFill>
                  <a:srgbClr val="5D6470"/>
                </a:solidFill>
                <a:latin typeface="Helvetica Neue"/>
                <a:ea typeface="Helvetica Neue"/>
                <a:cs typeface="Helvetica Neue"/>
              </a:rPr>
              <a:t>controlled transport–reaction realisations</a:t>
            </a:r>
          </a:p>
        </p:txBody>
      </p:sp>
      <p:sp>
        <p:nvSpPr>
          <p:cNvPr id="10" name="">
            <a:extLst xmlns:a="http://schemas.openxmlformats.org/drawingml/2006/main">
              <a:ext uri="{FF2B5EF4-FFF2-40B4-BE49-F238E27FC236}">
                <a16:creationId xmlns:a16="http://schemas.microsoft.com/office/drawing/2014/main" id="{B987CA94-981E-4AC3-977B-120C6D0FE736}"/>
              </a:ext>
            </a:extLst>
          </p:cNvPr>
          <p:cNvSpPr>
            <a:spLocks xmlns:a="http://schemas.openxmlformats.org/drawingml/2006/main" noGrp="1"/>
          </p:cNvSpPr>
          <p:nvPr/>
        </p:nvSpPr>
        <p:spPr>
          <a:xfrm xmlns:a="http://schemas.openxmlformats.org/drawingml/2006/main">
            <a:off x="3943350" y="1619250"/>
            <a:ext cx="3333750" cy="1257300"/>
          </a:xfrm>
          <a:prstGeom xmlns:a="http://schemas.openxmlformats.org/drawingml/2006/main" prst="roundRect">
            <a:avLst>
              <a:gd name="adj" fmla="val 9091"/>
            </a:avLst>
          </a:prstGeom>
          <a:solidFill xmlns:a="http://schemas.openxmlformats.org/drawingml/2006/main">
            <a:srgbClr val="F2F3F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E45BB90-BB30-425D-B3C8-C2A02E7A0CFE}"/>
              </a:ext>
            </a:extLst>
          </p:cNvPr>
          <p:cNvSpPr>
            <a:spLocks xmlns:a="http://schemas.openxmlformats.org/drawingml/2006/main" noGrp="1"/>
          </p:cNvSpPr>
          <p:nvPr/>
        </p:nvSpPr>
        <p:spPr>
          <a:xfrm xmlns:a="http://schemas.openxmlformats.org/drawingml/2006/main">
            <a:off x="3943350" y="1619250"/>
            <a:ext cx="76200" cy="1257300"/>
          </a:xfrm>
          <a:prstGeom xmlns:a="http://schemas.openxmlformats.org/drawingml/2006/main" prst="rect">
            <a:avLst/>
          </a:prstGeom>
          <a:solidFill xmlns:a="http://schemas.openxmlformats.org/drawingml/2006/main">
            <a:srgbClr val="149A8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4C8BB19-EFF8-4C74-8828-75FDF4909705}"/>
              </a:ext>
            </a:extLst>
          </p:cNvPr>
          <p:cNvSpPr>
            <a:spLocks xmlns:a="http://schemas.openxmlformats.org/drawingml/2006/main" noGrp="1"/>
          </p:cNvSpPr>
          <p:nvPr/>
        </p:nvSpPr>
        <p:spPr>
          <a:xfrm xmlns:a="http://schemas.openxmlformats.org/drawingml/2006/main">
            <a:off x="4133850" y="1771650"/>
            <a:ext cx="3009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625" b="1">
                <a:solidFill>
                  <a:srgbClr val="149A84"/>
                </a:solidFill>
                <a:latin typeface="Helvetica Neue"/>
                <a:ea typeface="Helvetica Neue"/>
                <a:cs typeface="Helvetica Neue"/>
              </a:defRPr>
            </a:pPr>
            <a:r>
              <a:rPr sz="2625" b="1">
                <a:solidFill>
                  <a:srgbClr val="149A84"/>
                </a:solidFill>
                <a:latin typeface="Helvetica Neue"/>
                <a:ea typeface="Helvetica Neue"/>
                <a:cs typeface="Helvetica Neue"/>
              </a:rPr>
              <a:t>0.058</a:t>
            </a:r>
          </a:p>
        </p:txBody>
      </p:sp>
      <p:sp>
        <p:nvSpPr>
          <p:cNvPr id="13" name="">
            <a:extLst xmlns:a="http://schemas.openxmlformats.org/drawingml/2006/main">
              <a:ext uri="{FF2B5EF4-FFF2-40B4-BE49-F238E27FC236}">
                <a16:creationId xmlns:a16="http://schemas.microsoft.com/office/drawing/2014/main" id="{61165F58-33D4-468B-9E7C-81B349B4DC0E}"/>
              </a:ext>
            </a:extLst>
          </p:cNvPr>
          <p:cNvSpPr>
            <a:spLocks xmlns:a="http://schemas.openxmlformats.org/drawingml/2006/main" noGrp="1"/>
          </p:cNvSpPr>
          <p:nvPr/>
        </p:nvSpPr>
        <p:spPr>
          <a:xfrm xmlns:a="http://schemas.openxmlformats.org/drawingml/2006/main">
            <a:off x="4133850" y="2305050"/>
            <a:ext cx="3009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5D6470"/>
                </a:solidFill>
                <a:latin typeface="Helvetica Neue"/>
                <a:ea typeface="Helvetica Neue"/>
                <a:cs typeface="Helvetica Neue"/>
              </a:defRPr>
            </a:pPr>
            <a:r>
              <a:rPr sz="1275" b="0">
                <a:solidFill>
                  <a:srgbClr val="5D6470"/>
                </a:solidFill>
                <a:latin typeface="Helvetica Neue"/>
                <a:ea typeface="Helvetica Neue"/>
                <a:cs typeface="Helvetica Neue"/>
              </a:rPr>
              <a:t>median transport absolute error</a:t>
            </a:r>
          </a:p>
        </p:txBody>
      </p:sp>
      <p:sp>
        <p:nvSpPr>
          <p:cNvPr id="14" name="">
            <a:extLst xmlns:a="http://schemas.openxmlformats.org/drawingml/2006/main">
              <a:ext uri="{FF2B5EF4-FFF2-40B4-BE49-F238E27FC236}">
                <a16:creationId xmlns:a16="http://schemas.microsoft.com/office/drawing/2014/main" id="{412AECD8-2E7A-4C76-9AA5-A3691EDE2C5D}"/>
              </a:ext>
            </a:extLst>
          </p:cNvPr>
          <p:cNvSpPr>
            <a:spLocks xmlns:a="http://schemas.openxmlformats.org/drawingml/2006/main" noGrp="1"/>
          </p:cNvSpPr>
          <p:nvPr/>
        </p:nvSpPr>
        <p:spPr>
          <a:xfrm xmlns:a="http://schemas.openxmlformats.org/drawingml/2006/main">
            <a:off x="7486650" y="1619250"/>
            <a:ext cx="3333750" cy="1257300"/>
          </a:xfrm>
          <a:prstGeom xmlns:a="http://schemas.openxmlformats.org/drawingml/2006/main" prst="roundRect">
            <a:avLst>
              <a:gd name="adj" fmla="val 9091"/>
            </a:avLst>
          </a:prstGeom>
          <a:solidFill xmlns:a="http://schemas.openxmlformats.org/drawingml/2006/main">
            <a:srgbClr val="F2F3F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C42FD58-E36B-4B99-9647-EC6DFB901FDD}"/>
              </a:ext>
            </a:extLst>
          </p:cNvPr>
          <p:cNvSpPr>
            <a:spLocks xmlns:a="http://schemas.openxmlformats.org/drawingml/2006/main" noGrp="1"/>
          </p:cNvSpPr>
          <p:nvPr/>
        </p:nvSpPr>
        <p:spPr>
          <a:xfrm xmlns:a="http://schemas.openxmlformats.org/drawingml/2006/main">
            <a:off x="7486650" y="1619250"/>
            <a:ext cx="76200" cy="1257300"/>
          </a:xfrm>
          <a:prstGeom xmlns:a="http://schemas.openxmlformats.org/drawingml/2006/main" prst="rect">
            <a:avLst/>
          </a:prstGeom>
          <a:solidFill xmlns:a="http://schemas.openxmlformats.org/drawingml/2006/main">
            <a:srgbClr val="D9770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48B923A-3F8E-483C-8CCB-D0FC02EEAF21}"/>
              </a:ext>
            </a:extLst>
          </p:cNvPr>
          <p:cNvSpPr>
            <a:spLocks xmlns:a="http://schemas.openxmlformats.org/drawingml/2006/main" noGrp="1"/>
          </p:cNvSpPr>
          <p:nvPr/>
        </p:nvSpPr>
        <p:spPr>
          <a:xfrm xmlns:a="http://schemas.openxmlformats.org/drawingml/2006/main">
            <a:off x="7677150" y="1771650"/>
            <a:ext cx="3009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625" b="1">
                <a:solidFill>
                  <a:srgbClr val="D97706"/>
                </a:solidFill>
                <a:latin typeface="Helvetica Neue"/>
                <a:ea typeface="Helvetica Neue"/>
                <a:cs typeface="Helvetica Neue"/>
              </a:defRPr>
            </a:pPr>
            <a:r>
              <a:rPr sz="2625" b="1">
                <a:solidFill>
                  <a:srgbClr val="D97706"/>
                </a:solidFill>
                <a:latin typeface="Helvetica Neue"/>
                <a:ea typeface="Helvetica Neue"/>
                <a:cs typeface="Helvetica Neue"/>
              </a:rPr>
              <a:t>0.112</a:t>
            </a:r>
          </a:p>
        </p:txBody>
      </p:sp>
      <p:sp>
        <p:nvSpPr>
          <p:cNvPr id="17" name="">
            <a:extLst xmlns:a="http://schemas.openxmlformats.org/drawingml/2006/main">
              <a:ext uri="{FF2B5EF4-FFF2-40B4-BE49-F238E27FC236}">
                <a16:creationId xmlns:a16="http://schemas.microsoft.com/office/drawing/2014/main" id="{0AFFEBF8-953F-4E14-86D6-6BF4A1EDB115}"/>
              </a:ext>
            </a:extLst>
          </p:cNvPr>
          <p:cNvSpPr>
            <a:spLocks xmlns:a="http://schemas.openxmlformats.org/drawingml/2006/main" noGrp="1"/>
          </p:cNvSpPr>
          <p:nvPr/>
        </p:nvSpPr>
        <p:spPr>
          <a:xfrm xmlns:a="http://schemas.openxmlformats.org/drawingml/2006/main">
            <a:off x="7677150" y="2305050"/>
            <a:ext cx="3009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5D6470"/>
                </a:solidFill>
                <a:latin typeface="Helvetica Neue"/>
                <a:ea typeface="Helvetica Neue"/>
                <a:cs typeface="Helvetica Neue"/>
              </a:defRPr>
            </a:pPr>
            <a:r>
              <a:rPr sz="1275" b="0">
                <a:solidFill>
                  <a:srgbClr val="5D6470"/>
                </a:solidFill>
                <a:latin typeface="Helvetica Neue"/>
                <a:ea typeface="Helvetica Neue"/>
                <a:cs typeface="Helvetica Neue"/>
              </a:rPr>
              <a:t>median reaction error</a:t>
            </a:r>
          </a:p>
        </p:txBody>
      </p:sp>
      <p:sp>
        <p:nvSpPr>
          <p:cNvPr id="18" name="">
            <a:extLst xmlns:a="http://schemas.openxmlformats.org/drawingml/2006/main">
              <a:ext uri="{FF2B5EF4-FFF2-40B4-BE49-F238E27FC236}">
                <a16:creationId xmlns:a16="http://schemas.microsoft.com/office/drawing/2014/main" id="{8B625B69-51A5-4476-B370-A804AD1C41F2}"/>
              </a:ext>
            </a:extLst>
          </p:cNvPr>
          <p:cNvSpPr>
            <a:spLocks xmlns:a="http://schemas.openxmlformats.org/drawingml/2006/main" noGrp="1"/>
          </p:cNvSpPr>
          <p:nvPr/>
        </p:nvSpPr>
        <p:spPr>
          <a:xfrm xmlns:a="http://schemas.openxmlformats.org/drawingml/2006/main">
            <a:off x="400050" y="3276600"/>
            <a:ext cx="5238750" cy="2095500"/>
          </a:xfrm>
          <a:prstGeom xmlns:a="http://schemas.openxmlformats.org/drawingml/2006/main" prst="roundRect">
            <a:avLst>
              <a:gd name="adj" fmla="val 5455"/>
            </a:avLst>
          </a:prstGeom>
          <a:solidFill xmlns:a="http://schemas.openxmlformats.org/drawingml/2006/main">
            <a:srgbClr val="F2F3F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9CCAFA9C-7BCC-4359-927D-770307476001}"/>
              </a:ext>
            </a:extLst>
          </p:cNvPr>
          <p:cNvSpPr>
            <a:spLocks xmlns:a="http://schemas.openxmlformats.org/drawingml/2006/main" noGrp="1"/>
          </p:cNvSpPr>
          <p:nvPr/>
        </p:nvSpPr>
        <p:spPr>
          <a:xfrm xmlns:a="http://schemas.openxmlformats.org/drawingml/2006/main">
            <a:off x="685800" y="3543300"/>
            <a:ext cx="466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318"/>
                </a:solidFill>
                <a:latin typeface="Helvetica Neue"/>
                <a:ea typeface="Helvetica Neue"/>
                <a:cs typeface="Helvetica Neue"/>
              </a:defRPr>
            </a:pPr>
            <a:r>
              <a:rPr sz="1725" b="1">
                <a:solidFill>
                  <a:srgbClr val="111318"/>
                </a:solidFill>
                <a:latin typeface="Helvetica Neue"/>
                <a:ea typeface="Helvetica Neue"/>
                <a:cs typeface="Helvetica Neue"/>
              </a:rPr>
              <a:t>What this establishes</a:t>
            </a:r>
          </a:p>
        </p:txBody>
      </p:sp>
      <p:sp>
        <p:nvSpPr>
          <p:cNvPr id="20" name="">
            <a:extLst xmlns:a="http://schemas.openxmlformats.org/drawingml/2006/main">
              <a:ext uri="{FF2B5EF4-FFF2-40B4-BE49-F238E27FC236}">
                <a16:creationId xmlns:a16="http://schemas.microsoft.com/office/drawing/2014/main" id="{FE546EC3-D102-46D4-BC28-8F244E7E19D5}"/>
              </a:ext>
            </a:extLst>
          </p:cNvPr>
          <p:cNvSpPr>
            <a:spLocks xmlns:a="http://schemas.openxmlformats.org/drawingml/2006/main" noGrp="1"/>
          </p:cNvSpPr>
          <p:nvPr/>
        </p:nvSpPr>
        <p:spPr>
          <a:xfrm xmlns:a="http://schemas.openxmlformats.org/drawingml/2006/main">
            <a:off x="685800" y="4038600"/>
            <a:ext cx="45529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492"/>
          </a:bodyPr>
          <a:lstStyle xmlns:a="http://schemas.openxmlformats.org/drawingml/2006/main"/>
          <a:p xmlns:a="http://schemas.openxmlformats.org/drawingml/2006/main">
            <a:pPr algn="l">
              <a:defRPr sz="1500" b="0">
                <a:solidFill>
                  <a:srgbClr val="111318"/>
                </a:solidFill>
                <a:latin typeface="Helvetica Neue"/>
                <a:ea typeface="Helvetica Neue"/>
                <a:cs typeface="Helvetica Neue"/>
              </a:defRPr>
            </a:pPr>
            <a:r>
              <a:rPr sz="1500" b="0">
                <a:solidFill>
                  <a:srgbClr val="111318"/>
                </a:solidFill>
                <a:latin typeface="Helvetica Neue"/>
                <a:ea typeface="Helvetica Neue"/>
                <a:cs typeface="Helvetica Neue"/>
              </a:rPr>
              <a:t>• controlled recovery is operational</a:t>
            </a:r>
          </a:p>
          <a:p xmlns:a="http://schemas.openxmlformats.org/drawingml/2006/main">
            <a:pPr algn="l">
              <a:defRPr sz="1500" b="0">
                <a:solidFill>
                  <a:srgbClr val="111318"/>
                </a:solidFill>
                <a:latin typeface="Helvetica Neue"/>
                <a:ea typeface="Helvetica Neue"/>
                <a:cs typeface="Helvetica Neue"/>
              </a:defRPr>
            </a:pPr>
            <a:r>
              <a:rPr sz="1500" b="0">
                <a:solidFill>
                  <a:srgbClr val="111318"/>
                </a:solidFill>
                <a:latin typeface="Helvetica Neue"/>
                <a:ea typeface="Helvetica Neue"/>
                <a:cs typeface="Helvetica Neue"/>
              </a:rPr>
              <a:t>• MODPATH archives can be converted into reference graphs</a:t>
            </a:r>
          </a:p>
          <a:p xmlns:a="http://schemas.openxmlformats.org/drawingml/2006/main">
            <a:pPr algn="l">
              <a:defRPr sz="1500" b="0">
                <a:solidFill>
                  <a:srgbClr val="111318"/>
                </a:solidFill>
                <a:latin typeface="Helvetica Neue"/>
                <a:ea typeface="Helvetica Neue"/>
                <a:cs typeface="Helvetica Neue"/>
              </a:defRPr>
            </a:pPr>
            <a:r>
              <a:rPr sz="1500" b="0">
                <a:solidFill>
                  <a:srgbClr val="111318"/>
                </a:solidFill>
                <a:latin typeface="Helvetica Neue"/>
                <a:ea typeface="Helvetica Neue"/>
                <a:cs typeface="Helvetica Neue"/>
              </a:rPr>
              <a:t>• PHREEQC-compatible proxy executed; live PHREEQC validated later</a:t>
            </a:r>
          </a:p>
        </p:txBody>
      </p:sp>
      <p:sp>
        <p:nvSpPr>
          <p:cNvPr id="21" name="">
            <a:extLst xmlns:a="http://schemas.openxmlformats.org/drawingml/2006/main">
              <a:ext uri="{FF2B5EF4-FFF2-40B4-BE49-F238E27FC236}">
                <a16:creationId xmlns:a16="http://schemas.microsoft.com/office/drawing/2014/main" id="{B90193E9-2574-4CAE-B876-8396FB92AE3A}"/>
              </a:ext>
            </a:extLst>
          </p:cNvPr>
          <p:cNvSpPr>
            <a:spLocks xmlns:a="http://schemas.openxmlformats.org/drawingml/2006/main" noGrp="1"/>
          </p:cNvSpPr>
          <p:nvPr/>
        </p:nvSpPr>
        <p:spPr>
          <a:xfrm xmlns:a="http://schemas.openxmlformats.org/drawingml/2006/main">
            <a:off x="5905500" y="3276600"/>
            <a:ext cx="5505450" cy="2095500"/>
          </a:xfrm>
          <a:prstGeom xmlns:a="http://schemas.openxmlformats.org/drawingml/2006/main" prst="roundRect">
            <a:avLst>
              <a:gd name="adj" fmla="val 5455"/>
            </a:avLst>
          </a:prstGeom>
          <a:solidFill xmlns:a="http://schemas.openxmlformats.org/drawingml/2006/main">
            <a:srgbClr val="FDE8E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C9DBF8A-9146-411E-AAD5-6C1A39C3EDD8}"/>
              </a:ext>
            </a:extLst>
          </p:cNvPr>
          <p:cNvSpPr>
            <a:spLocks xmlns:a="http://schemas.openxmlformats.org/drawingml/2006/main" noGrp="1"/>
          </p:cNvSpPr>
          <p:nvPr/>
        </p:nvSpPr>
        <p:spPr>
          <a:xfrm xmlns:a="http://schemas.openxmlformats.org/drawingml/2006/main">
            <a:off x="6191250" y="3543300"/>
            <a:ext cx="493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C53030"/>
                </a:solidFill>
                <a:latin typeface="Helvetica Neue"/>
                <a:ea typeface="Helvetica Neue"/>
                <a:cs typeface="Helvetica Neue"/>
              </a:defRPr>
            </a:pPr>
            <a:r>
              <a:rPr sz="1725" b="1">
                <a:solidFill>
                  <a:srgbClr val="C53030"/>
                </a:solidFill>
                <a:latin typeface="Helvetica Neue"/>
                <a:ea typeface="Helvetica Neue"/>
                <a:cs typeface="Helvetica Neue"/>
              </a:rPr>
              <a:t>What this does not establish</a:t>
            </a:r>
          </a:p>
        </p:txBody>
      </p:sp>
      <p:sp>
        <p:nvSpPr>
          <p:cNvPr id="23" name="">
            <a:extLst xmlns:a="http://schemas.openxmlformats.org/drawingml/2006/main">
              <a:ext uri="{FF2B5EF4-FFF2-40B4-BE49-F238E27FC236}">
                <a16:creationId xmlns:a16="http://schemas.microsoft.com/office/drawing/2014/main" id="{3ABC2293-A085-4946-B4C8-AB1F6AD0BED3}"/>
              </a:ext>
            </a:extLst>
          </p:cNvPr>
          <p:cNvSpPr>
            <a:spLocks xmlns:a="http://schemas.openxmlformats.org/drawingml/2006/main" noGrp="1"/>
          </p:cNvSpPr>
          <p:nvPr/>
        </p:nvSpPr>
        <p:spPr>
          <a:xfrm xmlns:a="http://schemas.openxmlformats.org/drawingml/2006/main">
            <a:off x="6191250" y="4038600"/>
            <a:ext cx="4857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C53030"/>
                </a:solidFill>
                <a:latin typeface="Helvetica Neue"/>
                <a:ea typeface="Helvetica Neue"/>
                <a:cs typeface="Helvetica Neue"/>
              </a:defRPr>
            </a:pPr>
            <a:r>
              <a:rPr sz="1650" b="1">
                <a:solidFill>
                  <a:srgbClr val="C53030"/>
                </a:solidFill>
                <a:latin typeface="Helvetica Neue"/>
                <a:ea typeface="Helvetica Neue"/>
                <a:cs typeface="Helvetica Neue"/>
              </a:rPr>
              <a:t>F1 = 1.00 for archive conversion is verification of conversion—not perfect inference of an unknown topology.</a:t>
            </a:r>
          </a:p>
        </p:txBody>
      </p:sp>
    </p:spTree>
    <p:extLst>
      <p:ext uri="{BB962C8B-B14F-4D97-AF65-F5344CB8AC3E}">
        <p14:creationId xmlns:p14="http://schemas.microsoft.com/office/powerpoint/2010/main" val="212749894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F93C22F8-ACD2-46B3-A567-E4EAB43C0FCF}"/>
              </a:ext>
            </a:extLst>
          </p:cNvPr>
          <p:cNvSpPr>
            <a:spLocks xmlns:a="http://schemas.openxmlformats.org/drawingml/2006/main" noGrp="1"/>
          </p:cNvSpPr>
          <p:nvPr/>
        </p:nvSpPr>
        <p:spPr>
          <a:xfrm xmlns:a="http://schemas.openxmlformats.org/drawingml/2006/main">
            <a:off x="400050" y="228600"/>
            <a:ext cx="695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RESIDENCE TIME</a:t>
            </a:r>
          </a:p>
        </p:txBody>
      </p:sp>
      <p:sp>
        <p:nvSpPr>
          <p:cNvPr id="2" name="">
            <a:extLst xmlns:a="http://schemas.openxmlformats.org/drawingml/2006/main">
              <a:ext uri="{FF2B5EF4-FFF2-40B4-BE49-F238E27FC236}">
                <a16:creationId xmlns:a16="http://schemas.microsoft.com/office/drawing/2014/main" id="{39A20E64-5C97-4700-9C05-67288DBFBCA4}"/>
              </a:ext>
            </a:extLst>
          </p:cNvPr>
          <p:cNvSpPr>
            <a:spLocks xmlns:a="http://schemas.openxmlformats.org/drawingml/2006/main" noGrp="1"/>
          </p:cNvSpPr>
          <p:nvPr/>
        </p:nvSpPr>
        <p:spPr>
          <a:xfrm xmlns:a="http://schemas.openxmlformats.org/drawingml/2006/main">
            <a:off x="400050" y="49530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8947"/>
          </a:bodyPr>
          <a:lstStyle xmlns:a="http://schemas.openxmlformats.org/drawingml/2006/main"/>
          <a:p xmlns:a="http://schemas.openxmlformats.org/drawingml/2006/main">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Age inference closely reproduced reported configurations—but weak topology added no value</a:t>
            </a:r>
          </a:p>
        </p:txBody>
      </p:sp>
      <p:sp>
        <p:nvSpPr>
          <p:cNvPr id="3" name="">
            <a:extLst xmlns:a="http://schemas.openxmlformats.org/drawingml/2006/main">
              <a:ext uri="{FF2B5EF4-FFF2-40B4-BE49-F238E27FC236}">
                <a16:creationId xmlns:a16="http://schemas.microsoft.com/office/drawing/2014/main" id="{68D6C5B1-D497-401F-BA75-2E0C67EAC0DC}"/>
              </a:ext>
            </a:extLst>
          </p:cNvPr>
          <p:cNvSpPr>
            <a:spLocks xmlns:a="http://schemas.openxmlformats.org/drawingml/2006/main" noGrp="1"/>
          </p:cNvSpPr>
          <p:nvPr/>
        </p:nvSpPr>
        <p:spPr>
          <a:xfrm xmlns:a="http://schemas.openxmlformats.org/drawingml/2006/main">
            <a:off x="400050" y="1190625"/>
            <a:ext cx="11391900" cy="19050"/>
          </a:xfrm>
          <a:prstGeom xmlns:a="http://schemas.openxmlformats.org/drawingml/2006/main" prst="rect">
            <a:avLst/>
          </a:prstGeom>
          <a:solidFill xmlns:a="http://schemas.openxmlformats.org/drawingml/2006/main">
            <a:srgbClr val="11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78CB31A-1171-429F-82E7-09F27A7A2167}"/>
              </a:ext>
            </a:extLst>
          </p:cNvPr>
          <p:cNvSpPr>
            <a:spLocks xmlns:a="http://schemas.openxmlformats.org/drawingml/2006/main" noGrp="1"/>
          </p:cNvSpPr>
          <p:nvPr/>
        </p:nvSpPr>
        <p:spPr>
          <a:xfrm xmlns:a="http://schemas.openxmlformats.org/drawingml/2006/main">
            <a:off x="400050" y="6438900"/>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Results</a:t>
            </a:r>
          </a:p>
        </p:txBody>
      </p:sp>
      <p:sp>
        <p:nvSpPr>
          <p:cNvPr id="5" name="">
            <a:extLst xmlns:a="http://schemas.openxmlformats.org/drawingml/2006/main">
              <a:ext uri="{FF2B5EF4-FFF2-40B4-BE49-F238E27FC236}">
                <a16:creationId xmlns:a16="http://schemas.microsoft.com/office/drawing/2014/main" id="{3B799476-D70B-4623-9BB3-20460F7DC601}"/>
              </a:ext>
            </a:extLst>
          </p:cNvPr>
          <p:cNvSpPr>
            <a:spLocks xmlns:a="http://schemas.openxmlformats.org/drawingml/2006/main" noGrp="1"/>
          </p:cNvSpPr>
          <p:nvPr/>
        </p:nvSpPr>
        <p:spPr>
          <a:xfrm xmlns:a="http://schemas.openxmlformats.org/drawingml/2006/main">
            <a:off x="11287125" y="63912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09</a:t>
            </a:r>
          </a:p>
        </p:txBody>
      </p:sp>
      <p:sp>
        <p:nvSpPr>
          <p:cNvPr id="6" name="">
            <a:extLst xmlns:a="http://schemas.openxmlformats.org/drawingml/2006/main">
              <a:ext uri="{FF2B5EF4-FFF2-40B4-BE49-F238E27FC236}">
                <a16:creationId xmlns:a16="http://schemas.microsoft.com/office/drawing/2014/main" id="{64E3F2DA-0743-49D3-A9D5-9ADF2B032FEF}"/>
              </a:ext>
            </a:extLst>
          </p:cNvPr>
          <p:cNvSpPr>
            <a:spLocks xmlns:a="http://schemas.openxmlformats.org/drawingml/2006/main" noGrp="1"/>
          </p:cNvSpPr>
          <p:nvPr/>
        </p:nvSpPr>
        <p:spPr>
          <a:xfrm xmlns:a="http://schemas.openxmlformats.org/drawingml/2006/main">
            <a:off x="400050" y="1524000"/>
            <a:ext cx="2381250" cy="1257300"/>
          </a:xfrm>
          <a:prstGeom xmlns:a="http://schemas.openxmlformats.org/drawingml/2006/main" prst="roundRect">
            <a:avLst>
              <a:gd name="adj" fmla="val 9091"/>
            </a:avLst>
          </a:prstGeom>
          <a:solidFill xmlns:a="http://schemas.openxmlformats.org/drawingml/2006/main">
            <a:srgbClr val="F2F3F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008DEE6-6A16-426D-8FBE-8AE4626506B3}"/>
              </a:ext>
            </a:extLst>
          </p:cNvPr>
          <p:cNvSpPr>
            <a:spLocks xmlns:a="http://schemas.openxmlformats.org/drawingml/2006/main" noGrp="1"/>
          </p:cNvSpPr>
          <p:nvPr/>
        </p:nvSpPr>
        <p:spPr>
          <a:xfrm xmlns:a="http://schemas.openxmlformats.org/drawingml/2006/main">
            <a:off x="400050" y="1524000"/>
            <a:ext cx="76200" cy="12573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D325170-8CC0-4335-89FE-58AA761A2C4C}"/>
              </a:ext>
            </a:extLst>
          </p:cNvPr>
          <p:cNvSpPr>
            <a:spLocks xmlns:a="http://schemas.openxmlformats.org/drawingml/2006/main" noGrp="1"/>
          </p:cNvSpPr>
          <p:nvPr/>
        </p:nvSpPr>
        <p:spPr>
          <a:xfrm xmlns:a="http://schemas.openxmlformats.org/drawingml/2006/main">
            <a:off x="590550" y="1676400"/>
            <a:ext cx="2057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625" b="1">
                <a:solidFill>
                  <a:srgbClr val="3D8DFF"/>
                </a:solidFill>
                <a:latin typeface="Helvetica Neue"/>
                <a:ea typeface="Helvetica Neue"/>
                <a:cs typeface="Helvetica Neue"/>
              </a:defRPr>
            </a:pPr>
            <a:r>
              <a:rPr sz="2625" b="1">
                <a:solidFill>
                  <a:srgbClr val="3D8DFF"/>
                </a:solidFill>
                <a:latin typeface="Helvetica Neue"/>
                <a:ea typeface="Helvetica Neue"/>
                <a:cs typeface="Helvetica Neue"/>
              </a:rPr>
              <a:t>329</a:t>
            </a:r>
          </a:p>
        </p:txBody>
      </p:sp>
      <p:sp>
        <p:nvSpPr>
          <p:cNvPr id="9" name="">
            <a:extLst xmlns:a="http://schemas.openxmlformats.org/drawingml/2006/main">
              <a:ext uri="{FF2B5EF4-FFF2-40B4-BE49-F238E27FC236}">
                <a16:creationId xmlns:a16="http://schemas.microsoft.com/office/drawing/2014/main" id="{34D5D9BE-7AFB-4A2C-9313-4CBCB940B08D}"/>
              </a:ext>
            </a:extLst>
          </p:cNvPr>
          <p:cNvSpPr>
            <a:spLocks xmlns:a="http://schemas.openxmlformats.org/drawingml/2006/main" noGrp="1"/>
          </p:cNvSpPr>
          <p:nvPr/>
        </p:nvSpPr>
        <p:spPr>
          <a:xfrm xmlns:a="http://schemas.openxmlformats.org/drawingml/2006/main">
            <a:off x="590550" y="2209800"/>
            <a:ext cx="2057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5D6470"/>
                </a:solidFill>
                <a:latin typeface="Helvetica Neue"/>
                <a:ea typeface="Helvetica Neue"/>
                <a:cs typeface="Helvetica Neue"/>
              </a:defRPr>
            </a:pPr>
            <a:r>
              <a:rPr sz="1275" b="0">
                <a:solidFill>
                  <a:srgbClr val="5D6470"/>
                </a:solidFill>
                <a:latin typeface="Helvetica Neue"/>
                <a:ea typeface="Helvetica Neue"/>
                <a:cs typeface="Helvetica Neue"/>
              </a:rPr>
              <a:t>strict reportable fits</a:t>
            </a:r>
          </a:p>
        </p:txBody>
      </p:sp>
      <p:sp>
        <p:nvSpPr>
          <p:cNvPr id="10" name="">
            <a:extLst xmlns:a="http://schemas.openxmlformats.org/drawingml/2006/main">
              <a:ext uri="{FF2B5EF4-FFF2-40B4-BE49-F238E27FC236}">
                <a16:creationId xmlns:a16="http://schemas.microsoft.com/office/drawing/2014/main" id="{07BC1C12-B8E8-4E61-A37B-C74F2EADE690}"/>
              </a:ext>
            </a:extLst>
          </p:cNvPr>
          <p:cNvSpPr>
            <a:spLocks xmlns:a="http://schemas.openxmlformats.org/drawingml/2006/main" noGrp="1"/>
          </p:cNvSpPr>
          <p:nvPr/>
        </p:nvSpPr>
        <p:spPr>
          <a:xfrm xmlns:a="http://schemas.openxmlformats.org/drawingml/2006/main">
            <a:off x="2971800" y="1524000"/>
            <a:ext cx="2381250" cy="1257300"/>
          </a:xfrm>
          <a:prstGeom xmlns:a="http://schemas.openxmlformats.org/drawingml/2006/main" prst="roundRect">
            <a:avLst>
              <a:gd name="adj" fmla="val 9091"/>
            </a:avLst>
          </a:prstGeom>
          <a:solidFill xmlns:a="http://schemas.openxmlformats.org/drawingml/2006/main">
            <a:srgbClr val="F2F3F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4FA632E-3680-47B2-9E84-D9E56A7B7CA1}"/>
              </a:ext>
            </a:extLst>
          </p:cNvPr>
          <p:cNvSpPr>
            <a:spLocks xmlns:a="http://schemas.openxmlformats.org/drawingml/2006/main" noGrp="1"/>
          </p:cNvSpPr>
          <p:nvPr/>
        </p:nvSpPr>
        <p:spPr>
          <a:xfrm xmlns:a="http://schemas.openxmlformats.org/drawingml/2006/main">
            <a:off x="2971800" y="1524000"/>
            <a:ext cx="76200" cy="12573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7DEA497-9124-4814-A209-606CCA4D65DC}"/>
              </a:ext>
            </a:extLst>
          </p:cNvPr>
          <p:cNvSpPr>
            <a:spLocks xmlns:a="http://schemas.openxmlformats.org/drawingml/2006/main" noGrp="1"/>
          </p:cNvSpPr>
          <p:nvPr/>
        </p:nvSpPr>
        <p:spPr>
          <a:xfrm xmlns:a="http://schemas.openxmlformats.org/drawingml/2006/main">
            <a:off x="3162300" y="1676400"/>
            <a:ext cx="2057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625" b="1">
                <a:solidFill>
                  <a:srgbClr val="3D8DFF"/>
                </a:solidFill>
                <a:latin typeface="Helvetica Neue"/>
                <a:ea typeface="Helvetica Neue"/>
                <a:cs typeface="Helvetica Neue"/>
              </a:defRPr>
            </a:pPr>
            <a:r>
              <a:rPr sz="2625" b="1">
                <a:solidFill>
                  <a:srgbClr val="3D8DFF"/>
                </a:solidFill>
                <a:latin typeface="Helvetica Neue"/>
                <a:ea typeface="Helvetica Neue"/>
                <a:cs typeface="Helvetica Neue"/>
              </a:rPr>
              <a:t>0.0279</a:t>
            </a:r>
          </a:p>
        </p:txBody>
      </p:sp>
      <p:sp>
        <p:nvSpPr>
          <p:cNvPr id="13" name="">
            <a:extLst xmlns:a="http://schemas.openxmlformats.org/drawingml/2006/main">
              <a:ext uri="{FF2B5EF4-FFF2-40B4-BE49-F238E27FC236}">
                <a16:creationId xmlns:a16="http://schemas.microsoft.com/office/drawing/2014/main" id="{D7728B70-E53F-4BF1-B1FD-FC1E57F52755}"/>
              </a:ext>
            </a:extLst>
          </p:cNvPr>
          <p:cNvSpPr>
            <a:spLocks xmlns:a="http://schemas.openxmlformats.org/drawingml/2006/main" noGrp="1"/>
          </p:cNvSpPr>
          <p:nvPr/>
        </p:nvSpPr>
        <p:spPr>
          <a:xfrm xmlns:a="http://schemas.openxmlformats.org/drawingml/2006/main">
            <a:off x="3162300" y="2209800"/>
            <a:ext cx="2057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5D6470"/>
                </a:solidFill>
                <a:latin typeface="Helvetica Neue"/>
                <a:ea typeface="Helvetica Neue"/>
                <a:cs typeface="Helvetica Neue"/>
              </a:defRPr>
            </a:pPr>
            <a:r>
              <a:rPr sz="1275" b="0">
                <a:solidFill>
                  <a:srgbClr val="5D6470"/>
                </a:solidFill>
                <a:latin typeface="Helvetica Neue"/>
                <a:ea typeface="Helvetica Neue"/>
                <a:cs typeface="Helvetica Neue"/>
              </a:rPr>
              <a:t>median |Δ log₁₀ age|</a:t>
            </a:r>
          </a:p>
        </p:txBody>
      </p:sp>
      <p:sp>
        <p:nvSpPr>
          <p:cNvPr id="14" name="">
            <a:extLst xmlns:a="http://schemas.openxmlformats.org/drawingml/2006/main">
              <a:ext uri="{FF2B5EF4-FFF2-40B4-BE49-F238E27FC236}">
                <a16:creationId xmlns:a16="http://schemas.microsoft.com/office/drawing/2014/main" id="{19FD5C60-C199-469E-B9A4-30AC0A36B0D2}"/>
              </a:ext>
            </a:extLst>
          </p:cNvPr>
          <p:cNvSpPr>
            <a:spLocks xmlns:a="http://schemas.openxmlformats.org/drawingml/2006/main" noGrp="1"/>
          </p:cNvSpPr>
          <p:nvPr/>
        </p:nvSpPr>
        <p:spPr>
          <a:xfrm xmlns:a="http://schemas.openxmlformats.org/drawingml/2006/main">
            <a:off x="5543550" y="1524000"/>
            <a:ext cx="2381250" cy="1257300"/>
          </a:xfrm>
          <a:prstGeom xmlns:a="http://schemas.openxmlformats.org/drawingml/2006/main" prst="roundRect">
            <a:avLst>
              <a:gd name="adj" fmla="val 9091"/>
            </a:avLst>
          </a:prstGeom>
          <a:solidFill xmlns:a="http://schemas.openxmlformats.org/drawingml/2006/main">
            <a:srgbClr val="F2F3F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F1166B9-A992-4E78-A0AE-C09B3946AD9E}"/>
              </a:ext>
            </a:extLst>
          </p:cNvPr>
          <p:cNvSpPr>
            <a:spLocks xmlns:a="http://schemas.openxmlformats.org/drawingml/2006/main" noGrp="1"/>
          </p:cNvSpPr>
          <p:nvPr/>
        </p:nvSpPr>
        <p:spPr>
          <a:xfrm xmlns:a="http://schemas.openxmlformats.org/drawingml/2006/main">
            <a:off x="5543550" y="1524000"/>
            <a:ext cx="76200" cy="12573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6BFB207-5FA6-4607-A069-473CD0702AD0}"/>
              </a:ext>
            </a:extLst>
          </p:cNvPr>
          <p:cNvSpPr>
            <a:spLocks xmlns:a="http://schemas.openxmlformats.org/drawingml/2006/main" noGrp="1"/>
          </p:cNvSpPr>
          <p:nvPr/>
        </p:nvSpPr>
        <p:spPr>
          <a:xfrm xmlns:a="http://schemas.openxmlformats.org/drawingml/2006/main">
            <a:off x="5734050" y="1676400"/>
            <a:ext cx="2057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625" b="1">
                <a:solidFill>
                  <a:srgbClr val="3D8DFF"/>
                </a:solidFill>
                <a:latin typeface="Helvetica Neue"/>
                <a:ea typeface="Helvetica Neue"/>
                <a:cs typeface="Helvetica Neue"/>
              </a:defRPr>
            </a:pPr>
            <a:r>
              <a:rPr sz="2625" b="1">
                <a:solidFill>
                  <a:srgbClr val="3D8DFF"/>
                </a:solidFill>
                <a:latin typeface="Helvetica Neue"/>
                <a:ea typeface="Helvetica Neue"/>
                <a:cs typeface="Helvetica Neue"/>
              </a:rPr>
              <a:t>0.937</a:t>
            </a:r>
          </a:p>
        </p:txBody>
      </p:sp>
      <p:sp>
        <p:nvSpPr>
          <p:cNvPr id="17" name="">
            <a:extLst xmlns:a="http://schemas.openxmlformats.org/drawingml/2006/main">
              <a:ext uri="{FF2B5EF4-FFF2-40B4-BE49-F238E27FC236}">
                <a16:creationId xmlns:a16="http://schemas.microsoft.com/office/drawing/2014/main" id="{BCE20E02-E971-4F58-9C75-F791821D326D}"/>
              </a:ext>
            </a:extLst>
          </p:cNvPr>
          <p:cNvSpPr>
            <a:spLocks xmlns:a="http://schemas.openxmlformats.org/drawingml/2006/main" noGrp="1"/>
          </p:cNvSpPr>
          <p:nvPr/>
        </p:nvSpPr>
        <p:spPr>
          <a:xfrm xmlns:a="http://schemas.openxmlformats.org/drawingml/2006/main">
            <a:off x="5734050" y="2209800"/>
            <a:ext cx="2057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5D6470"/>
                </a:solidFill>
                <a:latin typeface="Helvetica Neue"/>
                <a:ea typeface="Helvetica Neue"/>
                <a:cs typeface="Helvetica Neue"/>
              </a:defRPr>
            </a:pPr>
            <a:r>
              <a:rPr sz="1275" b="0">
                <a:solidFill>
                  <a:srgbClr val="5D6470"/>
                </a:solidFill>
                <a:latin typeface="Helvetica Neue"/>
                <a:ea typeface="Helvetica Neue"/>
                <a:cs typeface="Helvetica Neue"/>
              </a:rPr>
              <a:t>R² against reported configuration</a:t>
            </a:r>
          </a:p>
        </p:txBody>
      </p:sp>
      <p:sp>
        <p:nvSpPr>
          <p:cNvPr id="18" name="">
            <a:extLst xmlns:a="http://schemas.openxmlformats.org/drawingml/2006/main">
              <a:ext uri="{FF2B5EF4-FFF2-40B4-BE49-F238E27FC236}">
                <a16:creationId xmlns:a16="http://schemas.microsoft.com/office/drawing/2014/main" id="{27984E52-4260-4B90-8D4E-764AF1945DD5}"/>
              </a:ext>
            </a:extLst>
          </p:cNvPr>
          <p:cNvSpPr>
            <a:spLocks xmlns:a="http://schemas.openxmlformats.org/drawingml/2006/main" noGrp="1"/>
          </p:cNvSpPr>
          <p:nvPr/>
        </p:nvSpPr>
        <p:spPr>
          <a:xfrm xmlns:a="http://schemas.openxmlformats.org/drawingml/2006/main">
            <a:off x="8115300" y="1524000"/>
            <a:ext cx="2381250" cy="1257300"/>
          </a:xfrm>
          <a:prstGeom xmlns:a="http://schemas.openxmlformats.org/drawingml/2006/main" prst="roundRect">
            <a:avLst>
              <a:gd name="adj" fmla="val 9091"/>
            </a:avLst>
          </a:prstGeom>
          <a:solidFill xmlns:a="http://schemas.openxmlformats.org/drawingml/2006/main">
            <a:srgbClr val="F2F3F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4A2A3E9-5A85-4833-86E2-53611FF43380}"/>
              </a:ext>
            </a:extLst>
          </p:cNvPr>
          <p:cNvSpPr>
            <a:spLocks xmlns:a="http://schemas.openxmlformats.org/drawingml/2006/main" noGrp="1"/>
          </p:cNvSpPr>
          <p:nvPr/>
        </p:nvSpPr>
        <p:spPr>
          <a:xfrm xmlns:a="http://schemas.openxmlformats.org/drawingml/2006/main">
            <a:off x="8115300" y="1524000"/>
            <a:ext cx="76200" cy="12573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1345259-B435-49AD-AB4F-4E46BDD275CD}"/>
              </a:ext>
            </a:extLst>
          </p:cNvPr>
          <p:cNvSpPr>
            <a:spLocks xmlns:a="http://schemas.openxmlformats.org/drawingml/2006/main" noGrp="1"/>
          </p:cNvSpPr>
          <p:nvPr/>
        </p:nvSpPr>
        <p:spPr>
          <a:xfrm xmlns:a="http://schemas.openxmlformats.org/drawingml/2006/main">
            <a:off x="8305800" y="1676400"/>
            <a:ext cx="2057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625" b="1">
                <a:solidFill>
                  <a:srgbClr val="3D8DFF"/>
                </a:solidFill>
                <a:latin typeface="Helvetica Neue"/>
                <a:ea typeface="Helvetica Neue"/>
                <a:cs typeface="Helvetica Neue"/>
              </a:defRPr>
            </a:pPr>
            <a:r>
              <a:rPr sz="2625" b="1">
                <a:solidFill>
                  <a:srgbClr val="3D8DFF"/>
                </a:solidFill>
                <a:latin typeface="Helvetica Neue"/>
                <a:ea typeface="Helvetica Neue"/>
                <a:cs typeface="Helvetica Neue"/>
              </a:rPr>
              <a:t>87.5%</a:t>
            </a:r>
          </a:p>
        </p:txBody>
      </p:sp>
      <p:sp>
        <p:nvSpPr>
          <p:cNvPr id="21" name="">
            <a:extLst xmlns:a="http://schemas.openxmlformats.org/drawingml/2006/main">
              <a:ext uri="{FF2B5EF4-FFF2-40B4-BE49-F238E27FC236}">
                <a16:creationId xmlns:a16="http://schemas.microsoft.com/office/drawing/2014/main" id="{93E8D933-B317-48B5-BE2A-9B79EF217150}"/>
              </a:ext>
            </a:extLst>
          </p:cNvPr>
          <p:cNvSpPr>
            <a:spLocks xmlns:a="http://schemas.openxmlformats.org/drawingml/2006/main" noGrp="1"/>
          </p:cNvSpPr>
          <p:nvPr/>
        </p:nvSpPr>
        <p:spPr>
          <a:xfrm xmlns:a="http://schemas.openxmlformats.org/drawingml/2006/main">
            <a:off x="8305800" y="2209800"/>
            <a:ext cx="2057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5D6470"/>
                </a:solidFill>
                <a:latin typeface="Helvetica Neue"/>
                <a:ea typeface="Helvetica Neue"/>
                <a:cs typeface="Helvetica Neue"/>
              </a:defRPr>
            </a:pPr>
            <a:r>
              <a:rPr sz="1275" b="0">
                <a:solidFill>
                  <a:srgbClr val="5D6470"/>
                </a:solidFill>
                <a:latin typeface="Helvetica Neue"/>
                <a:ea typeface="Helvetica Neue"/>
                <a:cs typeface="Helvetica Neue"/>
              </a:rPr>
              <a:t>within factor two</a:t>
            </a:r>
          </a:p>
        </p:txBody>
      </p:sp>
      <p:sp>
        <p:nvSpPr>
          <p:cNvPr id="22" name="">
            <a:extLst xmlns:a="http://schemas.openxmlformats.org/drawingml/2006/main">
              <a:ext uri="{FF2B5EF4-FFF2-40B4-BE49-F238E27FC236}">
                <a16:creationId xmlns:a16="http://schemas.microsoft.com/office/drawing/2014/main" id="{9320CFEB-11A4-4BAF-BC9D-5832715F05BB}"/>
              </a:ext>
            </a:extLst>
          </p:cNvPr>
          <p:cNvSpPr>
            <a:spLocks xmlns:a="http://schemas.openxmlformats.org/drawingml/2006/main" noGrp="1"/>
          </p:cNvSpPr>
          <p:nvPr/>
        </p:nvSpPr>
        <p:spPr>
          <a:xfrm xmlns:a="http://schemas.openxmlformats.org/drawingml/2006/main">
            <a:off x="400050" y="3143250"/>
            <a:ext cx="11391900" cy="2171700"/>
          </a:xfrm>
          <a:prstGeom xmlns:a="http://schemas.openxmlformats.org/drawingml/2006/main" prst="roundRect">
            <a:avLst>
              <a:gd name="adj" fmla="val 5263"/>
            </a:avLst>
          </a:prstGeom>
          <a:solidFill xmlns:a="http://schemas.openxmlformats.org/drawingml/2006/main">
            <a:srgbClr val="F2F3F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7446C409-E31C-4B66-8F0E-43A3ADD9C814}"/>
              </a:ext>
            </a:extLst>
          </p:cNvPr>
          <p:cNvSpPr>
            <a:spLocks xmlns:a="http://schemas.openxmlformats.org/drawingml/2006/main" noGrp="1"/>
          </p:cNvSpPr>
          <p:nvPr/>
        </p:nvSpPr>
        <p:spPr>
          <a:xfrm xmlns:a="http://schemas.openxmlformats.org/drawingml/2006/main">
            <a:off x="685800" y="34290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11318"/>
                </a:solidFill>
                <a:latin typeface="Helvetica Neue"/>
                <a:ea typeface="Helvetica Neue"/>
                <a:cs typeface="Helvetica Neue"/>
              </a:defRPr>
            </a:pPr>
            <a:r>
              <a:rPr sz="1800" b="1">
                <a:solidFill>
                  <a:srgbClr val="111318"/>
                </a:solidFill>
                <a:latin typeface="Helvetica Neue"/>
                <a:ea typeface="Helvetica Neue"/>
                <a:cs typeface="Helvetica Neue"/>
              </a:rPr>
              <a:t>Topology stress test</a:t>
            </a:r>
          </a:p>
        </p:txBody>
      </p:sp>
      <p:sp>
        <p:nvSpPr>
          <p:cNvPr id="24" name="">
            <a:extLst xmlns:a="http://schemas.openxmlformats.org/drawingml/2006/main">
              <a:ext uri="{FF2B5EF4-FFF2-40B4-BE49-F238E27FC236}">
                <a16:creationId xmlns:a16="http://schemas.microsoft.com/office/drawing/2014/main" id="{55675F76-A374-4B52-A62A-1F7DAFD1B1CA}"/>
              </a:ext>
            </a:extLst>
          </p:cNvPr>
          <p:cNvSpPr>
            <a:spLocks xmlns:a="http://schemas.openxmlformats.org/drawingml/2006/main" noGrp="1"/>
          </p:cNvSpPr>
          <p:nvPr/>
        </p:nvSpPr>
        <p:spPr>
          <a:xfrm xmlns:a="http://schemas.openxmlformats.org/drawingml/2006/main">
            <a:off x="685800" y="3905250"/>
            <a:ext cx="2333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Weak hydraulic proxy</a:t>
            </a:r>
          </a:p>
        </p:txBody>
      </p:sp>
      <p:sp>
        <p:nvSpPr>
          <p:cNvPr id="25" name="">
            <a:extLst xmlns:a="http://schemas.openxmlformats.org/drawingml/2006/main">
              <a:ext uri="{FF2B5EF4-FFF2-40B4-BE49-F238E27FC236}">
                <a16:creationId xmlns:a16="http://schemas.microsoft.com/office/drawing/2014/main" id="{648BFA9D-AF1E-4D04-9F26-0F19193F067E}"/>
              </a:ext>
            </a:extLst>
          </p:cNvPr>
          <p:cNvSpPr>
            <a:spLocks xmlns:a="http://schemas.openxmlformats.org/drawingml/2006/main" noGrp="1"/>
          </p:cNvSpPr>
          <p:nvPr/>
        </p:nvSpPr>
        <p:spPr>
          <a:xfrm xmlns:a="http://schemas.openxmlformats.org/drawingml/2006/main">
            <a:off x="3190875" y="3905250"/>
            <a:ext cx="1666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D97706"/>
                </a:solidFill>
                <a:latin typeface="Helvetica Neue"/>
                <a:ea typeface="Helvetica Neue"/>
                <a:cs typeface="Helvetica Neue"/>
              </a:defRPr>
            </a:pPr>
            <a:r>
              <a:rPr sz="1350" b="0">
                <a:solidFill>
                  <a:srgbClr val="D97706"/>
                </a:solidFill>
                <a:latin typeface="Helvetica Neue"/>
                <a:ea typeface="Helvetica Neue"/>
                <a:cs typeface="Helvetica Neue"/>
              </a:rPr>
              <a:t>−0.00135 RMSE</a:t>
            </a:r>
          </a:p>
        </p:txBody>
      </p:sp>
      <p:sp>
        <p:nvSpPr>
          <p:cNvPr id="26" name="">
            <a:extLst xmlns:a="http://schemas.openxmlformats.org/drawingml/2006/main">
              <a:ext uri="{FF2B5EF4-FFF2-40B4-BE49-F238E27FC236}">
                <a16:creationId xmlns:a16="http://schemas.microsoft.com/office/drawing/2014/main" id="{EE3B24A9-6861-4128-B96F-7E308CF68CFA}"/>
              </a:ext>
            </a:extLst>
          </p:cNvPr>
          <p:cNvSpPr>
            <a:spLocks xmlns:a="http://schemas.openxmlformats.org/drawingml/2006/main" noGrp="1"/>
          </p:cNvSpPr>
          <p:nvPr/>
        </p:nvSpPr>
        <p:spPr>
          <a:xfrm xmlns:a="http://schemas.openxmlformats.org/drawingml/2006/main">
            <a:off x="5095875" y="3905250"/>
            <a:ext cx="323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11318"/>
                </a:solidFill>
                <a:latin typeface="Helvetica Neue"/>
                <a:ea typeface="Helvetica Neue"/>
                <a:cs typeface="Helvetica Neue"/>
              </a:defRPr>
            </a:pPr>
            <a:r>
              <a:rPr sz="1350" b="0">
                <a:solidFill>
                  <a:srgbClr val="111318"/>
                </a:solidFill>
                <a:latin typeface="Helvetica Neue"/>
                <a:ea typeface="Helvetica Neue"/>
                <a:cs typeface="Helvetica Neue"/>
              </a:rPr>
              <a:t>factor-two agreement worsened</a:t>
            </a:r>
          </a:p>
        </p:txBody>
      </p:sp>
      <p:sp>
        <p:nvSpPr>
          <p:cNvPr id="27" name="">
            <a:extLst xmlns:a="http://schemas.openxmlformats.org/drawingml/2006/main">
              <a:ext uri="{FF2B5EF4-FFF2-40B4-BE49-F238E27FC236}">
                <a16:creationId xmlns:a16="http://schemas.microsoft.com/office/drawing/2014/main" id="{6FE0147D-D47E-49EB-944A-6BD8BE711127}"/>
              </a:ext>
            </a:extLst>
          </p:cNvPr>
          <p:cNvSpPr>
            <a:spLocks xmlns:a="http://schemas.openxmlformats.org/drawingml/2006/main" noGrp="1"/>
          </p:cNvSpPr>
          <p:nvPr/>
        </p:nvSpPr>
        <p:spPr>
          <a:xfrm xmlns:a="http://schemas.openxmlformats.org/drawingml/2006/main">
            <a:off x="9048750" y="3867150"/>
            <a:ext cx="2000250" cy="323850"/>
          </a:xfrm>
          <a:prstGeom xmlns:a="http://schemas.openxmlformats.org/drawingml/2006/main" prst="roundRect">
            <a:avLst>
              <a:gd name="adj" fmla="val 50000"/>
            </a:avLst>
          </a:prstGeom>
          <a:solidFill xmlns:a="http://schemas.openxmlformats.org/drawingml/2006/main">
            <a:srgbClr val="FFF3D9"/>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C38D8CAB-662B-46A0-8B5F-17A00764079A}"/>
              </a:ext>
            </a:extLst>
          </p:cNvPr>
          <p:cNvSpPr>
            <a:spLocks xmlns:a="http://schemas.openxmlformats.org/drawingml/2006/main" noGrp="1"/>
          </p:cNvSpPr>
          <p:nvPr/>
        </p:nvSpPr>
        <p:spPr>
          <a:xfrm xmlns:a="http://schemas.openxmlformats.org/drawingml/2006/main">
            <a:off x="9144000" y="3933825"/>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D97706"/>
                </a:solidFill>
                <a:latin typeface="Helvetica Neue"/>
                <a:ea typeface="Helvetica Neue"/>
                <a:cs typeface="Helvetica Neue"/>
              </a:defRPr>
            </a:pPr>
            <a:r>
              <a:rPr sz="1050" b="1">
                <a:solidFill>
                  <a:srgbClr val="D97706"/>
                </a:solidFill>
                <a:latin typeface="Helvetica Neue"/>
                <a:ea typeface="Helvetica Neue"/>
                <a:cs typeface="Helvetica Neue"/>
              </a:rPr>
              <a:t>NO ROBUST GAIN</a:t>
            </a:r>
          </a:p>
        </p:txBody>
      </p:sp>
      <p:sp>
        <p:nvSpPr>
          <p:cNvPr id="29" name="">
            <a:extLst xmlns:a="http://schemas.openxmlformats.org/drawingml/2006/main">
              <a:ext uri="{FF2B5EF4-FFF2-40B4-BE49-F238E27FC236}">
                <a16:creationId xmlns:a16="http://schemas.microsoft.com/office/drawing/2014/main" id="{822D45D3-E37E-459D-8143-EA364E155A61}"/>
              </a:ext>
            </a:extLst>
          </p:cNvPr>
          <p:cNvSpPr>
            <a:spLocks xmlns:a="http://schemas.openxmlformats.org/drawingml/2006/main" noGrp="1"/>
          </p:cNvSpPr>
          <p:nvPr/>
        </p:nvSpPr>
        <p:spPr>
          <a:xfrm xmlns:a="http://schemas.openxmlformats.org/drawingml/2006/main">
            <a:off x="685800" y="4362450"/>
            <a:ext cx="2333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Wrong direction</a:t>
            </a:r>
          </a:p>
        </p:txBody>
      </p:sp>
      <p:sp>
        <p:nvSpPr>
          <p:cNvPr id="30" name="">
            <a:extLst xmlns:a="http://schemas.openxmlformats.org/drawingml/2006/main">
              <a:ext uri="{FF2B5EF4-FFF2-40B4-BE49-F238E27FC236}">
                <a16:creationId xmlns:a16="http://schemas.microsoft.com/office/drawing/2014/main" id="{0A0AAEA2-4603-486C-956C-CD6BEA6D88B9}"/>
              </a:ext>
            </a:extLst>
          </p:cNvPr>
          <p:cNvSpPr>
            <a:spLocks xmlns:a="http://schemas.openxmlformats.org/drawingml/2006/main" noGrp="1"/>
          </p:cNvSpPr>
          <p:nvPr/>
        </p:nvSpPr>
        <p:spPr>
          <a:xfrm xmlns:a="http://schemas.openxmlformats.org/drawingml/2006/main">
            <a:off x="3190875" y="4362450"/>
            <a:ext cx="1666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C53030"/>
                </a:solidFill>
                <a:latin typeface="Helvetica Neue"/>
                <a:ea typeface="Helvetica Neue"/>
                <a:cs typeface="Helvetica Neue"/>
              </a:defRPr>
            </a:pPr>
            <a:r>
              <a:rPr sz="1350" b="0">
                <a:solidFill>
                  <a:srgbClr val="C53030"/>
                </a:solidFill>
                <a:latin typeface="Helvetica Neue"/>
                <a:ea typeface="Helvetica Neue"/>
                <a:cs typeface="Helvetica Neue"/>
              </a:rPr>
              <a:t>+0.1008 RMSE</a:t>
            </a:r>
          </a:p>
        </p:txBody>
      </p:sp>
      <p:sp>
        <p:nvSpPr>
          <p:cNvPr id="31" name="">
            <a:extLst xmlns:a="http://schemas.openxmlformats.org/drawingml/2006/main">
              <a:ext uri="{FF2B5EF4-FFF2-40B4-BE49-F238E27FC236}">
                <a16:creationId xmlns:a16="http://schemas.microsoft.com/office/drawing/2014/main" id="{637C25D0-8C33-4F38-A7B6-8C60E4CD3ADD}"/>
              </a:ext>
            </a:extLst>
          </p:cNvPr>
          <p:cNvSpPr>
            <a:spLocks xmlns:a="http://schemas.openxmlformats.org/drawingml/2006/main" noGrp="1"/>
          </p:cNvSpPr>
          <p:nvPr/>
        </p:nvSpPr>
        <p:spPr>
          <a:xfrm xmlns:a="http://schemas.openxmlformats.org/drawingml/2006/main">
            <a:off x="5095875" y="4362450"/>
            <a:ext cx="323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11318"/>
                </a:solidFill>
                <a:latin typeface="Helvetica Neue"/>
                <a:ea typeface="Helvetica Neue"/>
                <a:cs typeface="Helvetica Neue"/>
              </a:defRPr>
            </a:pPr>
            <a:r>
              <a:rPr sz="1350" b="0">
                <a:solidFill>
                  <a:srgbClr val="111318"/>
                </a:solidFill>
                <a:latin typeface="Helvetica Neue"/>
                <a:ea typeface="Helvetica Neue"/>
                <a:cs typeface="Helvetica Neue"/>
              </a:rPr>
              <a:t>clear negative transfer</a:t>
            </a:r>
          </a:p>
        </p:txBody>
      </p:sp>
      <p:sp>
        <p:nvSpPr>
          <p:cNvPr id="32" name="">
            <a:extLst xmlns:a="http://schemas.openxmlformats.org/drawingml/2006/main">
              <a:ext uri="{FF2B5EF4-FFF2-40B4-BE49-F238E27FC236}">
                <a16:creationId xmlns:a16="http://schemas.microsoft.com/office/drawing/2014/main" id="{A98EA7FC-EAF2-4D94-922D-9C1F2ECDD6F5}"/>
              </a:ext>
            </a:extLst>
          </p:cNvPr>
          <p:cNvSpPr>
            <a:spLocks xmlns:a="http://schemas.openxmlformats.org/drawingml/2006/main" noGrp="1"/>
          </p:cNvSpPr>
          <p:nvPr/>
        </p:nvSpPr>
        <p:spPr>
          <a:xfrm xmlns:a="http://schemas.openxmlformats.org/drawingml/2006/main">
            <a:off x="9048750" y="4324350"/>
            <a:ext cx="2000250" cy="323850"/>
          </a:xfrm>
          <a:prstGeom xmlns:a="http://schemas.openxmlformats.org/drawingml/2006/main" prst="roundRect">
            <a:avLst>
              <a:gd name="adj" fmla="val 50000"/>
            </a:avLst>
          </a:prstGeom>
          <a:solidFill xmlns:a="http://schemas.openxmlformats.org/drawingml/2006/main">
            <a:srgbClr val="FDE8E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FDC7BBA0-EDCE-4052-BE38-0B74ADB43995}"/>
              </a:ext>
            </a:extLst>
          </p:cNvPr>
          <p:cNvSpPr>
            <a:spLocks xmlns:a="http://schemas.openxmlformats.org/drawingml/2006/main" noGrp="1"/>
          </p:cNvSpPr>
          <p:nvPr/>
        </p:nvSpPr>
        <p:spPr>
          <a:xfrm xmlns:a="http://schemas.openxmlformats.org/drawingml/2006/main">
            <a:off x="9144000" y="4391025"/>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C53030"/>
                </a:solidFill>
                <a:latin typeface="Helvetica Neue"/>
                <a:ea typeface="Helvetica Neue"/>
                <a:cs typeface="Helvetica Neue"/>
              </a:defRPr>
            </a:pPr>
            <a:r>
              <a:rPr sz="1050" b="1">
                <a:solidFill>
                  <a:srgbClr val="C53030"/>
                </a:solidFill>
                <a:latin typeface="Helvetica Neue"/>
                <a:ea typeface="Helvetica Neue"/>
                <a:cs typeface="Helvetica Neue"/>
              </a:rPr>
              <a:t>HARMFUL</a:t>
            </a:r>
          </a:p>
        </p:txBody>
      </p:sp>
      <p:sp>
        <p:nvSpPr>
          <p:cNvPr id="34" name="">
            <a:extLst xmlns:a="http://schemas.openxmlformats.org/drawingml/2006/main">
              <a:ext uri="{FF2B5EF4-FFF2-40B4-BE49-F238E27FC236}">
                <a16:creationId xmlns:a16="http://schemas.microsoft.com/office/drawing/2014/main" id="{E8E93ED4-8DC5-4F15-A0F6-4EB3F532698E}"/>
              </a:ext>
            </a:extLst>
          </p:cNvPr>
          <p:cNvSpPr>
            <a:spLocks xmlns:a="http://schemas.openxmlformats.org/drawingml/2006/main" noGrp="1"/>
          </p:cNvSpPr>
          <p:nvPr/>
        </p:nvSpPr>
        <p:spPr>
          <a:xfrm xmlns:a="http://schemas.openxmlformats.org/drawingml/2006/main">
            <a:off x="685800" y="4819650"/>
            <a:ext cx="2333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Random graph</a:t>
            </a:r>
          </a:p>
        </p:txBody>
      </p:sp>
      <p:sp>
        <p:nvSpPr>
          <p:cNvPr id="35" name="">
            <a:extLst xmlns:a="http://schemas.openxmlformats.org/drawingml/2006/main">
              <a:ext uri="{FF2B5EF4-FFF2-40B4-BE49-F238E27FC236}">
                <a16:creationId xmlns:a16="http://schemas.microsoft.com/office/drawing/2014/main" id="{CA9D444F-8B76-406B-8BB6-7E6A77CF743A}"/>
              </a:ext>
            </a:extLst>
          </p:cNvPr>
          <p:cNvSpPr>
            <a:spLocks xmlns:a="http://schemas.openxmlformats.org/drawingml/2006/main" noGrp="1"/>
          </p:cNvSpPr>
          <p:nvPr/>
        </p:nvSpPr>
        <p:spPr>
          <a:xfrm xmlns:a="http://schemas.openxmlformats.org/drawingml/2006/main">
            <a:off x="3190875" y="4819650"/>
            <a:ext cx="1666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C53030"/>
                </a:solidFill>
                <a:latin typeface="Helvetica Neue"/>
                <a:ea typeface="Helvetica Neue"/>
                <a:cs typeface="Helvetica Neue"/>
              </a:defRPr>
            </a:pPr>
            <a:r>
              <a:rPr sz="1350" b="0">
                <a:solidFill>
                  <a:srgbClr val="C53030"/>
                </a:solidFill>
                <a:latin typeface="Helvetica Neue"/>
                <a:ea typeface="Helvetica Neue"/>
                <a:cs typeface="Helvetica Neue"/>
              </a:rPr>
              <a:t>+0.6550 RMSE</a:t>
            </a:r>
          </a:p>
        </p:txBody>
      </p:sp>
      <p:sp>
        <p:nvSpPr>
          <p:cNvPr id="36" name="">
            <a:extLst xmlns:a="http://schemas.openxmlformats.org/drawingml/2006/main">
              <a:ext uri="{FF2B5EF4-FFF2-40B4-BE49-F238E27FC236}">
                <a16:creationId xmlns:a16="http://schemas.microsoft.com/office/drawing/2014/main" id="{6BC89A13-0B67-4589-A29F-51AAD454FDC5}"/>
              </a:ext>
            </a:extLst>
          </p:cNvPr>
          <p:cNvSpPr>
            <a:spLocks xmlns:a="http://schemas.openxmlformats.org/drawingml/2006/main" noGrp="1"/>
          </p:cNvSpPr>
          <p:nvPr/>
        </p:nvSpPr>
        <p:spPr>
          <a:xfrm xmlns:a="http://schemas.openxmlformats.org/drawingml/2006/main">
            <a:off x="5095875" y="4819650"/>
            <a:ext cx="323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11318"/>
                </a:solidFill>
                <a:latin typeface="Helvetica Neue"/>
                <a:ea typeface="Helvetica Neue"/>
                <a:cs typeface="Helvetica Neue"/>
              </a:defRPr>
            </a:pPr>
            <a:r>
              <a:rPr sz="1350" b="0">
                <a:solidFill>
                  <a:srgbClr val="111318"/>
                </a:solidFill>
                <a:latin typeface="Helvetica Neue"/>
                <a:ea typeface="Helvetica Neue"/>
                <a:cs typeface="Helvetica Neue"/>
              </a:rPr>
              <a:t>severe negative transfer</a:t>
            </a:r>
          </a:p>
        </p:txBody>
      </p:sp>
      <p:sp>
        <p:nvSpPr>
          <p:cNvPr id="37" name="">
            <a:extLst xmlns:a="http://schemas.openxmlformats.org/drawingml/2006/main">
              <a:ext uri="{FF2B5EF4-FFF2-40B4-BE49-F238E27FC236}">
                <a16:creationId xmlns:a16="http://schemas.microsoft.com/office/drawing/2014/main" id="{B81E1638-9A4A-4B24-9599-9E41F3FDE140}"/>
              </a:ext>
            </a:extLst>
          </p:cNvPr>
          <p:cNvSpPr>
            <a:spLocks xmlns:a="http://schemas.openxmlformats.org/drawingml/2006/main" noGrp="1"/>
          </p:cNvSpPr>
          <p:nvPr/>
        </p:nvSpPr>
        <p:spPr>
          <a:xfrm xmlns:a="http://schemas.openxmlformats.org/drawingml/2006/main">
            <a:off x="9048750" y="4781550"/>
            <a:ext cx="2000250" cy="323850"/>
          </a:xfrm>
          <a:prstGeom xmlns:a="http://schemas.openxmlformats.org/drawingml/2006/main" prst="roundRect">
            <a:avLst>
              <a:gd name="adj" fmla="val 50000"/>
            </a:avLst>
          </a:prstGeom>
          <a:solidFill xmlns:a="http://schemas.openxmlformats.org/drawingml/2006/main">
            <a:srgbClr val="FDE8E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06856C39-40DF-4057-A14B-9E745649EA7C}"/>
              </a:ext>
            </a:extLst>
          </p:cNvPr>
          <p:cNvSpPr>
            <a:spLocks xmlns:a="http://schemas.openxmlformats.org/drawingml/2006/main" noGrp="1"/>
          </p:cNvSpPr>
          <p:nvPr/>
        </p:nvSpPr>
        <p:spPr>
          <a:xfrm xmlns:a="http://schemas.openxmlformats.org/drawingml/2006/main">
            <a:off x="9144000" y="4848225"/>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C53030"/>
                </a:solidFill>
                <a:latin typeface="Helvetica Neue"/>
                <a:ea typeface="Helvetica Neue"/>
                <a:cs typeface="Helvetica Neue"/>
              </a:defRPr>
            </a:pPr>
            <a:r>
              <a:rPr sz="1050" b="1">
                <a:solidFill>
                  <a:srgbClr val="C53030"/>
                </a:solidFill>
                <a:latin typeface="Helvetica Neue"/>
                <a:ea typeface="Helvetica Neue"/>
                <a:cs typeface="Helvetica Neue"/>
              </a:rPr>
              <a:t>HARMFUL</a:t>
            </a:r>
          </a:p>
        </p:txBody>
      </p:sp>
    </p:spTree>
    <p:extLst>
      <p:ext uri="{BB962C8B-B14F-4D97-AF65-F5344CB8AC3E}">
        <p14:creationId xmlns:p14="http://schemas.microsoft.com/office/powerpoint/2010/main" val="195920033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3825C80-C758-4674-8848-DCDFFFC96285}"/>
              </a:ext>
            </a:extLst>
          </p:cNvPr>
          <p:cNvSpPr>
            <a:spLocks xmlns:a="http://schemas.openxmlformats.org/drawingml/2006/main" noGrp="1"/>
          </p:cNvSpPr>
          <p:nvPr/>
        </p:nvSpPr>
        <p:spPr>
          <a:xfrm xmlns:a="http://schemas.openxmlformats.org/drawingml/2006/main">
            <a:off x="400050" y="228600"/>
            <a:ext cx="695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DIRECTED CONNECTIVITY</a:t>
            </a:r>
          </a:p>
        </p:txBody>
      </p:sp>
      <p:sp>
        <p:nvSpPr>
          <p:cNvPr id="2" name="">
            <a:extLst xmlns:a="http://schemas.openxmlformats.org/drawingml/2006/main">
              <a:ext uri="{FF2B5EF4-FFF2-40B4-BE49-F238E27FC236}">
                <a16:creationId xmlns:a16="http://schemas.microsoft.com/office/drawing/2014/main" id="{9CAE62A0-F59A-4598-B8BA-0DEC7669745A}"/>
              </a:ext>
            </a:extLst>
          </p:cNvPr>
          <p:cNvSpPr>
            <a:spLocks xmlns:a="http://schemas.openxmlformats.org/drawingml/2006/main" noGrp="1"/>
          </p:cNvSpPr>
          <p:nvPr/>
        </p:nvSpPr>
        <p:spPr>
          <a:xfrm xmlns:a="http://schemas.openxmlformats.org/drawingml/2006/main">
            <a:off x="400050" y="49530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Topology skill was conditional, not perfect</a:t>
            </a:r>
          </a:p>
        </p:txBody>
      </p:sp>
      <p:sp>
        <p:nvSpPr>
          <p:cNvPr id="3" name="">
            <a:extLst xmlns:a="http://schemas.openxmlformats.org/drawingml/2006/main">
              <a:ext uri="{FF2B5EF4-FFF2-40B4-BE49-F238E27FC236}">
                <a16:creationId xmlns:a16="http://schemas.microsoft.com/office/drawing/2014/main" id="{8A9864D6-E803-412B-B59E-911ECAE5547B}"/>
              </a:ext>
            </a:extLst>
          </p:cNvPr>
          <p:cNvSpPr>
            <a:spLocks xmlns:a="http://schemas.openxmlformats.org/drawingml/2006/main" noGrp="1"/>
          </p:cNvSpPr>
          <p:nvPr/>
        </p:nvSpPr>
        <p:spPr>
          <a:xfrm xmlns:a="http://schemas.openxmlformats.org/drawingml/2006/main">
            <a:off x="400050" y="1190625"/>
            <a:ext cx="11391900" cy="19050"/>
          </a:xfrm>
          <a:prstGeom xmlns:a="http://schemas.openxmlformats.org/drawingml/2006/main" prst="rect">
            <a:avLst/>
          </a:prstGeom>
          <a:solidFill xmlns:a="http://schemas.openxmlformats.org/drawingml/2006/main">
            <a:srgbClr val="11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CB65184-49FB-4441-824C-4C77C7E2F2C7}"/>
              </a:ext>
            </a:extLst>
          </p:cNvPr>
          <p:cNvSpPr>
            <a:spLocks xmlns:a="http://schemas.openxmlformats.org/drawingml/2006/main" noGrp="1"/>
          </p:cNvSpPr>
          <p:nvPr/>
        </p:nvSpPr>
        <p:spPr>
          <a:xfrm xmlns:a="http://schemas.openxmlformats.org/drawingml/2006/main">
            <a:off x="400050" y="6438900"/>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Results</a:t>
            </a:r>
          </a:p>
        </p:txBody>
      </p:sp>
      <p:sp>
        <p:nvSpPr>
          <p:cNvPr id="5" name="">
            <a:extLst xmlns:a="http://schemas.openxmlformats.org/drawingml/2006/main">
              <a:ext uri="{FF2B5EF4-FFF2-40B4-BE49-F238E27FC236}">
                <a16:creationId xmlns:a16="http://schemas.microsoft.com/office/drawing/2014/main" id="{1E4E825E-E6C8-4B35-8F56-896672351334}"/>
              </a:ext>
            </a:extLst>
          </p:cNvPr>
          <p:cNvSpPr>
            <a:spLocks xmlns:a="http://schemas.openxmlformats.org/drawingml/2006/main" noGrp="1"/>
          </p:cNvSpPr>
          <p:nvPr/>
        </p:nvSpPr>
        <p:spPr>
          <a:xfrm xmlns:a="http://schemas.openxmlformats.org/drawingml/2006/main">
            <a:off x="11287125" y="63912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10</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2b7ac11a1ae84247"/>
          <a:stretch xmlns:a="http://schemas.openxmlformats.org/drawingml/2006/main"/>
        </p:blipFill>
        <p:spPr>
          <a:xfrm xmlns:a="http://schemas.openxmlformats.org/drawingml/2006/main">
            <a:off x="2141643" y="1428750"/>
            <a:ext cx="3089064" cy="47625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35B6DA2-D650-4E9F-B5BA-1005DDDC613B}"/>
              </a:ext>
            </a:extLst>
          </p:cNvPr>
          <p:cNvSpPr>
            <a:spLocks xmlns:a="http://schemas.openxmlformats.org/drawingml/2006/main" noGrp="1"/>
          </p:cNvSpPr>
          <p:nvPr/>
        </p:nvSpPr>
        <p:spPr>
          <a:xfrm xmlns:a="http://schemas.openxmlformats.org/drawingml/2006/main">
            <a:off x="7334250" y="1543050"/>
            <a:ext cx="4095750" cy="1524000"/>
          </a:xfrm>
          <a:prstGeom xmlns:a="http://schemas.openxmlformats.org/drawingml/2006/main" prst="roundRect">
            <a:avLst>
              <a:gd name="adj" fmla="val 7500"/>
            </a:avLst>
          </a:prstGeom>
          <a:solidFill xmlns:a="http://schemas.openxmlformats.org/drawingml/2006/main">
            <a:srgbClr val="E7F7F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855E4F5-DE6A-4EBE-9C71-ABEC808C2922}"/>
              </a:ext>
            </a:extLst>
          </p:cNvPr>
          <p:cNvSpPr>
            <a:spLocks xmlns:a="http://schemas.openxmlformats.org/drawingml/2006/main" noGrp="1"/>
          </p:cNvSpPr>
          <p:nvPr/>
        </p:nvSpPr>
        <p:spPr>
          <a:xfrm xmlns:a="http://schemas.openxmlformats.org/drawingml/2006/main">
            <a:off x="7620000" y="1762125"/>
            <a:ext cx="3524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49A84"/>
                </a:solidFill>
                <a:latin typeface="Helvetica Neue"/>
                <a:ea typeface="Helvetica Neue"/>
                <a:cs typeface="Helvetica Neue"/>
              </a:defRPr>
            </a:pPr>
            <a:r>
              <a:rPr sz="1725" b="1">
                <a:solidFill>
                  <a:srgbClr val="149A84"/>
                </a:solidFill>
                <a:latin typeface="Helvetica Neue"/>
                <a:ea typeface="Helvetica Neue"/>
                <a:cs typeface="Helvetica Neue"/>
              </a:rPr>
              <a:t>Head-gradient inference</a:t>
            </a:r>
          </a:p>
        </p:txBody>
      </p:sp>
      <p:sp>
        <p:nvSpPr>
          <p:cNvPr id="9" name="">
            <a:extLst xmlns:a="http://schemas.openxmlformats.org/drawingml/2006/main">
              <a:ext uri="{FF2B5EF4-FFF2-40B4-BE49-F238E27FC236}">
                <a16:creationId xmlns:a16="http://schemas.microsoft.com/office/drawing/2014/main" id="{CC61B0A9-FC1D-4E79-9A24-55BA8A29353B}"/>
              </a:ext>
            </a:extLst>
          </p:cNvPr>
          <p:cNvSpPr>
            <a:spLocks xmlns:a="http://schemas.openxmlformats.org/drawingml/2006/main" noGrp="1"/>
          </p:cNvSpPr>
          <p:nvPr/>
        </p:nvSpPr>
        <p:spPr>
          <a:xfrm xmlns:a="http://schemas.openxmlformats.org/drawingml/2006/main">
            <a:off x="7620000" y="2305050"/>
            <a:ext cx="352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11318"/>
                </a:solidFill>
                <a:latin typeface="Helvetica Neue"/>
                <a:ea typeface="Helvetica Neue"/>
                <a:cs typeface="Helvetica Neue"/>
              </a:defRPr>
            </a:pPr>
            <a:r>
              <a:rPr sz="2025" b="1">
                <a:solidFill>
                  <a:srgbClr val="111318"/>
                </a:solidFill>
                <a:latin typeface="Helvetica Neue"/>
                <a:ea typeface="Helvetica Neue"/>
                <a:cs typeface="Helvetica Neue"/>
              </a:rPr>
              <a:t>P 0.49  ·  R 0.84  ·  F1 0.62</a:t>
            </a:r>
          </a:p>
        </p:txBody>
      </p:sp>
      <p:sp>
        <p:nvSpPr>
          <p:cNvPr id="10" name="">
            <a:extLst xmlns:a="http://schemas.openxmlformats.org/drawingml/2006/main">
              <a:ext uri="{FF2B5EF4-FFF2-40B4-BE49-F238E27FC236}">
                <a16:creationId xmlns:a16="http://schemas.microsoft.com/office/drawing/2014/main" id="{EA5DE881-A5C1-423D-AD3C-C7406F5C66E7}"/>
              </a:ext>
            </a:extLst>
          </p:cNvPr>
          <p:cNvSpPr>
            <a:spLocks xmlns:a="http://schemas.openxmlformats.org/drawingml/2006/main" noGrp="1"/>
          </p:cNvSpPr>
          <p:nvPr/>
        </p:nvSpPr>
        <p:spPr>
          <a:xfrm xmlns:a="http://schemas.openxmlformats.org/drawingml/2006/main">
            <a:off x="7334250" y="3257550"/>
            <a:ext cx="4095750" cy="1066800"/>
          </a:xfrm>
          <a:prstGeom xmlns:a="http://schemas.openxmlformats.org/drawingml/2006/main" prst="roundRect">
            <a:avLst>
              <a:gd name="adj" fmla="val 10714"/>
            </a:avLst>
          </a:prstGeom>
          <a:solidFill xmlns:a="http://schemas.openxmlformats.org/drawingml/2006/main">
            <a:srgbClr val="F2F3F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6E2004D-E4EB-41AB-94C6-629607F4EC75}"/>
              </a:ext>
            </a:extLst>
          </p:cNvPr>
          <p:cNvSpPr>
            <a:spLocks xmlns:a="http://schemas.openxmlformats.org/drawingml/2006/main" noGrp="1"/>
          </p:cNvSpPr>
          <p:nvPr/>
        </p:nvSpPr>
        <p:spPr>
          <a:xfrm xmlns:a="http://schemas.openxmlformats.org/drawingml/2006/main">
            <a:off x="7620000" y="3448050"/>
            <a:ext cx="3524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Independent scenarios</a:t>
            </a:r>
          </a:p>
        </p:txBody>
      </p:sp>
      <p:sp>
        <p:nvSpPr>
          <p:cNvPr id="12" name="">
            <a:extLst xmlns:a="http://schemas.openxmlformats.org/drawingml/2006/main">
              <a:ext uri="{FF2B5EF4-FFF2-40B4-BE49-F238E27FC236}">
                <a16:creationId xmlns:a16="http://schemas.microsoft.com/office/drawing/2014/main" id="{298AAAB5-D180-4EE6-92A3-DBF45260CBA8}"/>
              </a:ext>
            </a:extLst>
          </p:cNvPr>
          <p:cNvSpPr>
            <a:spLocks xmlns:a="http://schemas.openxmlformats.org/drawingml/2006/main" noGrp="1"/>
          </p:cNvSpPr>
          <p:nvPr/>
        </p:nvSpPr>
        <p:spPr>
          <a:xfrm xmlns:a="http://schemas.openxmlformats.org/drawingml/2006/main">
            <a:off x="7620000" y="3848100"/>
            <a:ext cx="3524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11318"/>
                </a:solidFill>
                <a:latin typeface="Helvetica Neue"/>
                <a:ea typeface="Helvetica Neue"/>
                <a:cs typeface="Helvetica Neue"/>
              </a:defRPr>
            </a:pPr>
            <a:r>
              <a:rPr sz="1350" b="0">
                <a:solidFill>
                  <a:srgbClr val="111318"/>
                </a:solidFill>
                <a:latin typeface="Helvetica Neue"/>
                <a:ea typeface="Helvetica Neue"/>
                <a:cs typeface="Helvetica Neue"/>
              </a:rPr>
              <a:t>1 perfect · 3 with FP/FN · 2 scale mismatches</a:t>
            </a:r>
          </a:p>
        </p:txBody>
      </p:sp>
      <p:sp>
        <p:nvSpPr>
          <p:cNvPr id="13" name="">
            <a:extLst xmlns:a="http://schemas.openxmlformats.org/drawingml/2006/main">
              <a:ext uri="{FF2B5EF4-FFF2-40B4-BE49-F238E27FC236}">
                <a16:creationId xmlns:a16="http://schemas.microsoft.com/office/drawing/2014/main" id="{DD0958F2-ED2B-42BC-A918-BE357A7EB2A7}"/>
              </a:ext>
            </a:extLst>
          </p:cNvPr>
          <p:cNvSpPr>
            <a:spLocks xmlns:a="http://schemas.openxmlformats.org/drawingml/2006/main" noGrp="1"/>
          </p:cNvSpPr>
          <p:nvPr/>
        </p:nvSpPr>
        <p:spPr>
          <a:xfrm xmlns:a="http://schemas.openxmlformats.org/drawingml/2006/main">
            <a:off x="7334250" y="4514850"/>
            <a:ext cx="4095750" cy="1066800"/>
          </a:xfrm>
          <a:prstGeom xmlns:a="http://schemas.openxmlformats.org/drawingml/2006/main" prst="roundRect">
            <a:avLst>
              <a:gd name="adj" fmla="val 10714"/>
            </a:avLst>
          </a:prstGeom>
          <a:solidFill xmlns:a="http://schemas.openxmlformats.org/drawingml/2006/main">
            <a:srgbClr val="FDE8E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5135539-3EFB-46E0-85B6-C2C40CF36FB3}"/>
              </a:ext>
            </a:extLst>
          </p:cNvPr>
          <p:cNvSpPr>
            <a:spLocks xmlns:a="http://schemas.openxmlformats.org/drawingml/2006/main" noGrp="1"/>
          </p:cNvSpPr>
          <p:nvPr/>
        </p:nvSpPr>
        <p:spPr>
          <a:xfrm xmlns:a="http://schemas.openxmlformats.org/drawingml/2006/main">
            <a:off x="7620000" y="4705350"/>
            <a:ext cx="3524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C53030"/>
                </a:solidFill>
                <a:latin typeface="Helvetica Neue"/>
                <a:ea typeface="Helvetica Neue"/>
                <a:cs typeface="Helvetica Neue"/>
              </a:defRPr>
            </a:pPr>
            <a:r>
              <a:rPr sz="1500" b="1">
                <a:solidFill>
                  <a:srgbClr val="C53030"/>
                </a:solidFill>
                <a:latin typeface="Helvetica Neue"/>
                <a:ea typeface="Helvetica Neue"/>
                <a:cs typeface="Helvetica Neue"/>
              </a:rPr>
              <a:t>Guardrail</a:t>
            </a:r>
          </a:p>
        </p:txBody>
      </p:sp>
      <p:sp>
        <p:nvSpPr>
          <p:cNvPr id="15" name="">
            <a:extLst xmlns:a="http://schemas.openxmlformats.org/drawingml/2006/main">
              <a:ext uri="{FF2B5EF4-FFF2-40B4-BE49-F238E27FC236}">
                <a16:creationId xmlns:a16="http://schemas.microsoft.com/office/drawing/2014/main" id="{6A6AC6A9-0E82-4D39-9E68-F299CD74B1C4}"/>
              </a:ext>
            </a:extLst>
          </p:cNvPr>
          <p:cNvSpPr>
            <a:spLocks xmlns:a="http://schemas.openxmlformats.org/drawingml/2006/main" noGrp="1"/>
          </p:cNvSpPr>
          <p:nvPr/>
        </p:nvSpPr>
        <p:spPr>
          <a:xfrm xmlns:a="http://schemas.openxmlformats.org/drawingml/2006/main">
            <a:off x="7620000" y="5105400"/>
            <a:ext cx="3524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350" b="1">
                <a:solidFill>
                  <a:srgbClr val="C53030"/>
                </a:solidFill>
                <a:latin typeface="Helvetica Neue"/>
                <a:ea typeface="Helvetica Neue"/>
                <a:cs typeface="Helvetica Neue"/>
              </a:defRPr>
            </a:pPr>
            <a:r>
              <a:rPr sz="1350" b="1">
                <a:solidFill>
                  <a:srgbClr val="C53030"/>
                </a:solidFill>
                <a:latin typeface="Helvetica Neue"/>
                <a:ea typeface="Helvetica Neue"/>
                <a:cs typeface="Helvetica Neue"/>
              </a:rPr>
              <a:t>Model-conditioned MODPATH topology ≠ field connectivity truth</a:t>
            </a:r>
          </a:p>
        </p:txBody>
      </p:sp>
    </p:spTree>
    <p:extLst>
      <p:ext uri="{BB962C8B-B14F-4D97-AF65-F5344CB8AC3E}">
        <p14:creationId xmlns:p14="http://schemas.microsoft.com/office/powerpoint/2010/main" val="184857594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F0A1B81-0124-4A33-9E2A-A764488EE6F3}"/>
              </a:ext>
            </a:extLst>
          </p:cNvPr>
          <p:cNvSpPr>
            <a:spLocks xmlns:a="http://schemas.openxmlformats.org/drawingml/2006/main" noGrp="1"/>
          </p:cNvSpPr>
          <p:nvPr/>
        </p:nvSpPr>
        <p:spPr>
          <a:xfrm xmlns:a="http://schemas.openxmlformats.org/drawingml/2006/main">
            <a:off x="400050" y="228600"/>
            <a:ext cx="695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INVERSE HYDROGEOCHEMISTRY</a:t>
            </a:r>
          </a:p>
        </p:txBody>
      </p:sp>
      <p:sp>
        <p:nvSpPr>
          <p:cNvPr id="2" name="">
            <a:extLst xmlns:a="http://schemas.openxmlformats.org/drawingml/2006/main">
              <a:ext uri="{FF2B5EF4-FFF2-40B4-BE49-F238E27FC236}">
                <a16:creationId xmlns:a16="http://schemas.microsoft.com/office/drawing/2014/main" id="{5EA6DB09-C177-48D6-88F3-DA7FB36889EE}"/>
              </a:ext>
            </a:extLst>
          </p:cNvPr>
          <p:cNvSpPr>
            <a:spLocks xmlns:a="http://schemas.openxmlformats.org/drawingml/2006/main" noGrp="1"/>
          </p:cNvSpPr>
          <p:nvPr/>
        </p:nvSpPr>
        <p:spPr>
          <a:xfrm xmlns:a="http://schemas.openxmlformats.org/drawingml/2006/main">
            <a:off x="400050" y="49530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Low residuals did not identify unique reaction mechanisms</a:t>
            </a:r>
          </a:p>
        </p:txBody>
      </p:sp>
      <p:sp>
        <p:nvSpPr>
          <p:cNvPr id="3" name="">
            <a:extLst xmlns:a="http://schemas.openxmlformats.org/drawingml/2006/main">
              <a:ext uri="{FF2B5EF4-FFF2-40B4-BE49-F238E27FC236}">
                <a16:creationId xmlns:a16="http://schemas.microsoft.com/office/drawing/2014/main" id="{681B3A68-A24F-42E9-9FF2-1BB9FD73A36B}"/>
              </a:ext>
            </a:extLst>
          </p:cNvPr>
          <p:cNvSpPr>
            <a:spLocks xmlns:a="http://schemas.openxmlformats.org/drawingml/2006/main" noGrp="1"/>
          </p:cNvSpPr>
          <p:nvPr/>
        </p:nvSpPr>
        <p:spPr>
          <a:xfrm xmlns:a="http://schemas.openxmlformats.org/drawingml/2006/main">
            <a:off x="400050" y="1190625"/>
            <a:ext cx="11391900" cy="19050"/>
          </a:xfrm>
          <a:prstGeom xmlns:a="http://schemas.openxmlformats.org/drawingml/2006/main" prst="rect">
            <a:avLst/>
          </a:prstGeom>
          <a:solidFill xmlns:a="http://schemas.openxmlformats.org/drawingml/2006/main">
            <a:srgbClr val="11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EE87178-B8EC-42B3-A974-1756C6CA19B5}"/>
              </a:ext>
            </a:extLst>
          </p:cNvPr>
          <p:cNvSpPr>
            <a:spLocks xmlns:a="http://schemas.openxmlformats.org/drawingml/2006/main" noGrp="1"/>
          </p:cNvSpPr>
          <p:nvPr/>
        </p:nvSpPr>
        <p:spPr>
          <a:xfrm xmlns:a="http://schemas.openxmlformats.org/drawingml/2006/main">
            <a:off x="400050" y="6438900"/>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Results</a:t>
            </a:r>
          </a:p>
        </p:txBody>
      </p:sp>
      <p:sp>
        <p:nvSpPr>
          <p:cNvPr id="5" name="">
            <a:extLst xmlns:a="http://schemas.openxmlformats.org/drawingml/2006/main">
              <a:ext uri="{FF2B5EF4-FFF2-40B4-BE49-F238E27FC236}">
                <a16:creationId xmlns:a16="http://schemas.microsoft.com/office/drawing/2014/main" id="{33E160DD-AD3F-4631-ADC5-020C47F6FE54}"/>
              </a:ext>
            </a:extLst>
          </p:cNvPr>
          <p:cNvSpPr>
            <a:spLocks xmlns:a="http://schemas.openxmlformats.org/drawingml/2006/main" noGrp="1"/>
          </p:cNvSpPr>
          <p:nvPr/>
        </p:nvSpPr>
        <p:spPr>
          <a:xfrm xmlns:a="http://schemas.openxmlformats.org/drawingml/2006/main">
            <a:off x="11287125" y="63912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11</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54cd7be5bf40497b"/>
          <a:stretch xmlns:a="http://schemas.openxmlformats.org/drawingml/2006/main"/>
        </p:blipFill>
        <p:spPr>
          <a:xfrm xmlns:a="http://schemas.openxmlformats.org/drawingml/2006/main">
            <a:off x="839743" y="1381125"/>
            <a:ext cx="6454865" cy="48101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51A8792-28AF-4576-91D7-244204126616}"/>
              </a:ext>
            </a:extLst>
          </p:cNvPr>
          <p:cNvSpPr>
            <a:spLocks xmlns:a="http://schemas.openxmlformats.org/drawingml/2006/main" noGrp="1"/>
          </p:cNvSpPr>
          <p:nvPr/>
        </p:nvSpPr>
        <p:spPr>
          <a:xfrm xmlns:a="http://schemas.openxmlformats.org/drawingml/2006/main">
            <a:off x="8048625" y="1543050"/>
            <a:ext cx="3333750" cy="1257300"/>
          </a:xfrm>
          <a:prstGeom xmlns:a="http://schemas.openxmlformats.org/drawingml/2006/main" prst="roundRect">
            <a:avLst>
              <a:gd name="adj" fmla="val 9091"/>
            </a:avLst>
          </a:prstGeom>
          <a:solidFill xmlns:a="http://schemas.openxmlformats.org/drawingml/2006/main">
            <a:srgbClr val="F2F3F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2F03D13-C6CD-4846-BA9D-2EDCCE3ABC78}"/>
              </a:ext>
            </a:extLst>
          </p:cNvPr>
          <p:cNvSpPr>
            <a:spLocks xmlns:a="http://schemas.openxmlformats.org/drawingml/2006/main" noGrp="1"/>
          </p:cNvSpPr>
          <p:nvPr/>
        </p:nvSpPr>
        <p:spPr>
          <a:xfrm xmlns:a="http://schemas.openxmlformats.org/drawingml/2006/main">
            <a:off x="8048625" y="1543050"/>
            <a:ext cx="76200" cy="1257300"/>
          </a:xfrm>
          <a:prstGeom xmlns:a="http://schemas.openxmlformats.org/drawingml/2006/main" prst="rect">
            <a:avLst/>
          </a:prstGeom>
          <a:solidFill xmlns:a="http://schemas.openxmlformats.org/drawingml/2006/main">
            <a:srgbClr val="D97706"/>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E531709-A342-4A2C-BF1A-ED1B69E863FD}"/>
              </a:ext>
            </a:extLst>
          </p:cNvPr>
          <p:cNvSpPr>
            <a:spLocks xmlns:a="http://schemas.openxmlformats.org/drawingml/2006/main" noGrp="1"/>
          </p:cNvSpPr>
          <p:nvPr/>
        </p:nvSpPr>
        <p:spPr>
          <a:xfrm xmlns:a="http://schemas.openxmlformats.org/drawingml/2006/main">
            <a:off x="8239125" y="1695450"/>
            <a:ext cx="3009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625" b="1">
                <a:solidFill>
                  <a:srgbClr val="D97706"/>
                </a:solidFill>
                <a:latin typeface="Helvetica Neue"/>
                <a:ea typeface="Helvetica Neue"/>
                <a:cs typeface="Helvetica Neue"/>
              </a:defRPr>
            </a:pPr>
            <a:r>
              <a:rPr sz="2625" b="1">
                <a:solidFill>
                  <a:srgbClr val="D97706"/>
                </a:solidFill>
                <a:latin typeface="Helvetica Neue"/>
                <a:ea typeface="Helvetica Neue"/>
                <a:cs typeface="Helvetica Neue"/>
              </a:rPr>
              <a:t>185.78</a:t>
            </a:r>
          </a:p>
        </p:txBody>
      </p:sp>
      <p:sp>
        <p:nvSpPr>
          <p:cNvPr id="10" name="">
            <a:extLst xmlns:a="http://schemas.openxmlformats.org/drawingml/2006/main">
              <a:ext uri="{FF2B5EF4-FFF2-40B4-BE49-F238E27FC236}">
                <a16:creationId xmlns:a16="http://schemas.microsoft.com/office/drawing/2014/main" id="{D2972B69-6987-4E41-81E1-E460D29E3ABA}"/>
              </a:ext>
            </a:extLst>
          </p:cNvPr>
          <p:cNvSpPr>
            <a:spLocks xmlns:a="http://schemas.openxmlformats.org/drawingml/2006/main" noGrp="1"/>
          </p:cNvSpPr>
          <p:nvPr/>
        </p:nvSpPr>
        <p:spPr>
          <a:xfrm xmlns:a="http://schemas.openxmlformats.org/drawingml/2006/main">
            <a:off x="8239125" y="2228850"/>
            <a:ext cx="3009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5D6470"/>
                </a:solidFill>
                <a:latin typeface="Helvetica Neue"/>
                <a:ea typeface="Helvetica Neue"/>
                <a:cs typeface="Helvetica Neue"/>
              </a:defRPr>
            </a:pPr>
            <a:r>
              <a:rPr sz="1275" b="0">
                <a:solidFill>
                  <a:srgbClr val="5D6470"/>
                </a:solidFill>
                <a:latin typeface="Helvetica Neue"/>
                <a:ea typeface="Helvetica Neue"/>
                <a:cs typeface="Helvetica Neue"/>
              </a:rPr>
              <a:t>mean feasible PHREEQC models / scenario</a:t>
            </a:r>
          </a:p>
        </p:txBody>
      </p:sp>
      <p:sp>
        <p:nvSpPr>
          <p:cNvPr id="11" name="">
            <a:extLst xmlns:a="http://schemas.openxmlformats.org/drawingml/2006/main">
              <a:ext uri="{FF2B5EF4-FFF2-40B4-BE49-F238E27FC236}">
                <a16:creationId xmlns:a16="http://schemas.microsoft.com/office/drawing/2014/main" id="{60C3BED3-433A-4EC8-B648-33738AE35948}"/>
              </a:ext>
            </a:extLst>
          </p:cNvPr>
          <p:cNvSpPr>
            <a:spLocks xmlns:a="http://schemas.openxmlformats.org/drawingml/2006/main" noGrp="1"/>
          </p:cNvSpPr>
          <p:nvPr/>
        </p:nvSpPr>
        <p:spPr>
          <a:xfrm xmlns:a="http://schemas.openxmlformats.org/drawingml/2006/main">
            <a:off x="8048625" y="2990850"/>
            <a:ext cx="3333750" cy="1257300"/>
          </a:xfrm>
          <a:prstGeom xmlns:a="http://schemas.openxmlformats.org/drawingml/2006/main" prst="roundRect">
            <a:avLst>
              <a:gd name="adj" fmla="val 9091"/>
            </a:avLst>
          </a:prstGeom>
          <a:solidFill xmlns:a="http://schemas.openxmlformats.org/drawingml/2006/main">
            <a:srgbClr val="F2F3F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75EFDF1-36B8-4346-B6C8-5AC89049D08D}"/>
              </a:ext>
            </a:extLst>
          </p:cNvPr>
          <p:cNvSpPr>
            <a:spLocks xmlns:a="http://schemas.openxmlformats.org/drawingml/2006/main" noGrp="1"/>
          </p:cNvSpPr>
          <p:nvPr/>
        </p:nvSpPr>
        <p:spPr>
          <a:xfrm xmlns:a="http://schemas.openxmlformats.org/drawingml/2006/main">
            <a:off x="8048625" y="2990850"/>
            <a:ext cx="76200" cy="1257300"/>
          </a:xfrm>
          <a:prstGeom xmlns:a="http://schemas.openxmlformats.org/drawingml/2006/main" prst="rect">
            <a:avLst/>
          </a:prstGeom>
          <a:solidFill xmlns:a="http://schemas.openxmlformats.org/drawingml/2006/main">
            <a:srgbClr val="D9770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6E8318B-9447-4171-849A-26FEB367E1EB}"/>
              </a:ext>
            </a:extLst>
          </p:cNvPr>
          <p:cNvSpPr>
            <a:spLocks xmlns:a="http://schemas.openxmlformats.org/drawingml/2006/main" noGrp="1"/>
          </p:cNvSpPr>
          <p:nvPr/>
        </p:nvSpPr>
        <p:spPr>
          <a:xfrm xmlns:a="http://schemas.openxmlformats.org/drawingml/2006/main">
            <a:off x="8239125" y="3143250"/>
            <a:ext cx="3009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625" b="1">
                <a:solidFill>
                  <a:srgbClr val="D97706"/>
                </a:solidFill>
                <a:latin typeface="Helvetica Neue"/>
                <a:ea typeface="Helvetica Neue"/>
                <a:cs typeface="Helvetica Neue"/>
              </a:defRPr>
            </a:pPr>
            <a:r>
              <a:rPr sz="2625" b="1">
                <a:solidFill>
                  <a:srgbClr val="D97706"/>
                </a:solidFill>
                <a:latin typeface="Helvetica Neue"/>
                <a:ea typeface="Helvetica Neue"/>
                <a:cs typeface="Helvetica Neue"/>
              </a:rPr>
              <a:t>6.79</a:t>
            </a:r>
          </a:p>
        </p:txBody>
      </p:sp>
      <p:sp>
        <p:nvSpPr>
          <p:cNvPr id="14" name="">
            <a:extLst xmlns:a="http://schemas.openxmlformats.org/drawingml/2006/main">
              <a:ext uri="{FF2B5EF4-FFF2-40B4-BE49-F238E27FC236}">
                <a16:creationId xmlns:a16="http://schemas.microsoft.com/office/drawing/2014/main" id="{D04049F4-F2C9-4CBD-85A7-BE915E915AFB}"/>
              </a:ext>
            </a:extLst>
          </p:cNvPr>
          <p:cNvSpPr>
            <a:spLocks xmlns:a="http://schemas.openxmlformats.org/drawingml/2006/main" noGrp="1"/>
          </p:cNvSpPr>
          <p:nvPr/>
        </p:nvSpPr>
        <p:spPr>
          <a:xfrm xmlns:a="http://schemas.openxmlformats.org/drawingml/2006/main">
            <a:off x="8239125" y="3676650"/>
            <a:ext cx="3009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5D6470"/>
                </a:solidFill>
                <a:latin typeface="Helvetica Neue"/>
                <a:ea typeface="Helvetica Neue"/>
                <a:cs typeface="Helvetica Neue"/>
              </a:defRPr>
            </a:pPr>
            <a:r>
              <a:rPr sz="1275" b="0">
                <a:solidFill>
                  <a:srgbClr val="5D6470"/>
                </a:solidFill>
                <a:latin typeface="Helvetica Neue"/>
                <a:ea typeface="Helvetica Neue"/>
                <a:cs typeface="Helvetica Neue"/>
              </a:rPr>
              <a:t>mean minimal models / scenario</a:t>
            </a:r>
          </a:p>
        </p:txBody>
      </p:sp>
      <p:sp>
        <p:nvSpPr>
          <p:cNvPr id="15" name="">
            <a:extLst xmlns:a="http://schemas.openxmlformats.org/drawingml/2006/main">
              <a:ext uri="{FF2B5EF4-FFF2-40B4-BE49-F238E27FC236}">
                <a16:creationId xmlns:a16="http://schemas.microsoft.com/office/drawing/2014/main" id="{B10D922A-A7D5-4539-9F67-4E2FAFB04167}"/>
              </a:ext>
            </a:extLst>
          </p:cNvPr>
          <p:cNvSpPr>
            <a:spLocks xmlns:a="http://schemas.openxmlformats.org/drawingml/2006/main" noGrp="1"/>
          </p:cNvSpPr>
          <p:nvPr/>
        </p:nvSpPr>
        <p:spPr>
          <a:xfrm xmlns:a="http://schemas.openxmlformats.org/drawingml/2006/main">
            <a:off x="8048625" y="4438650"/>
            <a:ext cx="3333750" cy="1238250"/>
          </a:xfrm>
          <a:prstGeom xmlns:a="http://schemas.openxmlformats.org/drawingml/2006/main" prst="roundRect">
            <a:avLst>
              <a:gd name="adj" fmla="val 9231"/>
            </a:avLst>
          </a:prstGeom>
          <a:solidFill xmlns:a="http://schemas.openxmlformats.org/drawingml/2006/main">
            <a:srgbClr val="E9F4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B9F3117-6123-4EDA-961F-2693926C5D0C}"/>
              </a:ext>
            </a:extLst>
          </p:cNvPr>
          <p:cNvSpPr>
            <a:spLocks xmlns:a="http://schemas.openxmlformats.org/drawingml/2006/main" noGrp="1"/>
          </p:cNvSpPr>
          <p:nvPr/>
        </p:nvSpPr>
        <p:spPr>
          <a:xfrm xmlns:a="http://schemas.openxmlformats.org/drawingml/2006/main">
            <a:off x="8267700" y="4629150"/>
            <a:ext cx="2905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53A63"/>
                </a:solidFill>
                <a:latin typeface="Helvetica Neue"/>
                <a:ea typeface="Helvetica Neue"/>
                <a:cs typeface="Helvetica Neue"/>
              </a:defRPr>
            </a:pPr>
            <a:r>
              <a:rPr sz="1500" b="1">
                <a:solidFill>
                  <a:srgbClr val="153A63"/>
                </a:solidFill>
                <a:latin typeface="Helvetica Neue"/>
                <a:ea typeface="Helvetica Neue"/>
                <a:cs typeface="Helvetica Neue"/>
              </a:rPr>
              <a:t>Primary guarded result</a:t>
            </a:r>
          </a:p>
        </p:txBody>
      </p:sp>
      <p:sp>
        <p:nvSpPr>
          <p:cNvPr id="17" name="">
            <a:extLst xmlns:a="http://schemas.openxmlformats.org/drawingml/2006/main">
              <a:ext uri="{FF2B5EF4-FFF2-40B4-BE49-F238E27FC236}">
                <a16:creationId xmlns:a16="http://schemas.microsoft.com/office/drawing/2014/main" id="{AC108FF1-0038-4B29-9C18-A4EC113523C4}"/>
              </a:ext>
            </a:extLst>
          </p:cNvPr>
          <p:cNvSpPr>
            <a:spLocks xmlns:a="http://schemas.openxmlformats.org/drawingml/2006/main" noGrp="1"/>
          </p:cNvSpPr>
          <p:nvPr/>
        </p:nvSpPr>
        <p:spPr>
          <a:xfrm xmlns:a="http://schemas.openxmlformats.org/drawingml/2006/main">
            <a:off x="8267700" y="5000625"/>
            <a:ext cx="2905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0555"/>
          </a:bodyPr>
          <a:lstStyle xmlns:a="http://schemas.openxmlformats.org/drawingml/2006/main"/>
          <a:p xmlns:a="http://schemas.openxmlformats.org/drawingml/2006/main">
            <a:pPr algn="l">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Phase F1 0.563</a:t>
            </a:r>
          </a:p>
          <a:p xmlns:a="http://schemas.openxmlformats.org/drawingml/2006/main">
            <a:pPr algn="l">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Equivalence-class F1 0.609</a:t>
            </a:r>
          </a:p>
          <a:p xmlns:a="http://schemas.openxmlformats.org/drawingml/2006/main">
            <a:pPr algn="l">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FDR 0.361</a:t>
            </a:r>
          </a:p>
        </p:txBody>
      </p:sp>
    </p:spTree>
    <p:extLst>
      <p:ext uri="{BB962C8B-B14F-4D97-AF65-F5344CB8AC3E}">
        <p14:creationId xmlns:p14="http://schemas.microsoft.com/office/powerpoint/2010/main" val="151233011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82D5F44-6F2D-4DE4-8606-42AD021B1845}"/>
              </a:ext>
            </a:extLst>
          </p:cNvPr>
          <p:cNvSpPr>
            <a:spLocks xmlns:a="http://schemas.openxmlformats.org/drawingml/2006/main" noGrp="1"/>
          </p:cNvSpPr>
          <p:nvPr/>
        </p:nvSpPr>
        <p:spPr>
          <a:xfrm xmlns:a="http://schemas.openxmlformats.org/drawingml/2006/main">
            <a:off x="400050" y="228600"/>
            <a:ext cx="695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FIELD SUPPORTABILITY</a:t>
            </a:r>
          </a:p>
        </p:txBody>
      </p:sp>
      <p:sp>
        <p:nvSpPr>
          <p:cNvPr id="2" name="">
            <a:extLst xmlns:a="http://schemas.openxmlformats.org/drawingml/2006/main">
              <a:ext uri="{FF2B5EF4-FFF2-40B4-BE49-F238E27FC236}">
                <a16:creationId xmlns:a16="http://schemas.microsoft.com/office/drawing/2014/main" id="{E9763E7D-9D2A-4B9E-8697-64755EA3005A}"/>
              </a:ext>
            </a:extLst>
          </p:cNvPr>
          <p:cNvSpPr>
            <a:spLocks xmlns:a="http://schemas.openxmlformats.org/drawingml/2006/main" noGrp="1"/>
          </p:cNvSpPr>
          <p:nvPr/>
        </p:nvSpPr>
        <p:spPr>
          <a:xfrm xmlns:a="http://schemas.openxmlformats.org/drawingml/2006/main">
            <a:off x="400050" y="49530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Ghana field transfer identified the evidence ceiling</a:t>
            </a:r>
          </a:p>
        </p:txBody>
      </p:sp>
      <p:sp>
        <p:nvSpPr>
          <p:cNvPr id="3" name="">
            <a:extLst xmlns:a="http://schemas.openxmlformats.org/drawingml/2006/main">
              <a:ext uri="{FF2B5EF4-FFF2-40B4-BE49-F238E27FC236}">
                <a16:creationId xmlns:a16="http://schemas.microsoft.com/office/drawing/2014/main" id="{76633CEF-C54D-4917-BED9-EC32B6DD8401}"/>
              </a:ext>
            </a:extLst>
          </p:cNvPr>
          <p:cNvSpPr>
            <a:spLocks xmlns:a="http://schemas.openxmlformats.org/drawingml/2006/main" noGrp="1"/>
          </p:cNvSpPr>
          <p:nvPr/>
        </p:nvSpPr>
        <p:spPr>
          <a:xfrm xmlns:a="http://schemas.openxmlformats.org/drawingml/2006/main">
            <a:off x="400050" y="1190625"/>
            <a:ext cx="11391900" cy="19050"/>
          </a:xfrm>
          <a:prstGeom xmlns:a="http://schemas.openxmlformats.org/drawingml/2006/main" prst="rect">
            <a:avLst/>
          </a:prstGeom>
          <a:solidFill xmlns:a="http://schemas.openxmlformats.org/drawingml/2006/main">
            <a:srgbClr val="11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4BD1EF4-98E0-4521-88D3-A4549EA1BC15}"/>
              </a:ext>
            </a:extLst>
          </p:cNvPr>
          <p:cNvSpPr>
            <a:spLocks xmlns:a="http://schemas.openxmlformats.org/drawingml/2006/main" noGrp="1"/>
          </p:cNvSpPr>
          <p:nvPr/>
        </p:nvSpPr>
        <p:spPr>
          <a:xfrm xmlns:a="http://schemas.openxmlformats.org/drawingml/2006/main">
            <a:off x="400050" y="6438900"/>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Results</a:t>
            </a:r>
          </a:p>
        </p:txBody>
      </p:sp>
      <p:sp>
        <p:nvSpPr>
          <p:cNvPr id="5" name="">
            <a:extLst xmlns:a="http://schemas.openxmlformats.org/drawingml/2006/main">
              <a:ext uri="{FF2B5EF4-FFF2-40B4-BE49-F238E27FC236}">
                <a16:creationId xmlns:a16="http://schemas.microsoft.com/office/drawing/2014/main" id="{AAFAE320-495A-4867-A512-191E13E2D981}"/>
              </a:ext>
            </a:extLst>
          </p:cNvPr>
          <p:cNvSpPr>
            <a:spLocks xmlns:a="http://schemas.openxmlformats.org/drawingml/2006/main" noGrp="1"/>
          </p:cNvSpPr>
          <p:nvPr/>
        </p:nvSpPr>
        <p:spPr>
          <a:xfrm xmlns:a="http://schemas.openxmlformats.org/drawingml/2006/main">
            <a:off x="11287125" y="63912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12</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23e504550cb045fc"/>
          <a:stretch xmlns:a="http://schemas.openxmlformats.org/drawingml/2006/main"/>
        </p:blipFill>
        <p:spPr>
          <a:xfrm xmlns:a="http://schemas.openxmlformats.org/drawingml/2006/main">
            <a:off x="1469231" y="1381125"/>
            <a:ext cx="5291138" cy="48101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21AC8DD6-FA83-44AF-83E1-8CD51EA138F0}"/>
              </a:ext>
            </a:extLst>
          </p:cNvPr>
          <p:cNvSpPr>
            <a:spLocks xmlns:a="http://schemas.openxmlformats.org/drawingml/2006/main" noGrp="1"/>
          </p:cNvSpPr>
          <p:nvPr/>
        </p:nvSpPr>
        <p:spPr>
          <a:xfrm xmlns:a="http://schemas.openxmlformats.org/drawingml/2006/main">
            <a:off x="8096250" y="1543050"/>
            <a:ext cx="3333750" cy="1257300"/>
          </a:xfrm>
          <a:prstGeom xmlns:a="http://schemas.openxmlformats.org/drawingml/2006/main" prst="roundRect">
            <a:avLst>
              <a:gd name="adj" fmla="val 9091"/>
            </a:avLst>
          </a:prstGeom>
          <a:solidFill xmlns:a="http://schemas.openxmlformats.org/drawingml/2006/main">
            <a:srgbClr val="F2F3F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DB6A8CF-C493-42A6-A7FA-BE1101A4C07C}"/>
              </a:ext>
            </a:extLst>
          </p:cNvPr>
          <p:cNvSpPr>
            <a:spLocks xmlns:a="http://schemas.openxmlformats.org/drawingml/2006/main" noGrp="1"/>
          </p:cNvSpPr>
          <p:nvPr/>
        </p:nvSpPr>
        <p:spPr>
          <a:xfrm xmlns:a="http://schemas.openxmlformats.org/drawingml/2006/main">
            <a:off x="8096250" y="1543050"/>
            <a:ext cx="76200" cy="1257300"/>
          </a:xfrm>
          <a:prstGeom xmlns:a="http://schemas.openxmlformats.org/drawingml/2006/main" prst="rect">
            <a:avLst/>
          </a:prstGeom>
          <a:solidFill xmlns:a="http://schemas.openxmlformats.org/drawingml/2006/main">
            <a:srgbClr val="149A8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F6384E8-219E-4C76-983C-8F21F8797B1B}"/>
              </a:ext>
            </a:extLst>
          </p:cNvPr>
          <p:cNvSpPr>
            <a:spLocks xmlns:a="http://schemas.openxmlformats.org/drawingml/2006/main" noGrp="1"/>
          </p:cNvSpPr>
          <p:nvPr/>
        </p:nvSpPr>
        <p:spPr>
          <a:xfrm xmlns:a="http://schemas.openxmlformats.org/drawingml/2006/main">
            <a:off x="8286750" y="1695450"/>
            <a:ext cx="3009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625" b="1">
                <a:solidFill>
                  <a:srgbClr val="149A84"/>
                </a:solidFill>
                <a:latin typeface="Helvetica Neue"/>
                <a:ea typeface="Helvetica Neue"/>
                <a:cs typeface="Helvetica Neue"/>
              </a:defRPr>
            </a:pPr>
            <a:r>
              <a:rPr sz="2625" b="1">
                <a:solidFill>
                  <a:srgbClr val="149A84"/>
                </a:solidFill>
                <a:latin typeface="Helvetica Neue"/>
                <a:ea typeface="Helvetica Neue"/>
                <a:cs typeface="Helvetica Neue"/>
              </a:rPr>
              <a:t>294 / 320</a:t>
            </a:r>
          </a:p>
        </p:txBody>
      </p:sp>
      <p:sp>
        <p:nvSpPr>
          <p:cNvPr id="10" name="">
            <a:extLst xmlns:a="http://schemas.openxmlformats.org/drawingml/2006/main">
              <a:ext uri="{FF2B5EF4-FFF2-40B4-BE49-F238E27FC236}">
                <a16:creationId xmlns:a16="http://schemas.microsoft.com/office/drawing/2014/main" id="{7BA93698-A1B4-48AA-A567-5048AD3C6ABB}"/>
              </a:ext>
            </a:extLst>
          </p:cNvPr>
          <p:cNvSpPr>
            <a:spLocks xmlns:a="http://schemas.openxmlformats.org/drawingml/2006/main" noGrp="1"/>
          </p:cNvSpPr>
          <p:nvPr/>
        </p:nvSpPr>
        <p:spPr>
          <a:xfrm xmlns:a="http://schemas.openxmlformats.org/drawingml/2006/main">
            <a:off x="8286750" y="2228850"/>
            <a:ext cx="3009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5D6470"/>
                </a:solidFill>
                <a:latin typeface="Helvetica Neue"/>
                <a:ea typeface="Helvetica Neue"/>
                <a:cs typeface="Helvetica Neue"/>
              </a:defRPr>
            </a:pPr>
            <a:r>
              <a:rPr sz="1275" b="0">
                <a:solidFill>
                  <a:srgbClr val="5D6470"/>
                </a:solidFill>
                <a:latin typeface="Helvetica Neue"/>
                <a:ea typeface="Helvetica Neue"/>
                <a:cs typeface="Helvetica Neue"/>
              </a:rPr>
              <a:t>Northern Ghana quantitative records</a:t>
            </a:r>
          </a:p>
        </p:txBody>
      </p:sp>
      <p:sp>
        <p:nvSpPr>
          <p:cNvPr id="11" name="">
            <a:extLst xmlns:a="http://schemas.openxmlformats.org/drawingml/2006/main">
              <a:ext uri="{FF2B5EF4-FFF2-40B4-BE49-F238E27FC236}">
                <a16:creationId xmlns:a16="http://schemas.microsoft.com/office/drawing/2014/main" id="{58760BF5-2B4C-445F-9D3A-F7E2F32FDC91}"/>
              </a:ext>
            </a:extLst>
          </p:cNvPr>
          <p:cNvSpPr>
            <a:spLocks xmlns:a="http://schemas.openxmlformats.org/drawingml/2006/main" noGrp="1"/>
          </p:cNvSpPr>
          <p:nvPr/>
        </p:nvSpPr>
        <p:spPr>
          <a:xfrm xmlns:a="http://schemas.openxmlformats.org/drawingml/2006/main">
            <a:off x="8096250" y="2990850"/>
            <a:ext cx="3333750" cy="1257300"/>
          </a:xfrm>
          <a:prstGeom xmlns:a="http://schemas.openxmlformats.org/drawingml/2006/main" prst="roundRect">
            <a:avLst>
              <a:gd name="adj" fmla="val 9091"/>
            </a:avLst>
          </a:prstGeom>
          <a:solidFill xmlns:a="http://schemas.openxmlformats.org/drawingml/2006/main">
            <a:srgbClr val="F2F3F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62A5AE7-A6B2-4920-B1F9-EB5C29F0AFD2}"/>
              </a:ext>
            </a:extLst>
          </p:cNvPr>
          <p:cNvSpPr>
            <a:spLocks xmlns:a="http://schemas.openxmlformats.org/drawingml/2006/main" noGrp="1"/>
          </p:cNvSpPr>
          <p:nvPr/>
        </p:nvSpPr>
        <p:spPr>
          <a:xfrm xmlns:a="http://schemas.openxmlformats.org/drawingml/2006/main">
            <a:off x="8096250" y="2990850"/>
            <a:ext cx="76200" cy="1257300"/>
          </a:xfrm>
          <a:prstGeom xmlns:a="http://schemas.openxmlformats.org/drawingml/2006/main" prst="rect">
            <a:avLst/>
          </a:prstGeom>
          <a:solidFill xmlns:a="http://schemas.openxmlformats.org/drawingml/2006/main">
            <a:srgbClr val="C5303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E8F8E0A-E77D-4213-84FC-725C05746D05}"/>
              </a:ext>
            </a:extLst>
          </p:cNvPr>
          <p:cNvSpPr>
            <a:spLocks xmlns:a="http://schemas.openxmlformats.org/drawingml/2006/main" noGrp="1"/>
          </p:cNvSpPr>
          <p:nvPr/>
        </p:nvSpPr>
        <p:spPr>
          <a:xfrm xmlns:a="http://schemas.openxmlformats.org/drawingml/2006/main">
            <a:off x="8286750" y="3143250"/>
            <a:ext cx="3009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625" b="1">
                <a:solidFill>
                  <a:srgbClr val="C53030"/>
                </a:solidFill>
                <a:latin typeface="Helvetica Neue"/>
                <a:ea typeface="Helvetica Neue"/>
                <a:cs typeface="Helvetica Neue"/>
              </a:defRPr>
            </a:pPr>
            <a:r>
              <a:rPr sz="2625" b="1">
                <a:solidFill>
                  <a:srgbClr val="C53030"/>
                </a:solidFill>
                <a:latin typeface="Helvetica Neue"/>
                <a:ea typeface="Helvetica Neue"/>
                <a:cs typeface="Helvetica Neue"/>
              </a:rPr>
              <a:t>52%</a:t>
            </a:r>
          </a:p>
        </p:txBody>
      </p:sp>
      <p:sp>
        <p:nvSpPr>
          <p:cNvPr id="14" name="">
            <a:extLst xmlns:a="http://schemas.openxmlformats.org/drawingml/2006/main">
              <a:ext uri="{FF2B5EF4-FFF2-40B4-BE49-F238E27FC236}">
                <a16:creationId xmlns:a16="http://schemas.microsoft.com/office/drawing/2014/main" id="{A9E228B6-4F62-4248-9E19-9CA6E42EA65C}"/>
              </a:ext>
            </a:extLst>
          </p:cNvPr>
          <p:cNvSpPr>
            <a:spLocks xmlns:a="http://schemas.openxmlformats.org/drawingml/2006/main" noGrp="1"/>
          </p:cNvSpPr>
          <p:nvPr/>
        </p:nvSpPr>
        <p:spPr>
          <a:xfrm xmlns:a="http://schemas.openxmlformats.org/drawingml/2006/main">
            <a:off x="8286750" y="3676650"/>
            <a:ext cx="3009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5D6470"/>
                </a:solidFill>
                <a:latin typeface="Helvetica Neue"/>
                <a:ea typeface="Helvetica Neue"/>
                <a:cs typeface="Helvetica Neue"/>
              </a:defRPr>
            </a:pPr>
            <a:r>
              <a:rPr sz="1275" b="0">
                <a:solidFill>
                  <a:srgbClr val="5D6470"/>
                </a:solidFill>
                <a:latin typeface="Helvetica Neue"/>
                <a:ea typeface="Helvetica Neue"/>
                <a:cs typeface="Helvetica Neue"/>
              </a:rPr>
              <a:t>wells lose identifiability without Sr/SiO₂</a:t>
            </a:r>
          </a:p>
        </p:txBody>
      </p:sp>
      <p:sp>
        <p:nvSpPr>
          <p:cNvPr id="15" name="">
            <a:extLst xmlns:a="http://schemas.openxmlformats.org/drawingml/2006/main">
              <a:ext uri="{FF2B5EF4-FFF2-40B4-BE49-F238E27FC236}">
                <a16:creationId xmlns:a16="http://schemas.microsoft.com/office/drawing/2014/main" id="{3A2ED06D-5CB0-4031-B514-05221C3CE613}"/>
              </a:ext>
            </a:extLst>
          </p:cNvPr>
          <p:cNvSpPr>
            <a:spLocks xmlns:a="http://schemas.openxmlformats.org/drawingml/2006/main" noGrp="1"/>
          </p:cNvSpPr>
          <p:nvPr/>
        </p:nvSpPr>
        <p:spPr>
          <a:xfrm xmlns:a="http://schemas.openxmlformats.org/drawingml/2006/main">
            <a:off x="8096250" y="4438650"/>
            <a:ext cx="3333750" cy="1257300"/>
          </a:xfrm>
          <a:prstGeom xmlns:a="http://schemas.openxmlformats.org/drawingml/2006/main" prst="roundRect">
            <a:avLst>
              <a:gd name="adj" fmla="val 9091"/>
            </a:avLst>
          </a:prstGeom>
          <a:solidFill xmlns:a="http://schemas.openxmlformats.org/drawingml/2006/main">
            <a:srgbClr val="F2F3F5"/>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31890DA-13EE-4128-B0A0-C9776888DE34}"/>
              </a:ext>
            </a:extLst>
          </p:cNvPr>
          <p:cNvSpPr>
            <a:spLocks xmlns:a="http://schemas.openxmlformats.org/drawingml/2006/main" noGrp="1"/>
          </p:cNvSpPr>
          <p:nvPr/>
        </p:nvSpPr>
        <p:spPr>
          <a:xfrm xmlns:a="http://schemas.openxmlformats.org/drawingml/2006/main">
            <a:off x="8334375" y="46482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The warning</a:t>
            </a:r>
          </a:p>
        </p:txBody>
      </p:sp>
      <p:sp>
        <p:nvSpPr>
          <p:cNvPr id="17" name="">
            <a:extLst xmlns:a="http://schemas.openxmlformats.org/drawingml/2006/main">
              <a:ext uri="{FF2B5EF4-FFF2-40B4-BE49-F238E27FC236}">
                <a16:creationId xmlns:a16="http://schemas.microsoft.com/office/drawing/2014/main" id="{D84E4586-115B-4910-A26D-DE9F5F0D60F6}"/>
              </a:ext>
            </a:extLst>
          </p:cNvPr>
          <p:cNvSpPr>
            <a:spLocks xmlns:a="http://schemas.openxmlformats.org/drawingml/2006/main" noGrp="1"/>
          </p:cNvSpPr>
          <p:nvPr/>
        </p:nvSpPr>
        <p:spPr>
          <a:xfrm xmlns:a="http://schemas.openxmlformats.org/drawingml/2006/main">
            <a:off x="8334375" y="5029200"/>
            <a:ext cx="285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227"/>
          </a:bodyPr>
          <a:lstStyle xmlns:a="http://schemas.openxmlformats.org/drawingml/2006/main"/>
          <a:p xmlns:a="http://schemas.openxmlformats.org/drawingml/2006/main">
            <a:pPr algn="l">
              <a:defRPr sz="1500" b="1">
                <a:solidFill>
                  <a:srgbClr val="C53030"/>
                </a:solidFill>
                <a:latin typeface="Helvetica Neue"/>
                <a:ea typeface="Helvetica Neue"/>
                <a:cs typeface="Helvetica Neue"/>
              </a:defRPr>
            </a:pPr>
            <a:r>
              <a:rPr sz="1500" b="1">
                <a:solidFill>
                  <a:srgbClr val="C53030"/>
                </a:solidFill>
                <a:latin typeface="Helvetica Neue"/>
                <a:ea typeface="Helvetica Neue"/>
                <a:cs typeface="Helvetica Neue"/>
              </a:rPr>
              <a:t>Mean fit score stayed ≈68–71 while process labels flipped in 35.6% of wells.</a:t>
            </a:r>
          </a:p>
        </p:txBody>
      </p:sp>
      <p:sp>
        <p:nvSpPr>
          <p:cNvPr id="18" name="">
            <a:extLst xmlns:a="http://schemas.openxmlformats.org/drawingml/2006/main">
              <a:ext uri="{FF2B5EF4-FFF2-40B4-BE49-F238E27FC236}">
                <a16:creationId xmlns:a16="http://schemas.microsoft.com/office/drawing/2014/main" id="{08D2D88D-F0DF-4691-8835-12311D0E49C6}"/>
              </a:ext>
            </a:extLst>
          </p:cNvPr>
          <p:cNvSpPr>
            <a:spLocks xmlns:a="http://schemas.openxmlformats.org/drawingml/2006/main" noGrp="1"/>
          </p:cNvSpPr>
          <p:nvPr/>
        </p:nvSpPr>
        <p:spPr>
          <a:xfrm xmlns:a="http://schemas.openxmlformats.org/drawingml/2006/main">
            <a:off x="8096250" y="5810250"/>
            <a:ext cx="3333750" cy="323850"/>
          </a:xfrm>
          <a:prstGeom xmlns:a="http://schemas.openxmlformats.org/drawingml/2006/main" prst="roundRect">
            <a:avLst>
              <a:gd name="adj" fmla="val 35294"/>
            </a:avLst>
          </a:prstGeom>
          <a:solidFill xmlns:a="http://schemas.openxmlformats.org/drawingml/2006/main">
            <a:srgbClr val="FFF3D9"/>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4CB74B8-959E-4CAD-895A-14E4475995C2}"/>
              </a:ext>
            </a:extLst>
          </p:cNvPr>
          <p:cNvSpPr>
            <a:spLocks xmlns:a="http://schemas.openxmlformats.org/drawingml/2006/main" noGrp="1"/>
          </p:cNvSpPr>
          <p:nvPr/>
        </p:nvSpPr>
        <p:spPr>
          <a:xfrm xmlns:a="http://schemas.openxmlformats.org/drawingml/2006/main">
            <a:off x="8210550" y="5886450"/>
            <a:ext cx="3105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D97706"/>
                </a:solidFill>
                <a:latin typeface="Helvetica Neue"/>
                <a:ea typeface="Helvetica Neue"/>
                <a:cs typeface="Helvetica Neue"/>
              </a:defRPr>
            </a:pPr>
            <a:r>
              <a:rPr sz="1050" b="1">
                <a:solidFill>
                  <a:srgbClr val="D97706"/>
                </a:solidFill>
                <a:latin typeface="Helvetica Neue"/>
                <a:ea typeface="Helvetica Neue"/>
                <a:cs typeface="Helvetica Neue"/>
              </a:rPr>
              <a:t>Predeclared evidence gate; not observed field truth</a:t>
            </a:r>
          </a:p>
        </p:txBody>
      </p:sp>
    </p:spTree>
    <p:extLst>
      <p:ext uri="{BB962C8B-B14F-4D97-AF65-F5344CB8AC3E}">
        <p14:creationId xmlns:p14="http://schemas.microsoft.com/office/powerpoint/2010/main" val="173174979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7A80605-DA9B-45F3-BE62-3BDA0637511E}"/>
              </a:ext>
            </a:extLst>
          </p:cNvPr>
          <p:cNvSpPr>
            <a:spLocks xmlns:a="http://schemas.openxmlformats.org/drawingml/2006/main" noGrp="1"/>
          </p:cNvSpPr>
          <p:nvPr/>
        </p:nvSpPr>
        <p:spPr>
          <a:xfrm xmlns:a="http://schemas.openxmlformats.org/drawingml/2006/main">
            <a:off x="400050" y="228600"/>
            <a:ext cx="695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CONDITIONAL INTEGRATION</a:t>
            </a:r>
          </a:p>
        </p:txBody>
      </p:sp>
      <p:sp>
        <p:nvSpPr>
          <p:cNvPr id="2" name="">
            <a:extLst xmlns:a="http://schemas.openxmlformats.org/drawingml/2006/main">
              <a:ext uri="{FF2B5EF4-FFF2-40B4-BE49-F238E27FC236}">
                <a16:creationId xmlns:a16="http://schemas.microsoft.com/office/drawing/2014/main" id="{9C94E637-1FA2-475B-879E-CBC38070D528}"/>
              </a:ext>
            </a:extLst>
          </p:cNvPr>
          <p:cNvSpPr>
            <a:spLocks xmlns:a="http://schemas.openxmlformats.org/drawingml/2006/main" noGrp="1"/>
          </p:cNvSpPr>
          <p:nvPr/>
        </p:nvSpPr>
        <p:spPr>
          <a:xfrm xmlns:a="http://schemas.openxmlformats.org/drawingml/2006/main">
            <a:off x="400050" y="49530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Only chemistry delivered a robust topology-ranking gain</a:t>
            </a:r>
          </a:p>
        </p:txBody>
      </p:sp>
      <p:sp>
        <p:nvSpPr>
          <p:cNvPr id="3" name="">
            <a:extLst xmlns:a="http://schemas.openxmlformats.org/drawingml/2006/main">
              <a:ext uri="{FF2B5EF4-FFF2-40B4-BE49-F238E27FC236}">
                <a16:creationId xmlns:a16="http://schemas.microsoft.com/office/drawing/2014/main" id="{68508EC0-71D5-4D0C-BD5A-149F854FD1B3}"/>
              </a:ext>
            </a:extLst>
          </p:cNvPr>
          <p:cNvSpPr>
            <a:spLocks xmlns:a="http://schemas.openxmlformats.org/drawingml/2006/main" noGrp="1"/>
          </p:cNvSpPr>
          <p:nvPr/>
        </p:nvSpPr>
        <p:spPr>
          <a:xfrm xmlns:a="http://schemas.openxmlformats.org/drawingml/2006/main">
            <a:off x="400050" y="1190625"/>
            <a:ext cx="11391900" cy="19050"/>
          </a:xfrm>
          <a:prstGeom xmlns:a="http://schemas.openxmlformats.org/drawingml/2006/main" prst="rect">
            <a:avLst/>
          </a:prstGeom>
          <a:solidFill xmlns:a="http://schemas.openxmlformats.org/drawingml/2006/main">
            <a:srgbClr val="11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2485B19-6F8B-457C-9010-97922BF8ACD8}"/>
              </a:ext>
            </a:extLst>
          </p:cNvPr>
          <p:cNvSpPr>
            <a:spLocks xmlns:a="http://schemas.openxmlformats.org/drawingml/2006/main" noGrp="1"/>
          </p:cNvSpPr>
          <p:nvPr/>
        </p:nvSpPr>
        <p:spPr>
          <a:xfrm xmlns:a="http://schemas.openxmlformats.org/drawingml/2006/main">
            <a:off x="400050" y="6438900"/>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Results</a:t>
            </a:r>
          </a:p>
        </p:txBody>
      </p:sp>
      <p:sp>
        <p:nvSpPr>
          <p:cNvPr id="5" name="">
            <a:extLst xmlns:a="http://schemas.openxmlformats.org/drawingml/2006/main">
              <a:ext uri="{FF2B5EF4-FFF2-40B4-BE49-F238E27FC236}">
                <a16:creationId xmlns:a16="http://schemas.microsoft.com/office/drawing/2014/main" id="{A53D31E5-36FE-45EB-B747-00362D1A34B6}"/>
              </a:ext>
            </a:extLst>
          </p:cNvPr>
          <p:cNvSpPr>
            <a:spLocks xmlns:a="http://schemas.openxmlformats.org/drawingml/2006/main" noGrp="1"/>
          </p:cNvSpPr>
          <p:nvPr/>
        </p:nvSpPr>
        <p:spPr>
          <a:xfrm xmlns:a="http://schemas.openxmlformats.org/drawingml/2006/main">
            <a:off x="11287125" y="63912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13</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af1f940af9f54aea"/>
          <a:stretch xmlns:a="http://schemas.openxmlformats.org/drawingml/2006/main"/>
        </p:blipFill>
        <p:spPr>
          <a:xfrm xmlns:a="http://schemas.openxmlformats.org/drawingml/2006/main">
            <a:off x="631202" y="1381125"/>
            <a:ext cx="7062446" cy="48101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E8C59FC-B0EB-48D0-9147-489CF4DDE21A}"/>
              </a:ext>
            </a:extLst>
          </p:cNvPr>
          <p:cNvSpPr>
            <a:spLocks xmlns:a="http://schemas.openxmlformats.org/drawingml/2006/main" noGrp="1"/>
          </p:cNvSpPr>
          <p:nvPr/>
        </p:nvSpPr>
        <p:spPr>
          <a:xfrm xmlns:a="http://schemas.openxmlformats.org/drawingml/2006/main">
            <a:off x="8191500" y="1428750"/>
            <a:ext cx="3219450" cy="1200150"/>
          </a:xfrm>
          <a:prstGeom xmlns:a="http://schemas.openxmlformats.org/drawingml/2006/main" prst="roundRect">
            <a:avLst>
              <a:gd name="adj" fmla="val 9524"/>
            </a:avLst>
          </a:prstGeom>
          <a:solidFill xmlns:a="http://schemas.openxmlformats.org/drawingml/2006/main">
            <a:srgbClr val="E7F7F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421E87A-CD78-4773-8A7E-EEAEAD5D48D7}"/>
              </a:ext>
            </a:extLst>
          </p:cNvPr>
          <p:cNvSpPr>
            <a:spLocks xmlns:a="http://schemas.openxmlformats.org/drawingml/2006/main" noGrp="1"/>
          </p:cNvSpPr>
          <p:nvPr/>
        </p:nvSpPr>
        <p:spPr>
          <a:xfrm xmlns:a="http://schemas.openxmlformats.org/drawingml/2006/main">
            <a:off x="8401050" y="1619250"/>
            <a:ext cx="2800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149A84"/>
                </a:solidFill>
                <a:latin typeface="Helvetica Neue"/>
                <a:ea typeface="Helvetica Neue"/>
                <a:cs typeface="Helvetica Neue"/>
              </a:defRPr>
            </a:pPr>
            <a:r>
              <a:rPr sz="1050" b="1">
                <a:solidFill>
                  <a:srgbClr val="149A84"/>
                </a:solidFill>
                <a:latin typeface="Helvetica Neue"/>
                <a:ea typeface="Helvetica Neue"/>
                <a:cs typeface="Helvetica Neue"/>
              </a:rPr>
              <a:t>CHEMISTRY ADDED · SURVIVES CORRECTION</a:t>
            </a:r>
          </a:p>
        </p:txBody>
      </p:sp>
      <p:sp>
        <p:nvSpPr>
          <p:cNvPr id="9" name="">
            <a:extLst xmlns:a="http://schemas.openxmlformats.org/drawingml/2006/main">
              <a:ext uri="{FF2B5EF4-FFF2-40B4-BE49-F238E27FC236}">
                <a16:creationId xmlns:a16="http://schemas.microsoft.com/office/drawing/2014/main" id="{3B14D594-B754-4A9D-8F76-B79D3C70078D}"/>
              </a:ext>
            </a:extLst>
          </p:cNvPr>
          <p:cNvSpPr>
            <a:spLocks xmlns:a="http://schemas.openxmlformats.org/drawingml/2006/main" noGrp="1"/>
          </p:cNvSpPr>
          <p:nvPr/>
        </p:nvSpPr>
        <p:spPr>
          <a:xfrm xmlns:a="http://schemas.openxmlformats.org/drawingml/2006/main">
            <a:off x="8401050" y="1971675"/>
            <a:ext cx="2800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954"/>
          </a:bodyPr>
          <a:lstStyle xmlns:a="http://schemas.openxmlformats.org/drawingml/2006/main"/>
          <a:p xmlns:a="http://schemas.openxmlformats.org/drawingml/2006/main">
            <a:pPr algn="l">
              <a:defRPr sz="2175" b="1">
                <a:solidFill>
                  <a:srgbClr val="111318"/>
                </a:solidFill>
                <a:latin typeface="Helvetica Neue"/>
                <a:ea typeface="Helvetica Neue"/>
                <a:cs typeface="Helvetica Neue"/>
              </a:defRPr>
            </a:pPr>
            <a:r>
              <a:rPr sz="2175" b="1">
                <a:solidFill>
                  <a:srgbClr val="111318"/>
                </a:solidFill>
                <a:latin typeface="Helvetica Neue"/>
                <a:ea typeface="Helvetica Neue"/>
                <a:cs typeface="Helvetica Neue"/>
              </a:rPr>
              <a:t>+0.447 PR-AUC</a:t>
            </a:r>
          </a:p>
        </p:txBody>
      </p:sp>
      <p:sp>
        <p:nvSpPr>
          <p:cNvPr id="10" name="">
            <a:extLst xmlns:a="http://schemas.openxmlformats.org/drawingml/2006/main">
              <a:ext uri="{FF2B5EF4-FFF2-40B4-BE49-F238E27FC236}">
                <a16:creationId xmlns:a16="http://schemas.microsoft.com/office/drawing/2014/main" id="{26ADBD50-EB14-46DC-B079-C9C7D4458E36}"/>
              </a:ext>
            </a:extLst>
          </p:cNvPr>
          <p:cNvSpPr>
            <a:spLocks xmlns:a="http://schemas.openxmlformats.org/drawingml/2006/main" noGrp="1"/>
          </p:cNvSpPr>
          <p:nvPr/>
        </p:nvSpPr>
        <p:spPr>
          <a:xfrm xmlns:a="http://schemas.openxmlformats.org/drawingml/2006/main">
            <a:off x="8191500" y="2781300"/>
            <a:ext cx="3219450" cy="1200150"/>
          </a:xfrm>
          <a:prstGeom xmlns:a="http://schemas.openxmlformats.org/drawingml/2006/main" prst="roundRect">
            <a:avLst>
              <a:gd name="adj" fmla="val 9524"/>
            </a:avLst>
          </a:prstGeom>
          <a:solidFill xmlns:a="http://schemas.openxmlformats.org/drawingml/2006/main">
            <a:srgbClr val="E9F4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96518A5-B641-4400-9CC8-B75A7288CC57}"/>
              </a:ext>
            </a:extLst>
          </p:cNvPr>
          <p:cNvSpPr>
            <a:spLocks xmlns:a="http://schemas.openxmlformats.org/drawingml/2006/main" noGrp="1"/>
          </p:cNvSpPr>
          <p:nvPr/>
        </p:nvSpPr>
        <p:spPr>
          <a:xfrm xmlns:a="http://schemas.openxmlformats.org/drawingml/2006/main">
            <a:off x="8401050" y="2971800"/>
            <a:ext cx="2800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HYDRAULICS ADDED</a:t>
            </a:r>
          </a:p>
        </p:txBody>
      </p:sp>
      <p:sp>
        <p:nvSpPr>
          <p:cNvPr id="12" name="">
            <a:extLst xmlns:a="http://schemas.openxmlformats.org/drawingml/2006/main">
              <a:ext uri="{FF2B5EF4-FFF2-40B4-BE49-F238E27FC236}">
                <a16:creationId xmlns:a16="http://schemas.microsoft.com/office/drawing/2014/main" id="{2655C520-AF28-4854-B7EE-1DBF534F731B}"/>
              </a:ext>
            </a:extLst>
          </p:cNvPr>
          <p:cNvSpPr>
            <a:spLocks xmlns:a="http://schemas.openxmlformats.org/drawingml/2006/main" noGrp="1"/>
          </p:cNvSpPr>
          <p:nvPr/>
        </p:nvSpPr>
        <p:spPr>
          <a:xfrm xmlns:a="http://schemas.openxmlformats.org/drawingml/2006/main">
            <a:off x="8401050" y="3305175"/>
            <a:ext cx="2800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765"/>
          </a:bodyPr>
          <a:lstStyle xmlns:a="http://schemas.openxmlformats.org/drawingml/2006/main"/>
          <a:p xmlns:a="http://schemas.openxmlformats.org/drawingml/2006/main">
            <a:pPr algn="l">
              <a:defRPr sz="2025" b="1">
                <a:solidFill>
                  <a:srgbClr val="111318"/>
                </a:solidFill>
                <a:latin typeface="Helvetica Neue"/>
                <a:ea typeface="Helvetica Neue"/>
                <a:cs typeface="Helvetica Neue"/>
              </a:defRPr>
            </a:pPr>
            <a:r>
              <a:rPr sz="2025" b="1">
                <a:solidFill>
                  <a:srgbClr val="111318"/>
                </a:solidFill>
                <a:latin typeface="Helvetica Neue"/>
                <a:ea typeface="Helvetica Neue"/>
                <a:cs typeface="Helvetica Neue"/>
              </a:rPr>
              <a:t>+0.0091 PR-AUC</a:t>
            </a:r>
          </a:p>
        </p:txBody>
      </p:sp>
      <p:sp>
        <p:nvSpPr>
          <p:cNvPr id="13" name="">
            <a:extLst xmlns:a="http://schemas.openxmlformats.org/drawingml/2006/main">
              <a:ext uri="{FF2B5EF4-FFF2-40B4-BE49-F238E27FC236}">
                <a16:creationId xmlns:a16="http://schemas.microsoft.com/office/drawing/2014/main" id="{C76636FA-0B25-40A2-BEC7-81C5A3B9C4DD}"/>
              </a:ext>
            </a:extLst>
          </p:cNvPr>
          <p:cNvSpPr>
            <a:spLocks xmlns:a="http://schemas.openxmlformats.org/drawingml/2006/main" noGrp="1"/>
          </p:cNvSpPr>
          <p:nvPr/>
        </p:nvSpPr>
        <p:spPr>
          <a:xfrm xmlns:a="http://schemas.openxmlformats.org/drawingml/2006/main">
            <a:off x="8401050" y="3657600"/>
            <a:ext cx="2800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0">
                <a:solidFill>
                  <a:srgbClr val="5D6470"/>
                </a:solidFill>
                <a:latin typeface="Helvetica Neue"/>
                <a:ea typeface="Helvetica Neue"/>
                <a:cs typeface="Helvetica Neue"/>
              </a:defRPr>
            </a:pPr>
            <a:r>
              <a:rPr sz="1050" b="0">
                <a:solidFill>
                  <a:srgbClr val="5D6470"/>
                </a:solidFill>
                <a:latin typeface="Helvetica Neue"/>
                <a:ea typeface="Helvetica Neue"/>
                <a:cs typeface="Helvetica Neue"/>
              </a:rPr>
              <a:t>not multiplicity-significant (adjusted p = 0.070)</a:t>
            </a:r>
          </a:p>
        </p:txBody>
      </p:sp>
      <p:sp>
        <p:nvSpPr>
          <p:cNvPr id="14" name="">
            <a:extLst xmlns:a="http://schemas.openxmlformats.org/drawingml/2006/main">
              <a:ext uri="{FF2B5EF4-FFF2-40B4-BE49-F238E27FC236}">
                <a16:creationId xmlns:a16="http://schemas.microsoft.com/office/drawing/2014/main" id="{19787706-AF60-4925-AA35-149C3F8BF4EC}"/>
              </a:ext>
            </a:extLst>
          </p:cNvPr>
          <p:cNvSpPr>
            <a:spLocks xmlns:a="http://schemas.openxmlformats.org/drawingml/2006/main" noGrp="1"/>
          </p:cNvSpPr>
          <p:nvPr/>
        </p:nvSpPr>
        <p:spPr>
          <a:xfrm xmlns:a="http://schemas.openxmlformats.org/drawingml/2006/main">
            <a:off x="8191500" y="4133850"/>
            <a:ext cx="3219450" cy="1200150"/>
          </a:xfrm>
          <a:prstGeom xmlns:a="http://schemas.openxmlformats.org/drawingml/2006/main" prst="roundRect">
            <a:avLst>
              <a:gd name="adj" fmla="val 9524"/>
            </a:avLst>
          </a:prstGeom>
          <a:solidFill xmlns:a="http://schemas.openxmlformats.org/drawingml/2006/main">
            <a:srgbClr val="FDE8E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891F777-9701-47EF-AFBA-5A5ABAF9FBF0}"/>
              </a:ext>
            </a:extLst>
          </p:cNvPr>
          <p:cNvSpPr>
            <a:spLocks xmlns:a="http://schemas.openxmlformats.org/drawingml/2006/main" noGrp="1"/>
          </p:cNvSpPr>
          <p:nvPr/>
        </p:nvSpPr>
        <p:spPr>
          <a:xfrm xmlns:a="http://schemas.openxmlformats.org/drawingml/2006/main">
            <a:off x="8401050" y="4324350"/>
            <a:ext cx="2800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C53030"/>
                </a:solidFill>
                <a:latin typeface="Helvetica Neue"/>
                <a:ea typeface="Helvetica Neue"/>
                <a:cs typeface="Helvetica Neue"/>
              </a:defRPr>
            </a:pPr>
            <a:r>
              <a:rPr sz="1125" b="1">
                <a:solidFill>
                  <a:srgbClr val="C53030"/>
                </a:solidFill>
                <a:latin typeface="Helvetica Neue"/>
                <a:ea typeface="Helvetica Neue"/>
                <a:cs typeface="Helvetica Neue"/>
              </a:rPr>
              <a:t>AGE ADDED</a:t>
            </a:r>
          </a:p>
        </p:txBody>
      </p:sp>
      <p:sp>
        <p:nvSpPr>
          <p:cNvPr id="16" name="">
            <a:extLst xmlns:a="http://schemas.openxmlformats.org/drawingml/2006/main">
              <a:ext uri="{FF2B5EF4-FFF2-40B4-BE49-F238E27FC236}">
                <a16:creationId xmlns:a16="http://schemas.microsoft.com/office/drawing/2014/main" id="{3AF0A584-5B35-4E4F-8FA0-4B5E744AFBF1}"/>
              </a:ext>
            </a:extLst>
          </p:cNvPr>
          <p:cNvSpPr>
            <a:spLocks xmlns:a="http://schemas.openxmlformats.org/drawingml/2006/main" noGrp="1"/>
          </p:cNvSpPr>
          <p:nvPr/>
        </p:nvSpPr>
        <p:spPr>
          <a:xfrm xmlns:a="http://schemas.openxmlformats.org/drawingml/2006/main">
            <a:off x="8401050" y="4657725"/>
            <a:ext cx="2800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765"/>
          </a:bodyPr>
          <a:lstStyle xmlns:a="http://schemas.openxmlformats.org/drawingml/2006/main"/>
          <a:p xmlns:a="http://schemas.openxmlformats.org/drawingml/2006/main">
            <a:pPr algn="l">
              <a:defRPr sz="2025" b="1">
                <a:solidFill>
                  <a:srgbClr val="111318"/>
                </a:solidFill>
                <a:latin typeface="Helvetica Neue"/>
                <a:ea typeface="Helvetica Neue"/>
                <a:cs typeface="Helvetica Neue"/>
              </a:defRPr>
            </a:pPr>
            <a:r>
              <a:rPr sz="2025" b="1">
                <a:solidFill>
                  <a:srgbClr val="111318"/>
                </a:solidFill>
                <a:latin typeface="Helvetica Neue"/>
                <a:ea typeface="Helvetica Neue"/>
                <a:cs typeface="Helvetica Neue"/>
              </a:rPr>
              <a:t>−0.0060 PR-AUC</a:t>
            </a:r>
          </a:p>
        </p:txBody>
      </p:sp>
      <p:sp>
        <p:nvSpPr>
          <p:cNvPr id="17" name="">
            <a:extLst xmlns:a="http://schemas.openxmlformats.org/drawingml/2006/main">
              <a:ext uri="{FF2B5EF4-FFF2-40B4-BE49-F238E27FC236}">
                <a16:creationId xmlns:a16="http://schemas.microsoft.com/office/drawing/2014/main" id="{25762A6D-279A-4389-9411-2C727AAFE82E}"/>
              </a:ext>
            </a:extLst>
          </p:cNvPr>
          <p:cNvSpPr>
            <a:spLocks xmlns:a="http://schemas.openxmlformats.org/drawingml/2006/main" noGrp="1"/>
          </p:cNvSpPr>
          <p:nvPr/>
        </p:nvSpPr>
        <p:spPr>
          <a:xfrm xmlns:a="http://schemas.openxmlformats.org/drawingml/2006/main">
            <a:off x="8401050" y="5010150"/>
            <a:ext cx="2800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0">
                <a:solidFill>
                  <a:srgbClr val="C53030"/>
                </a:solidFill>
                <a:latin typeface="Helvetica Neue"/>
                <a:ea typeface="Helvetica Neue"/>
                <a:cs typeface="Helvetica Neue"/>
              </a:defRPr>
            </a:pPr>
            <a:r>
              <a:rPr sz="1050" b="0">
                <a:solidFill>
                  <a:srgbClr val="C53030"/>
                </a:solidFill>
                <a:latin typeface="Helvetica Neue"/>
                <a:ea typeface="Helvetica Neue"/>
                <a:cs typeface="Helvetica Neue"/>
              </a:rPr>
              <a:t>not multiplicity-significant (adjusted p = 0.070)</a:t>
            </a:r>
          </a:p>
        </p:txBody>
      </p:sp>
      <p:sp>
        <p:nvSpPr>
          <p:cNvPr id="18" name="">
            <a:extLst xmlns:a="http://schemas.openxmlformats.org/drawingml/2006/main">
              <a:ext uri="{FF2B5EF4-FFF2-40B4-BE49-F238E27FC236}">
                <a16:creationId xmlns:a16="http://schemas.microsoft.com/office/drawing/2014/main" id="{500CA8DD-1CC0-4C55-A961-3446F16C469A}"/>
              </a:ext>
            </a:extLst>
          </p:cNvPr>
          <p:cNvSpPr>
            <a:spLocks xmlns:a="http://schemas.openxmlformats.org/drawingml/2006/main" noGrp="1"/>
          </p:cNvSpPr>
          <p:nvPr/>
        </p:nvSpPr>
        <p:spPr>
          <a:xfrm xmlns:a="http://schemas.openxmlformats.org/drawingml/2006/main">
            <a:off x="8191500" y="5562600"/>
            <a:ext cx="3219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a:solidFill>
                  <a:srgbClr val="153A63"/>
                </a:solidFill>
                <a:latin typeface="Helvetica Neue"/>
                <a:ea typeface="Helvetica Neue"/>
                <a:cs typeface="Helvetica Neue"/>
              </a:defRPr>
            </a:pPr>
            <a:r>
              <a:rPr sz="1500" b="1">
                <a:solidFill>
                  <a:srgbClr val="153A63"/>
                </a:solidFill>
                <a:latin typeface="Helvetica Neue"/>
                <a:ea typeface="Helvetica Neue"/>
                <a:cs typeface="Helvetica Neue"/>
              </a:rPr>
              <a:t>Added data ≠ added information</a:t>
            </a:r>
          </a:p>
        </p:txBody>
      </p:sp>
    </p:spTree>
    <p:extLst>
      <p:ext uri="{BB962C8B-B14F-4D97-AF65-F5344CB8AC3E}">
        <p14:creationId xmlns:p14="http://schemas.microsoft.com/office/powerpoint/2010/main" val="135685653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3CECEFE-ACFB-47AB-9A61-ACC77F32DC27}"/>
              </a:ext>
            </a:extLst>
          </p:cNvPr>
          <p:cNvSpPr>
            <a:spLocks xmlns:a="http://schemas.openxmlformats.org/drawingml/2006/main" noGrp="1"/>
          </p:cNvSpPr>
          <p:nvPr/>
        </p:nvSpPr>
        <p:spPr>
          <a:xfrm xmlns:a="http://schemas.openxmlformats.org/drawingml/2006/main">
            <a:off x="400050" y="228600"/>
            <a:ext cx="695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DIRECTION OF INFORMATION</a:t>
            </a:r>
          </a:p>
        </p:txBody>
      </p:sp>
      <p:sp>
        <p:nvSpPr>
          <p:cNvPr id="2" name="">
            <a:extLst xmlns:a="http://schemas.openxmlformats.org/drawingml/2006/main">
              <a:ext uri="{FF2B5EF4-FFF2-40B4-BE49-F238E27FC236}">
                <a16:creationId xmlns:a16="http://schemas.microsoft.com/office/drawing/2014/main" id="{61DDDAA3-49BB-49E4-AF96-56A6ABE9D7A1}"/>
              </a:ext>
            </a:extLst>
          </p:cNvPr>
          <p:cNvSpPr>
            <a:spLocks xmlns:a="http://schemas.openxmlformats.org/drawingml/2006/main" noGrp="1"/>
          </p:cNvSpPr>
          <p:nvPr/>
        </p:nvSpPr>
        <p:spPr>
          <a:xfrm xmlns:a="http://schemas.openxmlformats.org/drawingml/2006/main">
            <a:off x="400050" y="49530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264"/>
          </a:bodyPr>
          <a:lstStyle xmlns:a="http://schemas.openxmlformats.org/drawingml/2006/main"/>
          <a:p xmlns:a="http://schemas.openxmlformats.org/drawingml/2006/main">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Correct topology reduced age non-uniqueness—especially with weak tracers</a:t>
            </a:r>
          </a:p>
        </p:txBody>
      </p:sp>
      <p:sp>
        <p:nvSpPr>
          <p:cNvPr id="3" name="">
            <a:extLst xmlns:a="http://schemas.openxmlformats.org/drawingml/2006/main">
              <a:ext uri="{FF2B5EF4-FFF2-40B4-BE49-F238E27FC236}">
                <a16:creationId xmlns:a16="http://schemas.microsoft.com/office/drawing/2014/main" id="{78DA7BFA-09BC-4F7E-869E-DD723A3CB278}"/>
              </a:ext>
            </a:extLst>
          </p:cNvPr>
          <p:cNvSpPr>
            <a:spLocks xmlns:a="http://schemas.openxmlformats.org/drawingml/2006/main" noGrp="1"/>
          </p:cNvSpPr>
          <p:nvPr/>
        </p:nvSpPr>
        <p:spPr>
          <a:xfrm xmlns:a="http://schemas.openxmlformats.org/drawingml/2006/main">
            <a:off x="400050" y="1190625"/>
            <a:ext cx="11391900" cy="19050"/>
          </a:xfrm>
          <a:prstGeom xmlns:a="http://schemas.openxmlformats.org/drawingml/2006/main" prst="rect">
            <a:avLst/>
          </a:prstGeom>
          <a:solidFill xmlns:a="http://schemas.openxmlformats.org/drawingml/2006/main">
            <a:srgbClr val="11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97DC380-34BC-40F1-988B-9D197CA961E5}"/>
              </a:ext>
            </a:extLst>
          </p:cNvPr>
          <p:cNvSpPr>
            <a:spLocks xmlns:a="http://schemas.openxmlformats.org/drawingml/2006/main" noGrp="1"/>
          </p:cNvSpPr>
          <p:nvPr/>
        </p:nvSpPr>
        <p:spPr>
          <a:xfrm xmlns:a="http://schemas.openxmlformats.org/drawingml/2006/main">
            <a:off x="400050" y="6438900"/>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Results</a:t>
            </a:r>
          </a:p>
        </p:txBody>
      </p:sp>
      <p:sp>
        <p:nvSpPr>
          <p:cNvPr id="5" name="">
            <a:extLst xmlns:a="http://schemas.openxmlformats.org/drawingml/2006/main">
              <a:ext uri="{FF2B5EF4-FFF2-40B4-BE49-F238E27FC236}">
                <a16:creationId xmlns:a16="http://schemas.microsoft.com/office/drawing/2014/main" id="{4307B517-FDA1-42E6-BF6C-2D601EAF208D}"/>
              </a:ext>
            </a:extLst>
          </p:cNvPr>
          <p:cNvSpPr>
            <a:spLocks xmlns:a="http://schemas.openxmlformats.org/drawingml/2006/main" noGrp="1"/>
          </p:cNvSpPr>
          <p:nvPr/>
        </p:nvSpPr>
        <p:spPr>
          <a:xfrm xmlns:a="http://schemas.openxmlformats.org/drawingml/2006/main">
            <a:off x="11287125" y="63912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14</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241c0fe6826f44b5"/>
          <a:stretch xmlns:a="http://schemas.openxmlformats.org/drawingml/2006/main"/>
        </p:blipFill>
        <p:spPr>
          <a:xfrm xmlns:a="http://schemas.openxmlformats.org/drawingml/2006/main">
            <a:off x="540151" y="1381125"/>
            <a:ext cx="7244548" cy="48101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C68EA31E-7D59-48C1-BAB8-A70461C82805}"/>
              </a:ext>
            </a:extLst>
          </p:cNvPr>
          <p:cNvSpPr>
            <a:spLocks xmlns:a="http://schemas.openxmlformats.org/drawingml/2006/main" noGrp="1"/>
          </p:cNvSpPr>
          <p:nvPr/>
        </p:nvSpPr>
        <p:spPr>
          <a:xfrm xmlns:a="http://schemas.openxmlformats.org/drawingml/2006/main">
            <a:off x="8191500" y="1619250"/>
            <a:ext cx="3219450" cy="1257300"/>
          </a:xfrm>
          <a:prstGeom xmlns:a="http://schemas.openxmlformats.org/drawingml/2006/main" prst="roundRect">
            <a:avLst>
              <a:gd name="adj" fmla="val 9091"/>
            </a:avLst>
          </a:prstGeom>
          <a:solidFill xmlns:a="http://schemas.openxmlformats.org/drawingml/2006/main">
            <a:srgbClr val="F2F3F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44C6F80-81DE-473B-899A-5A0DD604126A}"/>
              </a:ext>
            </a:extLst>
          </p:cNvPr>
          <p:cNvSpPr>
            <a:spLocks xmlns:a="http://schemas.openxmlformats.org/drawingml/2006/main" noGrp="1"/>
          </p:cNvSpPr>
          <p:nvPr/>
        </p:nvSpPr>
        <p:spPr>
          <a:xfrm xmlns:a="http://schemas.openxmlformats.org/drawingml/2006/main">
            <a:off x="8191500" y="1619250"/>
            <a:ext cx="76200" cy="12573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0D00ED8-6795-44A8-AC1B-9C9DBCF201EC}"/>
              </a:ext>
            </a:extLst>
          </p:cNvPr>
          <p:cNvSpPr>
            <a:spLocks xmlns:a="http://schemas.openxmlformats.org/drawingml/2006/main" noGrp="1"/>
          </p:cNvSpPr>
          <p:nvPr/>
        </p:nvSpPr>
        <p:spPr>
          <a:xfrm xmlns:a="http://schemas.openxmlformats.org/drawingml/2006/main">
            <a:off x="8382000" y="1771650"/>
            <a:ext cx="2895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625" b="1">
                <a:solidFill>
                  <a:srgbClr val="3D8DFF"/>
                </a:solidFill>
                <a:latin typeface="Helvetica Neue"/>
                <a:ea typeface="Helvetica Neue"/>
                <a:cs typeface="Helvetica Neue"/>
              </a:defRPr>
            </a:pPr>
            <a:r>
              <a:rPr sz="2625" b="1">
                <a:solidFill>
                  <a:srgbClr val="3D8DFF"/>
                </a:solidFill>
                <a:latin typeface="Helvetica Neue"/>
                <a:ea typeface="Helvetica Neue"/>
                <a:cs typeface="Helvetica Neue"/>
              </a:rPr>
              <a:t>−0.0619 y</a:t>
            </a:r>
          </a:p>
        </p:txBody>
      </p:sp>
      <p:sp>
        <p:nvSpPr>
          <p:cNvPr id="10" name="">
            <a:extLst xmlns:a="http://schemas.openxmlformats.org/drawingml/2006/main">
              <a:ext uri="{FF2B5EF4-FFF2-40B4-BE49-F238E27FC236}">
                <a16:creationId xmlns:a16="http://schemas.microsoft.com/office/drawing/2014/main" id="{DD7376ED-FA59-4002-91EB-0111DE16A5AB}"/>
              </a:ext>
            </a:extLst>
          </p:cNvPr>
          <p:cNvSpPr>
            <a:spLocks xmlns:a="http://schemas.openxmlformats.org/drawingml/2006/main" noGrp="1"/>
          </p:cNvSpPr>
          <p:nvPr/>
        </p:nvSpPr>
        <p:spPr>
          <a:xfrm xmlns:a="http://schemas.openxmlformats.org/drawingml/2006/main">
            <a:off x="8382000" y="2305050"/>
            <a:ext cx="2895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5D6470"/>
                </a:solidFill>
                <a:latin typeface="Helvetica Neue"/>
                <a:ea typeface="Helvetica Neue"/>
                <a:cs typeface="Helvetica Neue"/>
              </a:defRPr>
            </a:pPr>
            <a:r>
              <a:rPr sz="1275" b="0">
                <a:solidFill>
                  <a:srgbClr val="5D6470"/>
                </a:solidFill>
                <a:latin typeface="Helvetica Neue"/>
                <a:ea typeface="Helvetica Neue"/>
                <a:cs typeface="Helvetica Neue"/>
              </a:rPr>
              <a:t>MAE: correct graph vs no graph, two tracers</a:t>
            </a:r>
          </a:p>
        </p:txBody>
      </p:sp>
      <p:sp>
        <p:nvSpPr>
          <p:cNvPr id="11" name="">
            <a:extLst xmlns:a="http://schemas.openxmlformats.org/drawingml/2006/main">
              <a:ext uri="{FF2B5EF4-FFF2-40B4-BE49-F238E27FC236}">
                <a16:creationId xmlns:a16="http://schemas.microsoft.com/office/drawing/2014/main" id="{4667A30D-9C5B-4492-9F08-6DE41B4F91D5}"/>
              </a:ext>
            </a:extLst>
          </p:cNvPr>
          <p:cNvSpPr>
            <a:spLocks xmlns:a="http://schemas.openxmlformats.org/drawingml/2006/main" noGrp="1"/>
          </p:cNvSpPr>
          <p:nvPr/>
        </p:nvSpPr>
        <p:spPr>
          <a:xfrm xmlns:a="http://schemas.openxmlformats.org/drawingml/2006/main">
            <a:off x="8191500" y="3067050"/>
            <a:ext cx="3219450" cy="1257300"/>
          </a:xfrm>
          <a:prstGeom xmlns:a="http://schemas.openxmlformats.org/drawingml/2006/main" prst="roundRect">
            <a:avLst>
              <a:gd name="adj" fmla="val 9091"/>
            </a:avLst>
          </a:prstGeom>
          <a:solidFill xmlns:a="http://schemas.openxmlformats.org/drawingml/2006/main">
            <a:srgbClr val="F2F3F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0F5C444-2B90-4C1E-8415-E0051FEA5741}"/>
              </a:ext>
            </a:extLst>
          </p:cNvPr>
          <p:cNvSpPr>
            <a:spLocks xmlns:a="http://schemas.openxmlformats.org/drawingml/2006/main" noGrp="1"/>
          </p:cNvSpPr>
          <p:nvPr/>
        </p:nvSpPr>
        <p:spPr>
          <a:xfrm xmlns:a="http://schemas.openxmlformats.org/drawingml/2006/main">
            <a:off x="8191500" y="3067050"/>
            <a:ext cx="76200" cy="1257300"/>
          </a:xfrm>
          <a:prstGeom xmlns:a="http://schemas.openxmlformats.org/drawingml/2006/main" prst="rect">
            <a:avLst/>
          </a:prstGeom>
          <a:solidFill xmlns:a="http://schemas.openxmlformats.org/drawingml/2006/main">
            <a:srgbClr val="149A8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B118E18-2294-4A3A-B147-6781C9AE9DA3}"/>
              </a:ext>
            </a:extLst>
          </p:cNvPr>
          <p:cNvSpPr>
            <a:spLocks xmlns:a="http://schemas.openxmlformats.org/drawingml/2006/main" noGrp="1"/>
          </p:cNvSpPr>
          <p:nvPr/>
        </p:nvSpPr>
        <p:spPr>
          <a:xfrm xmlns:a="http://schemas.openxmlformats.org/drawingml/2006/main">
            <a:off x="8382000" y="3219450"/>
            <a:ext cx="2895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625" b="1">
                <a:solidFill>
                  <a:srgbClr val="149A84"/>
                </a:solidFill>
                <a:latin typeface="Helvetica Neue"/>
                <a:ea typeface="Helvetica Neue"/>
                <a:cs typeface="Helvetica Neue"/>
              </a:defRPr>
            </a:pPr>
            <a:r>
              <a:rPr sz="2625" b="1">
                <a:solidFill>
                  <a:srgbClr val="149A84"/>
                </a:solidFill>
                <a:latin typeface="Helvetica Neue"/>
                <a:ea typeface="Helvetica Neue"/>
                <a:cs typeface="Helvetica Neue"/>
              </a:rPr>
              <a:t>−0.1642 y</a:t>
            </a:r>
          </a:p>
        </p:txBody>
      </p:sp>
      <p:sp>
        <p:nvSpPr>
          <p:cNvPr id="14" name="">
            <a:extLst xmlns:a="http://schemas.openxmlformats.org/drawingml/2006/main">
              <a:ext uri="{FF2B5EF4-FFF2-40B4-BE49-F238E27FC236}">
                <a16:creationId xmlns:a16="http://schemas.microsoft.com/office/drawing/2014/main" id="{F3D0B411-63A6-4DDF-A999-CE02A7345DAD}"/>
              </a:ext>
            </a:extLst>
          </p:cNvPr>
          <p:cNvSpPr>
            <a:spLocks xmlns:a="http://schemas.openxmlformats.org/drawingml/2006/main" noGrp="1"/>
          </p:cNvSpPr>
          <p:nvPr/>
        </p:nvSpPr>
        <p:spPr>
          <a:xfrm xmlns:a="http://schemas.openxmlformats.org/drawingml/2006/main">
            <a:off x="8382000" y="3752850"/>
            <a:ext cx="2895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5D6470"/>
                </a:solidFill>
                <a:latin typeface="Helvetica Neue"/>
                <a:ea typeface="Helvetica Neue"/>
                <a:cs typeface="Helvetica Neue"/>
              </a:defRPr>
            </a:pPr>
            <a:r>
              <a:rPr sz="1275" b="0">
                <a:solidFill>
                  <a:srgbClr val="5D6470"/>
                </a:solidFill>
                <a:latin typeface="Helvetica Neue"/>
                <a:ea typeface="Helvetica Neue"/>
                <a:cs typeface="Helvetica Neue"/>
              </a:rPr>
              <a:t>MAE: correct graph vs no graph, ³H only</a:t>
            </a:r>
          </a:p>
        </p:txBody>
      </p:sp>
      <p:sp>
        <p:nvSpPr>
          <p:cNvPr id="15" name="">
            <a:extLst xmlns:a="http://schemas.openxmlformats.org/drawingml/2006/main">
              <a:ext uri="{FF2B5EF4-FFF2-40B4-BE49-F238E27FC236}">
                <a16:creationId xmlns:a16="http://schemas.microsoft.com/office/drawing/2014/main" id="{A837D36B-C8A3-4DAE-A608-2810281B1448}"/>
              </a:ext>
            </a:extLst>
          </p:cNvPr>
          <p:cNvSpPr>
            <a:spLocks xmlns:a="http://schemas.openxmlformats.org/drawingml/2006/main" noGrp="1"/>
          </p:cNvSpPr>
          <p:nvPr/>
        </p:nvSpPr>
        <p:spPr>
          <a:xfrm xmlns:a="http://schemas.openxmlformats.org/drawingml/2006/main">
            <a:off x="8191500" y="4514850"/>
            <a:ext cx="3219450" cy="1143000"/>
          </a:xfrm>
          <a:prstGeom xmlns:a="http://schemas.openxmlformats.org/drawingml/2006/main" prst="roundRect">
            <a:avLst>
              <a:gd name="adj" fmla="val 10000"/>
            </a:avLst>
          </a:prstGeom>
          <a:solidFill xmlns:a="http://schemas.openxmlformats.org/drawingml/2006/main">
            <a:srgbClr val="FDE8E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50A080E-0627-4D28-A886-7E75CDF65B86}"/>
              </a:ext>
            </a:extLst>
          </p:cNvPr>
          <p:cNvSpPr>
            <a:spLocks xmlns:a="http://schemas.openxmlformats.org/drawingml/2006/main" noGrp="1"/>
          </p:cNvSpPr>
          <p:nvPr/>
        </p:nvSpPr>
        <p:spPr>
          <a:xfrm xmlns:a="http://schemas.openxmlformats.org/drawingml/2006/main">
            <a:off x="8420100" y="470535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C53030"/>
                </a:solidFill>
                <a:latin typeface="Helvetica Neue"/>
                <a:ea typeface="Helvetica Neue"/>
                <a:cs typeface="Helvetica Neue"/>
              </a:defRPr>
            </a:pPr>
            <a:r>
              <a:rPr sz="1500" b="1">
                <a:solidFill>
                  <a:srgbClr val="C53030"/>
                </a:solidFill>
                <a:latin typeface="Helvetica Neue"/>
                <a:ea typeface="Helvetica Neue"/>
                <a:cs typeface="Helvetica Neue"/>
              </a:rPr>
              <a:t>Wrong direction</a:t>
            </a:r>
          </a:p>
        </p:txBody>
      </p:sp>
      <p:sp>
        <p:nvSpPr>
          <p:cNvPr id="17" name="">
            <a:extLst xmlns:a="http://schemas.openxmlformats.org/drawingml/2006/main">
              <a:ext uri="{FF2B5EF4-FFF2-40B4-BE49-F238E27FC236}">
                <a16:creationId xmlns:a16="http://schemas.microsoft.com/office/drawing/2014/main" id="{C94868EC-9725-45E9-ACAC-D4C60AD3C62F}"/>
              </a:ext>
            </a:extLst>
          </p:cNvPr>
          <p:cNvSpPr>
            <a:spLocks xmlns:a="http://schemas.openxmlformats.org/drawingml/2006/main" noGrp="1"/>
          </p:cNvSpPr>
          <p:nvPr/>
        </p:nvSpPr>
        <p:spPr>
          <a:xfrm xmlns:a="http://schemas.openxmlformats.org/drawingml/2006/main">
            <a:off x="8420100" y="5086350"/>
            <a:ext cx="276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C53030"/>
                </a:solidFill>
                <a:latin typeface="Helvetica Neue"/>
                <a:ea typeface="Helvetica Neue"/>
                <a:cs typeface="Helvetica Neue"/>
              </a:defRPr>
            </a:pPr>
            <a:r>
              <a:rPr sz="1425" b="1">
                <a:solidFill>
                  <a:srgbClr val="C53030"/>
                </a:solidFill>
                <a:latin typeface="Helvetica Neue"/>
                <a:ea typeface="Helvetica Neue"/>
                <a:cs typeface="Helvetica Neue"/>
              </a:rPr>
              <a:t>Reversed topology increased error and created negative transfer.</a:t>
            </a:r>
          </a:p>
        </p:txBody>
      </p:sp>
      <p:sp>
        <p:nvSpPr>
          <p:cNvPr id="18" name="">
            <a:extLst xmlns:a="http://schemas.openxmlformats.org/drawingml/2006/main">
              <a:ext uri="{FF2B5EF4-FFF2-40B4-BE49-F238E27FC236}">
                <a16:creationId xmlns:a16="http://schemas.microsoft.com/office/drawing/2014/main" id="{4F615096-A9AF-47C7-90BC-8BA2FB18B655}"/>
              </a:ext>
            </a:extLst>
          </p:cNvPr>
          <p:cNvSpPr>
            <a:spLocks xmlns:a="http://schemas.openxmlformats.org/drawingml/2006/main" noGrp="1"/>
          </p:cNvSpPr>
          <p:nvPr/>
        </p:nvSpPr>
        <p:spPr>
          <a:xfrm xmlns:a="http://schemas.openxmlformats.org/drawingml/2006/main">
            <a:off x="8191500" y="5829300"/>
            <a:ext cx="3219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b="1">
                <a:solidFill>
                  <a:srgbClr val="5D6470"/>
                </a:solidFill>
                <a:latin typeface="Helvetica Neue"/>
                <a:ea typeface="Helvetica Neue"/>
                <a:cs typeface="Helvetica Neue"/>
              </a:defRPr>
            </a:pPr>
            <a:r>
              <a:rPr sz="1125" b="1">
                <a:solidFill>
                  <a:srgbClr val="5D6470"/>
                </a:solidFill>
                <a:latin typeface="Helvetica Neue"/>
                <a:ea typeface="Helvetica Neue"/>
                <a:cs typeface="Helvetica Neue"/>
              </a:rPr>
              <a:t>Practical MAE change: 2.24% and 3.46% of baseline</a:t>
            </a:r>
          </a:p>
        </p:txBody>
      </p:sp>
    </p:spTree>
    <p:extLst>
      <p:ext uri="{BB962C8B-B14F-4D97-AF65-F5344CB8AC3E}">
        <p14:creationId xmlns:p14="http://schemas.microsoft.com/office/powerpoint/2010/main" val="104038555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4FCE997-FA87-4E1D-8AE0-198530321D12}"/>
              </a:ext>
            </a:extLst>
          </p:cNvPr>
          <p:cNvSpPr>
            <a:spLocks xmlns:a="http://schemas.openxmlformats.org/drawingml/2006/main" noGrp="1"/>
          </p:cNvSpPr>
          <p:nvPr/>
        </p:nvSpPr>
        <p:spPr>
          <a:xfrm xmlns:a="http://schemas.openxmlformats.org/drawingml/2006/main">
            <a:off x="400050" y="228600"/>
            <a:ext cx="695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SHEAF VERSUS GRAPH</a:t>
            </a:r>
          </a:p>
        </p:txBody>
      </p:sp>
      <p:sp>
        <p:nvSpPr>
          <p:cNvPr id="2" name="">
            <a:extLst xmlns:a="http://schemas.openxmlformats.org/drawingml/2006/main">
              <a:ext uri="{FF2B5EF4-FFF2-40B4-BE49-F238E27FC236}">
                <a16:creationId xmlns:a16="http://schemas.microsoft.com/office/drawing/2014/main" id="{A8B581B0-104A-4215-8579-83295A4DE5D9}"/>
              </a:ext>
            </a:extLst>
          </p:cNvPr>
          <p:cNvSpPr>
            <a:spLocks xmlns:a="http://schemas.openxmlformats.org/drawingml/2006/main" noGrp="1"/>
          </p:cNvSpPr>
          <p:nvPr/>
        </p:nvSpPr>
        <p:spPr>
          <a:xfrm xmlns:a="http://schemas.openxmlformats.org/drawingml/2006/main">
            <a:off x="400050" y="49530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643"/>
          </a:bodyPr>
          <a:lstStyle xmlns:a="http://schemas.openxmlformats.org/drawingml/2006/main"/>
          <a:p xmlns:a="http://schemas.openxmlformats.org/drawingml/2006/main">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The sheaf adds representation and conflict localisation—not universal superiority</a:t>
            </a:r>
          </a:p>
        </p:txBody>
      </p:sp>
      <p:sp>
        <p:nvSpPr>
          <p:cNvPr id="3" name="">
            <a:extLst xmlns:a="http://schemas.openxmlformats.org/drawingml/2006/main">
              <a:ext uri="{FF2B5EF4-FFF2-40B4-BE49-F238E27FC236}">
                <a16:creationId xmlns:a16="http://schemas.microsoft.com/office/drawing/2014/main" id="{6C942C8A-0CF0-40A2-B8CE-E3A989FAA297}"/>
              </a:ext>
            </a:extLst>
          </p:cNvPr>
          <p:cNvSpPr>
            <a:spLocks xmlns:a="http://schemas.openxmlformats.org/drawingml/2006/main" noGrp="1"/>
          </p:cNvSpPr>
          <p:nvPr/>
        </p:nvSpPr>
        <p:spPr>
          <a:xfrm xmlns:a="http://schemas.openxmlformats.org/drawingml/2006/main">
            <a:off x="400050" y="1190625"/>
            <a:ext cx="11391900" cy="19050"/>
          </a:xfrm>
          <a:prstGeom xmlns:a="http://schemas.openxmlformats.org/drawingml/2006/main" prst="rect">
            <a:avLst/>
          </a:prstGeom>
          <a:solidFill xmlns:a="http://schemas.openxmlformats.org/drawingml/2006/main">
            <a:srgbClr val="11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4DA2859-A8E1-4791-9C71-07BFE3BF90C4}"/>
              </a:ext>
            </a:extLst>
          </p:cNvPr>
          <p:cNvSpPr>
            <a:spLocks xmlns:a="http://schemas.openxmlformats.org/drawingml/2006/main" noGrp="1"/>
          </p:cNvSpPr>
          <p:nvPr/>
        </p:nvSpPr>
        <p:spPr>
          <a:xfrm xmlns:a="http://schemas.openxmlformats.org/drawingml/2006/main">
            <a:off x="400050" y="6438900"/>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Results</a:t>
            </a:r>
          </a:p>
        </p:txBody>
      </p:sp>
      <p:sp>
        <p:nvSpPr>
          <p:cNvPr id="5" name="">
            <a:extLst xmlns:a="http://schemas.openxmlformats.org/drawingml/2006/main">
              <a:ext uri="{FF2B5EF4-FFF2-40B4-BE49-F238E27FC236}">
                <a16:creationId xmlns:a16="http://schemas.microsoft.com/office/drawing/2014/main" id="{540E4D2A-D9FB-4146-9880-BED417F9A41B}"/>
              </a:ext>
            </a:extLst>
          </p:cNvPr>
          <p:cNvSpPr>
            <a:spLocks xmlns:a="http://schemas.openxmlformats.org/drawingml/2006/main" noGrp="1"/>
          </p:cNvSpPr>
          <p:nvPr/>
        </p:nvSpPr>
        <p:spPr>
          <a:xfrm xmlns:a="http://schemas.openxmlformats.org/drawingml/2006/main">
            <a:off x="11287125" y="63912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15</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3f38556f4cf94cc1"/>
          <a:stretch xmlns:a="http://schemas.openxmlformats.org/drawingml/2006/main"/>
        </p:blipFill>
        <p:spPr>
          <a:xfrm xmlns:a="http://schemas.openxmlformats.org/drawingml/2006/main">
            <a:off x="726842" y="1381125"/>
            <a:ext cx="6871166" cy="48101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BA3EBE9-C076-4325-8C25-841A55E6C19B}"/>
              </a:ext>
            </a:extLst>
          </p:cNvPr>
          <p:cNvSpPr>
            <a:spLocks xmlns:a="http://schemas.openxmlformats.org/drawingml/2006/main" noGrp="1"/>
          </p:cNvSpPr>
          <p:nvPr/>
        </p:nvSpPr>
        <p:spPr>
          <a:xfrm xmlns:a="http://schemas.openxmlformats.org/drawingml/2006/main">
            <a:off x="8191500" y="1485900"/>
            <a:ext cx="3219450" cy="1143000"/>
          </a:xfrm>
          <a:prstGeom xmlns:a="http://schemas.openxmlformats.org/drawingml/2006/main" prst="roundRect">
            <a:avLst>
              <a:gd name="adj" fmla="val 10000"/>
            </a:avLst>
          </a:prstGeom>
          <a:solidFill xmlns:a="http://schemas.openxmlformats.org/drawingml/2006/main">
            <a:srgbClr val="E7F7F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8CA6D8C-9C46-4299-90F0-93A55AFC4835}"/>
              </a:ext>
            </a:extLst>
          </p:cNvPr>
          <p:cNvSpPr>
            <a:spLocks xmlns:a="http://schemas.openxmlformats.org/drawingml/2006/main" noGrp="1"/>
          </p:cNvSpPr>
          <p:nvPr/>
        </p:nvSpPr>
        <p:spPr>
          <a:xfrm xmlns:a="http://schemas.openxmlformats.org/drawingml/2006/main">
            <a:off x="8420100" y="1676400"/>
            <a:ext cx="276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49A84"/>
                </a:solidFill>
                <a:latin typeface="Helvetica Neue"/>
                <a:ea typeface="Helvetica Neue"/>
                <a:cs typeface="Helvetica Neue"/>
              </a:defRPr>
            </a:pPr>
            <a:r>
              <a:rPr sz="1125" b="1">
                <a:solidFill>
                  <a:srgbClr val="149A84"/>
                </a:solidFill>
                <a:latin typeface="Helvetica Neue"/>
                <a:ea typeface="Helvetica Neue"/>
                <a:cs typeface="Helvetica Neue"/>
              </a:rPr>
              <a:t>VS IDENTITY GRAPH</a:t>
            </a:r>
          </a:p>
        </p:txBody>
      </p:sp>
      <p:sp>
        <p:nvSpPr>
          <p:cNvPr id="9" name="">
            <a:extLst xmlns:a="http://schemas.openxmlformats.org/drawingml/2006/main">
              <a:ext uri="{FF2B5EF4-FFF2-40B4-BE49-F238E27FC236}">
                <a16:creationId xmlns:a16="http://schemas.microsoft.com/office/drawing/2014/main" id="{55D9C9A5-8AAC-417C-97D3-65CD725202A1}"/>
              </a:ext>
            </a:extLst>
          </p:cNvPr>
          <p:cNvSpPr>
            <a:spLocks xmlns:a="http://schemas.openxmlformats.org/drawingml/2006/main" noGrp="1"/>
          </p:cNvSpPr>
          <p:nvPr/>
        </p:nvSpPr>
        <p:spPr>
          <a:xfrm xmlns:a="http://schemas.openxmlformats.org/drawingml/2006/main">
            <a:off x="8420100" y="2038350"/>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2100" b="1">
                <a:solidFill>
                  <a:srgbClr val="111318"/>
                </a:solidFill>
                <a:latin typeface="Helvetica Neue"/>
                <a:ea typeface="Helvetica Neue"/>
                <a:cs typeface="Helvetica Neue"/>
              </a:defRPr>
            </a:pPr>
            <a:r>
              <a:rPr sz="2100" b="1">
                <a:solidFill>
                  <a:srgbClr val="111318"/>
                </a:solidFill>
                <a:latin typeface="Helvetica Neue"/>
                <a:ea typeface="Helvetica Neue"/>
                <a:cs typeface="Helvetica Neue"/>
              </a:rPr>
              <a:t>+0.0854 PR-AUC</a:t>
            </a:r>
          </a:p>
        </p:txBody>
      </p:sp>
      <p:sp>
        <p:nvSpPr>
          <p:cNvPr id="10" name="">
            <a:extLst xmlns:a="http://schemas.openxmlformats.org/drawingml/2006/main">
              <a:ext uri="{FF2B5EF4-FFF2-40B4-BE49-F238E27FC236}">
                <a16:creationId xmlns:a16="http://schemas.microsoft.com/office/drawing/2014/main" id="{0F193E82-451F-4D98-BFE7-211A17EF37E5}"/>
              </a:ext>
            </a:extLst>
          </p:cNvPr>
          <p:cNvSpPr>
            <a:spLocks xmlns:a="http://schemas.openxmlformats.org/drawingml/2006/main" noGrp="1"/>
          </p:cNvSpPr>
          <p:nvPr/>
        </p:nvSpPr>
        <p:spPr>
          <a:xfrm xmlns:a="http://schemas.openxmlformats.org/drawingml/2006/main">
            <a:off x="8191500" y="2781300"/>
            <a:ext cx="3219450" cy="1143000"/>
          </a:xfrm>
          <a:prstGeom xmlns:a="http://schemas.openxmlformats.org/drawingml/2006/main" prst="roundRect">
            <a:avLst>
              <a:gd name="adj" fmla="val 10000"/>
            </a:avLst>
          </a:prstGeom>
          <a:solidFill xmlns:a="http://schemas.openxmlformats.org/drawingml/2006/main">
            <a:srgbClr val="E9F4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727A2F9-E107-4FFF-BB76-D28056F1B1E5}"/>
              </a:ext>
            </a:extLst>
          </p:cNvPr>
          <p:cNvSpPr>
            <a:spLocks xmlns:a="http://schemas.openxmlformats.org/drawingml/2006/main" noGrp="1"/>
          </p:cNvSpPr>
          <p:nvPr/>
        </p:nvSpPr>
        <p:spPr>
          <a:xfrm xmlns:a="http://schemas.openxmlformats.org/drawingml/2006/main">
            <a:off x="8420100" y="2971800"/>
            <a:ext cx="276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NATIVE VS PERMUTED MAPS</a:t>
            </a:r>
          </a:p>
        </p:txBody>
      </p:sp>
      <p:sp>
        <p:nvSpPr>
          <p:cNvPr id="12" name="">
            <a:extLst xmlns:a="http://schemas.openxmlformats.org/drawingml/2006/main">
              <a:ext uri="{FF2B5EF4-FFF2-40B4-BE49-F238E27FC236}">
                <a16:creationId xmlns:a16="http://schemas.microsoft.com/office/drawing/2014/main" id="{3AD2C35B-6329-46C6-AE39-523E4A20CBC4}"/>
              </a:ext>
            </a:extLst>
          </p:cNvPr>
          <p:cNvSpPr>
            <a:spLocks xmlns:a="http://schemas.openxmlformats.org/drawingml/2006/main" noGrp="1"/>
          </p:cNvSpPr>
          <p:nvPr/>
        </p:nvSpPr>
        <p:spPr>
          <a:xfrm xmlns:a="http://schemas.openxmlformats.org/drawingml/2006/main">
            <a:off x="8420100" y="3333750"/>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2100" b="1">
                <a:solidFill>
                  <a:srgbClr val="111318"/>
                </a:solidFill>
                <a:latin typeface="Helvetica Neue"/>
                <a:ea typeface="Helvetica Neue"/>
                <a:cs typeface="Helvetica Neue"/>
              </a:defRPr>
            </a:pPr>
            <a:r>
              <a:rPr sz="2100" b="1">
                <a:solidFill>
                  <a:srgbClr val="111318"/>
                </a:solidFill>
                <a:latin typeface="Helvetica Neue"/>
                <a:ea typeface="Helvetica Neue"/>
                <a:cs typeface="Helvetica Neue"/>
              </a:rPr>
              <a:t>+0.0909 PR-AUC</a:t>
            </a:r>
          </a:p>
        </p:txBody>
      </p:sp>
      <p:sp>
        <p:nvSpPr>
          <p:cNvPr id="13" name="">
            <a:extLst xmlns:a="http://schemas.openxmlformats.org/drawingml/2006/main">
              <a:ext uri="{FF2B5EF4-FFF2-40B4-BE49-F238E27FC236}">
                <a16:creationId xmlns:a16="http://schemas.microsoft.com/office/drawing/2014/main" id="{EAF1A227-BF47-4739-9FFE-4AED93C31FFB}"/>
              </a:ext>
            </a:extLst>
          </p:cNvPr>
          <p:cNvSpPr>
            <a:spLocks xmlns:a="http://schemas.openxmlformats.org/drawingml/2006/main" noGrp="1"/>
          </p:cNvSpPr>
          <p:nvPr/>
        </p:nvSpPr>
        <p:spPr>
          <a:xfrm xmlns:a="http://schemas.openxmlformats.org/drawingml/2006/main">
            <a:off x="8191500" y="4076700"/>
            <a:ext cx="3219450" cy="1143000"/>
          </a:xfrm>
          <a:prstGeom xmlns:a="http://schemas.openxmlformats.org/drawingml/2006/main" prst="roundRect">
            <a:avLst>
              <a:gd name="adj" fmla="val 10000"/>
            </a:avLst>
          </a:prstGeom>
          <a:solidFill xmlns:a="http://schemas.openxmlformats.org/drawingml/2006/main">
            <a:srgbClr val="FDE8E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1298DE7-38B5-4530-85B2-0FF67FFB7225}"/>
              </a:ext>
            </a:extLst>
          </p:cNvPr>
          <p:cNvSpPr>
            <a:spLocks xmlns:a="http://schemas.openxmlformats.org/drawingml/2006/main" noGrp="1"/>
          </p:cNvSpPr>
          <p:nvPr/>
        </p:nvSpPr>
        <p:spPr>
          <a:xfrm xmlns:a="http://schemas.openxmlformats.org/drawingml/2006/main">
            <a:off x="8420100" y="4267200"/>
            <a:ext cx="276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C53030"/>
                </a:solidFill>
                <a:latin typeface="Helvetica Neue"/>
                <a:ea typeface="Helvetica Neue"/>
                <a:cs typeface="Helvetica Neue"/>
              </a:defRPr>
            </a:pPr>
            <a:r>
              <a:rPr sz="1125" b="1">
                <a:solidFill>
                  <a:srgbClr val="C53030"/>
                </a:solidFill>
                <a:latin typeface="Helvetica Neue"/>
                <a:ea typeface="Helvetica Neue"/>
                <a:cs typeface="Helvetica Neue"/>
              </a:rPr>
              <a:t>VS STRONG EDGE-LOCAL GRAPH</a:t>
            </a:r>
          </a:p>
        </p:txBody>
      </p:sp>
      <p:sp>
        <p:nvSpPr>
          <p:cNvPr id="15" name="">
            <a:extLst xmlns:a="http://schemas.openxmlformats.org/drawingml/2006/main">
              <a:ext uri="{FF2B5EF4-FFF2-40B4-BE49-F238E27FC236}">
                <a16:creationId xmlns:a16="http://schemas.microsoft.com/office/drawing/2014/main" id="{5380102E-D879-44DC-BC6D-6630573C7F31}"/>
              </a:ext>
            </a:extLst>
          </p:cNvPr>
          <p:cNvSpPr>
            <a:spLocks xmlns:a="http://schemas.openxmlformats.org/drawingml/2006/main" noGrp="1"/>
          </p:cNvSpPr>
          <p:nvPr/>
        </p:nvSpPr>
        <p:spPr>
          <a:xfrm xmlns:a="http://schemas.openxmlformats.org/drawingml/2006/main">
            <a:off x="8420100" y="4629150"/>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318"/>
                </a:solidFill>
                <a:latin typeface="Helvetica Neue"/>
                <a:ea typeface="Helvetica Neue"/>
                <a:cs typeface="Helvetica Neue"/>
              </a:defRPr>
            </a:pPr>
            <a:r>
              <a:rPr sz="1725" b="1">
                <a:solidFill>
                  <a:srgbClr val="111318"/>
                </a:solidFill>
                <a:latin typeface="Helvetica Neue"/>
                <a:ea typeface="Helvetica Neue"/>
                <a:cs typeface="Helvetica Neue"/>
              </a:rPr>
              <a:t>+0.0097 · CI crosses 0</a:t>
            </a:r>
          </a:p>
        </p:txBody>
      </p:sp>
      <p:sp>
        <p:nvSpPr>
          <p:cNvPr id="16" name="">
            <a:extLst xmlns:a="http://schemas.openxmlformats.org/drawingml/2006/main">
              <a:ext uri="{FF2B5EF4-FFF2-40B4-BE49-F238E27FC236}">
                <a16:creationId xmlns:a16="http://schemas.microsoft.com/office/drawing/2014/main" id="{C89F20CB-B8CB-4E34-92DF-8F0667F23E94}"/>
              </a:ext>
            </a:extLst>
          </p:cNvPr>
          <p:cNvSpPr>
            <a:spLocks xmlns:a="http://schemas.openxmlformats.org/drawingml/2006/main" noGrp="1"/>
          </p:cNvSpPr>
          <p:nvPr/>
        </p:nvSpPr>
        <p:spPr>
          <a:xfrm xmlns:a="http://schemas.openxmlformats.org/drawingml/2006/main">
            <a:off x="8191500" y="5467350"/>
            <a:ext cx="3219450" cy="323850"/>
          </a:xfrm>
          <a:prstGeom xmlns:a="http://schemas.openxmlformats.org/drawingml/2006/main" prst="roundRect">
            <a:avLst>
              <a:gd name="adj" fmla="val 50000"/>
            </a:avLst>
          </a:prstGeom>
          <a:solidFill xmlns:a="http://schemas.openxmlformats.org/drawingml/2006/main">
            <a:srgbClr val="FDE8E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B6D12C8-C833-4055-BCE9-DD3CE043B9C5}"/>
              </a:ext>
            </a:extLst>
          </p:cNvPr>
          <p:cNvSpPr>
            <a:spLocks xmlns:a="http://schemas.openxmlformats.org/drawingml/2006/main" noGrp="1"/>
          </p:cNvSpPr>
          <p:nvPr/>
        </p:nvSpPr>
        <p:spPr>
          <a:xfrm xmlns:a="http://schemas.openxmlformats.org/drawingml/2006/main">
            <a:off x="8286750" y="5534025"/>
            <a:ext cx="3028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C53030"/>
                </a:solidFill>
                <a:latin typeface="Helvetica Neue"/>
                <a:ea typeface="Helvetica Neue"/>
                <a:cs typeface="Helvetica Neue"/>
              </a:defRPr>
            </a:pPr>
            <a:r>
              <a:rPr sz="1050" b="1">
                <a:solidFill>
                  <a:srgbClr val="C53030"/>
                </a:solidFill>
                <a:latin typeface="Helvetica Neue"/>
                <a:ea typeface="Helvetica Neue"/>
                <a:cs typeface="Helvetica Neue"/>
              </a:rPr>
              <a:t>GENERAL SUPERIORITY: NOT ESTABLISHED</a:t>
            </a:r>
          </a:p>
        </p:txBody>
      </p:sp>
    </p:spTree>
    <p:extLst>
      <p:ext uri="{BB962C8B-B14F-4D97-AF65-F5344CB8AC3E}">
        <p14:creationId xmlns:p14="http://schemas.microsoft.com/office/powerpoint/2010/main" val="52194301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34F2603-11E5-4348-904F-FECB32AE567C}"/>
              </a:ext>
            </a:extLst>
          </p:cNvPr>
          <p:cNvSpPr>
            <a:spLocks xmlns:a="http://schemas.openxmlformats.org/drawingml/2006/main" noGrp="1"/>
          </p:cNvSpPr>
          <p:nvPr/>
        </p:nvSpPr>
        <p:spPr>
          <a:xfrm xmlns:a="http://schemas.openxmlformats.org/drawingml/2006/main">
            <a:off x="400050" y="228600"/>
            <a:ext cx="695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ESTIMATOR DIAGNOSTIC</a:t>
            </a:r>
          </a:p>
        </p:txBody>
      </p:sp>
      <p:sp>
        <p:nvSpPr>
          <p:cNvPr id="2" name="">
            <a:extLst xmlns:a="http://schemas.openxmlformats.org/drawingml/2006/main">
              <a:ext uri="{FF2B5EF4-FFF2-40B4-BE49-F238E27FC236}">
                <a16:creationId xmlns:a16="http://schemas.microsoft.com/office/drawing/2014/main" id="{114CC596-C890-40B6-8086-2DFBAC160881}"/>
              </a:ext>
            </a:extLst>
          </p:cNvPr>
          <p:cNvSpPr>
            <a:spLocks xmlns:a="http://schemas.openxmlformats.org/drawingml/2006/main" noGrp="1"/>
          </p:cNvSpPr>
          <p:nvPr/>
        </p:nvSpPr>
        <p:spPr>
          <a:xfrm xmlns:a="http://schemas.openxmlformats.org/drawingml/2006/main">
            <a:off x="400050" y="49530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The local-first estimator did not earn general superiority</a:t>
            </a:r>
          </a:p>
        </p:txBody>
      </p:sp>
      <p:sp>
        <p:nvSpPr>
          <p:cNvPr id="3" name="">
            <a:extLst xmlns:a="http://schemas.openxmlformats.org/drawingml/2006/main">
              <a:ext uri="{FF2B5EF4-FFF2-40B4-BE49-F238E27FC236}">
                <a16:creationId xmlns:a16="http://schemas.microsoft.com/office/drawing/2014/main" id="{899A8A7A-6C25-4536-B878-D158DAE3824D}"/>
              </a:ext>
            </a:extLst>
          </p:cNvPr>
          <p:cNvSpPr>
            <a:spLocks xmlns:a="http://schemas.openxmlformats.org/drawingml/2006/main" noGrp="1"/>
          </p:cNvSpPr>
          <p:nvPr/>
        </p:nvSpPr>
        <p:spPr>
          <a:xfrm xmlns:a="http://schemas.openxmlformats.org/drawingml/2006/main">
            <a:off x="400050" y="1190625"/>
            <a:ext cx="11391900" cy="19050"/>
          </a:xfrm>
          <a:prstGeom xmlns:a="http://schemas.openxmlformats.org/drawingml/2006/main" prst="rect">
            <a:avLst/>
          </a:prstGeom>
          <a:solidFill xmlns:a="http://schemas.openxmlformats.org/drawingml/2006/main">
            <a:srgbClr val="11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D55E0F9-BC0B-4605-A796-DE629DFBBE8F}"/>
              </a:ext>
            </a:extLst>
          </p:cNvPr>
          <p:cNvSpPr>
            <a:spLocks xmlns:a="http://schemas.openxmlformats.org/drawingml/2006/main" noGrp="1"/>
          </p:cNvSpPr>
          <p:nvPr/>
        </p:nvSpPr>
        <p:spPr>
          <a:xfrm xmlns:a="http://schemas.openxmlformats.org/drawingml/2006/main">
            <a:off x="400050" y="6438900"/>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Results</a:t>
            </a:r>
          </a:p>
        </p:txBody>
      </p:sp>
      <p:sp>
        <p:nvSpPr>
          <p:cNvPr id="5" name="">
            <a:extLst xmlns:a="http://schemas.openxmlformats.org/drawingml/2006/main">
              <a:ext uri="{FF2B5EF4-FFF2-40B4-BE49-F238E27FC236}">
                <a16:creationId xmlns:a16="http://schemas.microsoft.com/office/drawing/2014/main" id="{D31E3AEC-BC53-4950-BD3B-EAD84289D826}"/>
              </a:ext>
            </a:extLst>
          </p:cNvPr>
          <p:cNvSpPr>
            <a:spLocks xmlns:a="http://schemas.openxmlformats.org/drawingml/2006/main" noGrp="1"/>
          </p:cNvSpPr>
          <p:nvPr/>
        </p:nvSpPr>
        <p:spPr>
          <a:xfrm xmlns:a="http://schemas.openxmlformats.org/drawingml/2006/main">
            <a:off x="11287125" y="63912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16</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fb744bef268d4752"/>
          <a:stretch xmlns:a="http://schemas.openxmlformats.org/drawingml/2006/main"/>
        </p:blipFill>
        <p:spPr>
          <a:xfrm xmlns:a="http://schemas.openxmlformats.org/drawingml/2006/main">
            <a:off x="400050" y="1443147"/>
            <a:ext cx="7524750" cy="4686081"/>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6F28233-7FBC-4A15-B051-B20403CBDFE8}"/>
              </a:ext>
            </a:extLst>
          </p:cNvPr>
          <p:cNvSpPr>
            <a:spLocks xmlns:a="http://schemas.openxmlformats.org/drawingml/2006/main" noGrp="1"/>
          </p:cNvSpPr>
          <p:nvPr/>
        </p:nvSpPr>
        <p:spPr>
          <a:xfrm xmlns:a="http://schemas.openxmlformats.org/drawingml/2006/main">
            <a:off x="8191500" y="1524000"/>
            <a:ext cx="3219450" cy="1428750"/>
          </a:xfrm>
          <a:prstGeom xmlns:a="http://schemas.openxmlformats.org/drawingml/2006/main" prst="roundRect">
            <a:avLst>
              <a:gd name="adj" fmla="val 8000"/>
            </a:avLst>
          </a:prstGeom>
          <a:solidFill xmlns:a="http://schemas.openxmlformats.org/drawingml/2006/main">
            <a:srgbClr val="E7F7F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0A1596D-866D-4E28-AAC8-007E92EB806D}"/>
              </a:ext>
            </a:extLst>
          </p:cNvPr>
          <p:cNvSpPr>
            <a:spLocks xmlns:a="http://schemas.openxmlformats.org/drawingml/2006/main" noGrp="1"/>
          </p:cNvSpPr>
          <p:nvPr/>
        </p:nvSpPr>
        <p:spPr>
          <a:xfrm xmlns:a="http://schemas.openxmlformats.org/drawingml/2006/main">
            <a:off x="8420100" y="1733550"/>
            <a:ext cx="276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49A84"/>
                </a:solidFill>
                <a:latin typeface="Helvetica Neue"/>
                <a:ea typeface="Helvetica Neue"/>
                <a:cs typeface="Helvetica Neue"/>
              </a:defRPr>
            </a:pPr>
            <a:r>
              <a:rPr sz="1125" b="1">
                <a:solidFill>
                  <a:srgbClr val="149A84"/>
                </a:solidFill>
                <a:latin typeface="Helvetica Neue"/>
                <a:ea typeface="Helvetica Neue"/>
                <a:cs typeface="Helvetica Neue"/>
              </a:rPr>
              <a:t>LOCKED TEST: 128 CASES</a:t>
            </a:r>
          </a:p>
        </p:txBody>
      </p:sp>
      <p:sp>
        <p:nvSpPr>
          <p:cNvPr id="9" name="">
            <a:extLst xmlns:a="http://schemas.openxmlformats.org/drawingml/2006/main">
              <a:ext uri="{FF2B5EF4-FFF2-40B4-BE49-F238E27FC236}">
                <a16:creationId xmlns:a16="http://schemas.microsoft.com/office/drawing/2014/main" id="{D5BFC806-5C01-4D78-B590-BECA522011A8}"/>
              </a:ext>
            </a:extLst>
          </p:cNvPr>
          <p:cNvSpPr>
            <a:spLocks xmlns:a="http://schemas.openxmlformats.org/drawingml/2006/main" noGrp="1"/>
          </p:cNvSpPr>
          <p:nvPr/>
        </p:nvSpPr>
        <p:spPr>
          <a:xfrm xmlns:a="http://schemas.openxmlformats.org/drawingml/2006/main">
            <a:off x="8420100" y="211455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701"/>
          </a:bodyPr>
          <a:lstStyle xmlns:a="http://schemas.openxmlformats.org/drawingml/2006/main"/>
          <a:p xmlns:a="http://schemas.openxmlformats.org/drawingml/2006/main">
            <a:pPr algn="l">
              <a:defRPr sz="2175" b="1">
                <a:solidFill>
                  <a:srgbClr val="111318"/>
                </a:solidFill>
                <a:latin typeface="Helvetica Neue"/>
                <a:ea typeface="Helvetica Neue"/>
                <a:cs typeface="Helvetica Neue"/>
              </a:defRPr>
            </a:pPr>
            <a:r>
              <a:rPr sz="2175" b="1">
                <a:solidFill>
                  <a:srgbClr val="111318"/>
                </a:solidFill>
                <a:latin typeface="Helvetica Neue"/>
                <a:ea typeface="Helvetica Neue"/>
                <a:cs typeface="Helvetica Neue"/>
              </a:rPr>
              <a:t>+0.0200 PR-AUC</a:t>
            </a:r>
          </a:p>
        </p:txBody>
      </p:sp>
      <p:sp>
        <p:nvSpPr>
          <p:cNvPr id="10" name="">
            <a:extLst xmlns:a="http://schemas.openxmlformats.org/drawingml/2006/main">
              <a:ext uri="{FF2B5EF4-FFF2-40B4-BE49-F238E27FC236}">
                <a16:creationId xmlns:a16="http://schemas.microsoft.com/office/drawing/2014/main" id="{E5A99765-A8A8-4458-AA6A-3589E8317A40}"/>
              </a:ext>
            </a:extLst>
          </p:cNvPr>
          <p:cNvSpPr>
            <a:spLocks xmlns:a="http://schemas.openxmlformats.org/drawingml/2006/main" noGrp="1"/>
          </p:cNvSpPr>
          <p:nvPr/>
        </p:nvSpPr>
        <p:spPr>
          <a:xfrm xmlns:a="http://schemas.openxmlformats.org/drawingml/2006/main">
            <a:off x="8420100" y="25336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a:solidFill>
                  <a:srgbClr val="5D6470"/>
                </a:solidFill>
                <a:latin typeface="Helvetica Neue"/>
                <a:ea typeface="Helvetica Neue"/>
                <a:cs typeface="Helvetica Neue"/>
              </a:defRPr>
            </a:pPr>
            <a:r>
              <a:rPr sz="1200" b="0">
                <a:solidFill>
                  <a:srgbClr val="5D6470"/>
                </a:solidFill>
                <a:latin typeface="Helvetica Neue"/>
                <a:ea typeface="Helvetica Neue"/>
                <a:cs typeface="Helvetica Neue"/>
              </a:rPr>
              <a:t>simultaneous CI [−0.0055, 0.0454]</a:t>
            </a:r>
          </a:p>
        </p:txBody>
      </p:sp>
      <p:sp>
        <p:nvSpPr>
          <p:cNvPr id="11" name="">
            <a:extLst xmlns:a="http://schemas.openxmlformats.org/drawingml/2006/main">
              <a:ext uri="{FF2B5EF4-FFF2-40B4-BE49-F238E27FC236}">
                <a16:creationId xmlns:a16="http://schemas.microsoft.com/office/drawing/2014/main" id="{3B4D68D7-D84A-433A-B8BE-04EBC88E094B}"/>
              </a:ext>
            </a:extLst>
          </p:cNvPr>
          <p:cNvSpPr>
            <a:spLocks xmlns:a="http://schemas.openxmlformats.org/drawingml/2006/main" noGrp="1"/>
          </p:cNvSpPr>
          <p:nvPr/>
        </p:nvSpPr>
        <p:spPr>
          <a:xfrm xmlns:a="http://schemas.openxmlformats.org/drawingml/2006/main">
            <a:off x="8191500" y="3143250"/>
            <a:ext cx="3219450" cy="1428750"/>
          </a:xfrm>
          <a:prstGeom xmlns:a="http://schemas.openxmlformats.org/drawingml/2006/main" prst="roundRect">
            <a:avLst>
              <a:gd name="adj" fmla="val 8000"/>
            </a:avLst>
          </a:prstGeom>
          <a:solidFill xmlns:a="http://schemas.openxmlformats.org/drawingml/2006/main">
            <a:srgbClr val="FDE8E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42B605A-B53D-41AF-B64D-A984FE6F8156}"/>
              </a:ext>
            </a:extLst>
          </p:cNvPr>
          <p:cNvSpPr>
            <a:spLocks xmlns:a="http://schemas.openxmlformats.org/drawingml/2006/main" noGrp="1"/>
          </p:cNvSpPr>
          <p:nvPr/>
        </p:nvSpPr>
        <p:spPr>
          <a:xfrm xmlns:a="http://schemas.openxmlformats.org/drawingml/2006/main">
            <a:off x="8420100" y="3352800"/>
            <a:ext cx="276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C53030"/>
                </a:solidFill>
                <a:latin typeface="Helvetica Neue"/>
                <a:ea typeface="Helvetica Neue"/>
                <a:cs typeface="Helvetica Neue"/>
              </a:defRPr>
            </a:pPr>
            <a:r>
              <a:rPr sz="1125" b="1">
                <a:solidFill>
                  <a:srgbClr val="C53030"/>
                </a:solidFill>
                <a:latin typeface="Helvetica Neue"/>
                <a:ea typeface="Helvetica Neue"/>
                <a:cs typeface="Helvetica Neue"/>
              </a:rPr>
              <a:t>COMPLETE GATE</a:t>
            </a:r>
          </a:p>
        </p:txBody>
      </p:sp>
      <p:sp>
        <p:nvSpPr>
          <p:cNvPr id="13" name="">
            <a:extLst xmlns:a="http://schemas.openxmlformats.org/drawingml/2006/main">
              <a:ext uri="{FF2B5EF4-FFF2-40B4-BE49-F238E27FC236}">
                <a16:creationId xmlns:a16="http://schemas.microsoft.com/office/drawing/2014/main" id="{E9D680C0-B72D-42F8-A812-D57F99A7CDDE}"/>
              </a:ext>
            </a:extLst>
          </p:cNvPr>
          <p:cNvSpPr>
            <a:spLocks xmlns:a="http://schemas.openxmlformats.org/drawingml/2006/main" noGrp="1"/>
          </p:cNvSpPr>
          <p:nvPr/>
        </p:nvSpPr>
        <p:spPr>
          <a:xfrm xmlns:a="http://schemas.openxmlformats.org/drawingml/2006/main">
            <a:off x="8420100" y="3733800"/>
            <a:ext cx="276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11318"/>
                </a:solidFill>
                <a:latin typeface="Helvetica Neue"/>
                <a:ea typeface="Helvetica Neue"/>
                <a:cs typeface="Helvetica Neue"/>
              </a:defRPr>
            </a:pPr>
            <a:r>
              <a:rPr sz="1575" b="1">
                <a:solidFill>
                  <a:srgbClr val="111318"/>
                </a:solidFill>
                <a:latin typeface="Helvetica Neue"/>
                <a:ea typeface="Helvetica Neue"/>
                <a:cs typeface="Helvetica Neue"/>
              </a:rPr>
              <a:t>Brier: inconclusive</a:t>
            </a:r>
          </a:p>
          <a:p xmlns:a="http://schemas.openxmlformats.org/drawingml/2006/main">
            <a:pPr algn="l">
              <a:defRPr sz="1575" b="1">
                <a:solidFill>
                  <a:srgbClr val="111318"/>
                </a:solidFill>
                <a:latin typeface="Helvetica Neue"/>
                <a:ea typeface="Helvetica Neue"/>
                <a:cs typeface="Helvetica Neue"/>
              </a:defRPr>
            </a:pPr>
            <a:r>
              <a:rPr sz="1575" b="1">
                <a:solidFill>
                  <a:srgbClr val="111318"/>
                </a:solidFill>
                <a:latin typeface="Helvetica Neue"/>
                <a:ea typeface="Helvetica Neue"/>
                <a:cs typeface="Helvetica Neue"/>
              </a:rPr>
              <a:t>Log loss: inconclusive</a:t>
            </a:r>
          </a:p>
        </p:txBody>
      </p:sp>
      <p:sp>
        <p:nvSpPr>
          <p:cNvPr id="14" name="">
            <a:extLst xmlns:a="http://schemas.openxmlformats.org/drawingml/2006/main">
              <a:ext uri="{FF2B5EF4-FFF2-40B4-BE49-F238E27FC236}">
                <a16:creationId xmlns:a16="http://schemas.microsoft.com/office/drawing/2014/main" id="{FBDE8032-9C94-4E6C-A09D-EDF760533609}"/>
              </a:ext>
            </a:extLst>
          </p:cNvPr>
          <p:cNvSpPr>
            <a:spLocks xmlns:a="http://schemas.openxmlformats.org/drawingml/2006/main" noGrp="1"/>
          </p:cNvSpPr>
          <p:nvPr/>
        </p:nvSpPr>
        <p:spPr>
          <a:xfrm xmlns:a="http://schemas.openxmlformats.org/drawingml/2006/main">
            <a:off x="8191500" y="4953000"/>
            <a:ext cx="3219450" cy="323850"/>
          </a:xfrm>
          <a:prstGeom xmlns:a="http://schemas.openxmlformats.org/drawingml/2006/main" prst="roundRect">
            <a:avLst>
              <a:gd name="adj" fmla="val 50000"/>
            </a:avLst>
          </a:prstGeom>
          <a:solidFill xmlns:a="http://schemas.openxmlformats.org/drawingml/2006/main">
            <a:srgbClr val="FFF3D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5C49732-F138-4FE8-9DF4-099661E01CCC}"/>
              </a:ext>
            </a:extLst>
          </p:cNvPr>
          <p:cNvSpPr>
            <a:spLocks xmlns:a="http://schemas.openxmlformats.org/drawingml/2006/main" noGrp="1"/>
          </p:cNvSpPr>
          <p:nvPr/>
        </p:nvSpPr>
        <p:spPr>
          <a:xfrm xmlns:a="http://schemas.openxmlformats.org/drawingml/2006/main">
            <a:off x="8286750" y="5019675"/>
            <a:ext cx="3028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D97706"/>
                </a:solidFill>
                <a:latin typeface="Helvetica Neue"/>
                <a:ea typeface="Helvetica Neue"/>
                <a:cs typeface="Helvetica Neue"/>
              </a:defRPr>
            </a:pPr>
            <a:r>
              <a:rPr sz="1050" b="1">
                <a:solidFill>
                  <a:srgbClr val="D97706"/>
                </a:solidFill>
                <a:latin typeface="Helvetica Neue"/>
                <a:ea typeface="Helvetica Neue"/>
                <a:cs typeface="Helvetica Neue"/>
              </a:rPr>
              <a:t>CONDITIONAL METHOD · NOT UNIVERSAL WINNER</a:t>
            </a:r>
          </a:p>
        </p:txBody>
      </p:sp>
    </p:spTree>
    <p:extLst>
      <p:ext uri="{BB962C8B-B14F-4D97-AF65-F5344CB8AC3E}">
        <p14:creationId xmlns:p14="http://schemas.microsoft.com/office/powerpoint/2010/main" val="90045690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9CE6336E-2A66-4341-BA3E-7577F2200945}"/>
              </a:ext>
            </a:extLst>
          </p:cNvPr>
          <p:cNvSpPr>
            <a:spLocks xmlns:a="http://schemas.openxmlformats.org/drawingml/2006/main" noGrp="1"/>
          </p:cNvSpPr>
          <p:nvPr/>
        </p:nvSpPr>
        <p:spPr>
          <a:xfrm xmlns:a="http://schemas.openxmlformats.org/drawingml/2006/main">
            <a:off x="400050" y="228600"/>
            <a:ext cx="695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WHAT DID NOT WORK</a:t>
            </a:r>
          </a:p>
        </p:txBody>
      </p:sp>
      <p:sp>
        <p:nvSpPr>
          <p:cNvPr id="2" name="">
            <a:extLst xmlns:a="http://schemas.openxmlformats.org/drawingml/2006/main">
              <a:ext uri="{FF2B5EF4-FFF2-40B4-BE49-F238E27FC236}">
                <a16:creationId xmlns:a16="http://schemas.microsoft.com/office/drawing/2014/main" id="{48683CE2-F579-498D-8B0A-A656557B1743}"/>
              </a:ext>
            </a:extLst>
          </p:cNvPr>
          <p:cNvSpPr>
            <a:spLocks xmlns:a="http://schemas.openxmlformats.org/drawingml/2006/main" noGrp="1"/>
          </p:cNvSpPr>
          <p:nvPr/>
        </p:nvSpPr>
        <p:spPr>
          <a:xfrm xmlns:a="http://schemas.openxmlformats.org/drawingml/2006/main">
            <a:off x="400050" y="49530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The failures define the scientific boundary</a:t>
            </a:r>
          </a:p>
        </p:txBody>
      </p:sp>
      <p:sp>
        <p:nvSpPr>
          <p:cNvPr id="3" name="">
            <a:extLst xmlns:a="http://schemas.openxmlformats.org/drawingml/2006/main">
              <a:ext uri="{FF2B5EF4-FFF2-40B4-BE49-F238E27FC236}">
                <a16:creationId xmlns:a16="http://schemas.microsoft.com/office/drawing/2014/main" id="{D6E8E736-50D6-40C9-983D-C1998388F1EB}"/>
              </a:ext>
            </a:extLst>
          </p:cNvPr>
          <p:cNvSpPr>
            <a:spLocks xmlns:a="http://schemas.openxmlformats.org/drawingml/2006/main" noGrp="1"/>
          </p:cNvSpPr>
          <p:nvPr/>
        </p:nvSpPr>
        <p:spPr>
          <a:xfrm xmlns:a="http://schemas.openxmlformats.org/drawingml/2006/main">
            <a:off x="400050" y="1190625"/>
            <a:ext cx="11391900" cy="19050"/>
          </a:xfrm>
          <a:prstGeom xmlns:a="http://schemas.openxmlformats.org/drawingml/2006/main" prst="rect">
            <a:avLst/>
          </a:prstGeom>
          <a:solidFill xmlns:a="http://schemas.openxmlformats.org/drawingml/2006/main">
            <a:srgbClr val="11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DA53859-F04A-4DA9-BA7B-C507D2C68560}"/>
              </a:ext>
            </a:extLst>
          </p:cNvPr>
          <p:cNvSpPr>
            <a:spLocks xmlns:a="http://schemas.openxmlformats.org/drawingml/2006/main" noGrp="1"/>
          </p:cNvSpPr>
          <p:nvPr/>
        </p:nvSpPr>
        <p:spPr>
          <a:xfrm xmlns:a="http://schemas.openxmlformats.org/drawingml/2006/main">
            <a:off x="400050" y="6438900"/>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Synthesis</a:t>
            </a:r>
          </a:p>
        </p:txBody>
      </p:sp>
      <p:sp>
        <p:nvSpPr>
          <p:cNvPr id="5" name="">
            <a:extLst xmlns:a="http://schemas.openxmlformats.org/drawingml/2006/main">
              <a:ext uri="{FF2B5EF4-FFF2-40B4-BE49-F238E27FC236}">
                <a16:creationId xmlns:a16="http://schemas.microsoft.com/office/drawing/2014/main" id="{C36445CF-85AD-4819-BCEB-3779AFBBE83C}"/>
              </a:ext>
            </a:extLst>
          </p:cNvPr>
          <p:cNvSpPr>
            <a:spLocks xmlns:a="http://schemas.openxmlformats.org/drawingml/2006/main" noGrp="1"/>
          </p:cNvSpPr>
          <p:nvPr/>
        </p:nvSpPr>
        <p:spPr>
          <a:xfrm xmlns:a="http://schemas.openxmlformats.org/drawingml/2006/main">
            <a:off x="11287125" y="63912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17</a:t>
            </a:r>
          </a:p>
        </p:txBody>
      </p:sp>
      <p:sp>
        <p:nvSpPr>
          <p:cNvPr id="6" name="">
            <a:extLst xmlns:a="http://schemas.openxmlformats.org/drawingml/2006/main">
              <a:ext uri="{FF2B5EF4-FFF2-40B4-BE49-F238E27FC236}">
                <a16:creationId xmlns:a16="http://schemas.microsoft.com/office/drawing/2014/main" id="{DFD93BE9-CC99-4099-A692-BC28FB44CCA6}"/>
              </a:ext>
            </a:extLst>
          </p:cNvPr>
          <p:cNvSpPr>
            <a:spLocks xmlns:a="http://schemas.openxmlformats.org/drawingml/2006/main" noGrp="1"/>
          </p:cNvSpPr>
          <p:nvPr/>
        </p:nvSpPr>
        <p:spPr>
          <a:xfrm xmlns:a="http://schemas.openxmlformats.org/drawingml/2006/main">
            <a:off x="400050" y="1504950"/>
            <a:ext cx="11391900" cy="685800"/>
          </a:xfrm>
          <a:prstGeom xmlns:a="http://schemas.openxmlformats.org/drawingml/2006/main" prst="roundRect">
            <a:avLst>
              <a:gd name="adj" fmla="val 16667"/>
            </a:avLst>
          </a:prstGeom>
          <a:solidFill xmlns:a="http://schemas.openxmlformats.org/drawingml/2006/main">
            <a:srgbClr val="F2F3F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4C72912-F5C2-4065-A2C6-2902C2EA0A11}"/>
              </a:ext>
            </a:extLst>
          </p:cNvPr>
          <p:cNvSpPr>
            <a:spLocks xmlns:a="http://schemas.openxmlformats.org/drawingml/2006/main" noGrp="1"/>
          </p:cNvSpPr>
          <p:nvPr/>
        </p:nvSpPr>
        <p:spPr>
          <a:xfrm xmlns:a="http://schemas.openxmlformats.org/drawingml/2006/main">
            <a:off x="647700" y="164782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Weak graph prior for age</a:t>
            </a:r>
          </a:p>
        </p:txBody>
      </p:sp>
      <p:sp>
        <p:nvSpPr>
          <p:cNvPr id="8" name="">
            <a:extLst xmlns:a="http://schemas.openxmlformats.org/drawingml/2006/main">
              <a:ext uri="{FF2B5EF4-FFF2-40B4-BE49-F238E27FC236}">
                <a16:creationId xmlns:a16="http://schemas.microsoft.com/office/drawing/2014/main" id="{2DBB5543-5524-4245-BA83-F1662CF32474}"/>
              </a:ext>
            </a:extLst>
          </p:cNvPr>
          <p:cNvSpPr>
            <a:spLocks xmlns:a="http://schemas.openxmlformats.org/drawingml/2006/main" noGrp="1"/>
          </p:cNvSpPr>
          <p:nvPr/>
        </p:nvSpPr>
        <p:spPr>
          <a:xfrm xmlns:a="http://schemas.openxmlformats.org/drawingml/2006/main">
            <a:off x="3714750" y="1666875"/>
            <a:ext cx="2047875" cy="323850"/>
          </a:xfrm>
          <a:prstGeom xmlns:a="http://schemas.openxmlformats.org/drawingml/2006/main" prst="roundRect">
            <a:avLst>
              <a:gd name="adj" fmla="val 50000"/>
            </a:avLst>
          </a:prstGeom>
          <a:solidFill xmlns:a="http://schemas.openxmlformats.org/drawingml/2006/main">
            <a:srgbClr val="FFF3D9"/>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80F9CCA-881E-42DD-A278-B143A1D7943B}"/>
              </a:ext>
            </a:extLst>
          </p:cNvPr>
          <p:cNvSpPr>
            <a:spLocks xmlns:a="http://schemas.openxmlformats.org/drawingml/2006/main" noGrp="1"/>
          </p:cNvSpPr>
          <p:nvPr/>
        </p:nvSpPr>
        <p:spPr>
          <a:xfrm xmlns:a="http://schemas.openxmlformats.org/drawingml/2006/main">
            <a:off x="3810000" y="1733550"/>
            <a:ext cx="1857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D97706"/>
                </a:solidFill>
                <a:latin typeface="Helvetica Neue"/>
                <a:ea typeface="Helvetica Neue"/>
                <a:cs typeface="Helvetica Neue"/>
              </a:defRPr>
            </a:pPr>
            <a:r>
              <a:rPr sz="1050" b="1">
                <a:solidFill>
                  <a:srgbClr val="D97706"/>
                </a:solidFill>
                <a:latin typeface="Helvetica Neue"/>
                <a:ea typeface="Helvetica Neue"/>
                <a:cs typeface="Helvetica Neue"/>
              </a:rPr>
              <a:t>NO ROBUST GAIN</a:t>
            </a:r>
          </a:p>
        </p:txBody>
      </p:sp>
      <p:sp>
        <p:nvSpPr>
          <p:cNvPr id="10" name="">
            <a:extLst xmlns:a="http://schemas.openxmlformats.org/drawingml/2006/main">
              <a:ext uri="{FF2B5EF4-FFF2-40B4-BE49-F238E27FC236}">
                <a16:creationId xmlns:a16="http://schemas.microsoft.com/office/drawing/2014/main" id="{D93F43BB-70DF-4037-803B-510D9A19DAD1}"/>
              </a:ext>
            </a:extLst>
          </p:cNvPr>
          <p:cNvSpPr>
            <a:spLocks xmlns:a="http://schemas.openxmlformats.org/drawingml/2006/main" noGrp="1"/>
          </p:cNvSpPr>
          <p:nvPr/>
        </p:nvSpPr>
        <p:spPr>
          <a:xfrm xmlns:a="http://schemas.openxmlformats.org/drawingml/2006/main">
            <a:off x="6048375" y="1647825"/>
            <a:ext cx="533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5D6470"/>
                </a:solidFill>
                <a:latin typeface="Helvetica Neue"/>
                <a:ea typeface="Helvetica Neue"/>
                <a:cs typeface="Helvetica Neue"/>
              </a:defRPr>
            </a:pPr>
            <a:r>
              <a:rPr sz="1350" b="0">
                <a:solidFill>
                  <a:srgbClr val="5D6470"/>
                </a:solidFill>
                <a:latin typeface="Helvetica Neue"/>
                <a:ea typeface="Helvetica Neue"/>
                <a:cs typeface="Helvetica Neue"/>
              </a:rPr>
              <a:t>Topology did not contain independent age information</a:t>
            </a:r>
          </a:p>
        </p:txBody>
      </p:sp>
      <p:sp>
        <p:nvSpPr>
          <p:cNvPr id="11" name="">
            <a:extLst xmlns:a="http://schemas.openxmlformats.org/drawingml/2006/main">
              <a:ext uri="{FF2B5EF4-FFF2-40B4-BE49-F238E27FC236}">
                <a16:creationId xmlns:a16="http://schemas.microsoft.com/office/drawing/2014/main" id="{9F641516-5092-4E95-B4D4-0FBF8074EC95}"/>
              </a:ext>
            </a:extLst>
          </p:cNvPr>
          <p:cNvSpPr>
            <a:spLocks xmlns:a="http://schemas.openxmlformats.org/drawingml/2006/main" noGrp="1"/>
          </p:cNvSpPr>
          <p:nvPr/>
        </p:nvSpPr>
        <p:spPr>
          <a:xfrm xmlns:a="http://schemas.openxmlformats.org/drawingml/2006/main">
            <a:off x="400050" y="2400300"/>
            <a:ext cx="11391900" cy="685800"/>
          </a:xfrm>
          <a:prstGeom xmlns:a="http://schemas.openxmlformats.org/drawingml/2006/main" prst="roundRect">
            <a:avLst>
              <a:gd name="adj" fmla="val 16667"/>
            </a:avLst>
          </a:prstGeom>
          <a:solidFill xmlns:a="http://schemas.openxmlformats.org/drawingml/2006/main">
            <a:srgbClr val="F2F3F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666EE38-7259-4D60-8516-E5DB07CDA62C}"/>
              </a:ext>
            </a:extLst>
          </p:cNvPr>
          <p:cNvSpPr>
            <a:spLocks xmlns:a="http://schemas.openxmlformats.org/drawingml/2006/main" noGrp="1"/>
          </p:cNvSpPr>
          <p:nvPr/>
        </p:nvSpPr>
        <p:spPr>
          <a:xfrm xmlns:a="http://schemas.openxmlformats.org/drawingml/2006/main">
            <a:off x="647700" y="25431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Old-water prior</a:t>
            </a:r>
          </a:p>
        </p:txBody>
      </p:sp>
      <p:sp>
        <p:nvSpPr>
          <p:cNvPr id="13" name="">
            <a:extLst xmlns:a="http://schemas.openxmlformats.org/drawingml/2006/main">
              <a:ext uri="{FF2B5EF4-FFF2-40B4-BE49-F238E27FC236}">
                <a16:creationId xmlns:a16="http://schemas.microsoft.com/office/drawing/2014/main" id="{A34ED88A-2010-4C62-A854-58B82B956DF1}"/>
              </a:ext>
            </a:extLst>
          </p:cNvPr>
          <p:cNvSpPr>
            <a:spLocks xmlns:a="http://schemas.openxmlformats.org/drawingml/2006/main" noGrp="1"/>
          </p:cNvSpPr>
          <p:nvPr/>
        </p:nvSpPr>
        <p:spPr>
          <a:xfrm xmlns:a="http://schemas.openxmlformats.org/drawingml/2006/main">
            <a:off x="3714750" y="2562225"/>
            <a:ext cx="2047875" cy="323850"/>
          </a:xfrm>
          <a:prstGeom xmlns:a="http://schemas.openxmlformats.org/drawingml/2006/main" prst="roundRect">
            <a:avLst>
              <a:gd name="adj" fmla="val 50000"/>
            </a:avLst>
          </a:prstGeom>
          <a:solidFill xmlns:a="http://schemas.openxmlformats.org/drawingml/2006/main">
            <a:srgbClr val="FDE8E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A1257E4-07F3-4014-A286-990EFCAB96B1}"/>
              </a:ext>
            </a:extLst>
          </p:cNvPr>
          <p:cNvSpPr>
            <a:spLocks xmlns:a="http://schemas.openxmlformats.org/drawingml/2006/main" noGrp="1"/>
          </p:cNvSpPr>
          <p:nvPr/>
        </p:nvSpPr>
        <p:spPr>
          <a:xfrm xmlns:a="http://schemas.openxmlformats.org/drawingml/2006/main">
            <a:off x="3810000" y="2628900"/>
            <a:ext cx="1857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C53030"/>
                </a:solidFill>
                <a:latin typeface="Helvetica Neue"/>
                <a:ea typeface="Helvetica Neue"/>
                <a:cs typeface="Helvetica Neue"/>
              </a:defRPr>
            </a:pPr>
            <a:r>
              <a:rPr sz="1050" b="1">
                <a:solidFill>
                  <a:srgbClr val="C53030"/>
                </a:solidFill>
                <a:latin typeface="Helvetica Neue"/>
                <a:ea typeface="Helvetica Neue"/>
                <a:cs typeface="Helvetica Neue"/>
              </a:rPr>
              <a:t>WITHDRAWN</a:t>
            </a:r>
          </a:p>
        </p:txBody>
      </p:sp>
      <p:sp>
        <p:nvSpPr>
          <p:cNvPr id="15" name="">
            <a:extLst xmlns:a="http://schemas.openxmlformats.org/drawingml/2006/main">
              <a:ext uri="{FF2B5EF4-FFF2-40B4-BE49-F238E27FC236}">
                <a16:creationId xmlns:a16="http://schemas.microsoft.com/office/drawing/2014/main" id="{18D536CB-DD82-43C5-8DC1-2C772E57738F}"/>
              </a:ext>
            </a:extLst>
          </p:cNvPr>
          <p:cNvSpPr>
            <a:spLocks xmlns:a="http://schemas.openxmlformats.org/drawingml/2006/main" noGrp="1"/>
          </p:cNvSpPr>
          <p:nvPr/>
        </p:nvSpPr>
        <p:spPr>
          <a:xfrm xmlns:a="http://schemas.openxmlformats.org/drawingml/2006/main">
            <a:off x="6048375" y="2543175"/>
            <a:ext cx="533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5D6470"/>
                </a:solidFill>
                <a:latin typeface="Helvetica Neue"/>
                <a:ea typeface="Helvetica Neue"/>
                <a:cs typeface="Helvetica Neue"/>
              </a:defRPr>
            </a:pPr>
            <a:r>
              <a:rPr sz="1350" b="0">
                <a:solidFill>
                  <a:srgbClr val="5D6470"/>
                </a:solidFill>
                <a:latin typeface="Helvetica Neue"/>
                <a:ea typeface="Helvetica Neue"/>
                <a:cs typeface="Helvetica Neue"/>
              </a:rPr>
              <a:t>RMSE 1.310; R² 0.004</a:t>
            </a:r>
          </a:p>
        </p:txBody>
      </p:sp>
      <p:sp>
        <p:nvSpPr>
          <p:cNvPr id="16" name="">
            <a:extLst xmlns:a="http://schemas.openxmlformats.org/drawingml/2006/main">
              <a:ext uri="{FF2B5EF4-FFF2-40B4-BE49-F238E27FC236}">
                <a16:creationId xmlns:a16="http://schemas.microsoft.com/office/drawing/2014/main" id="{91252D73-E72E-47C2-944F-28E58BDDF5AB}"/>
              </a:ext>
            </a:extLst>
          </p:cNvPr>
          <p:cNvSpPr>
            <a:spLocks xmlns:a="http://schemas.openxmlformats.org/drawingml/2006/main" noGrp="1"/>
          </p:cNvSpPr>
          <p:nvPr/>
        </p:nvSpPr>
        <p:spPr>
          <a:xfrm xmlns:a="http://schemas.openxmlformats.org/drawingml/2006/main">
            <a:off x="400050" y="3295650"/>
            <a:ext cx="11391900" cy="685800"/>
          </a:xfrm>
          <a:prstGeom xmlns:a="http://schemas.openxmlformats.org/drawingml/2006/main" prst="roundRect">
            <a:avLst>
              <a:gd name="adj" fmla="val 16667"/>
            </a:avLst>
          </a:prstGeom>
          <a:solidFill xmlns:a="http://schemas.openxmlformats.org/drawingml/2006/main">
            <a:srgbClr val="F2F3F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0977180-4D4C-4BF5-9715-45F4B2A348DC}"/>
              </a:ext>
            </a:extLst>
          </p:cNvPr>
          <p:cNvSpPr>
            <a:spLocks xmlns:a="http://schemas.openxmlformats.org/drawingml/2006/main" noGrp="1"/>
          </p:cNvSpPr>
          <p:nvPr/>
        </p:nvSpPr>
        <p:spPr>
          <a:xfrm xmlns:a="http://schemas.openxmlformats.org/drawingml/2006/main">
            <a:off x="647700" y="343852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Carbonate reaction families</a:t>
            </a:r>
          </a:p>
        </p:txBody>
      </p:sp>
      <p:sp>
        <p:nvSpPr>
          <p:cNvPr id="18" name="">
            <a:extLst xmlns:a="http://schemas.openxmlformats.org/drawingml/2006/main">
              <a:ext uri="{FF2B5EF4-FFF2-40B4-BE49-F238E27FC236}">
                <a16:creationId xmlns:a16="http://schemas.microsoft.com/office/drawing/2014/main" id="{585AEB5B-7D4D-4F56-BCD3-9A9F04C9F6E2}"/>
              </a:ext>
            </a:extLst>
          </p:cNvPr>
          <p:cNvSpPr>
            <a:spLocks xmlns:a="http://schemas.openxmlformats.org/drawingml/2006/main" noGrp="1"/>
          </p:cNvSpPr>
          <p:nvPr/>
        </p:nvSpPr>
        <p:spPr>
          <a:xfrm xmlns:a="http://schemas.openxmlformats.org/drawingml/2006/main">
            <a:off x="3714750" y="3457575"/>
            <a:ext cx="2047875" cy="323850"/>
          </a:xfrm>
          <a:prstGeom xmlns:a="http://schemas.openxmlformats.org/drawingml/2006/main" prst="roundRect">
            <a:avLst>
              <a:gd name="adj" fmla="val 50000"/>
            </a:avLst>
          </a:prstGeom>
          <a:solidFill xmlns:a="http://schemas.openxmlformats.org/drawingml/2006/main">
            <a:srgbClr val="FDE8E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CA8418D-E6AB-4EF4-8DC9-A31AA1DDA9DE}"/>
              </a:ext>
            </a:extLst>
          </p:cNvPr>
          <p:cNvSpPr>
            <a:spLocks xmlns:a="http://schemas.openxmlformats.org/drawingml/2006/main" noGrp="1"/>
          </p:cNvSpPr>
          <p:nvPr/>
        </p:nvSpPr>
        <p:spPr>
          <a:xfrm xmlns:a="http://schemas.openxmlformats.org/drawingml/2006/main">
            <a:off x="3810000" y="3524250"/>
            <a:ext cx="1857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C53030"/>
                </a:solidFill>
                <a:latin typeface="Helvetica Neue"/>
                <a:ea typeface="Helvetica Neue"/>
                <a:cs typeface="Helvetica Neue"/>
              </a:defRPr>
            </a:pPr>
            <a:r>
              <a:rPr sz="1050" b="1">
                <a:solidFill>
                  <a:srgbClr val="C53030"/>
                </a:solidFill>
                <a:latin typeface="Helvetica Neue"/>
                <a:ea typeface="Helvetica Neue"/>
                <a:cs typeface="Helvetica Neue"/>
              </a:rPr>
              <a:t>NOT RECOVERED</a:t>
            </a:r>
          </a:p>
        </p:txBody>
      </p:sp>
      <p:sp>
        <p:nvSpPr>
          <p:cNvPr id="20" name="">
            <a:extLst xmlns:a="http://schemas.openxmlformats.org/drawingml/2006/main">
              <a:ext uri="{FF2B5EF4-FFF2-40B4-BE49-F238E27FC236}">
                <a16:creationId xmlns:a16="http://schemas.microsoft.com/office/drawing/2014/main" id="{4417C92F-8F6E-4F3A-9ACB-2AF05C939020}"/>
              </a:ext>
            </a:extLst>
          </p:cNvPr>
          <p:cNvSpPr>
            <a:spLocks xmlns:a="http://schemas.openxmlformats.org/drawingml/2006/main" noGrp="1"/>
          </p:cNvSpPr>
          <p:nvPr/>
        </p:nvSpPr>
        <p:spPr>
          <a:xfrm xmlns:a="http://schemas.openxmlformats.org/drawingml/2006/main">
            <a:off x="6048375" y="3438525"/>
            <a:ext cx="533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5D6470"/>
                </a:solidFill>
                <a:latin typeface="Helvetica Neue"/>
                <a:ea typeface="Helvetica Neue"/>
                <a:cs typeface="Helvetica Neue"/>
              </a:defRPr>
            </a:pPr>
            <a:r>
              <a:rPr sz="1350" b="0">
                <a:solidFill>
                  <a:srgbClr val="5D6470"/>
                </a:solidFill>
                <a:latin typeface="Helvetica Neue"/>
                <a:ea typeface="Helvetica Neue"/>
                <a:cs typeface="Helvetica Neue"/>
              </a:rPr>
              <a:t>0/36 scored edges per tested panel</a:t>
            </a:r>
          </a:p>
        </p:txBody>
      </p:sp>
      <p:sp>
        <p:nvSpPr>
          <p:cNvPr id="21" name="">
            <a:extLst xmlns:a="http://schemas.openxmlformats.org/drawingml/2006/main">
              <a:ext uri="{FF2B5EF4-FFF2-40B4-BE49-F238E27FC236}">
                <a16:creationId xmlns:a16="http://schemas.microsoft.com/office/drawing/2014/main" id="{BB691029-446B-4989-85DA-75AE8F1C1ED3}"/>
              </a:ext>
            </a:extLst>
          </p:cNvPr>
          <p:cNvSpPr>
            <a:spLocks xmlns:a="http://schemas.openxmlformats.org/drawingml/2006/main" noGrp="1"/>
          </p:cNvSpPr>
          <p:nvPr/>
        </p:nvSpPr>
        <p:spPr>
          <a:xfrm xmlns:a="http://schemas.openxmlformats.org/drawingml/2006/main">
            <a:off x="400050" y="4191000"/>
            <a:ext cx="11391900" cy="685800"/>
          </a:xfrm>
          <a:prstGeom xmlns:a="http://schemas.openxmlformats.org/drawingml/2006/main" prst="roundRect">
            <a:avLst>
              <a:gd name="adj" fmla="val 16667"/>
            </a:avLst>
          </a:prstGeom>
          <a:solidFill xmlns:a="http://schemas.openxmlformats.org/drawingml/2006/main">
            <a:srgbClr val="F2F3F5"/>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BC90803-B2E8-4BF7-9404-459824DA9F85}"/>
              </a:ext>
            </a:extLst>
          </p:cNvPr>
          <p:cNvSpPr>
            <a:spLocks xmlns:a="http://schemas.openxmlformats.org/drawingml/2006/main" noGrp="1"/>
          </p:cNvSpPr>
          <p:nvPr/>
        </p:nvSpPr>
        <p:spPr>
          <a:xfrm xmlns:a="http://schemas.openxmlformats.org/drawingml/2006/main">
            <a:off x="647700" y="43338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Overall sheaf &gt; edge-local graph</a:t>
            </a:r>
          </a:p>
        </p:txBody>
      </p:sp>
      <p:sp>
        <p:nvSpPr>
          <p:cNvPr id="23" name="">
            <a:extLst xmlns:a="http://schemas.openxmlformats.org/drawingml/2006/main">
              <a:ext uri="{FF2B5EF4-FFF2-40B4-BE49-F238E27FC236}">
                <a16:creationId xmlns:a16="http://schemas.microsoft.com/office/drawing/2014/main" id="{0F477B27-BA58-4C25-8F87-02DE54F7AE54}"/>
              </a:ext>
            </a:extLst>
          </p:cNvPr>
          <p:cNvSpPr>
            <a:spLocks xmlns:a="http://schemas.openxmlformats.org/drawingml/2006/main" noGrp="1"/>
          </p:cNvSpPr>
          <p:nvPr/>
        </p:nvSpPr>
        <p:spPr>
          <a:xfrm xmlns:a="http://schemas.openxmlformats.org/drawingml/2006/main">
            <a:off x="3714750" y="4352925"/>
            <a:ext cx="2047875" cy="323850"/>
          </a:xfrm>
          <a:prstGeom xmlns:a="http://schemas.openxmlformats.org/drawingml/2006/main" prst="roundRect">
            <a:avLst>
              <a:gd name="adj" fmla="val 50000"/>
            </a:avLst>
          </a:prstGeom>
          <a:solidFill xmlns:a="http://schemas.openxmlformats.org/drawingml/2006/main">
            <a:srgbClr val="FFF3D9"/>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51CC9A6-5651-4646-935F-0EF31A81E448}"/>
              </a:ext>
            </a:extLst>
          </p:cNvPr>
          <p:cNvSpPr>
            <a:spLocks xmlns:a="http://schemas.openxmlformats.org/drawingml/2006/main" noGrp="1"/>
          </p:cNvSpPr>
          <p:nvPr/>
        </p:nvSpPr>
        <p:spPr>
          <a:xfrm xmlns:a="http://schemas.openxmlformats.org/drawingml/2006/main">
            <a:off x="3810000" y="4419600"/>
            <a:ext cx="1857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D97706"/>
                </a:solidFill>
                <a:latin typeface="Helvetica Neue"/>
                <a:ea typeface="Helvetica Neue"/>
                <a:cs typeface="Helvetica Neue"/>
              </a:defRPr>
            </a:pPr>
            <a:r>
              <a:rPr sz="1050" b="1">
                <a:solidFill>
                  <a:srgbClr val="D97706"/>
                </a:solidFill>
                <a:latin typeface="Helvetica Neue"/>
                <a:ea typeface="Helvetica Neue"/>
                <a:cs typeface="Helvetica Neue"/>
              </a:rPr>
              <a:t>GATE FAILED</a:t>
            </a:r>
          </a:p>
        </p:txBody>
      </p:sp>
      <p:sp>
        <p:nvSpPr>
          <p:cNvPr id="25" name="">
            <a:extLst xmlns:a="http://schemas.openxmlformats.org/drawingml/2006/main">
              <a:ext uri="{FF2B5EF4-FFF2-40B4-BE49-F238E27FC236}">
                <a16:creationId xmlns:a16="http://schemas.microsoft.com/office/drawing/2014/main" id="{FB376BE7-D60A-47A4-943E-887A8550C38D}"/>
              </a:ext>
            </a:extLst>
          </p:cNvPr>
          <p:cNvSpPr>
            <a:spLocks xmlns:a="http://schemas.openxmlformats.org/drawingml/2006/main" noGrp="1"/>
          </p:cNvSpPr>
          <p:nvPr/>
        </p:nvSpPr>
        <p:spPr>
          <a:xfrm xmlns:a="http://schemas.openxmlformats.org/drawingml/2006/main">
            <a:off x="6048375" y="4333875"/>
            <a:ext cx="533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5D6470"/>
                </a:solidFill>
                <a:latin typeface="Helvetica Neue"/>
                <a:ea typeface="Helvetica Neue"/>
                <a:cs typeface="Helvetica Neue"/>
              </a:defRPr>
            </a:pPr>
            <a:r>
              <a:rPr sz="1350" b="0">
                <a:solidFill>
                  <a:srgbClr val="5D6470"/>
                </a:solidFill>
                <a:latin typeface="Helvetica Neue"/>
                <a:ea typeface="Helvetica Neue"/>
                <a:cs typeface="Helvetica Neue"/>
              </a:rPr>
              <a:t>Ranking gain did not extend to calibration</a:t>
            </a:r>
          </a:p>
        </p:txBody>
      </p:sp>
      <p:sp>
        <p:nvSpPr>
          <p:cNvPr id="26" name="">
            <a:extLst xmlns:a="http://schemas.openxmlformats.org/drawingml/2006/main">
              <a:ext uri="{FF2B5EF4-FFF2-40B4-BE49-F238E27FC236}">
                <a16:creationId xmlns:a16="http://schemas.microsoft.com/office/drawing/2014/main" id="{1960F534-FE2D-4B5B-BC3F-51A381BA03D1}"/>
              </a:ext>
            </a:extLst>
          </p:cNvPr>
          <p:cNvSpPr>
            <a:spLocks xmlns:a="http://schemas.openxmlformats.org/drawingml/2006/main" noGrp="1"/>
          </p:cNvSpPr>
          <p:nvPr/>
        </p:nvSpPr>
        <p:spPr>
          <a:xfrm xmlns:a="http://schemas.openxmlformats.org/drawingml/2006/main">
            <a:off x="400050" y="5086350"/>
            <a:ext cx="11391900" cy="685800"/>
          </a:xfrm>
          <a:prstGeom xmlns:a="http://schemas.openxmlformats.org/drawingml/2006/main" prst="roundRect">
            <a:avLst>
              <a:gd name="adj" fmla="val 16667"/>
            </a:avLst>
          </a:prstGeom>
          <a:solidFill xmlns:a="http://schemas.openxmlformats.org/drawingml/2006/main">
            <a:srgbClr val="F2F3F5"/>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276644EC-B5B4-446E-8BE1-7BD5D1CB7804}"/>
              </a:ext>
            </a:extLst>
          </p:cNvPr>
          <p:cNvSpPr>
            <a:spLocks xmlns:a="http://schemas.openxmlformats.org/drawingml/2006/main" noGrp="1"/>
          </p:cNvSpPr>
          <p:nvPr/>
        </p:nvSpPr>
        <p:spPr>
          <a:xfrm xmlns:a="http://schemas.openxmlformats.org/drawingml/2006/main">
            <a:off x="647700" y="522922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Active learning</a:t>
            </a:r>
          </a:p>
        </p:txBody>
      </p:sp>
      <p:sp>
        <p:nvSpPr>
          <p:cNvPr id="28" name="">
            <a:extLst xmlns:a="http://schemas.openxmlformats.org/drawingml/2006/main">
              <a:ext uri="{FF2B5EF4-FFF2-40B4-BE49-F238E27FC236}">
                <a16:creationId xmlns:a16="http://schemas.microsoft.com/office/drawing/2014/main" id="{0D7219A6-DC61-44AC-9220-2B54E99E9EB3}"/>
              </a:ext>
            </a:extLst>
          </p:cNvPr>
          <p:cNvSpPr>
            <a:spLocks xmlns:a="http://schemas.openxmlformats.org/drawingml/2006/main" noGrp="1"/>
          </p:cNvSpPr>
          <p:nvPr/>
        </p:nvSpPr>
        <p:spPr>
          <a:xfrm xmlns:a="http://schemas.openxmlformats.org/drawingml/2006/main">
            <a:off x="3714750" y="5248275"/>
            <a:ext cx="2047875" cy="323850"/>
          </a:xfrm>
          <a:prstGeom xmlns:a="http://schemas.openxmlformats.org/drawingml/2006/main" prst="roundRect">
            <a:avLst>
              <a:gd name="adj" fmla="val 50000"/>
            </a:avLst>
          </a:prstGeom>
          <a:solidFill xmlns:a="http://schemas.openxmlformats.org/drawingml/2006/main">
            <a:srgbClr val="FDE8E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116ADAD6-0BE7-40CB-B0C0-687372D580B7}"/>
              </a:ext>
            </a:extLst>
          </p:cNvPr>
          <p:cNvSpPr>
            <a:spLocks xmlns:a="http://schemas.openxmlformats.org/drawingml/2006/main" noGrp="1"/>
          </p:cNvSpPr>
          <p:nvPr/>
        </p:nvSpPr>
        <p:spPr>
          <a:xfrm xmlns:a="http://schemas.openxmlformats.org/drawingml/2006/main">
            <a:off x="3810000" y="5314950"/>
            <a:ext cx="1857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C53030"/>
                </a:solidFill>
                <a:latin typeface="Helvetica Neue"/>
                <a:ea typeface="Helvetica Neue"/>
                <a:cs typeface="Helvetica Neue"/>
              </a:defRPr>
            </a:pPr>
            <a:r>
              <a:rPr sz="1050" b="1">
                <a:solidFill>
                  <a:srgbClr val="C53030"/>
                </a:solidFill>
                <a:latin typeface="Helvetica Neue"/>
                <a:ea typeface="Helvetica Neue"/>
                <a:cs typeface="Helvetica Neue"/>
              </a:rPr>
              <a:t>NOT VALIDATED</a:t>
            </a:r>
          </a:p>
        </p:txBody>
      </p:sp>
      <p:sp>
        <p:nvSpPr>
          <p:cNvPr id="30" name="">
            <a:extLst xmlns:a="http://schemas.openxmlformats.org/drawingml/2006/main">
              <a:ext uri="{FF2B5EF4-FFF2-40B4-BE49-F238E27FC236}">
                <a16:creationId xmlns:a16="http://schemas.microsoft.com/office/drawing/2014/main" id="{506B1177-6F70-4E99-BAE3-4FCFD705D9DE}"/>
              </a:ext>
            </a:extLst>
          </p:cNvPr>
          <p:cNvSpPr>
            <a:spLocks xmlns:a="http://schemas.openxmlformats.org/drawingml/2006/main" noGrp="1"/>
          </p:cNvSpPr>
          <p:nvPr/>
        </p:nvSpPr>
        <p:spPr>
          <a:xfrm xmlns:a="http://schemas.openxmlformats.org/drawingml/2006/main">
            <a:off x="6048375" y="5229225"/>
            <a:ext cx="533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5D6470"/>
                </a:solidFill>
                <a:latin typeface="Helvetica Neue"/>
                <a:ea typeface="Helvetica Neue"/>
                <a:cs typeface="Helvetica Neue"/>
              </a:defRPr>
            </a:pPr>
            <a:r>
              <a:rPr sz="1350" b="0">
                <a:solidFill>
                  <a:srgbClr val="5D6470"/>
                </a:solidFill>
                <a:latin typeface="Helvetica Neue"/>
                <a:ea typeface="Helvetica Neue"/>
                <a:cs typeface="Helvetica Neue"/>
              </a:rPr>
              <a:t>0 recommendations from 0 scored edges</a:t>
            </a:r>
          </a:p>
        </p:txBody>
      </p:sp>
    </p:spTree>
    <p:extLst>
      <p:ext uri="{BB962C8B-B14F-4D97-AF65-F5344CB8AC3E}">
        <p14:creationId xmlns:p14="http://schemas.microsoft.com/office/powerpoint/2010/main" val="687271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D459F08B-1B45-4D48-BF4C-5943254A07EA}"/>
              </a:ext>
            </a:extLst>
          </p:cNvPr>
          <p:cNvSpPr>
            <a:spLocks xmlns:a="http://schemas.openxmlformats.org/drawingml/2006/main" noGrp="1"/>
          </p:cNvSpPr>
          <p:nvPr/>
        </p:nvSpPr>
        <p:spPr>
          <a:xfrm xmlns:a="http://schemas.openxmlformats.org/drawingml/2006/main">
            <a:off x="400050" y="228600"/>
            <a:ext cx="695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CLAIM LEDGER</a:t>
            </a:r>
          </a:p>
        </p:txBody>
      </p:sp>
      <p:sp>
        <p:nvSpPr>
          <p:cNvPr id="2" name="">
            <a:extLst xmlns:a="http://schemas.openxmlformats.org/drawingml/2006/main">
              <a:ext uri="{FF2B5EF4-FFF2-40B4-BE49-F238E27FC236}">
                <a16:creationId xmlns:a16="http://schemas.microsoft.com/office/drawing/2014/main" id="{7E649C2A-560D-400D-992A-23FCBB4FA833}"/>
              </a:ext>
            </a:extLst>
          </p:cNvPr>
          <p:cNvSpPr>
            <a:spLocks xmlns:a="http://schemas.openxmlformats.org/drawingml/2006/main" noGrp="1"/>
          </p:cNvSpPr>
          <p:nvPr/>
        </p:nvSpPr>
        <p:spPr>
          <a:xfrm xmlns:a="http://schemas.openxmlformats.org/drawingml/2006/main">
            <a:off x="400050" y="49530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What the thesis supports—and does not support</a:t>
            </a:r>
          </a:p>
        </p:txBody>
      </p:sp>
      <p:sp>
        <p:nvSpPr>
          <p:cNvPr id="3" name="">
            <a:extLst xmlns:a="http://schemas.openxmlformats.org/drawingml/2006/main">
              <a:ext uri="{FF2B5EF4-FFF2-40B4-BE49-F238E27FC236}">
                <a16:creationId xmlns:a16="http://schemas.microsoft.com/office/drawing/2014/main" id="{CBFA409F-5180-46E7-88FB-E03A95D2D50B}"/>
              </a:ext>
            </a:extLst>
          </p:cNvPr>
          <p:cNvSpPr>
            <a:spLocks xmlns:a="http://schemas.openxmlformats.org/drawingml/2006/main" noGrp="1"/>
          </p:cNvSpPr>
          <p:nvPr/>
        </p:nvSpPr>
        <p:spPr>
          <a:xfrm xmlns:a="http://schemas.openxmlformats.org/drawingml/2006/main">
            <a:off x="400050" y="1190625"/>
            <a:ext cx="11391900" cy="19050"/>
          </a:xfrm>
          <a:prstGeom xmlns:a="http://schemas.openxmlformats.org/drawingml/2006/main" prst="rect">
            <a:avLst/>
          </a:prstGeom>
          <a:solidFill xmlns:a="http://schemas.openxmlformats.org/drawingml/2006/main">
            <a:srgbClr val="11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AAC95AE-32F1-40BD-8FD6-09F3791FC527}"/>
              </a:ext>
            </a:extLst>
          </p:cNvPr>
          <p:cNvSpPr>
            <a:spLocks xmlns:a="http://schemas.openxmlformats.org/drawingml/2006/main" noGrp="1"/>
          </p:cNvSpPr>
          <p:nvPr/>
        </p:nvSpPr>
        <p:spPr>
          <a:xfrm xmlns:a="http://schemas.openxmlformats.org/drawingml/2006/main">
            <a:off x="400050" y="6438900"/>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Synthesis</a:t>
            </a:r>
          </a:p>
        </p:txBody>
      </p:sp>
      <p:sp>
        <p:nvSpPr>
          <p:cNvPr id="5" name="">
            <a:extLst xmlns:a="http://schemas.openxmlformats.org/drawingml/2006/main">
              <a:ext uri="{FF2B5EF4-FFF2-40B4-BE49-F238E27FC236}">
                <a16:creationId xmlns:a16="http://schemas.microsoft.com/office/drawing/2014/main" id="{616CF3AC-BC9E-491D-9367-32F2D68914DF}"/>
              </a:ext>
            </a:extLst>
          </p:cNvPr>
          <p:cNvSpPr>
            <a:spLocks xmlns:a="http://schemas.openxmlformats.org/drawingml/2006/main" noGrp="1"/>
          </p:cNvSpPr>
          <p:nvPr/>
        </p:nvSpPr>
        <p:spPr>
          <a:xfrm xmlns:a="http://schemas.openxmlformats.org/drawingml/2006/main">
            <a:off x="11287125" y="63912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18</a:t>
            </a:r>
          </a:p>
        </p:txBody>
      </p:sp>
      <p:sp>
        <p:nvSpPr>
          <p:cNvPr id="6" name="">
            <a:extLst xmlns:a="http://schemas.openxmlformats.org/drawingml/2006/main">
              <a:ext uri="{FF2B5EF4-FFF2-40B4-BE49-F238E27FC236}">
                <a16:creationId xmlns:a16="http://schemas.microsoft.com/office/drawing/2014/main" id="{0EA436EF-8417-4592-82BA-CF1D35EF2C8C}"/>
              </a:ext>
            </a:extLst>
          </p:cNvPr>
          <p:cNvSpPr>
            <a:spLocks xmlns:a="http://schemas.openxmlformats.org/drawingml/2006/main" noGrp="1"/>
          </p:cNvSpPr>
          <p:nvPr/>
        </p:nvSpPr>
        <p:spPr>
          <a:xfrm xmlns:a="http://schemas.openxmlformats.org/drawingml/2006/main">
            <a:off x="400050" y="152400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2F855A"/>
                </a:solidFill>
                <a:latin typeface="Helvetica Neue"/>
                <a:ea typeface="Helvetica Neue"/>
                <a:cs typeface="Helvetica Neue"/>
              </a:defRPr>
            </a:pPr>
            <a:r>
              <a:rPr sz="1725" b="1">
                <a:solidFill>
                  <a:srgbClr val="2F855A"/>
                </a:solidFill>
                <a:latin typeface="Helvetica Neue"/>
                <a:ea typeface="Helvetica Neue"/>
                <a:cs typeface="Helvetica Neue"/>
              </a:rPr>
              <a:t>SUPPORTED</a:t>
            </a:r>
          </a:p>
        </p:txBody>
      </p:sp>
      <p:sp>
        <p:nvSpPr>
          <p:cNvPr id="7" name="">
            <a:extLst xmlns:a="http://schemas.openxmlformats.org/drawingml/2006/main">
              <a:ext uri="{FF2B5EF4-FFF2-40B4-BE49-F238E27FC236}">
                <a16:creationId xmlns:a16="http://schemas.microsoft.com/office/drawing/2014/main" id="{F8D08CA0-7D15-4236-9CB9-DC82E38BD33B}"/>
              </a:ext>
            </a:extLst>
          </p:cNvPr>
          <p:cNvSpPr>
            <a:spLocks xmlns:a="http://schemas.openxmlformats.org/drawingml/2006/main" noGrp="1"/>
          </p:cNvSpPr>
          <p:nvPr/>
        </p:nvSpPr>
        <p:spPr>
          <a:xfrm xmlns:a="http://schemas.openxmlformats.org/drawingml/2006/main">
            <a:off x="400050" y="1943100"/>
            <a:ext cx="5238750" cy="457200"/>
          </a:xfrm>
          <a:prstGeom xmlns:a="http://schemas.openxmlformats.org/drawingml/2006/main" prst="roundRect">
            <a:avLst>
              <a:gd name="adj" fmla="val 25000"/>
            </a:avLst>
          </a:prstGeom>
          <a:solidFill xmlns:a="http://schemas.openxmlformats.org/drawingml/2006/main">
            <a:srgbClr val="E7F7F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79D699B-495A-4AFB-BD43-61850DB4940D}"/>
              </a:ext>
            </a:extLst>
          </p:cNvPr>
          <p:cNvSpPr>
            <a:spLocks xmlns:a="http://schemas.openxmlformats.org/drawingml/2006/main" noGrp="1"/>
          </p:cNvSpPr>
          <p:nvPr/>
        </p:nvSpPr>
        <p:spPr>
          <a:xfrm xmlns:a="http://schemas.openxmlformats.org/drawingml/2006/main">
            <a:off x="552450" y="2047875"/>
            <a:ext cx="304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F855A"/>
                </a:solidFill>
                <a:latin typeface="Helvetica Neue"/>
                <a:ea typeface="Helvetica Neue"/>
                <a:cs typeface="Helvetica Neue"/>
              </a:defRPr>
            </a:pPr>
            <a:r>
              <a:rPr sz="1500" b="1">
                <a:solidFill>
                  <a:srgbClr val="2F855A"/>
                </a:solidFill>
                <a:latin typeface="Helvetica Neue"/>
                <a:ea typeface="Helvetica Neue"/>
                <a:cs typeface="Helvetica Neue"/>
              </a:rPr>
              <a:t>✓</a:t>
            </a:r>
          </a:p>
        </p:txBody>
      </p:sp>
      <p:sp>
        <p:nvSpPr>
          <p:cNvPr id="9" name="">
            <a:extLst xmlns:a="http://schemas.openxmlformats.org/drawingml/2006/main">
              <a:ext uri="{FF2B5EF4-FFF2-40B4-BE49-F238E27FC236}">
                <a16:creationId xmlns:a16="http://schemas.microsoft.com/office/drawing/2014/main" id="{D2B7DCD4-CC16-413A-9456-70A52F364EFC}"/>
              </a:ext>
            </a:extLst>
          </p:cNvPr>
          <p:cNvSpPr>
            <a:spLocks xmlns:a="http://schemas.openxmlformats.org/drawingml/2006/main" noGrp="1"/>
          </p:cNvSpPr>
          <p:nvPr/>
        </p:nvSpPr>
        <p:spPr>
          <a:xfrm xmlns:a="http://schemas.openxmlformats.org/drawingml/2006/main">
            <a:off x="933450" y="2057400"/>
            <a:ext cx="4429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Close agreement with reported age-model configurations</a:t>
            </a:r>
          </a:p>
        </p:txBody>
      </p:sp>
      <p:sp>
        <p:nvSpPr>
          <p:cNvPr id="10" name="">
            <a:extLst xmlns:a="http://schemas.openxmlformats.org/drawingml/2006/main">
              <a:ext uri="{FF2B5EF4-FFF2-40B4-BE49-F238E27FC236}">
                <a16:creationId xmlns:a16="http://schemas.microsoft.com/office/drawing/2014/main" id="{673D15CE-E048-4A56-AF49-CFF584E00BA9}"/>
              </a:ext>
            </a:extLst>
          </p:cNvPr>
          <p:cNvSpPr>
            <a:spLocks xmlns:a="http://schemas.openxmlformats.org/drawingml/2006/main" noGrp="1"/>
          </p:cNvSpPr>
          <p:nvPr/>
        </p:nvSpPr>
        <p:spPr>
          <a:xfrm xmlns:a="http://schemas.openxmlformats.org/drawingml/2006/main">
            <a:off x="400050" y="2562225"/>
            <a:ext cx="5238750" cy="457200"/>
          </a:xfrm>
          <a:prstGeom xmlns:a="http://schemas.openxmlformats.org/drawingml/2006/main" prst="roundRect">
            <a:avLst>
              <a:gd name="adj" fmla="val 25000"/>
            </a:avLst>
          </a:prstGeom>
          <a:solidFill xmlns:a="http://schemas.openxmlformats.org/drawingml/2006/main">
            <a:srgbClr val="E7F7F3"/>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5445453-D97C-44F9-BCC5-F944A7B30ABB}"/>
              </a:ext>
            </a:extLst>
          </p:cNvPr>
          <p:cNvSpPr>
            <a:spLocks xmlns:a="http://schemas.openxmlformats.org/drawingml/2006/main" noGrp="1"/>
          </p:cNvSpPr>
          <p:nvPr/>
        </p:nvSpPr>
        <p:spPr>
          <a:xfrm xmlns:a="http://schemas.openxmlformats.org/drawingml/2006/main">
            <a:off x="552450" y="2667000"/>
            <a:ext cx="304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F855A"/>
                </a:solidFill>
                <a:latin typeface="Helvetica Neue"/>
                <a:ea typeface="Helvetica Neue"/>
                <a:cs typeface="Helvetica Neue"/>
              </a:defRPr>
            </a:pPr>
            <a:r>
              <a:rPr sz="1500" b="1">
                <a:solidFill>
                  <a:srgbClr val="2F855A"/>
                </a:solidFill>
                <a:latin typeface="Helvetica Neue"/>
                <a:ea typeface="Helvetica Neue"/>
                <a:cs typeface="Helvetica Neue"/>
              </a:rPr>
              <a:t>✓</a:t>
            </a:r>
          </a:p>
        </p:txBody>
      </p:sp>
      <p:sp>
        <p:nvSpPr>
          <p:cNvPr id="12" name="">
            <a:extLst xmlns:a="http://schemas.openxmlformats.org/drawingml/2006/main">
              <a:ext uri="{FF2B5EF4-FFF2-40B4-BE49-F238E27FC236}">
                <a16:creationId xmlns:a16="http://schemas.microsoft.com/office/drawing/2014/main" id="{536DCAA8-D1F7-4C43-8DE3-59DBE1F75CF0}"/>
              </a:ext>
            </a:extLst>
          </p:cNvPr>
          <p:cNvSpPr>
            <a:spLocks xmlns:a="http://schemas.openxmlformats.org/drawingml/2006/main" noGrp="1"/>
          </p:cNvSpPr>
          <p:nvPr/>
        </p:nvSpPr>
        <p:spPr>
          <a:xfrm xmlns:a="http://schemas.openxmlformats.org/drawingml/2006/main">
            <a:off x="933450" y="2676525"/>
            <a:ext cx="4429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Conditional topology and evidence value</a:t>
            </a:r>
          </a:p>
        </p:txBody>
      </p:sp>
      <p:sp>
        <p:nvSpPr>
          <p:cNvPr id="13" name="">
            <a:extLst xmlns:a="http://schemas.openxmlformats.org/drawingml/2006/main">
              <a:ext uri="{FF2B5EF4-FFF2-40B4-BE49-F238E27FC236}">
                <a16:creationId xmlns:a16="http://schemas.microsoft.com/office/drawing/2014/main" id="{76A966C7-A7C8-45DC-88B6-9A6DF9B7DB39}"/>
              </a:ext>
            </a:extLst>
          </p:cNvPr>
          <p:cNvSpPr>
            <a:spLocks xmlns:a="http://schemas.openxmlformats.org/drawingml/2006/main" noGrp="1"/>
          </p:cNvSpPr>
          <p:nvPr/>
        </p:nvSpPr>
        <p:spPr>
          <a:xfrm xmlns:a="http://schemas.openxmlformats.org/drawingml/2006/main">
            <a:off x="400050" y="3181350"/>
            <a:ext cx="5238750" cy="457200"/>
          </a:xfrm>
          <a:prstGeom xmlns:a="http://schemas.openxmlformats.org/drawingml/2006/main" prst="roundRect">
            <a:avLst>
              <a:gd name="adj" fmla="val 25000"/>
            </a:avLst>
          </a:prstGeom>
          <a:solidFill xmlns:a="http://schemas.openxmlformats.org/drawingml/2006/main">
            <a:srgbClr val="E7F7F3"/>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DC63401-3BEC-459D-BA6A-9A5F79E469A1}"/>
              </a:ext>
            </a:extLst>
          </p:cNvPr>
          <p:cNvSpPr>
            <a:spLocks xmlns:a="http://schemas.openxmlformats.org/drawingml/2006/main" noGrp="1"/>
          </p:cNvSpPr>
          <p:nvPr/>
        </p:nvSpPr>
        <p:spPr>
          <a:xfrm xmlns:a="http://schemas.openxmlformats.org/drawingml/2006/main">
            <a:off x="552450" y="3286125"/>
            <a:ext cx="304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F855A"/>
                </a:solidFill>
                <a:latin typeface="Helvetica Neue"/>
                <a:ea typeface="Helvetica Neue"/>
                <a:cs typeface="Helvetica Neue"/>
              </a:defRPr>
            </a:pPr>
            <a:r>
              <a:rPr sz="1500" b="1">
                <a:solidFill>
                  <a:srgbClr val="2F855A"/>
                </a:solidFill>
                <a:latin typeface="Helvetica Neue"/>
                <a:ea typeface="Helvetica Neue"/>
                <a:cs typeface="Helvetica Neue"/>
              </a:rPr>
              <a:t>✓</a:t>
            </a:r>
          </a:p>
        </p:txBody>
      </p:sp>
      <p:sp>
        <p:nvSpPr>
          <p:cNvPr id="15" name="">
            <a:extLst xmlns:a="http://schemas.openxmlformats.org/drawingml/2006/main">
              <a:ext uri="{FF2B5EF4-FFF2-40B4-BE49-F238E27FC236}">
                <a16:creationId xmlns:a16="http://schemas.microsoft.com/office/drawing/2014/main" id="{CB2DCA63-BBA6-4F9B-B825-23FCC95F13A9}"/>
              </a:ext>
            </a:extLst>
          </p:cNvPr>
          <p:cNvSpPr>
            <a:spLocks xmlns:a="http://schemas.openxmlformats.org/drawingml/2006/main" noGrp="1"/>
          </p:cNvSpPr>
          <p:nvPr/>
        </p:nvSpPr>
        <p:spPr>
          <a:xfrm xmlns:a="http://schemas.openxmlformats.org/drawingml/2006/main">
            <a:off x="933450" y="3295650"/>
            <a:ext cx="4429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Reaction equivalence-class reporting</a:t>
            </a:r>
          </a:p>
        </p:txBody>
      </p:sp>
      <p:sp>
        <p:nvSpPr>
          <p:cNvPr id="16" name="">
            <a:extLst xmlns:a="http://schemas.openxmlformats.org/drawingml/2006/main">
              <a:ext uri="{FF2B5EF4-FFF2-40B4-BE49-F238E27FC236}">
                <a16:creationId xmlns:a16="http://schemas.microsoft.com/office/drawing/2014/main" id="{7C23503C-CAAA-49F6-9DD0-2E64B6678558}"/>
              </a:ext>
            </a:extLst>
          </p:cNvPr>
          <p:cNvSpPr>
            <a:spLocks xmlns:a="http://schemas.openxmlformats.org/drawingml/2006/main" noGrp="1"/>
          </p:cNvSpPr>
          <p:nvPr/>
        </p:nvSpPr>
        <p:spPr>
          <a:xfrm xmlns:a="http://schemas.openxmlformats.org/drawingml/2006/main">
            <a:off x="400050" y="3800475"/>
            <a:ext cx="5238750" cy="457200"/>
          </a:xfrm>
          <a:prstGeom xmlns:a="http://schemas.openxmlformats.org/drawingml/2006/main" prst="roundRect">
            <a:avLst>
              <a:gd name="adj" fmla="val 25000"/>
            </a:avLst>
          </a:prstGeom>
          <a:solidFill xmlns:a="http://schemas.openxmlformats.org/drawingml/2006/main">
            <a:srgbClr val="E7F7F3"/>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97E22C4-470C-41B1-A02E-7171FE017388}"/>
              </a:ext>
            </a:extLst>
          </p:cNvPr>
          <p:cNvSpPr>
            <a:spLocks xmlns:a="http://schemas.openxmlformats.org/drawingml/2006/main" noGrp="1"/>
          </p:cNvSpPr>
          <p:nvPr/>
        </p:nvSpPr>
        <p:spPr>
          <a:xfrm xmlns:a="http://schemas.openxmlformats.org/drawingml/2006/main">
            <a:off x="552450" y="3905250"/>
            <a:ext cx="304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F855A"/>
                </a:solidFill>
                <a:latin typeface="Helvetica Neue"/>
                <a:ea typeface="Helvetica Neue"/>
                <a:cs typeface="Helvetica Neue"/>
              </a:defRPr>
            </a:pPr>
            <a:r>
              <a:rPr sz="1500" b="1">
                <a:solidFill>
                  <a:srgbClr val="2F855A"/>
                </a:solidFill>
                <a:latin typeface="Helvetica Neue"/>
                <a:ea typeface="Helvetica Neue"/>
                <a:cs typeface="Helvetica Neue"/>
              </a:rPr>
              <a:t>✓</a:t>
            </a:r>
          </a:p>
        </p:txBody>
      </p:sp>
      <p:sp>
        <p:nvSpPr>
          <p:cNvPr id="18" name="">
            <a:extLst xmlns:a="http://schemas.openxmlformats.org/drawingml/2006/main">
              <a:ext uri="{FF2B5EF4-FFF2-40B4-BE49-F238E27FC236}">
                <a16:creationId xmlns:a16="http://schemas.microsoft.com/office/drawing/2014/main" id="{B2AF1691-F959-4C02-8D14-818F2F7A4D3E}"/>
              </a:ext>
            </a:extLst>
          </p:cNvPr>
          <p:cNvSpPr>
            <a:spLocks xmlns:a="http://schemas.openxmlformats.org/drawingml/2006/main" noGrp="1"/>
          </p:cNvSpPr>
          <p:nvPr/>
        </p:nvSpPr>
        <p:spPr>
          <a:xfrm xmlns:a="http://schemas.openxmlformats.org/drawingml/2006/main">
            <a:off x="933450" y="3914775"/>
            <a:ext cx="4429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Affine-map and conflict-localisation value</a:t>
            </a:r>
          </a:p>
        </p:txBody>
      </p:sp>
      <p:sp>
        <p:nvSpPr>
          <p:cNvPr id="19" name="">
            <a:extLst xmlns:a="http://schemas.openxmlformats.org/drawingml/2006/main">
              <a:ext uri="{FF2B5EF4-FFF2-40B4-BE49-F238E27FC236}">
                <a16:creationId xmlns:a16="http://schemas.microsoft.com/office/drawing/2014/main" id="{05B82FE6-1FFD-49FA-BBB7-849AAD778665}"/>
              </a:ext>
            </a:extLst>
          </p:cNvPr>
          <p:cNvSpPr>
            <a:spLocks xmlns:a="http://schemas.openxmlformats.org/drawingml/2006/main" noGrp="1"/>
          </p:cNvSpPr>
          <p:nvPr/>
        </p:nvSpPr>
        <p:spPr>
          <a:xfrm xmlns:a="http://schemas.openxmlformats.org/drawingml/2006/main">
            <a:off x="400050" y="4419600"/>
            <a:ext cx="5238750" cy="457200"/>
          </a:xfrm>
          <a:prstGeom xmlns:a="http://schemas.openxmlformats.org/drawingml/2006/main" prst="roundRect">
            <a:avLst>
              <a:gd name="adj" fmla="val 25000"/>
            </a:avLst>
          </a:prstGeom>
          <a:solidFill xmlns:a="http://schemas.openxmlformats.org/drawingml/2006/main">
            <a:srgbClr val="E7F7F3"/>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4CB9E4D-88E3-4535-9E1A-4680B0542244}"/>
              </a:ext>
            </a:extLst>
          </p:cNvPr>
          <p:cNvSpPr>
            <a:spLocks xmlns:a="http://schemas.openxmlformats.org/drawingml/2006/main" noGrp="1"/>
          </p:cNvSpPr>
          <p:nvPr/>
        </p:nvSpPr>
        <p:spPr>
          <a:xfrm xmlns:a="http://schemas.openxmlformats.org/drawingml/2006/main">
            <a:off x="552450" y="4524375"/>
            <a:ext cx="304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F855A"/>
                </a:solidFill>
                <a:latin typeface="Helvetica Neue"/>
                <a:ea typeface="Helvetica Neue"/>
                <a:cs typeface="Helvetica Neue"/>
              </a:defRPr>
            </a:pPr>
            <a:r>
              <a:rPr sz="1500" b="1">
                <a:solidFill>
                  <a:srgbClr val="2F855A"/>
                </a:solidFill>
                <a:latin typeface="Helvetica Neue"/>
                <a:ea typeface="Helvetica Neue"/>
                <a:cs typeface="Helvetica Neue"/>
              </a:rPr>
              <a:t>✓</a:t>
            </a:r>
          </a:p>
        </p:txBody>
      </p:sp>
      <p:sp>
        <p:nvSpPr>
          <p:cNvPr id="21" name="">
            <a:extLst xmlns:a="http://schemas.openxmlformats.org/drawingml/2006/main">
              <a:ext uri="{FF2B5EF4-FFF2-40B4-BE49-F238E27FC236}">
                <a16:creationId xmlns:a16="http://schemas.microsoft.com/office/drawing/2014/main" id="{DEF6567F-AF04-48B3-A8BC-09A7C512514E}"/>
              </a:ext>
            </a:extLst>
          </p:cNvPr>
          <p:cNvSpPr>
            <a:spLocks xmlns:a="http://schemas.openxmlformats.org/drawingml/2006/main" noGrp="1"/>
          </p:cNvSpPr>
          <p:nvPr/>
        </p:nvSpPr>
        <p:spPr>
          <a:xfrm xmlns:a="http://schemas.openxmlformats.org/drawingml/2006/main">
            <a:off x="933450" y="4533900"/>
            <a:ext cx="4429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Ghana measurement-value diagnosis</a:t>
            </a:r>
          </a:p>
        </p:txBody>
      </p:sp>
      <p:sp>
        <p:nvSpPr>
          <p:cNvPr id="22" name="">
            <a:extLst xmlns:a="http://schemas.openxmlformats.org/drawingml/2006/main">
              <a:ext uri="{FF2B5EF4-FFF2-40B4-BE49-F238E27FC236}">
                <a16:creationId xmlns:a16="http://schemas.microsoft.com/office/drawing/2014/main" id="{50FE9C2B-8261-4DAF-9547-A571F2DA4832}"/>
              </a:ext>
            </a:extLst>
          </p:cNvPr>
          <p:cNvSpPr>
            <a:spLocks xmlns:a="http://schemas.openxmlformats.org/drawingml/2006/main" noGrp="1"/>
          </p:cNvSpPr>
          <p:nvPr/>
        </p:nvSpPr>
        <p:spPr>
          <a:xfrm xmlns:a="http://schemas.openxmlformats.org/drawingml/2006/main">
            <a:off x="6191250" y="15240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C53030"/>
                </a:solidFill>
                <a:latin typeface="Helvetica Neue"/>
                <a:ea typeface="Helvetica Neue"/>
                <a:cs typeface="Helvetica Neue"/>
              </a:defRPr>
            </a:pPr>
            <a:r>
              <a:rPr sz="1725" b="1">
                <a:solidFill>
                  <a:srgbClr val="C53030"/>
                </a:solidFill>
                <a:latin typeface="Helvetica Neue"/>
                <a:ea typeface="Helvetica Neue"/>
                <a:cs typeface="Helvetica Neue"/>
              </a:rPr>
              <a:t>NOT ESTABLISHED</a:t>
            </a:r>
          </a:p>
        </p:txBody>
      </p:sp>
      <p:sp>
        <p:nvSpPr>
          <p:cNvPr id="23" name="">
            <a:extLst xmlns:a="http://schemas.openxmlformats.org/drawingml/2006/main">
              <a:ext uri="{FF2B5EF4-FFF2-40B4-BE49-F238E27FC236}">
                <a16:creationId xmlns:a16="http://schemas.microsoft.com/office/drawing/2014/main" id="{4D575E5B-68C6-45D9-8E98-69437406FCA4}"/>
              </a:ext>
            </a:extLst>
          </p:cNvPr>
          <p:cNvSpPr>
            <a:spLocks xmlns:a="http://schemas.openxmlformats.org/drawingml/2006/main" noGrp="1"/>
          </p:cNvSpPr>
          <p:nvPr/>
        </p:nvSpPr>
        <p:spPr>
          <a:xfrm xmlns:a="http://schemas.openxmlformats.org/drawingml/2006/main">
            <a:off x="6191250" y="1943100"/>
            <a:ext cx="5219700" cy="457200"/>
          </a:xfrm>
          <a:prstGeom xmlns:a="http://schemas.openxmlformats.org/drawingml/2006/main" prst="roundRect">
            <a:avLst>
              <a:gd name="adj" fmla="val 25000"/>
            </a:avLst>
          </a:prstGeom>
          <a:solidFill xmlns:a="http://schemas.openxmlformats.org/drawingml/2006/main">
            <a:srgbClr val="FDE8E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EEF439C6-4E73-4BBA-B3BF-CD56A6333957}"/>
              </a:ext>
            </a:extLst>
          </p:cNvPr>
          <p:cNvSpPr>
            <a:spLocks xmlns:a="http://schemas.openxmlformats.org/drawingml/2006/main" noGrp="1"/>
          </p:cNvSpPr>
          <p:nvPr/>
        </p:nvSpPr>
        <p:spPr>
          <a:xfrm xmlns:a="http://schemas.openxmlformats.org/drawingml/2006/main">
            <a:off x="6343650" y="2047875"/>
            <a:ext cx="304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C53030"/>
                </a:solidFill>
                <a:latin typeface="Helvetica Neue"/>
                <a:ea typeface="Helvetica Neue"/>
                <a:cs typeface="Helvetica Neue"/>
              </a:defRPr>
            </a:pPr>
            <a:r>
              <a:rPr sz="1500" b="1">
                <a:solidFill>
                  <a:srgbClr val="C53030"/>
                </a:solidFill>
                <a:latin typeface="Helvetica Neue"/>
                <a:ea typeface="Helvetica Neue"/>
                <a:cs typeface="Helvetica Neue"/>
              </a:rPr>
              <a:t>×</a:t>
            </a:r>
          </a:p>
        </p:txBody>
      </p:sp>
      <p:sp>
        <p:nvSpPr>
          <p:cNvPr id="25" name="">
            <a:extLst xmlns:a="http://schemas.openxmlformats.org/drawingml/2006/main">
              <a:ext uri="{FF2B5EF4-FFF2-40B4-BE49-F238E27FC236}">
                <a16:creationId xmlns:a16="http://schemas.microsoft.com/office/drawing/2014/main" id="{B29033B6-7A15-496A-ADD5-F9804633F640}"/>
              </a:ext>
            </a:extLst>
          </p:cNvPr>
          <p:cNvSpPr>
            <a:spLocks xmlns:a="http://schemas.openxmlformats.org/drawingml/2006/main" noGrp="1"/>
          </p:cNvSpPr>
          <p:nvPr/>
        </p:nvSpPr>
        <p:spPr>
          <a:xfrm xmlns:a="http://schemas.openxmlformats.org/drawingml/2006/main">
            <a:off x="6724650" y="2057400"/>
            <a:ext cx="4429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Universal superiority over strong baselines</a:t>
            </a:r>
          </a:p>
        </p:txBody>
      </p:sp>
      <p:sp>
        <p:nvSpPr>
          <p:cNvPr id="26" name="">
            <a:extLst xmlns:a="http://schemas.openxmlformats.org/drawingml/2006/main">
              <a:ext uri="{FF2B5EF4-FFF2-40B4-BE49-F238E27FC236}">
                <a16:creationId xmlns:a16="http://schemas.microsoft.com/office/drawing/2014/main" id="{C8DB29A9-7BB0-4357-961A-5F762D47AC9E}"/>
              </a:ext>
            </a:extLst>
          </p:cNvPr>
          <p:cNvSpPr>
            <a:spLocks xmlns:a="http://schemas.openxmlformats.org/drawingml/2006/main" noGrp="1"/>
          </p:cNvSpPr>
          <p:nvPr/>
        </p:nvSpPr>
        <p:spPr>
          <a:xfrm xmlns:a="http://schemas.openxmlformats.org/drawingml/2006/main">
            <a:off x="6191250" y="2562225"/>
            <a:ext cx="5219700" cy="457200"/>
          </a:xfrm>
          <a:prstGeom xmlns:a="http://schemas.openxmlformats.org/drawingml/2006/main" prst="roundRect">
            <a:avLst>
              <a:gd name="adj" fmla="val 25000"/>
            </a:avLst>
          </a:prstGeom>
          <a:solidFill xmlns:a="http://schemas.openxmlformats.org/drawingml/2006/main">
            <a:srgbClr val="FDE8E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5CB41CB9-E5A3-4709-86C6-25A4755E2025}"/>
              </a:ext>
            </a:extLst>
          </p:cNvPr>
          <p:cNvSpPr>
            <a:spLocks xmlns:a="http://schemas.openxmlformats.org/drawingml/2006/main" noGrp="1"/>
          </p:cNvSpPr>
          <p:nvPr/>
        </p:nvSpPr>
        <p:spPr>
          <a:xfrm xmlns:a="http://schemas.openxmlformats.org/drawingml/2006/main">
            <a:off x="6343650" y="2667000"/>
            <a:ext cx="304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C53030"/>
                </a:solidFill>
                <a:latin typeface="Helvetica Neue"/>
                <a:ea typeface="Helvetica Neue"/>
                <a:cs typeface="Helvetica Neue"/>
              </a:defRPr>
            </a:pPr>
            <a:r>
              <a:rPr sz="1500" b="1">
                <a:solidFill>
                  <a:srgbClr val="C53030"/>
                </a:solidFill>
                <a:latin typeface="Helvetica Neue"/>
                <a:ea typeface="Helvetica Neue"/>
                <a:cs typeface="Helvetica Neue"/>
              </a:rPr>
              <a:t>×</a:t>
            </a:r>
          </a:p>
        </p:txBody>
      </p:sp>
      <p:sp>
        <p:nvSpPr>
          <p:cNvPr id="28" name="">
            <a:extLst xmlns:a="http://schemas.openxmlformats.org/drawingml/2006/main">
              <a:ext uri="{FF2B5EF4-FFF2-40B4-BE49-F238E27FC236}">
                <a16:creationId xmlns:a16="http://schemas.microsoft.com/office/drawing/2014/main" id="{84ED0C23-CF4C-4C60-AD8E-5BA86CB2933E}"/>
              </a:ext>
            </a:extLst>
          </p:cNvPr>
          <p:cNvSpPr>
            <a:spLocks xmlns:a="http://schemas.openxmlformats.org/drawingml/2006/main" noGrp="1"/>
          </p:cNvSpPr>
          <p:nvPr/>
        </p:nvSpPr>
        <p:spPr>
          <a:xfrm xmlns:a="http://schemas.openxmlformats.org/drawingml/2006/main">
            <a:off x="6724650" y="2676525"/>
            <a:ext cx="4429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Exact Ghana ages, paths or mineral truth</a:t>
            </a:r>
          </a:p>
        </p:txBody>
      </p:sp>
      <p:sp>
        <p:nvSpPr>
          <p:cNvPr id="29" name="">
            <a:extLst xmlns:a="http://schemas.openxmlformats.org/drawingml/2006/main">
              <a:ext uri="{FF2B5EF4-FFF2-40B4-BE49-F238E27FC236}">
                <a16:creationId xmlns:a16="http://schemas.microsoft.com/office/drawing/2014/main" id="{8C0987F9-98CF-4847-832E-679778BC8C2F}"/>
              </a:ext>
            </a:extLst>
          </p:cNvPr>
          <p:cNvSpPr>
            <a:spLocks xmlns:a="http://schemas.openxmlformats.org/drawingml/2006/main" noGrp="1"/>
          </p:cNvSpPr>
          <p:nvPr/>
        </p:nvSpPr>
        <p:spPr>
          <a:xfrm xmlns:a="http://schemas.openxmlformats.org/drawingml/2006/main">
            <a:off x="6191250" y="3181350"/>
            <a:ext cx="5219700" cy="457200"/>
          </a:xfrm>
          <a:prstGeom xmlns:a="http://schemas.openxmlformats.org/drawingml/2006/main" prst="roundRect">
            <a:avLst>
              <a:gd name="adj" fmla="val 25000"/>
            </a:avLst>
          </a:prstGeom>
          <a:solidFill xmlns:a="http://schemas.openxmlformats.org/drawingml/2006/main">
            <a:srgbClr val="FDE8E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FEC42B99-0773-4D84-AE0C-5E9B2BDA14D0}"/>
              </a:ext>
            </a:extLst>
          </p:cNvPr>
          <p:cNvSpPr>
            <a:spLocks xmlns:a="http://schemas.openxmlformats.org/drawingml/2006/main" noGrp="1"/>
          </p:cNvSpPr>
          <p:nvPr/>
        </p:nvSpPr>
        <p:spPr>
          <a:xfrm xmlns:a="http://schemas.openxmlformats.org/drawingml/2006/main">
            <a:off x="6343650" y="3286125"/>
            <a:ext cx="304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C53030"/>
                </a:solidFill>
                <a:latin typeface="Helvetica Neue"/>
                <a:ea typeface="Helvetica Neue"/>
                <a:cs typeface="Helvetica Neue"/>
              </a:defRPr>
            </a:pPr>
            <a:r>
              <a:rPr sz="1500" b="1">
                <a:solidFill>
                  <a:srgbClr val="C53030"/>
                </a:solidFill>
                <a:latin typeface="Helvetica Neue"/>
                <a:ea typeface="Helvetica Neue"/>
                <a:cs typeface="Helvetica Neue"/>
              </a:rPr>
              <a:t>×</a:t>
            </a:r>
          </a:p>
        </p:txBody>
      </p:sp>
      <p:sp>
        <p:nvSpPr>
          <p:cNvPr id="31" name="">
            <a:extLst xmlns:a="http://schemas.openxmlformats.org/drawingml/2006/main">
              <a:ext uri="{FF2B5EF4-FFF2-40B4-BE49-F238E27FC236}">
                <a16:creationId xmlns:a16="http://schemas.microsoft.com/office/drawing/2014/main" id="{54BF03E3-8DA2-4C5C-AF51-957E654A1740}"/>
              </a:ext>
            </a:extLst>
          </p:cNvPr>
          <p:cNvSpPr>
            <a:spLocks xmlns:a="http://schemas.openxmlformats.org/drawingml/2006/main" noGrp="1"/>
          </p:cNvSpPr>
          <p:nvPr/>
        </p:nvSpPr>
        <p:spPr>
          <a:xfrm xmlns:a="http://schemas.openxmlformats.org/drawingml/2006/main">
            <a:off x="6724650" y="3295650"/>
            <a:ext cx="4429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End-to-end field validation</a:t>
            </a:r>
          </a:p>
        </p:txBody>
      </p:sp>
      <p:sp>
        <p:nvSpPr>
          <p:cNvPr id="32" name="">
            <a:extLst xmlns:a="http://schemas.openxmlformats.org/drawingml/2006/main">
              <a:ext uri="{FF2B5EF4-FFF2-40B4-BE49-F238E27FC236}">
                <a16:creationId xmlns:a16="http://schemas.microsoft.com/office/drawing/2014/main" id="{DD05C165-9774-42B3-B1C3-9C8226DF0320}"/>
              </a:ext>
            </a:extLst>
          </p:cNvPr>
          <p:cNvSpPr>
            <a:spLocks xmlns:a="http://schemas.openxmlformats.org/drawingml/2006/main" noGrp="1"/>
          </p:cNvSpPr>
          <p:nvPr/>
        </p:nvSpPr>
        <p:spPr>
          <a:xfrm xmlns:a="http://schemas.openxmlformats.org/drawingml/2006/main">
            <a:off x="6191250" y="3800475"/>
            <a:ext cx="5219700" cy="457200"/>
          </a:xfrm>
          <a:prstGeom xmlns:a="http://schemas.openxmlformats.org/drawingml/2006/main" prst="roundRect">
            <a:avLst>
              <a:gd name="adj" fmla="val 25000"/>
            </a:avLst>
          </a:prstGeom>
          <a:solidFill xmlns:a="http://schemas.openxmlformats.org/drawingml/2006/main">
            <a:srgbClr val="FDE8E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A59FB768-44FD-4FEA-ACBA-CE96A108E6D5}"/>
              </a:ext>
            </a:extLst>
          </p:cNvPr>
          <p:cNvSpPr>
            <a:spLocks xmlns:a="http://schemas.openxmlformats.org/drawingml/2006/main" noGrp="1"/>
          </p:cNvSpPr>
          <p:nvPr/>
        </p:nvSpPr>
        <p:spPr>
          <a:xfrm xmlns:a="http://schemas.openxmlformats.org/drawingml/2006/main">
            <a:off x="6343650" y="3905250"/>
            <a:ext cx="304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C53030"/>
                </a:solidFill>
                <a:latin typeface="Helvetica Neue"/>
                <a:ea typeface="Helvetica Neue"/>
                <a:cs typeface="Helvetica Neue"/>
              </a:defRPr>
            </a:pPr>
            <a:r>
              <a:rPr sz="1500" b="1">
                <a:solidFill>
                  <a:srgbClr val="C53030"/>
                </a:solidFill>
                <a:latin typeface="Helvetica Neue"/>
                <a:ea typeface="Helvetica Neue"/>
                <a:cs typeface="Helvetica Neue"/>
              </a:rPr>
              <a:t>×</a:t>
            </a:r>
          </a:p>
        </p:txBody>
      </p:sp>
      <p:sp>
        <p:nvSpPr>
          <p:cNvPr id="34" name="">
            <a:extLst xmlns:a="http://schemas.openxmlformats.org/drawingml/2006/main">
              <a:ext uri="{FF2B5EF4-FFF2-40B4-BE49-F238E27FC236}">
                <a16:creationId xmlns:a16="http://schemas.microsoft.com/office/drawing/2014/main" id="{3824B237-3DFD-4FBD-807B-973AA4100EB5}"/>
              </a:ext>
            </a:extLst>
          </p:cNvPr>
          <p:cNvSpPr>
            <a:spLocks xmlns:a="http://schemas.openxmlformats.org/drawingml/2006/main" noGrp="1"/>
          </p:cNvSpPr>
          <p:nvPr/>
        </p:nvSpPr>
        <p:spPr>
          <a:xfrm xmlns:a="http://schemas.openxmlformats.org/drawingml/2006/main">
            <a:off x="6724650" y="3914775"/>
            <a:ext cx="4429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Validated vector-stalk / 3-D / temporal / vadose claims</a:t>
            </a:r>
          </a:p>
        </p:txBody>
      </p:sp>
      <p:sp>
        <p:nvSpPr>
          <p:cNvPr id="35" name="">
            <a:extLst xmlns:a="http://schemas.openxmlformats.org/drawingml/2006/main">
              <a:ext uri="{FF2B5EF4-FFF2-40B4-BE49-F238E27FC236}">
                <a16:creationId xmlns:a16="http://schemas.microsoft.com/office/drawing/2014/main" id="{03CDB1D2-47F6-4145-9AFC-61780C95F612}"/>
              </a:ext>
            </a:extLst>
          </p:cNvPr>
          <p:cNvSpPr>
            <a:spLocks xmlns:a="http://schemas.openxmlformats.org/drawingml/2006/main" noGrp="1"/>
          </p:cNvSpPr>
          <p:nvPr/>
        </p:nvSpPr>
        <p:spPr>
          <a:xfrm xmlns:a="http://schemas.openxmlformats.org/drawingml/2006/main">
            <a:off x="6191250" y="4419600"/>
            <a:ext cx="5219700" cy="457200"/>
          </a:xfrm>
          <a:prstGeom xmlns:a="http://schemas.openxmlformats.org/drawingml/2006/main" prst="roundRect">
            <a:avLst>
              <a:gd name="adj" fmla="val 25000"/>
            </a:avLst>
          </a:prstGeom>
          <a:solidFill xmlns:a="http://schemas.openxmlformats.org/drawingml/2006/main">
            <a:srgbClr val="FDE8E8"/>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D77E0B47-6432-4953-B117-EF6294D5DDEC}"/>
              </a:ext>
            </a:extLst>
          </p:cNvPr>
          <p:cNvSpPr>
            <a:spLocks xmlns:a="http://schemas.openxmlformats.org/drawingml/2006/main" noGrp="1"/>
          </p:cNvSpPr>
          <p:nvPr/>
        </p:nvSpPr>
        <p:spPr>
          <a:xfrm xmlns:a="http://schemas.openxmlformats.org/drawingml/2006/main">
            <a:off x="6343650" y="4524375"/>
            <a:ext cx="304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C53030"/>
                </a:solidFill>
                <a:latin typeface="Helvetica Neue"/>
                <a:ea typeface="Helvetica Neue"/>
                <a:cs typeface="Helvetica Neue"/>
              </a:defRPr>
            </a:pPr>
            <a:r>
              <a:rPr sz="1500" b="1">
                <a:solidFill>
                  <a:srgbClr val="C53030"/>
                </a:solidFill>
                <a:latin typeface="Helvetica Neue"/>
                <a:ea typeface="Helvetica Neue"/>
                <a:cs typeface="Helvetica Neue"/>
              </a:rPr>
              <a:t>×</a:t>
            </a:r>
          </a:p>
        </p:txBody>
      </p:sp>
      <p:sp>
        <p:nvSpPr>
          <p:cNvPr id="37" name="">
            <a:extLst xmlns:a="http://schemas.openxmlformats.org/drawingml/2006/main">
              <a:ext uri="{FF2B5EF4-FFF2-40B4-BE49-F238E27FC236}">
                <a16:creationId xmlns:a16="http://schemas.microsoft.com/office/drawing/2014/main" id="{CBC49FA3-524B-4B83-8259-A1FFB94E9A43}"/>
              </a:ext>
            </a:extLst>
          </p:cNvPr>
          <p:cNvSpPr>
            <a:spLocks xmlns:a="http://schemas.openxmlformats.org/drawingml/2006/main" noGrp="1"/>
          </p:cNvSpPr>
          <p:nvPr/>
        </p:nvSpPr>
        <p:spPr>
          <a:xfrm xmlns:a="http://schemas.openxmlformats.org/drawingml/2006/main">
            <a:off x="6724650" y="4533900"/>
            <a:ext cx="4429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Excellent active-learning performance</a:t>
            </a:r>
          </a:p>
        </p:txBody>
      </p:sp>
    </p:spTree>
    <p:extLst>
      <p:ext uri="{BB962C8B-B14F-4D97-AF65-F5344CB8AC3E}">
        <p14:creationId xmlns:p14="http://schemas.microsoft.com/office/powerpoint/2010/main" val="188736961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BB3C34DF-6B55-4EA7-BBE3-CB8095BE3560}"/>
              </a:ext>
            </a:extLst>
          </p:cNvPr>
          <p:cNvSpPr>
            <a:spLocks xmlns:a="http://schemas.openxmlformats.org/drawingml/2006/main" noGrp="1"/>
          </p:cNvSpPr>
          <p:nvPr/>
        </p:nvSpPr>
        <p:spPr>
          <a:xfrm xmlns:a="http://schemas.openxmlformats.org/drawingml/2006/main">
            <a:off x="400050" y="228600"/>
            <a:ext cx="695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ANSWER TO THE THESIS</a:t>
            </a:r>
          </a:p>
        </p:txBody>
      </p:sp>
      <p:sp>
        <p:nvSpPr>
          <p:cNvPr id="2" name="">
            <a:extLst xmlns:a="http://schemas.openxmlformats.org/drawingml/2006/main">
              <a:ext uri="{FF2B5EF4-FFF2-40B4-BE49-F238E27FC236}">
                <a16:creationId xmlns:a16="http://schemas.microsoft.com/office/drawing/2014/main" id="{02B16CE5-7B04-4098-82CB-6B5A74192FD7}"/>
              </a:ext>
            </a:extLst>
          </p:cNvPr>
          <p:cNvSpPr>
            <a:spLocks xmlns:a="http://schemas.openxmlformats.org/drawingml/2006/main" noGrp="1"/>
          </p:cNvSpPr>
          <p:nvPr/>
        </p:nvSpPr>
        <p:spPr>
          <a:xfrm xmlns:a="http://schemas.openxmlformats.org/drawingml/2006/main">
            <a:off x="400050" y="49530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Four contributions to knowledge</a:t>
            </a:r>
          </a:p>
        </p:txBody>
      </p:sp>
      <p:sp>
        <p:nvSpPr>
          <p:cNvPr id="3" name="">
            <a:extLst xmlns:a="http://schemas.openxmlformats.org/drawingml/2006/main">
              <a:ext uri="{FF2B5EF4-FFF2-40B4-BE49-F238E27FC236}">
                <a16:creationId xmlns:a16="http://schemas.microsoft.com/office/drawing/2014/main" id="{B69E3EED-5CF5-4D15-A454-ADACE86853A1}"/>
              </a:ext>
            </a:extLst>
          </p:cNvPr>
          <p:cNvSpPr>
            <a:spLocks xmlns:a="http://schemas.openxmlformats.org/drawingml/2006/main" noGrp="1"/>
          </p:cNvSpPr>
          <p:nvPr/>
        </p:nvSpPr>
        <p:spPr>
          <a:xfrm xmlns:a="http://schemas.openxmlformats.org/drawingml/2006/main">
            <a:off x="400050" y="1190625"/>
            <a:ext cx="11391900" cy="19050"/>
          </a:xfrm>
          <a:prstGeom xmlns:a="http://schemas.openxmlformats.org/drawingml/2006/main" prst="rect">
            <a:avLst/>
          </a:prstGeom>
          <a:solidFill xmlns:a="http://schemas.openxmlformats.org/drawingml/2006/main">
            <a:srgbClr val="11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71B5E14-967C-42C8-B265-0858A018A0EF}"/>
              </a:ext>
            </a:extLst>
          </p:cNvPr>
          <p:cNvSpPr>
            <a:spLocks xmlns:a="http://schemas.openxmlformats.org/drawingml/2006/main" noGrp="1"/>
          </p:cNvSpPr>
          <p:nvPr/>
        </p:nvSpPr>
        <p:spPr>
          <a:xfrm xmlns:a="http://schemas.openxmlformats.org/drawingml/2006/main">
            <a:off x="400050" y="6438900"/>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Contribution</a:t>
            </a:r>
          </a:p>
        </p:txBody>
      </p:sp>
      <p:sp>
        <p:nvSpPr>
          <p:cNvPr id="5" name="">
            <a:extLst xmlns:a="http://schemas.openxmlformats.org/drawingml/2006/main">
              <a:ext uri="{FF2B5EF4-FFF2-40B4-BE49-F238E27FC236}">
                <a16:creationId xmlns:a16="http://schemas.microsoft.com/office/drawing/2014/main" id="{CE7AC9D7-B410-4415-967E-6123F633CA24}"/>
              </a:ext>
            </a:extLst>
          </p:cNvPr>
          <p:cNvSpPr>
            <a:spLocks xmlns:a="http://schemas.openxmlformats.org/drawingml/2006/main" noGrp="1"/>
          </p:cNvSpPr>
          <p:nvPr/>
        </p:nvSpPr>
        <p:spPr>
          <a:xfrm xmlns:a="http://schemas.openxmlformats.org/drawingml/2006/main">
            <a:off x="11287125" y="63912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19</a:t>
            </a:r>
          </a:p>
        </p:txBody>
      </p:sp>
      <p:sp>
        <p:nvSpPr>
          <p:cNvPr id="6" name="">
            <a:extLst xmlns:a="http://schemas.openxmlformats.org/drawingml/2006/main">
              <a:ext uri="{FF2B5EF4-FFF2-40B4-BE49-F238E27FC236}">
                <a16:creationId xmlns:a16="http://schemas.microsoft.com/office/drawing/2014/main" id="{33BFC9CD-8500-483F-9BBB-62BF28924AF1}"/>
              </a:ext>
            </a:extLst>
          </p:cNvPr>
          <p:cNvSpPr>
            <a:spLocks xmlns:a="http://schemas.openxmlformats.org/drawingml/2006/main" noGrp="1"/>
          </p:cNvSpPr>
          <p:nvPr/>
        </p:nvSpPr>
        <p:spPr>
          <a:xfrm xmlns:a="http://schemas.openxmlformats.org/drawingml/2006/main">
            <a:off x="400050" y="1581150"/>
            <a:ext cx="5429250" cy="1695450"/>
          </a:xfrm>
          <a:prstGeom xmlns:a="http://schemas.openxmlformats.org/drawingml/2006/main" prst="roundRect">
            <a:avLst>
              <a:gd name="adj" fmla="val 6742"/>
            </a:avLst>
          </a:prstGeom>
          <a:solidFill xmlns:a="http://schemas.openxmlformats.org/drawingml/2006/main">
            <a:srgbClr val="F2F3F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4296A7C-3828-4C21-8825-F03BD4962101}"/>
              </a:ext>
            </a:extLst>
          </p:cNvPr>
          <p:cNvSpPr>
            <a:spLocks xmlns:a="http://schemas.openxmlformats.org/drawingml/2006/main" noGrp="1"/>
          </p:cNvSpPr>
          <p:nvPr/>
        </p:nvSpPr>
        <p:spPr>
          <a:xfrm xmlns:a="http://schemas.openxmlformats.org/drawingml/2006/main">
            <a:off x="609600" y="1771650"/>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00" b="1">
                <a:solidFill>
                  <a:srgbClr val="3D8DFF"/>
                </a:solidFill>
                <a:latin typeface="Helvetica Neue"/>
                <a:ea typeface="Helvetica Neue"/>
                <a:cs typeface="Helvetica Neue"/>
              </a:defRPr>
            </a:pPr>
            <a:r>
              <a:rPr sz="2400" b="1">
                <a:solidFill>
                  <a:srgbClr val="3D8DFF"/>
                </a:solidFill>
                <a:latin typeface="Helvetica Neue"/>
                <a:ea typeface="Helvetica Neue"/>
                <a:cs typeface="Helvetica Neue"/>
              </a:rPr>
              <a:t>01</a:t>
            </a:r>
          </a:p>
        </p:txBody>
      </p:sp>
      <p:sp>
        <p:nvSpPr>
          <p:cNvPr id="8" name="">
            <a:extLst xmlns:a="http://schemas.openxmlformats.org/drawingml/2006/main">
              <a:ext uri="{FF2B5EF4-FFF2-40B4-BE49-F238E27FC236}">
                <a16:creationId xmlns:a16="http://schemas.microsoft.com/office/drawing/2014/main" id="{C07D65D7-E578-4E43-A7F9-104256A5400D}"/>
              </a:ext>
            </a:extLst>
          </p:cNvPr>
          <p:cNvSpPr>
            <a:spLocks xmlns:a="http://schemas.openxmlformats.org/drawingml/2006/main" noGrp="1"/>
          </p:cNvSpPr>
          <p:nvPr/>
        </p:nvSpPr>
        <p:spPr>
          <a:xfrm xmlns:a="http://schemas.openxmlformats.org/drawingml/2006/main">
            <a:off x="1400175" y="1819275"/>
            <a:ext cx="4000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5D6470"/>
                </a:solidFill>
                <a:latin typeface="Helvetica Neue"/>
                <a:ea typeface="Helvetica Neue"/>
                <a:cs typeface="Helvetica Neue"/>
              </a:defRPr>
            </a:pPr>
            <a:r>
              <a:rPr sz="1200" b="1">
                <a:solidFill>
                  <a:srgbClr val="5D6470"/>
                </a:solidFill>
                <a:latin typeface="Helvetica Neue"/>
                <a:ea typeface="Helvetica Neue"/>
                <a:cs typeface="Helvetica Neue"/>
              </a:rPr>
              <a:t>FORMALISATION</a:t>
            </a:r>
          </a:p>
        </p:txBody>
      </p:sp>
      <p:sp>
        <p:nvSpPr>
          <p:cNvPr id="9" name="">
            <a:extLst xmlns:a="http://schemas.openxmlformats.org/drawingml/2006/main">
              <a:ext uri="{FF2B5EF4-FFF2-40B4-BE49-F238E27FC236}">
                <a16:creationId xmlns:a16="http://schemas.microsoft.com/office/drawing/2014/main" id="{AFB7BBA2-0656-42E0-AE72-FEF9ADFCE1F5}"/>
              </a:ext>
            </a:extLst>
          </p:cNvPr>
          <p:cNvSpPr>
            <a:spLocks xmlns:a="http://schemas.openxmlformats.org/drawingml/2006/main" noGrp="1"/>
          </p:cNvSpPr>
          <p:nvPr/>
        </p:nvSpPr>
        <p:spPr>
          <a:xfrm xmlns:a="http://schemas.openxmlformats.org/drawingml/2006/main">
            <a:off x="1400175" y="2247900"/>
            <a:ext cx="4000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11318"/>
                </a:solidFill>
                <a:latin typeface="Helvetica Neue"/>
                <a:ea typeface="Helvetica Neue"/>
                <a:cs typeface="Helvetica Neue"/>
              </a:defRPr>
            </a:pPr>
            <a:r>
              <a:rPr sz="1650" b="1">
                <a:solidFill>
                  <a:srgbClr val="111318"/>
                </a:solidFill>
                <a:latin typeface="Helvetica Neue"/>
                <a:ea typeface="Helvetica Neue"/>
                <a:cs typeface="Helvetica Neue"/>
              </a:rPr>
              <a:t>A groundwater-specific graph/sheaf representation linking age, flow and reactions</a:t>
            </a:r>
          </a:p>
        </p:txBody>
      </p:sp>
      <p:sp>
        <p:nvSpPr>
          <p:cNvPr id="10" name="">
            <a:extLst xmlns:a="http://schemas.openxmlformats.org/drawingml/2006/main">
              <a:ext uri="{FF2B5EF4-FFF2-40B4-BE49-F238E27FC236}">
                <a16:creationId xmlns:a16="http://schemas.microsoft.com/office/drawing/2014/main" id="{C4150849-96B8-4F62-B832-45CB61C8EE11}"/>
              </a:ext>
            </a:extLst>
          </p:cNvPr>
          <p:cNvSpPr>
            <a:spLocks xmlns:a="http://schemas.openxmlformats.org/drawingml/2006/main" noGrp="1"/>
          </p:cNvSpPr>
          <p:nvPr/>
        </p:nvSpPr>
        <p:spPr>
          <a:xfrm xmlns:a="http://schemas.openxmlformats.org/drawingml/2006/main">
            <a:off x="6191250" y="1581150"/>
            <a:ext cx="5429250" cy="1695450"/>
          </a:xfrm>
          <a:prstGeom xmlns:a="http://schemas.openxmlformats.org/drawingml/2006/main" prst="roundRect">
            <a:avLst>
              <a:gd name="adj" fmla="val 6742"/>
            </a:avLst>
          </a:prstGeom>
          <a:solidFill xmlns:a="http://schemas.openxmlformats.org/drawingml/2006/main">
            <a:srgbClr val="F2F3F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A3365F1-DC4A-4B75-AEE1-BDFD8A0EB5A1}"/>
              </a:ext>
            </a:extLst>
          </p:cNvPr>
          <p:cNvSpPr>
            <a:spLocks xmlns:a="http://schemas.openxmlformats.org/drawingml/2006/main" noGrp="1"/>
          </p:cNvSpPr>
          <p:nvPr/>
        </p:nvSpPr>
        <p:spPr>
          <a:xfrm xmlns:a="http://schemas.openxmlformats.org/drawingml/2006/main">
            <a:off x="6400800" y="1771650"/>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00" b="1">
                <a:solidFill>
                  <a:srgbClr val="3D8DFF"/>
                </a:solidFill>
                <a:latin typeface="Helvetica Neue"/>
                <a:ea typeface="Helvetica Neue"/>
                <a:cs typeface="Helvetica Neue"/>
              </a:defRPr>
            </a:pPr>
            <a:r>
              <a:rPr sz="2400" b="1">
                <a:solidFill>
                  <a:srgbClr val="3D8DFF"/>
                </a:solidFill>
                <a:latin typeface="Helvetica Neue"/>
                <a:ea typeface="Helvetica Neue"/>
                <a:cs typeface="Helvetica Neue"/>
              </a:rPr>
              <a:t>02</a:t>
            </a:r>
          </a:p>
        </p:txBody>
      </p:sp>
      <p:sp>
        <p:nvSpPr>
          <p:cNvPr id="12" name="">
            <a:extLst xmlns:a="http://schemas.openxmlformats.org/drawingml/2006/main">
              <a:ext uri="{FF2B5EF4-FFF2-40B4-BE49-F238E27FC236}">
                <a16:creationId xmlns:a16="http://schemas.microsoft.com/office/drawing/2014/main" id="{1FFBC84E-F77E-469C-9212-AD241B5A8849}"/>
              </a:ext>
            </a:extLst>
          </p:cNvPr>
          <p:cNvSpPr>
            <a:spLocks xmlns:a="http://schemas.openxmlformats.org/drawingml/2006/main" noGrp="1"/>
          </p:cNvSpPr>
          <p:nvPr/>
        </p:nvSpPr>
        <p:spPr>
          <a:xfrm xmlns:a="http://schemas.openxmlformats.org/drawingml/2006/main">
            <a:off x="7191375" y="1819275"/>
            <a:ext cx="4000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5D6470"/>
                </a:solidFill>
                <a:latin typeface="Helvetica Neue"/>
                <a:ea typeface="Helvetica Neue"/>
                <a:cs typeface="Helvetica Neue"/>
              </a:defRPr>
            </a:pPr>
            <a:r>
              <a:rPr sz="1200" b="1">
                <a:solidFill>
                  <a:srgbClr val="5D6470"/>
                </a:solidFill>
                <a:latin typeface="Helvetica Neue"/>
                <a:ea typeface="Helvetica Neue"/>
                <a:cs typeface="Helvetica Neue"/>
              </a:rPr>
              <a:t>DIAGNOSTICS</a:t>
            </a:r>
          </a:p>
        </p:txBody>
      </p:sp>
      <p:sp>
        <p:nvSpPr>
          <p:cNvPr id="13" name="">
            <a:extLst xmlns:a="http://schemas.openxmlformats.org/drawingml/2006/main">
              <a:ext uri="{FF2B5EF4-FFF2-40B4-BE49-F238E27FC236}">
                <a16:creationId xmlns:a16="http://schemas.microsoft.com/office/drawing/2014/main" id="{5721FC2E-F160-404C-955A-E5A8B76D5F39}"/>
              </a:ext>
            </a:extLst>
          </p:cNvPr>
          <p:cNvSpPr>
            <a:spLocks xmlns:a="http://schemas.openxmlformats.org/drawingml/2006/main" noGrp="1"/>
          </p:cNvSpPr>
          <p:nvPr/>
        </p:nvSpPr>
        <p:spPr>
          <a:xfrm xmlns:a="http://schemas.openxmlformats.org/drawingml/2006/main">
            <a:off x="7191375" y="2247900"/>
            <a:ext cx="4000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11318"/>
                </a:solidFill>
                <a:latin typeface="Helvetica Neue"/>
                <a:ea typeface="Helvetica Neue"/>
                <a:cs typeface="Helvetica Neue"/>
              </a:defRPr>
            </a:pPr>
            <a:r>
              <a:rPr sz="1650" b="1">
                <a:solidFill>
                  <a:srgbClr val="111318"/>
                </a:solidFill>
                <a:latin typeface="Helvetica Neue"/>
                <a:ea typeface="Helvetica Neue"/>
                <a:cs typeface="Helvetica Neue"/>
              </a:rPr>
              <a:t>Identifiability, calibration and conflict localisation as primary outputs</a:t>
            </a:r>
          </a:p>
        </p:txBody>
      </p:sp>
      <p:sp>
        <p:nvSpPr>
          <p:cNvPr id="14" name="">
            <a:extLst xmlns:a="http://schemas.openxmlformats.org/drawingml/2006/main">
              <a:ext uri="{FF2B5EF4-FFF2-40B4-BE49-F238E27FC236}">
                <a16:creationId xmlns:a16="http://schemas.microsoft.com/office/drawing/2014/main" id="{07B49BDD-1D0C-44FD-89AF-4FCB136FDF97}"/>
              </a:ext>
            </a:extLst>
          </p:cNvPr>
          <p:cNvSpPr>
            <a:spLocks xmlns:a="http://schemas.openxmlformats.org/drawingml/2006/main" noGrp="1"/>
          </p:cNvSpPr>
          <p:nvPr/>
        </p:nvSpPr>
        <p:spPr>
          <a:xfrm xmlns:a="http://schemas.openxmlformats.org/drawingml/2006/main">
            <a:off x="400050" y="3600450"/>
            <a:ext cx="5429250" cy="1695450"/>
          </a:xfrm>
          <a:prstGeom xmlns:a="http://schemas.openxmlformats.org/drawingml/2006/main" prst="roundRect">
            <a:avLst>
              <a:gd name="adj" fmla="val 6742"/>
            </a:avLst>
          </a:prstGeom>
          <a:solidFill xmlns:a="http://schemas.openxmlformats.org/drawingml/2006/main">
            <a:srgbClr val="F2F3F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17D8DE4-C277-490A-ACF4-0BB4B6EB3A15}"/>
              </a:ext>
            </a:extLst>
          </p:cNvPr>
          <p:cNvSpPr>
            <a:spLocks xmlns:a="http://schemas.openxmlformats.org/drawingml/2006/main" noGrp="1"/>
          </p:cNvSpPr>
          <p:nvPr/>
        </p:nvSpPr>
        <p:spPr>
          <a:xfrm xmlns:a="http://schemas.openxmlformats.org/drawingml/2006/main">
            <a:off x="609600" y="3790950"/>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00" b="1">
                <a:solidFill>
                  <a:srgbClr val="3D8DFF"/>
                </a:solidFill>
                <a:latin typeface="Helvetica Neue"/>
                <a:ea typeface="Helvetica Neue"/>
                <a:cs typeface="Helvetica Neue"/>
              </a:defRPr>
            </a:pPr>
            <a:r>
              <a:rPr sz="2400" b="1">
                <a:solidFill>
                  <a:srgbClr val="3D8DFF"/>
                </a:solidFill>
                <a:latin typeface="Helvetica Neue"/>
                <a:ea typeface="Helvetica Neue"/>
                <a:cs typeface="Helvetica Neue"/>
              </a:rPr>
              <a:t>03</a:t>
            </a:r>
          </a:p>
        </p:txBody>
      </p:sp>
      <p:sp>
        <p:nvSpPr>
          <p:cNvPr id="16" name="">
            <a:extLst xmlns:a="http://schemas.openxmlformats.org/drawingml/2006/main">
              <a:ext uri="{FF2B5EF4-FFF2-40B4-BE49-F238E27FC236}">
                <a16:creationId xmlns:a16="http://schemas.microsoft.com/office/drawing/2014/main" id="{303CE43B-1BD5-46CF-A6D5-7EC682E03F91}"/>
              </a:ext>
            </a:extLst>
          </p:cNvPr>
          <p:cNvSpPr>
            <a:spLocks xmlns:a="http://schemas.openxmlformats.org/drawingml/2006/main" noGrp="1"/>
          </p:cNvSpPr>
          <p:nvPr/>
        </p:nvSpPr>
        <p:spPr>
          <a:xfrm xmlns:a="http://schemas.openxmlformats.org/drawingml/2006/main">
            <a:off x="1400175" y="3838575"/>
            <a:ext cx="4000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5D6470"/>
                </a:solidFill>
                <a:latin typeface="Helvetica Neue"/>
                <a:ea typeface="Helvetica Neue"/>
                <a:cs typeface="Helvetica Neue"/>
              </a:defRPr>
            </a:pPr>
            <a:r>
              <a:rPr sz="1200" b="1">
                <a:solidFill>
                  <a:srgbClr val="5D6470"/>
                </a:solidFill>
                <a:latin typeface="Helvetica Neue"/>
                <a:ea typeface="Helvetica Neue"/>
                <a:cs typeface="Helvetica Neue"/>
              </a:rPr>
              <a:t>EVIDENCE LOGIC</a:t>
            </a:r>
          </a:p>
        </p:txBody>
      </p:sp>
      <p:sp>
        <p:nvSpPr>
          <p:cNvPr id="17" name="">
            <a:extLst xmlns:a="http://schemas.openxmlformats.org/drawingml/2006/main">
              <a:ext uri="{FF2B5EF4-FFF2-40B4-BE49-F238E27FC236}">
                <a16:creationId xmlns:a16="http://schemas.microsoft.com/office/drawing/2014/main" id="{7A9CB553-769F-468A-AC2A-996537D06343}"/>
              </a:ext>
            </a:extLst>
          </p:cNvPr>
          <p:cNvSpPr>
            <a:spLocks xmlns:a="http://schemas.openxmlformats.org/drawingml/2006/main" noGrp="1"/>
          </p:cNvSpPr>
          <p:nvPr/>
        </p:nvSpPr>
        <p:spPr>
          <a:xfrm xmlns:a="http://schemas.openxmlformats.org/drawingml/2006/main">
            <a:off x="1400175" y="4267200"/>
            <a:ext cx="4000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11318"/>
                </a:solidFill>
                <a:latin typeface="Helvetica Neue"/>
                <a:ea typeface="Helvetica Neue"/>
                <a:cs typeface="Helvetica Neue"/>
              </a:defRPr>
            </a:pPr>
            <a:r>
              <a:rPr sz="1650" b="1">
                <a:solidFill>
                  <a:srgbClr val="111318"/>
                </a:solidFill>
                <a:latin typeface="Helvetica Neue"/>
                <a:ea typeface="Helvetica Neue"/>
                <a:cs typeface="Helvetica Neue"/>
              </a:rPr>
              <a:t>Locked tests, adverse controls and explicit claim-decision gates</a:t>
            </a:r>
          </a:p>
        </p:txBody>
      </p:sp>
      <p:sp>
        <p:nvSpPr>
          <p:cNvPr id="18" name="">
            <a:extLst xmlns:a="http://schemas.openxmlformats.org/drawingml/2006/main">
              <a:ext uri="{FF2B5EF4-FFF2-40B4-BE49-F238E27FC236}">
                <a16:creationId xmlns:a16="http://schemas.microsoft.com/office/drawing/2014/main" id="{C6C9DD04-1902-4EFA-97A4-69796D050205}"/>
              </a:ext>
            </a:extLst>
          </p:cNvPr>
          <p:cNvSpPr>
            <a:spLocks xmlns:a="http://schemas.openxmlformats.org/drawingml/2006/main" noGrp="1"/>
          </p:cNvSpPr>
          <p:nvPr/>
        </p:nvSpPr>
        <p:spPr>
          <a:xfrm xmlns:a="http://schemas.openxmlformats.org/drawingml/2006/main">
            <a:off x="6191250" y="3600450"/>
            <a:ext cx="5429250" cy="1695450"/>
          </a:xfrm>
          <a:prstGeom xmlns:a="http://schemas.openxmlformats.org/drawingml/2006/main" prst="roundRect">
            <a:avLst>
              <a:gd name="adj" fmla="val 6742"/>
            </a:avLst>
          </a:prstGeom>
          <a:solidFill xmlns:a="http://schemas.openxmlformats.org/drawingml/2006/main">
            <a:srgbClr val="E7F7F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D02A8D3-7E33-44D4-92CE-4590F655A11B}"/>
              </a:ext>
            </a:extLst>
          </p:cNvPr>
          <p:cNvSpPr>
            <a:spLocks xmlns:a="http://schemas.openxmlformats.org/drawingml/2006/main" noGrp="1"/>
          </p:cNvSpPr>
          <p:nvPr/>
        </p:nvSpPr>
        <p:spPr>
          <a:xfrm xmlns:a="http://schemas.openxmlformats.org/drawingml/2006/main">
            <a:off x="6400800" y="3790950"/>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00" b="1">
                <a:solidFill>
                  <a:srgbClr val="149A84"/>
                </a:solidFill>
                <a:latin typeface="Helvetica Neue"/>
                <a:ea typeface="Helvetica Neue"/>
                <a:cs typeface="Helvetica Neue"/>
              </a:defRPr>
            </a:pPr>
            <a:r>
              <a:rPr sz="2400" b="1">
                <a:solidFill>
                  <a:srgbClr val="149A84"/>
                </a:solidFill>
                <a:latin typeface="Helvetica Neue"/>
                <a:ea typeface="Helvetica Neue"/>
                <a:cs typeface="Helvetica Neue"/>
              </a:rPr>
              <a:t>04</a:t>
            </a:r>
          </a:p>
        </p:txBody>
      </p:sp>
      <p:sp>
        <p:nvSpPr>
          <p:cNvPr id="20" name="">
            <a:extLst xmlns:a="http://schemas.openxmlformats.org/drawingml/2006/main">
              <a:ext uri="{FF2B5EF4-FFF2-40B4-BE49-F238E27FC236}">
                <a16:creationId xmlns:a16="http://schemas.microsoft.com/office/drawing/2014/main" id="{8BA4975B-4285-4D52-A5FF-C53BBE6E4A9D}"/>
              </a:ext>
            </a:extLst>
          </p:cNvPr>
          <p:cNvSpPr>
            <a:spLocks xmlns:a="http://schemas.openxmlformats.org/drawingml/2006/main" noGrp="1"/>
          </p:cNvSpPr>
          <p:nvPr/>
        </p:nvSpPr>
        <p:spPr>
          <a:xfrm xmlns:a="http://schemas.openxmlformats.org/drawingml/2006/main">
            <a:off x="7191375" y="3838575"/>
            <a:ext cx="4000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5D6470"/>
                </a:solidFill>
                <a:latin typeface="Helvetica Neue"/>
                <a:ea typeface="Helvetica Neue"/>
                <a:cs typeface="Helvetica Neue"/>
              </a:defRPr>
            </a:pPr>
            <a:r>
              <a:rPr sz="1200" b="1">
                <a:solidFill>
                  <a:srgbClr val="5D6470"/>
                </a:solidFill>
                <a:latin typeface="Helvetica Neue"/>
                <a:ea typeface="Helvetica Neue"/>
                <a:cs typeface="Helvetica Neue"/>
              </a:rPr>
              <a:t>FIELD DESIGN</a:t>
            </a:r>
          </a:p>
        </p:txBody>
      </p:sp>
      <p:sp>
        <p:nvSpPr>
          <p:cNvPr id="21" name="">
            <a:extLst xmlns:a="http://schemas.openxmlformats.org/drawingml/2006/main">
              <a:ext uri="{FF2B5EF4-FFF2-40B4-BE49-F238E27FC236}">
                <a16:creationId xmlns:a16="http://schemas.microsoft.com/office/drawing/2014/main" id="{4F6598BD-58E8-4917-95C2-38F6C97D3364}"/>
              </a:ext>
            </a:extLst>
          </p:cNvPr>
          <p:cNvSpPr>
            <a:spLocks xmlns:a="http://schemas.openxmlformats.org/drawingml/2006/main" noGrp="1"/>
          </p:cNvSpPr>
          <p:nvPr/>
        </p:nvSpPr>
        <p:spPr>
          <a:xfrm xmlns:a="http://schemas.openxmlformats.org/drawingml/2006/main">
            <a:off x="7191375" y="4267200"/>
            <a:ext cx="4000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11318"/>
                </a:solidFill>
                <a:latin typeface="Helvetica Neue"/>
                <a:ea typeface="Helvetica Neue"/>
                <a:cs typeface="Helvetica Neue"/>
              </a:defRPr>
            </a:pPr>
            <a:r>
              <a:rPr sz="1650" b="1">
                <a:solidFill>
                  <a:srgbClr val="111318"/>
                </a:solidFill>
                <a:latin typeface="Helvetica Neue"/>
                <a:ea typeface="Helvetica Neue"/>
                <a:cs typeface="Helvetica Neue"/>
              </a:rPr>
              <a:t>Evidence-ceiling and measurement-value diagnosis for data-limited aquifers</a:t>
            </a:r>
          </a:p>
        </p:txBody>
      </p:sp>
    </p:spTree>
    <p:extLst>
      <p:ext uri="{BB962C8B-B14F-4D97-AF65-F5344CB8AC3E}">
        <p14:creationId xmlns:p14="http://schemas.microsoft.com/office/powerpoint/2010/main" val="458838998"/>
      </p:ext>
    </p:extLst>
  </p:cSld>
</p:sld>
</file>

<file path=ppt/slides/slide20.xml><?xml version="1.0" encoding="utf-8"?>
<p:sld xmlns:p="http://schemas.openxmlformats.org/presentationml/2006/main">
  <p:cSld>
    <p:bg>
      <p:bgPr>
        <a:solidFill xmlns:a="http://schemas.openxmlformats.org/drawingml/2006/main">
          <a:srgbClr val="11131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065C441-2A86-474D-8AE7-1D94E03984B0}"/>
              </a:ext>
            </a:extLst>
          </p:cNvPr>
          <p:cNvSpPr>
            <a:spLocks xmlns:a="http://schemas.openxmlformats.org/drawingml/2006/main" noGrp="1"/>
          </p:cNvSpPr>
          <p:nvPr/>
        </p:nvSpPr>
        <p:spPr>
          <a:xfrm xmlns:a="http://schemas.openxmlformats.org/drawingml/2006/main">
            <a:off x="400050" y="3619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6DCBF4"/>
                </a:solidFill>
                <a:latin typeface="Helvetica Neue"/>
                <a:ea typeface="Helvetica Neue"/>
                <a:cs typeface="Helvetica Neue"/>
              </a:defRPr>
            </a:pPr>
            <a:r>
              <a:rPr sz="1125" b="1">
                <a:solidFill>
                  <a:srgbClr val="6DCBF4"/>
                </a:solidFill>
                <a:latin typeface="Helvetica Neue"/>
                <a:ea typeface="Helvetica Neue"/>
                <a:cs typeface="Helvetica Neue"/>
              </a:rPr>
              <a:t>THE DEFENSIBLE CONCLUSION</a:t>
            </a:r>
          </a:p>
        </p:txBody>
      </p:sp>
      <p:sp>
        <p:nvSpPr>
          <p:cNvPr id="2" name="">
            <a:extLst xmlns:a="http://schemas.openxmlformats.org/drawingml/2006/main">
              <a:ext uri="{FF2B5EF4-FFF2-40B4-BE49-F238E27FC236}">
                <a16:creationId xmlns:a16="http://schemas.microsoft.com/office/drawing/2014/main" id="{8D7EE634-BC3D-48F9-A6D0-824C53C850DD}"/>
              </a:ext>
            </a:extLst>
          </p:cNvPr>
          <p:cNvSpPr>
            <a:spLocks xmlns:a="http://schemas.openxmlformats.org/drawingml/2006/main" noGrp="1"/>
          </p:cNvSpPr>
          <p:nvPr/>
        </p:nvSpPr>
        <p:spPr>
          <a:xfrm xmlns:a="http://schemas.openxmlformats.org/drawingml/2006/main">
            <a:off x="400050" y="1428750"/>
            <a:ext cx="10572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FFFFFF"/>
                </a:solidFill>
                <a:latin typeface="Helvetica Neue"/>
                <a:ea typeface="Helvetica Neue"/>
                <a:cs typeface="Helvetica Neue"/>
              </a:defRPr>
            </a:pPr>
            <a:r>
              <a:rPr sz="3225" b="1">
                <a:solidFill>
                  <a:srgbClr val="FFFFFF"/>
                </a:solidFill>
                <a:latin typeface="Helvetica Neue"/>
                <a:ea typeface="Helvetica Neue"/>
                <a:cs typeface="Helvetica Neue"/>
              </a:rPr>
              <a:t>HydroSheaf does not promise one correct aquifer story.</a:t>
            </a:r>
          </a:p>
        </p:txBody>
      </p:sp>
      <p:sp>
        <p:nvSpPr>
          <p:cNvPr id="3" name="">
            <a:extLst xmlns:a="http://schemas.openxmlformats.org/drawingml/2006/main">
              <a:ext uri="{FF2B5EF4-FFF2-40B4-BE49-F238E27FC236}">
                <a16:creationId xmlns:a16="http://schemas.microsoft.com/office/drawing/2014/main" id="{1F82BE34-BF98-4C88-82F7-9B88C2E35784}"/>
              </a:ext>
            </a:extLst>
          </p:cNvPr>
          <p:cNvSpPr>
            <a:spLocks xmlns:a="http://schemas.openxmlformats.org/drawingml/2006/main" noGrp="1"/>
          </p:cNvSpPr>
          <p:nvPr/>
        </p:nvSpPr>
        <p:spPr>
          <a:xfrm xmlns:a="http://schemas.openxmlformats.org/drawingml/2006/main">
            <a:off x="400050" y="2438400"/>
            <a:ext cx="10287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625" b="1">
                <a:solidFill>
                  <a:srgbClr val="6DCBF4"/>
                </a:solidFill>
                <a:latin typeface="Helvetica Neue"/>
                <a:ea typeface="Helvetica Neue"/>
                <a:cs typeface="Helvetica Neue"/>
              </a:defRPr>
            </a:pPr>
            <a:r>
              <a:rPr sz="2625" b="1">
                <a:solidFill>
                  <a:srgbClr val="6DCBF4"/>
                </a:solidFill>
                <a:latin typeface="Helvetica Neue"/>
                <a:ea typeface="Helvetica Neue"/>
                <a:cs typeface="Helvetica Neue"/>
              </a:rPr>
              <a:t>It tests whether cross-domain relations compose globally, quantifies when they add information, and exposes when plausible integration becomes confidently wrong.</a:t>
            </a:r>
          </a:p>
        </p:txBody>
      </p:sp>
      <p:sp>
        <p:nvSpPr>
          <p:cNvPr id="4" name="">
            <a:extLst xmlns:a="http://schemas.openxmlformats.org/drawingml/2006/main">
              <a:ext uri="{FF2B5EF4-FFF2-40B4-BE49-F238E27FC236}">
                <a16:creationId xmlns:a16="http://schemas.microsoft.com/office/drawing/2014/main" id="{A488D806-680F-46D6-B615-2B9AE2B93F7A}"/>
              </a:ext>
            </a:extLst>
          </p:cNvPr>
          <p:cNvSpPr>
            <a:spLocks xmlns:a="http://schemas.openxmlformats.org/drawingml/2006/main" noGrp="1"/>
          </p:cNvSpPr>
          <p:nvPr/>
        </p:nvSpPr>
        <p:spPr>
          <a:xfrm xmlns:a="http://schemas.openxmlformats.org/drawingml/2006/main">
            <a:off x="400050" y="4714875"/>
            <a:ext cx="11391900" cy="1028700"/>
          </a:xfrm>
          <a:prstGeom xmlns:a="http://schemas.openxmlformats.org/drawingml/2006/main" prst="roundRect">
            <a:avLst>
              <a:gd name="adj" fmla="val 11111"/>
            </a:avLst>
          </a:prstGeom>
          <a:solidFill xmlns:a="http://schemas.openxmlformats.org/drawingml/2006/main">
            <a:srgbClr val="153A6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8D39BFF-E226-4995-99DF-75A769281C0D}"/>
              </a:ext>
            </a:extLst>
          </p:cNvPr>
          <p:cNvSpPr>
            <a:spLocks xmlns:a="http://schemas.openxmlformats.org/drawingml/2006/main" noGrp="1"/>
          </p:cNvSpPr>
          <p:nvPr/>
        </p:nvSpPr>
        <p:spPr>
          <a:xfrm xmlns:a="http://schemas.openxmlformats.org/drawingml/2006/main">
            <a:off x="666750" y="4924425"/>
            <a:ext cx="276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6DCBF4"/>
                </a:solidFill>
                <a:latin typeface="Helvetica Neue"/>
                <a:ea typeface="Helvetica Neue"/>
                <a:cs typeface="Helvetica Neue"/>
              </a:defRPr>
            </a:pPr>
            <a:r>
              <a:rPr sz="1125" b="1">
                <a:solidFill>
                  <a:srgbClr val="6DCBF4"/>
                </a:solidFill>
                <a:latin typeface="Helvetica Neue"/>
                <a:ea typeface="Helvetica Neue"/>
                <a:cs typeface="Helvetica Neue"/>
              </a:rPr>
              <a:t>NEXT CLAIM-BEARING TEST</a:t>
            </a:r>
          </a:p>
        </p:txBody>
      </p:sp>
      <p:sp>
        <p:nvSpPr>
          <p:cNvPr id="6" name="">
            <a:extLst xmlns:a="http://schemas.openxmlformats.org/drawingml/2006/main">
              <a:ext uri="{FF2B5EF4-FFF2-40B4-BE49-F238E27FC236}">
                <a16:creationId xmlns:a16="http://schemas.microsoft.com/office/drawing/2014/main" id="{6ED184E9-A5F7-4413-835F-8AB11C370D39}"/>
              </a:ext>
            </a:extLst>
          </p:cNvPr>
          <p:cNvSpPr>
            <a:spLocks xmlns:a="http://schemas.openxmlformats.org/drawingml/2006/main" noGrp="1"/>
          </p:cNvSpPr>
          <p:nvPr/>
        </p:nvSpPr>
        <p:spPr>
          <a:xfrm xmlns:a="http://schemas.openxmlformats.org/drawingml/2006/main">
            <a:off x="3667125" y="4924425"/>
            <a:ext cx="7715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Independent replication with a different generator—or matched field data containing age tracers, repeated heads, chemistry and independently measured connectivity.</a:t>
            </a:r>
          </a:p>
        </p:txBody>
      </p:sp>
      <p:sp>
        <p:nvSpPr>
          <p:cNvPr id="7" name="">
            <a:extLst xmlns:a="http://schemas.openxmlformats.org/drawingml/2006/main">
              <a:ext uri="{FF2B5EF4-FFF2-40B4-BE49-F238E27FC236}">
                <a16:creationId xmlns:a16="http://schemas.microsoft.com/office/drawing/2014/main" id="{A79EE9F0-3DDB-40D7-B111-6CFF200F01CC}"/>
              </a:ext>
            </a:extLst>
          </p:cNvPr>
          <p:cNvSpPr>
            <a:spLocks xmlns:a="http://schemas.openxmlformats.org/drawingml/2006/main" noGrp="1"/>
          </p:cNvSpPr>
          <p:nvPr/>
        </p:nvSpPr>
        <p:spPr>
          <a:xfrm xmlns:a="http://schemas.openxmlformats.org/drawingml/2006/main">
            <a:off x="400050" y="625792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FFFFFF"/>
                </a:solidFill>
                <a:latin typeface="Helvetica Neue"/>
                <a:ea typeface="Helvetica Neue"/>
                <a:cs typeface="Helvetica Neue"/>
              </a:defRPr>
            </a:pPr>
            <a:r>
              <a:rPr sz="1275" b="0">
                <a:solidFill>
                  <a:srgbClr val="FFFFFF"/>
                </a:solidFill>
                <a:latin typeface="Helvetica Neue"/>
                <a:ea typeface="Helvetica Neue"/>
                <a:cs typeface="Helvetica Neue"/>
              </a:rPr>
              <a:t>Thank you</a:t>
            </a:r>
          </a:p>
        </p:txBody>
      </p:sp>
    </p:spTree>
    <p:extLst>
      <p:ext uri="{BB962C8B-B14F-4D97-AF65-F5344CB8AC3E}">
        <p14:creationId xmlns:p14="http://schemas.microsoft.com/office/powerpoint/2010/main" val="147962045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3D5E3C1B-D15B-416E-AA7D-CED316518EED}"/>
              </a:ext>
            </a:extLst>
          </p:cNvPr>
          <p:cNvSpPr>
            <a:spLocks xmlns:a="http://schemas.openxmlformats.org/drawingml/2006/main" noGrp="1"/>
          </p:cNvSpPr>
          <p:nvPr/>
        </p:nvSpPr>
        <p:spPr>
          <a:xfrm xmlns:a="http://schemas.openxmlformats.org/drawingml/2006/main">
            <a:off x="400050" y="228600"/>
            <a:ext cx="695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SHEAF VERSUS GRAPH</a:t>
            </a:r>
          </a:p>
        </p:txBody>
      </p:sp>
      <p:sp>
        <p:nvSpPr>
          <p:cNvPr id="2" name="">
            <a:extLst xmlns:a="http://schemas.openxmlformats.org/drawingml/2006/main">
              <a:ext uri="{FF2B5EF4-FFF2-40B4-BE49-F238E27FC236}">
                <a16:creationId xmlns:a16="http://schemas.microsoft.com/office/drawing/2014/main" id="{1901C530-E8BC-42BE-9E0D-2DBA6990FCCE}"/>
              </a:ext>
            </a:extLst>
          </p:cNvPr>
          <p:cNvSpPr>
            <a:spLocks xmlns:a="http://schemas.openxmlformats.org/drawingml/2006/main" noGrp="1"/>
          </p:cNvSpPr>
          <p:nvPr/>
        </p:nvSpPr>
        <p:spPr>
          <a:xfrm xmlns:a="http://schemas.openxmlformats.org/drawingml/2006/main">
            <a:off x="400050" y="49530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Backup · What exactly does the sheaf add?</a:t>
            </a:r>
          </a:p>
        </p:txBody>
      </p:sp>
      <p:sp>
        <p:nvSpPr>
          <p:cNvPr id="3" name="">
            <a:extLst xmlns:a="http://schemas.openxmlformats.org/drawingml/2006/main">
              <a:ext uri="{FF2B5EF4-FFF2-40B4-BE49-F238E27FC236}">
                <a16:creationId xmlns:a16="http://schemas.microsoft.com/office/drawing/2014/main" id="{F9A755AF-BD5F-40AE-B1C2-386ACFF34BB5}"/>
              </a:ext>
            </a:extLst>
          </p:cNvPr>
          <p:cNvSpPr>
            <a:spLocks xmlns:a="http://schemas.openxmlformats.org/drawingml/2006/main" noGrp="1"/>
          </p:cNvSpPr>
          <p:nvPr/>
        </p:nvSpPr>
        <p:spPr>
          <a:xfrm xmlns:a="http://schemas.openxmlformats.org/drawingml/2006/main">
            <a:off x="400050" y="1190625"/>
            <a:ext cx="11391900" cy="19050"/>
          </a:xfrm>
          <a:prstGeom xmlns:a="http://schemas.openxmlformats.org/drawingml/2006/main" prst="rect">
            <a:avLst/>
          </a:prstGeom>
          <a:solidFill xmlns:a="http://schemas.openxmlformats.org/drawingml/2006/main">
            <a:srgbClr val="11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E56EE1A-18E4-4163-ABE0-01295ABAD33F}"/>
              </a:ext>
            </a:extLst>
          </p:cNvPr>
          <p:cNvSpPr>
            <a:spLocks xmlns:a="http://schemas.openxmlformats.org/drawingml/2006/main" noGrp="1"/>
          </p:cNvSpPr>
          <p:nvPr/>
        </p:nvSpPr>
        <p:spPr>
          <a:xfrm xmlns:a="http://schemas.openxmlformats.org/drawingml/2006/main">
            <a:off x="400050" y="6438900"/>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Examiner backup</a:t>
            </a:r>
          </a:p>
        </p:txBody>
      </p:sp>
      <p:sp>
        <p:nvSpPr>
          <p:cNvPr id="5" name="">
            <a:extLst xmlns:a="http://schemas.openxmlformats.org/drawingml/2006/main">
              <a:ext uri="{FF2B5EF4-FFF2-40B4-BE49-F238E27FC236}">
                <a16:creationId xmlns:a16="http://schemas.microsoft.com/office/drawing/2014/main" id="{E6B25005-5847-4CB6-AAFC-D3A97F0462C7}"/>
              </a:ext>
            </a:extLst>
          </p:cNvPr>
          <p:cNvSpPr>
            <a:spLocks xmlns:a="http://schemas.openxmlformats.org/drawingml/2006/main" noGrp="1"/>
          </p:cNvSpPr>
          <p:nvPr/>
        </p:nvSpPr>
        <p:spPr>
          <a:xfrm xmlns:a="http://schemas.openxmlformats.org/drawingml/2006/main">
            <a:off x="11287125" y="63912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21</a:t>
            </a:r>
          </a:p>
        </p:txBody>
      </p:sp>
      <p:sp>
        <p:nvSpPr>
          <p:cNvPr id="6" name="">
            <a:extLst xmlns:a="http://schemas.openxmlformats.org/drawingml/2006/main">
              <a:ext uri="{FF2B5EF4-FFF2-40B4-BE49-F238E27FC236}">
                <a16:creationId xmlns:a16="http://schemas.microsoft.com/office/drawing/2014/main" id="{F3361D5E-3407-4DF2-B9F5-CCEAEE635D22}"/>
              </a:ext>
            </a:extLst>
          </p:cNvPr>
          <p:cNvSpPr>
            <a:spLocks xmlns:a="http://schemas.openxmlformats.org/drawingml/2006/main" noGrp="1"/>
          </p:cNvSpPr>
          <p:nvPr/>
        </p:nvSpPr>
        <p:spPr>
          <a:xfrm xmlns:a="http://schemas.openxmlformats.org/drawingml/2006/main">
            <a:off x="400050" y="1619250"/>
            <a:ext cx="3543300" cy="3067050"/>
          </a:xfrm>
          <a:prstGeom xmlns:a="http://schemas.openxmlformats.org/drawingml/2006/main" prst="roundRect">
            <a:avLst>
              <a:gd name="adj" fmla="val 3727"/>
            </a:avLst>
          </a:prstGeom>
          <a:solidFill xmlns:a="http://schemas.openxmlformats.org/drawingml/2006/main">
            <a:srgbClr val="F2F3F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3C5368F-AB84-455C-8780-0A81E2313261}"/>
              </a:ext>
            </a:extLst>
          </p:cNvPr>
          <p:cNvSpPr>
            <a:spLocks xmlns:a="http://schemas.openxmlformats.org/drawingml/2006/main" noGrp="1"/>
          </p:cNvSpPr>
          <p:nvPr/>
        </p:nvSpPr>
        <p:spPr>
          <a:xfrm xmlns:a="http://schemas.openxmlformats.org/drawingml/2006/main">
            <a:off x="609600" y="1847850"/>
            <a:ext cx="3124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a:solidFill>
                  <a:srgbClr val="5D6470"/>
                </a:solidFill>
                <a:latin typeface="Helvetica Neue"/>
                <a:ea typeface="Helvetica Neue"/>
                <a:cs typeface="Helvetica Neue"/>
              </a:defRPr>
            </a:pPr>
            <a:r>
              <a:rPr sz="1500" b="1">
                <a:solidFill>
                  <a:srgbClr val="5D6470"/>
                </a:solidFill>
                <a:latin typeface="Helvetica Neue"/>
                <a:ea typeface="Helvetica Neue"/>
                <a:cs typeface="Helvetica Neue"/>
              </a:rPr>
              <a:t>IDENTITY GRAPH</a:t>
            </a:r>
          </a:p>
        </p:txBody>
      </p:sp>
      <p:sp>
        <p:nvSpPr>
          <p:cNvPr id="8" name="">
            <a:extLst xmlns:a="http://schemas.openxmlformats.org/drawingml/2006/main">
              <a:ext uri="{FF2B5EF4-FFF2-40B4-BE49-F238E27FC236}">
                <a16:creationId xmlns:a16="http://schemas.microsoft.com/office/drawing/2014/main" id="{F4C6C69E-BC95-4979-90C1-17EA2CD1E6EB}"/>
              </a:ext>
            </a:extLst>
          </p:cNvPr>
          <p:cNvSpPr>
            <a:spLocks xmlns:a="http://schemas.openxmlformats.org/drawingml/2006/main" noGrp="1"/>
          </p:cNvSpPr>
          <p:nvPr/>
        </p:nvSpPr>
        <p:spPr>
          <a:xfrm xmlns:a="http://schemas.openxmlformats.org/drawingml/2006/main">
            <a:off x="685800" y="2476500"/>
            <a:ext cx="2971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a:solidFill>
                  <a:srgbClr val="111318"/>
                </a:solidFill>
                <a:latin typeface="Helvetica Neue"/>
                <a:ea typeface="Helvetica Neue"/>
                <a:cs typeface="Helvetica Neue"/>
              </a:defRPr>
            </a:pPr>
            <a:r>
              <a:rPr sz="1800" b="1">
                <a:solidFill>
                  <a:srgbClr val="111318"/>
                </a:solidFill>
                <a:latin typeface="Helvetica Neue"/>
                <a:ea typeface="Helvetica Neue"/>
                <a:cs typeface="Helvetica Neue"/>
              </a:rPr>
              <a:t>Scalar similarity</a:t>
            </a:r>
          </a:p>
        </p:txBody>
      </p:sp>
      <p:sp>
        <p:nvSpPr>
          <p:cNvPr id="9" name="">
            <a:extLst xmlns:a="http://schemas.openxmlformats.org/drawingml/2006/main">
              <a:ext uri="{FF2B5EF4-FFF2-40B4-BE49-F238E27FC236}">
                <a16:creationId xmlns:a16="http://schemas.microsoft.com/office/drawing/2014/main" id="{BDD1D833-0D82-4323-9DDB-057AC44CE8CA}"/>
              </a:ext>
            </a:extLst>
          </p:cNvPr>
          <p:cNvSpPr>
            <a:spLocks xmlns:a="http://schemas.openxmlformats.org/drawingml/2006/main" noGrp="1"/>
          </p:cNvSpPr>
          <p:nvPr/>
        </p:nvSpPr>
        <p:spPr>
          <a:xfrm xmlns:a="http://schemas.openxmlformats.org/drawingml/2006/main">
            <a:off x="685800" y="3143250"/>
            <a:ext cx="2971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0">
                <a:solidFill>
                  <a:srgbClr val="111318"/>
                </a:solidFill>
                <a:latin typeface="Helvetica Neue"/>
                <a:ea typeface="Helvetica Neue"/>
                <a:cs typeface="Helvetica Neue"/>
              </a:defRPr>
            </a:pPr>
            <a:r>
              <a:rPr sz="1500" b="0">
                <a:solidFill>
                  <a:srgbClr val="111318"/>
                </a:solidFill>
                <a:latin typeface="Helvetica Neue"/>
                <a:ea typeface="Helvetica Neue"/>
                <a:cs typeface="Helvetica Neue"/>
              </a:rPr>
              <a:t>One shared coordinate system</a:t>
            </a:r>
          </a:p>
        </p:txBody>
      </p:sp>
      <p:sp>
        <p:nvSpPr>
          <p:cNvPr id="10" name="">
            <a:extLst xmlns:a="http://schemas.openxmlformats.org/drawingml/2006/main">
              <a:ext uri="{FF2B5EF4-FFF2-40B4-BE49-F238E27FC236}">
                <a16:creationId xmlns:a16="http://schemas.microsoft.com/office/drawing/2014/main" id="{C9E70E91-CC25-4185-A43C-9834559D1AA3}"/>
              </a:ext>
            </a:extLst>
          </p:cNvPr>
          <p:cNvSpPr>
            <a:spLocks xmlns:a="http://schemas.openxmlformats.org/drawingml/2006/main" noGrp="1"/>
          </p:cNvSpPr>
          <p:nvPr/>
        </p:nvSpPr>
        <p:spPr>
          <a:xfrm xmlns:a="http://schemas.openxmlformats.org/drawingml/2006/main">
            <a:off x="685800" y="3905250"/>
            <a:ext cx="2971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a:solidFill>
                  <a:srgbClr val="5D6470"/>
                </a:solidFill>
                <a:latin typeface="Helvetica Neue"/>
                <a:ea typeface="Helvetica Neue"/>
                <a:cs typeface="Helvetica Neue"/>
              </a:defRPr>
            </a:pPr>
            <a:r>
              <a:rPr sz="1500" b="1">
                <a:solidFill>
                  <a:srgbClr val="5D6470"/>
                </a:solidFill>
                <a:latin typeface="Helvetica Neue"/>
                <a:ea typeface="Helvetica Neue"/>
                <a:cs typeface="Helvetica Neue"/>
              </a:rPr>
              <a:t>Baseline limit</a:t>
            </a:r>
          </a:p>
        </p:txBody>
      </p:sp>
      <p:sp>
        <p:nvSpPr>
          <p:cNvPr id="11" name="">
            <a:extLst xmlns:a="http://schemas.openxmlformats.org/drawingml/2006/main">
              <a:ext uri="{FF2B5EF4-FFF2-40B4-BE49-F238E27FC236}">
                <a16:creationId xmlns:a16="http://schemas.microsoft.com/office/drawing/2014/main" id="{5E863A2D-91AC-4839-9965-31CFF18E60FA}"/>
              </a:ext>
            </a:extLst>
          </p:cNvPr>
          <p:cNvSpPr>
            <a:spLocks xmlns:a="http://schemas.openxmlformats.org/drawingml/2006/main" noGrp="1"/>
          </p:cNvSpPr>
          <p:nvPr/>
        </p:nvSpPr>
        <p:spPr>
          <a:xfrm xmlns:a="http://schemas.openxmlformats.org/drawingml/2006/main">
            <a:off x="4257675" y="1619250"/>
            <a:ext cx="3543300" cy="3067050"/>
          </a:xfrm>
          <a:prstGeom xmlns:a="http://schemas.openxmlformats.org/drawingml/2006/main" prst="roundRect">
            <a:avLst>
              <a:gd name="adj" fmla="val 3727"/>
            </a:avLst>
          </a:prstGeom>
          <a:solidFill xmlns:a="http://schemas.openxmlformats.org/drawingml/2006/main">
            <a:srgbClr val="F2F3F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DF913EE-652A-4C29-BA84-028F2111B9EA}"/>
              </a:ext>
            </a:extLst>
          </p:cNvPr>
          <p:cNvSpPr>
            <a:spLocks xmlns:a="http://schemas.openxmlformats.org/drawingml/2006/main" noGrp="1"/>
          </p:cNvSpPr>
          <p:nvPr/>
        </p:nvSpPr>
        <p:spPr>
          <a:xfrm xmlns:a="http://schemas.openxmlformats.org/drawingml/2006/main">
            <a:off x="4467225" y="1847850"/>
            <a:ext cx="3124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EDGE-LOCAL GRAPH</a:t>
            </a:r>
          </a:p>
        </p:txBody>
      </p:sp>
      <p:sp>
        <p:nvSpPr>
          <p:cNvPr id="13" name="">
            <a:extLst xmlns:a="http://schemas.openxmlformats.org/drawingml/2006/main">
              <a:ext uri="{FF2B5EF4-FFF2-40B4-BE49-F238E27FC236}">
                <a16:creationId xmlns:a16="http://schemas.microsoft.com/office/drawing/2014/main" id="{09058280-BB69-43FF-BFE8-27A944EA8DEC}"/>
              </a:ext>
            </a:extLst>
          </p:cNvPr>
          <p:cNvSpPr>
            <a:spLocks xmlns:a="http://schemas.openxmlformats.org/drawingml/2006/main" noGrp="1"/>
          </p:cNvSpPr>
          <p:nvPr/>
        </p:nvSpPr>
        <p:spPr>
          <a:xfrm xmlns:a="http://schemas.openxmlformats.org/drawingml/2006/main">
            <a:off x="4543425" y="2476500"/>
            <a:ext cx="2971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a:solidFill>
                  <a:srgbClr val="111318"/>
                </a:solidFill>
                <a:latin typeface="Helvetica Neue"/>
                <a:ea typeface="Helvetica Neue"/>
                <a:cs typeface="Helvetica Neue"/>
              </a:defRPr>
            </a:pPr>
            <a:r>
              <a:rPr sz="1800" b="1">
                <a:solidFill>
                  <a:srgbClr val="111318"/>
                </a:solidFill>
                <a:latin typeface="Helvetica Neue"/>
                <a:ea typeface="Helvetica Neue"/>
                <a:cs typeface="Helvetica Neue"/>
              </a:rPr>
              <a:t>Flexible edge score</a:t>
            </a:r>
          </a:p>
        </p:txBody>
      </p:sp>
      <p:sp>
        <p:nvSpPr>
          <p:cNvPr id="14" name="">
            <a:extLst xmlns:a="http://schemas.openxmlformats.org/drawingml/2006/main">
              <a:ext uri="{FF2B5EF4-FFF2-40B4-BE49-F238E27FC236}">
                <a16:creationId xmlns:a16="http://schemas.microsoft.com/office/drawing/2014/main" id="{87A03D66-5893-4FAD-A1AA-498760FA4AA0}"/>
              </a:ext>
            </a:extLst>
          </p:cNvPr>
          <p:cNvSpPr>
            <a:spLocks xmlns:a="http://schemas.openxmlformats.org/drawingml/2006/main" noGrp="1"/>
          </p:cNvSpPr>
          <p:nvPr/>
        </p:nvSpPr>
        <p:spPr>
          <a:xfrm xmlns:a="http://schemas.openxmlformats.org/drawingml/2006/main">
            <a:off x="4543425" y="3143250"/>
            <a:ext cx="2971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0">
                <a:solidFill>
                  <a:srgbClr val="111318"/>
                </a:solidFill>
                <a:latin typeface="Helvetica Neue"/>
                <a:ea typeface="Helvetica Neue"/>
                <a:cs typeface="Helvetica Neue"/>
              </a:defRPr>
            </a:pPr>
            <a:r>
              <a:rPr sz="1500" b="0">
                <a:solidFill>
                  <a:srgbClr val="111318"/>
                </a:solidFill>
                <a:latin typeface="Helvetica Neue"/>
                <a:ea typeface="Helvetica Neue"/>
                <a:cs typeface="Helvetica Neue"/>
              </a:rPr>
              <a:t>Strong local comparator</a:t>
            </a:r>
          </a:p>
        </p:txBody>
      </p:sp>
      <p:sp>
        <p:nvSpPr>
          <p:cNvPr id="15" name="">
            <a:extLst xmlns:a="http://schemas.openxmlformats.org/drawingml/2006/main">
              <a:ext uri="{FF2B5EF4-FFF2-40B4-BE49-F238E27FC236}">
                <a16:creationId xmlns:a16="http://schemas.microsoft.com/office/drawing/2014/main" id="{6C68F0DB-C7D9-44D0-8EAD-50C3A2763FEB}"/>
              </a:ext>
            </a:extLst>
          </p:cNvPr>
          <p:cNvSpPr>
            <a:spLocks xmlns:a="http://schemas.openxmlformats.org/drawingml/2006/main" noGrp="1"/>
          </p:cNvSpPr>
          <p:nvPr/>
        </p:nvSpPr>
        <p:spPr>
          <a:xfrm xmlns:a="http://schemas.openxmlformats.org/drawingml/2006/main">
            <a:off x="4543425" y="3905250"/>
            <a:ext cx="2971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No global map consistency</a:t>
            </a:r>
          </a:p>
        </p:txBody>
      </p:sp>
      <p:sp>
        <p:nvSpPr>
          <p:cNvPr id="16" name="">
            <a:extLst xmlns:a="http://schemas.openxmlformats.org/drawingml/2006/main">
              <a:ext uri="{FF2B5EF4-FFF2-40B4-BE49-F238E27FC236}">
                <a16:creationId xmlns:a16="http://schemas.microsoft.com/office/drawing/2014/main" id="{EA94B7E6-F117-4FE5-9D7E-F7F80CF0CB81}"/>
              </a:ext>
            </a:extLst>
          </p:cNvPr>
          <p:cNvSpPr>
            <a:spLocks xmlns:a="http://schemas.openxmlformats.org/drawingml/2006/main" noGrp="1"/>
          </p:cNvSpPr>
          <p:nvPr/>
        </p:nvSpPr>
        <p:spPr>
          <a:xfrm xmlns:a="http://schemas.openxmlformats.org/drawingml/2006/main">
            <a:off x="8115300" y="1619250"/>
            <a:ext cx="3543300" cy="3067050"/>
          </a:xfrm>
          <a:prstGeom xmlns:a="http://schemas.openxmlformats.org/drawingml/2006/main" prst="roundRect">
            <a:avLst>
              <a:gd name="adj" fmla="val 3727"/>
            </a:avLst>
          </a:prstGeom>
          <a:solidFill xmlns:a="http://schemas.openxmlformats.org/drawingml/2006/main">
            <a:srgbClr val="E7F7F3"/>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2E0DFB2-2B3E-43B4-A85B-944DB1B22186}"/>
              </a:ext>
            </a:extLst>
          </p:cNvPr>
          <p:cNvSpPr>
            <a:spLocks xmlns:a="http://schemas.openxmlformats.org/drawingml/2006/main" noGrp="1"/>
          </p:cNvSpPr>
          <p:nvPr/>
        </p:nvSpPr>
        <p:spPr>
          <a:xfrm xmlns:a="http://schemas.openxmlformats.org/drawingml/2006/main">
            <a:off x="8324850" y="1847850"/>
            <a:ext cx="3124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a:solidFill>
                  <a:srgbClr val="149A84"/>
                </a:solidFill>
                <a:latin typeface="Helvetica Neue"/>
                <a:ea typeface="Helvetica Neue"/>
                <a:cs typeface="Helvetica Neue"/>
              </a:defRPr>
            </a:pPr>
            <a:r>
              <a:rPr sz="1500" b="1">
                <a:solidFill>
                  <a:srgbClr val="149A84"/>
                </a:solidFill>
                <a:latin typeface="Helvetica Neue"/>
                <a:ea typeface="Helvetica Neue"/>
                <a:cs typeface="Helvetica Neue"/>
              </a:rPr>
              <a:t>AFFINE SHEAF</a:t>
            </a:r>
          </a:p>
        </p:txBody>
      </p:sp>
      <p:sp>
        <p:nvSpPr>
          <p:cNvPr id="18" name="">
            <a:extLst xmlns:a="http://schemas.openxmlformats.org/drawingml/2006/main">
              <a:ext uri="{FF2B5EF4-FFF2-40B4-BE49-F238E27FC236}">
                <a16:creationId xmlns:a16="http://schemas.microsoft.com/office/drawing/2014/main" id="{9ED8A13D-330E-4AF5-BA96-466FFA68CDC9}"/>
              </a:ext>
            </a:extLst>
          </p:cNvPr>
          <p:cNvSpPr>
            <a:spLocks xmlns:a="http://schemas.openxmlformats.org/drawingml/2006/main" noGrp="1"/>
          </p:cNvSpPr>
          <p:nvPr/>
        </p:nvSpPr>
        <p:spPr>
          <a:xfrm xmlns:a="http://schemas.openxmlformats.org/drawingml/2006/main">
            <a:off x="8401050" y="2476500"/>
            <a:ext cx="2971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a:solidFill>
                  <a:srgbClr val="111318"/>
                </a:solidFill>
                <a:latin typeface="Helvetica Neue"/>
                <a:ea typeface="Helvetica Neue"/>
                <a:cs typeface="Helvetica Neue"/>
              </a:defRPr>
            </a:pPr>
            <a:r>
              <a:rPr sz="1800" b="1">
                <a:solidFill>
                  <a:srgbClr val="111318"/>
                </a:solidFill>
                <a:latin typeface="Helvetica Neue"/>
                <a:ea typeface="Helvetica Neue"/>
                <a:cs typeface="Helvetica Neue"/>
              </a:rPr>
              <a:t>Edge-specific Aₑ and bₑ</a:t>
            </a:r>
          </a:p>
        </p:txBody>
      </p:sp>
      <p:sp>
        <p:nvSpPr>
          <p:cNvPr id="19" name="">
            <a:extLst xmlns:a="http://schemas.openxmlformats.org/drawingml/2006/main">
              <a:ext uri="{FF2B5EF4-FFF2-40B4-BE49-F238E27FC236}">
                <a16:creationId xmlns:a16="http://schemas.microsoft.com/office/drawing/2014/main" id="{AF7A692C-B9AA-4996-9B2F-725AAAACCEAD}"/>
              </a:ext>
            </a:extLst>
          </p:cNvPr>
          <p:cNvSpPr>
            <a:spLocks xmlns:a="http://schemas.openxmlformats.org/drawingml/2006/main" noGrp="1"/>
          </p:cNvSpPr>
          <p:nvPr/>
        </p:nvSpPr>
        <p:spPr>
          <a:xfrm xmlns:a="http://schemas.openxmlformats.org/drawingml/2006/main">
            <a:off x="8401050" y="3143250"/>
            <a:ext cx="2971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0">
                <a:solidFill>
                  <a:srgbClr val="111318"/>
                </a:solidFill>
                <a:latin typeface="Helvetica Neue"/>
                <a:ea typeface="Helvetica Neue"/>
                <a:cs typeface="Helvetica Neue"/>
              </a:defRPr>
            </a:pPr>
            <a:r>
              <a:rPr sz="1500" b="0">
                <a:solidFill>
                  <a:srgbClr val="111318"/>
                </a:solidFill>
                <a:latin typeface="Helvetica Neue"/>
                <a:ea typeface="Helvetica Neue"/>
                <a:cs typeface="Helvetica Neue"/>
              </a:rPr>
              <a:t>Global compatibility residuals</a:t>
            </a:r>
          </a:p>
        </p:txBody>
      </p:sp>
      <p:sp>
        <p:nvSpPr>
          <p:cNvPr id="20" name="">
            <a:extLst xmlns:a="http://schemas.openxmlformats.org/drawingml/2006/main">
              <a:ext uri="{FF2B5EF4-FFF2-40B4-BE49-F238E27FC236}">
                <a16:creationId xmlns:a16="http://schemas.microsoft.com/office/drawing/2014/main" id="{881BA558-1174-4FEE-8077-420D74322BF6}"/>
              </a:ext>
            </a:extLst>
          </p:cNvPr>
          <p:cNvSpPr>
            <a:spLocks xmlns:a="http://schemas.openxmlformats.org/drawingml/2006/main" noGrp="1"/>
          </p:cNvSpPr>
          <p:nvPr/>
        </p:nvSpPr>
        <p:spPr>
          <a:xfrm xmlns:a="http://schemas.openxmlformats.org/drawingml/2006/main">
            <a:off x="8401050" y="3905250"/>
            <a:ext cx="2971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a:solidFill>
                  <a:srgbClr val="149A84"/>
                </a:solidFill>
                <a:latin typeface="Helvetica Neue"/>
                <a:ea typeface="Helvetica Neue"/>
                <a:cs typeface="Helvetica Neue"/>
              </a:defRPr>
            </a:pPr>
            <a:r>
              <a:rPr sz="1500" b="1">
                <a:solidFill>
                  <a:srgbClr val="149A84"/>
                </a:solidFill>
                <a:latin typeface="Helvetica Neue"/>
                <a:ea typeface="Helvetica Neue"/>
                <a:cs typeface="Helvetica Neue"/>
              </a:rPr>
              <a:t>Conflict localisation</a:t>
            </a:r>
          </a:p>
        </p:txBody>
      </p:sp>
      <p:sp>
        <p:nvSpPr>
          <p:cNvPr id="21" name="">
            <a:extLst xmlns:a="http://schemas.openxmlformats.org/drawingml/2006/main">
              <a:ext uri="{FF2B5EF4-FFF2-40B4-BE49-F238E27FC236}">
                <a16:creationId xmlns:a16="http://schemas.microsoft.com/office/drawing/2014/main" id="{AFDA2631-CE39-47E5-A131-ED2B380A5141}"/>
              </a:ext>
            </a:extLst>
          </p:cNvPr>
          <p:cNvSpPr>
            <a:spLocks xmlns:a="http://schemas.openxmlformats.org/drawingml/2006/main" noGrp="1"/>
          </p:cNvSpPr>
          <p:nvPr/>
        </p:nvSpPr>
        <p:spPr>
          <a:xfrm xmlns:a="http://schemas.openxmlformats.org/drawingml/2006/main">
            <a:off x="400050" y="5000625"/>
            <a:ext cx="11391900" cy="809625"/>
          </a:xfrm>
          <a:prstGeom xmlns:a="http://schemas.openxmlformats.org/drawingml/2006/main" prst="roundRect">
            <a:avLst>
              <a:gd name="adj" fmla="val 14118"/>
            </a:avLst>
          </a:prstGeom>
          <a:solidFill xmlns:a="http://schemas.openxmlformats.org/drawingml/2006/main">
            <a:srgbClr val="FDE8E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BD97AEE4-65EE-4DCB-BFDF-B77489FD1410}"/>
              </a:ext>
            </a:extLst>
          </p:cNvPr>
          <p:cNvSpPr>
            <a:spLocks xmlns:a="http://schemas.openxmlformats.org/drawingml/2006/main" noGrp="1"/>
          </p:cNvSpPr>
          <p:nvPr/>
        </p:nvSpPr>
        <p:spPr>
          <a:xfrm xmlns:a="http://schemas.openxmlformats.org/drawingml/2006/main">
            <a:off x="666750" y="5219700"/>
            <a:ext cx="10858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7121"/>
          </a:bodyPr>
          <a:lstStyle xmlns:a="http://schemas.openxmlformats.org/drawingml/2006/main"/>
          <a:p xmlns:a="http://schemas.openxmlformats.org/drawingml/2006/main">
            <a:pPr algn="ctr">
              <a:defRPr sz="1650" b="1">
                <a:solidFill>
                  <a:srgbClr val="C53030"/>
                </a:solidFill>
                <a:latin typeface="Helvetica Neue"/>
                <a:ea typeface="Helvetica Neue"/>
                <a:cs typeface="Helvetica Neue"/>
              </a:defRPr>
            </a:pPr>
            <a:r>
              <a:rPr sz="1650" b="1">
                <a:solidFill>
                  <a:srgbClr val="C53030"/>
                </a:solidFill>
                <a:latin typeface="Helvetica Neue"/>
                <a:ea typeface="Helvetica Neue"/>
                <a:cs typeface="Helvetica Neue"/>
              </a:rPr>
              <a:t>Examiner answer: the sheaf adds relation-specific transformations and global conflict localisation; it did not establish general superiority over the strongest edge-local comparator.</a:t>
            </a:r>
          </a:p>
        </p:txBody>
      </p:sp>
    </p:spTree>
    <p:extLst>
      <p:ext uri="{BB962C8B-B14F-4D97-AF65-F5344CB8AC3E}">
        <p14:creationId xmlns:p14="http://schemas.microsoft.com/office/powerpoint/2010/main" val="147719045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E316B3B-2B0E-4EFD-AEBC-CF0B4A5C086A}"/>
              </a:ext>
            </a:extLst>
          </p:cNvPr>
          <p:cNvSpPr>
            <a:spLocks xmlns:a="http://schemas.openxmlformats.org/drawingml/2006/main" noGrp="1"/>
          </p:cNvSpPr>
          <p:nvPr/>
        </p:nvSpPr>
        <p:spPr>
          <a:xfrm xmlns:a="http://schemas.openxmlformats.org/drawingml/2006/main">
            <a:off x="400050" y="228600"/>
            <a:ext cx="695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AGE BENCHMARK</a:t>
            </a:r>
          </a:p>
        </p:txBody>
      </p:sp>
      <p:sp>
        <p:nvSpPr>
          <p:cNvPr id="2" name="">
            <a:extLst xmlns:a="http://schemas.openxmlformats.org/drawingml/2006/main">
              <a:ext uri="{FF2B5EF4-FFF2-40B4-BE49-F238E27FC236}">
                <a16:creationId xmlns:a16="http://schemas.microsoft.com/office/drawing/2014/main" id="{0CD96DFA-4F98-4087-B75E-5C51E9480AC4}"/>
              </a:ext>
            </a:extLst>
          </p:cNvPr>
          <p:cNvSpPr>
            <a:spLocks xmlns:a="http://schemas.openxmlformats.org/drawingml/2006/main" noGrp="1"/>
          </p:cNvSpPr>
          <p:nvPr/>
        </p:nvSpPr>
        <p:spPr>
          <a:xfrm xmlns:a="http://schemas.openxmlformats.org/drawingml/2006/main">
            <a:off x="400050" y="49530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Backup · Why HydroSheaf did not need to beat TracerLPM</a:t>
            </a:r>
          </a:p>
        </p:txBody>
      </p:sp>
      <p:sp>
        <p:nvSpPr>
          <p:cNvPr id="3" name="">
            <a:extLst xmlns:a="http://schemas.openxmlformats.org/drawingml/2006/main">
              <a:ext uri="{FF2B5EF4-FFF2-40B4-BE49-F238E27FC236}">
                <a16:creationId xmlns:a16="http://schemas.microsoft.com/office/drawing/2014/main" id="{D46843C9-3B3E-4835-BD9A-698693B88AFA}"/>
              </a:ext>
            </a:extLst>
          </p:cNvPr>
          <p:cNvSpPr>
            <a:spLocks xmlns:a="http://schemas.openxmlformats.org/drawingml/2006/main" noGrp="1"/>
          </p:cNvSpPr>
          <p:nvPr/>
        </p:nvSpPr>
        <p:spPr>
          <a:xfrm xmlns:a="http://schemas.openxmlformats.org/drawingml/2006/main">
            <a:off x="400050" y="1190625"/>
            <a:ext cx="11391900" cy="19050"/>
          </a:xfrm>
          <a:prstGeom xmlns:a="http://schemas.openxmlformats.org/drawingml/2006/main" prst="rect">
            <a:avLst/>
          </a:prstGeom>
          <a:solidFill xmlns:a="http://schemas.openxmlformats.org/drawingml/2006/main">
            <a:srgbClr val="11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D088E72-6271-40BB-8A68-F584A8DB712A}"/>
              </a:ext>
            </a:extLst>
          </p:cNvPr>
          <p:cNvSpPr>
            <a:spLocks xmlns:a="http://schemas.openxmlformats.org/drawingml/2006/main" noGrp="1"/>
          </p:cNvSpPr>
          <p:nvPr/>
        </p:nvSpPr>
        <p:spPr>
          <a:xfrm xmlns:a="http://schemas.openxmlformats.org/drawingml/2006/main">
            <a:off x="400050" y="6438900"/>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Examiner backup</a:t>
            </a:r>
          </a:p>
        </p:txBody>
      </p:sp>
      <p:sp>
        <p:nvSpPr>
          <p:cNvPr id="5" name="">
            <a:extLst xmlns:a="http://schemas.openxmlformats.org/drawingml/2006/main">
              <a:ext uri="{FF2B5EF4-FFF2-40B4-BE49-F238E27FC236}">
                <a16:creationId xmlns:a16="http://schemas.microsoft.com/office/drawing/2014/main" id="{58C313DA-19DC-4A03-B408-19B7F2842FDD}"/>
              </a:ext>
            </a:extLst>
          </p:cNvPr>
          <p:cNvSpPr>
            <a:spLocks xmlns:a="http://schemas.openxmlformats.org/drawingml/2006/main" noGrp="1"/>
          </p:cNvSpPr>
          <p:nvPr/>
        </p:nvSpPr>
        <p:spPr>
          <a:xfrm xmlns:a="http://schemas.openxmlformats.org/drawingml/2006/main">
            <a:off x="11287125" y="63912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22</a:t>
            </a:r>
          </a:p>
        </p:txBody>
      </p:sp>
      <p:sp>
        <p:nvSpPr>
          <p:cNvPr id="6" name="">
            <a:extLst xmlns:a="http://schemas.openxmlformats.org/drawingml/2006/main">
              <a:ext uri="{FF2B5EF4-FFF2-40B4-BE49-F238E27FC236}">
                <a16:creationId xmlns:a16="http://schemas.microsoft.com/office/drawing/2014/main" id="{41CCB5D1-B0A9-4ECB-9F29-99F1A7FF3892}"/>
              </a:ext>
            </a:extLst>
          </p:cNvPr>
          <p:cNvSpPr>
            <a:spLocks xmlns:a="http://schemas.openxmlformats.org/drawingml/2006/main" noGrp="1"/>
          </p:cNvSpPr>
          <p:nvPr/>
        </p:nvSpPr>
        <p:spPr>
          <a:xfrm xmlns:a="http://schemas.openxmlformats.org/drawingml/2006/main">
            <a:off x="400050" y="1600200"/>
            <a:ext cx="5334000" cy="3619500"/>
          </a:xfrm>
          <a:prstGeom xmlns:a="http://schemas.openxmlformats.org/drawingml/2006/main" prst="roundRect">
            <a:avLst>
              <a:gd name="adj" fmla="val 3158"/>
            </a:avLst>
          </a:prstGeom>
          <a:solidFill xmlns:a="http://schemas.openxmlformats.org/drawingml/2006/main">
            <a:srgbClr val="F2F3F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DBC1F68-11F7-4944-9E3A-3688080506AD}"/>
              </a:ext>
            </a:extLst>
          </p:cNvPr>
          <p:cNvSpPr>
            <a:spLocks xmlns:a="http://schemas.openxmlformats.org/drawingml/2006/main" noGrp="1"/>
          </p:cNvSpPr>
          <p:nvPr/>
        </p:nvSpPr>
        <p:spPr>
          <a:xfrm xmlns:a="http://schemas.openxmlformats.org/drawingml/2006/main">
            <a:off x="666750" y="18478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QUESTION ACTUALLY TESTED</a:t>
            </a:r>
          </a:p>
        </p:txBody>
      </p:sp>
      <p:sp>
        <p:nvSpPr>
          <p:cNvPr id="8" name="">
            <a:extLst xmlns:a="http://schemas.openxmlformats.org/drawingml/2006/main">
              <a:ext uri="{FF2B5EF4-FFF2-40B4-BE49-F238E27FC236}">
                <a16:creationId xmlns:a16="http://schemas.microsoft.com/office/drawing/2014/main" id="{7BE413C1-6053-4E4B-8949-67D4BE650957}"/>
              </a:ext>
            </a:extLst>
          </p:cNvPr>
          <p:cNvSpPr>
            <a:spLocks xmlns:a="http://schemas.openxmlformats.org/drawingml/2006/main" noGrp="1"/>
          </p:cNvSpPr>
          <p:nvPr/>
        </p:nvSpPr>
        <p:spPr>
          <a:xfrm xmlns:a="http://schemas.openxmlformats.org/drawingml/2006/main">
            <a:off x="666750" y="2333625"/>
            <a:ext cx="4762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06"/>
          </a:bodyPr>
          <a:lstStyle xmlns:a="http://schemas.openxmlformats.org/drawingml/2006/main"/>
          <a:p xmlns:a="http://schemas.openxmlformats.org/drawingml/2006/main">
            <a:pPr algn="l">
              <a:defRPr sz="2100" b="1">
                <a:solidFill>
                  <a:srgbClr val="111318"/>
                </a:solidFill>
                <a:latin typeface="Helvetica Neue"/>
                <a:ea typeface="Helvetica Neue"/>
                <a:cs typeface="Helvetica Neue"/>
              </a:defRPr>
            </a:pPr>
            <a:r>
              <a:rPr sz="2100" b="1">
                <a:solidFill>
                  <a:srgbClr val="111318"/>
                </a:solidFill>
                <a:latin typeface="Helvetica Neue"/>
                <a:ea typeface="Helvetica Neue"/>
                <a:cs typeface="Helvetica Neue"/>
              </a:rPr>
              <a:t>Can HydroSheaf reproduce the reported configuration—and does topology add independent information?</a:t>
            </a:r>
          </a:p>
        </p:txBody>
      </p:sp>
      <p:sp>
        <p:nvSpPr>
          <p:cNvPr id="9" name="">
            <a:extLst xmlns:a="http://schemas.openxmlformats.org/drawingml/2006/main">
              <a:ext uri="{FF2B5EF4-FFF2-40B4-BE49-F238E27FC236}">
                <a16:creationId xmlns:a16="http://schemas.microsoft.com/office/drawing/2014/main" id="{447A44D5-56BB-4E33-A91E-84CB8710FB3F}"/>
              </a:ext>
            </a:extLst>
          </p:cNvPr>
          <p:cNvSpPr>
            <a:spLocks xmlns:a="http://schemas.openxmlformats.org/drawingml/2006/main" noGrp="1"/>
          </p:cNvSpPr>
          <p:nvPr/>
        </p:nvSpPr>
        <p:spPr>
          <a:xfrm xmlns:a="http://schemas.openxmlformats.org/drawingml/2006/main">
            <a:off x="666750" y="3838575"/>
            <a:ext cx="4762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53A63"/>
                </a:solidFill>
                <a:latin typeface="Helvetica Neue"/>
                <a:ea typeface="Helvetica Neue"/>
                <a:cs typeface="Helvetica Neue"/>
              </a:defRPr>
            </a:pPr>
            <a:r>
              <a:rPr sz="1725" b="1">
                <a:solidFill>
                  <a:srgbClr val="153A63"/>
                </a:solidFill>
                <a:latin typeface="Helvetica Neue"/>
                <a:ea typeface="Helvetica Neue"/>
                <a:cs typeface="Helvetica Neue"/>
              </a:rPr>
              <a:t>Answer: close agreement achieved; incremental graph value not established.</a:t>
            </a:r>
          </a:p>
        </p:txBody>
      </p:sp>
      <p:sp>
        <p:nvSpPr>
          <p:cNvPr id="10" name="">
            <a:extLst xmlns:a="http://schemas.openxmlformats.org/drawingml/2006/main">
              <a:ext uri="{FF2B5EF4-FFF2-40B4-BE49-F238E27FC236}">
                <a16:creationId xmlns:a16="http://schemas.microsoft.com/office/drawing/2014/main" id="{A542CD9B-593A-4350-B06F-8779A68EC539}"/>
              </a:ext>
            </a:extLst>
          </p:cNvPr>
          <p:cNvSpPr>
            <a:spLocks xmlns:a="http://schemas.openxmlformats.org/drawingml/2006/main" noGrp="1"/>
          </p:cNvSpPr>
          <p:nvPr/>
        </p:nvSpPr>
        <p:spPr>
          <a:xfrm xmlns:a="http://schemas.openxmlformats.org/drawingml/2006/main">
            <a:off x="6076950" y="1600200"/>
            <a:ext cx="5334000" cy="3619500"/>
          </a:xfrm>
          <a:prstGeom xmlns:a="http://schemas.openxmlformats.org/drawingml/2006/main" prst="roundRect">
            <a:avLst>
              <a:gd name="adj" fmla="val 3158"/>
            </a:avLst>
          </a:prstGeom>
          <a:solidFill xmlns:a="http://schemas.openxmlformats.org/drawingml/2006/main">
            <a:srgbClr val="FDE8E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4478084-2767-4ACA-AFA1-D82D33C18875}"/>
              </a:ext>
            </a:extLst>
          </p:cNvPr>
          <p:cNvSpPr>
            <a:spLocks xmlns:a="http://schemas.openxmlformats.org/drawingml/2006/main" noGrp="1"/>
          </p:cNvSpPr>
          <p:nvPr/>
        </p:nvSpPr>
        <p:spPr>
          <a:xfrm xmlns:a="http://schemas.openxmlformats.org/drawingml/2006/main">
            <a:off x="6343650" y="18478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C53030"/>
                </a:solidFill>
                <a:latin typeface="Helvetica Neue"/>
                <a:ea typeface="Helvetica Neue"/>
                <a:cs typeface="Helvetica Neue"/>
              </a:defRPr>
            </a:pPr>
            <a:r>
              <a:rPr sz="1125" b="1">
                <a:solidFill>
                  <a:srgbClr val="C53030"/>
                </a:solidFill>
                <a:latin typeface="Helvetica Neue"/>
                <a:ea typeface="Helvetica Neue"/>
                <a:cs typeface="Helvetica Neue"/>
              </a:rPr>
              <a:t>QUESTION NOT TESTED</a:t>
            </a:r>
          </a:p>
        </p:txBody>
      </p:sp>
      <p:sp>
        <p:nvSpPr>
          <p:cNvPr id="12" name="">
            <a:extLst xmlns:a="http://schemas.openxmlformats.org/drawingml/2006/main">
              <a:ext uri="{FF2B5EF4-FFF2-40B4-BE49-F238E27FC236}">
                <a16:creationId xmlns:a16="http://schemas.microsoft.com/office/drawing/2014/main" id="{4F28FBC3-6A20-46CB-ABFF-D3EF94E63EFB}"/>
              </a:ext>
            </a:extLst>
          </p:cNvPr>
          <p:cNvSpPr>
            <a:spLocks xmlns:a="http://schemas.openxmlformats.org/drawingml/2006/main" noGrp="1"/>
          </p:cNvSpPr>
          <p:nvPr/>
        </p:nvSpPr>
        <p:spPr>
          <a:xfrm xmlns:a="http://schemas.openxmlformats.org/drawingml/2006/main">
            <a:off x="6343650" y="2333625"/>
            <a:ext cx="4762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111318"/>
                </a:solidFill>
                <a:latin typeface="Helvetica Neue"/>
                <a:ea typeface="Helvetica Neue"/>
                <a:cs typeface="Helvetica Neue"/>
              </a:defRPr>
            </a:pPr>
            <a:r>
              <a:rPr sz="2100" b="1">
                <a:solidFill>
                  <a:srgbClr val="111318"/>
                </a:solidFill>
                <a:latin typeface="Helvetica Neue"/>
                <a:ea typeface="Helvetica Neue"/>
                <a:cs typeface="Helvetica Neue"/>
              </a:rPr>
              <a:t>Which model is closer to the unknown true groundwater-age distribution?</a:t>
            </a:r>
          </a:p>
        </p:txBody>
      </p:sp>
      <p:sp>
        <p:nvSpPr>
          <p:cNvPr id="13" name="">
            <a:extLst xmlns:a="http://schemas.openxmlformats.org/drawingml/2006/main">
              <a:ext uri="{FF2B5EF4-FFF2-40B4-BE49-F238E27FC236}">
                <a16:creationId xmlns:a16="http://schemas.microsoft.com/office/drawing/2014/main" id="{C2C74B9A-EF77-4D04-8A99-436EF9B92AEE}"/>
              </a:ext>
            </a:extLst>
          </p:cNvPr>
          <p:cNvSpPr>
            <a:spLocks xmlns:a="http://schemas.openxmlformats.org/drawingml/2006/main" noGrp="1"/>
          </p:cNvSpPr>
          <p:nvPr/>
        </p:nvSpPr>
        <p:spPr>
          <a:xfrm xmlns:a="http://schemas.openxmlformats.org/drawingml/2006/main">
            <a:off x="6343650" y="3838575"/>
            <a:ext cx="4762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C53030"/>
                </a:solidFill>
                <a:latin typeface="Helvetica Neue"/>
                <a:ea typeface="Helvetica Neue"/>
                <a:cs typeface="Helvetica Neue"/>
              </a:defRPr>
            </a:pPr>
            <a:r>
              <a:rPr sz="1725" b="1">
                <a:solidFill>
                  <a:srgbClr val="C53030"/>
                </a:solidFill>
                <a:latin typeface="Helvetica Neue"/>
                <a:ea typeface="Helvetica Neue"/>
                <a:cs typeface="Helvetica Neue"/>
              </a:rPr>
              <a:t>The public reference outputs are emulation targets—not error-free truth.</a:t>
            </a:r>
          </a:p>
        </p:txBody>
      </p:sp>
    </p:spTree>
    <p:extLst>
      <p:ext uri="{BB962C8B-B14F-4D97-AF65-F5344CB8AC3E}">
        <p14:creationId xmlns:p14="http://schemas.microsoft.com/office/powerpoint/2010/main" val="147134276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797B2FC4-C391-4E46-881F-D3232360006D}"/>
              </a:ext>
            </a:extLst>
          </p:cNvPr>
          <p:cNvSpPr>
            <a:spLocks xmlns:a="http://schemas.openxmlformats.org/drawingml/2006/main" noGrp="1"/>
          </p:cNvSpPr>
          <p:nvPr/>
        </p:nvSpPr>
        <p:spPr>
          <a:xfrm xmlns:a="http://schemas.openxmlformats.org/drawingml/2006/main">
            <a:off x="400050" y="228600"/>
            <a:ext cx="695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REPRODUCIBILITY</a:t>
            </a:r>
          </a:p>
        </p:txBody>
      </p:sp>
      <p:sp>
        <p:nvSpPr>
          <p:cNvPr id="2" name="">
            <a:extLst xmlns:a="http://schemas.openxmlformats.org/drawingml/2006/main">
              <a:ext uri="{FF2B5EF4-FFF2-40B4-BE49-F238E27FC236}">
                <a16:creationId xmlns:a16="http://schemas.microsoft.com/office/drawing/2014/main" id="{9846C1C1-33B7-4245-9640-CC01A064A593}"/>
              </a:ext>
            </a:extLst>
          </p:cNvPr>
          <p:cNvSpPr>
            <a:spLocks xmlns:a="http://schemas.openxmlformats.org/drawingml/2006/main" noGrp="1"/>
          </p:cNvSpPr>
          <p:nvPr/>
        </p:nvSpPr>
        <p:spPr>
          <a:xfrm xmlns:a="http://schemas.openxmlformats.org/drawingml/2006/main">
            <a:off x="400050" y="49530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Backup · What a locked test means</a:t>
            </a:r>
          </a:p>
        </p:txBody>
      </p:sp>
      <p:sp>
        <p:nvSpPr>
          <p:cNvPr id="3" name="">
            <a:extLst xmlns:a="http://schemas.openxmlformats.org/drawingml/2006/main">
              <a:ext uri="{FF2B5EF4-FFF2-40B4-BE49-F238E27FC236}">
                <a16:creationId xmlns:a16="http://schemas.microsoft.com/office/drawing/2014/main" id="{F7010908-BAE8-4036-A154-AD07DCA03E52}"/>
              </a:ext>
            </a:extLst>
          </p:cNvPr>
          <p:cNvSpPr>
            <a:spLocks xmlns:a="http://schemas.openxmlformats.org/drawingml/2006/main" noGrp="1"/>
          </p:cNvSpPr>
          <p:nvPr/>
        </p:nvSpPr>
        <p:spPr>
          <a:xfrm xmlns:a="http://schemas.openxmlformats.org/drawingml/2006/main">
            <a:off x="400050" y="1190625"/>
            <a:ext cx="11391900" cy="19050"/>
          </a:xfrm>
          <a:prstGeom xmlns:a="http://schemas.openxmlformats.org/drawingml/2006/main" prst="rect">
            <a:avLst/>
          </a:prstGeom>
          <a:solidFill xmlns:a="http://schemas.openxmlformats.org/drawingml/2006/main">
            <a:srgbClr val="11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A8C00E3-0452-42A2-A2DA-6BE0297E65B1}"/>
              </a:ext>
            </a:extLst>
          </p:cNvPr>
          <p:cNvSpPr>
            <a:spLocks xmlns:a="http://schemas.openxmlformats.org/drawingml/2006/main" noGrp="1"/>
          </p:cNvSpPr>
          <p:nvPr/>
        </p:nvSpPr>
        <p:spPr>
          <a:xfrm xmlns:a="http://schemas.openxmlformats.org/drawingml/2006/main">
            <a:off x="400050" y="6438900"/>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Examiner backup</a:t>
            </a:r>
          </a:p>
        </p:txBody>
      </p:sp>
      <p:sp>
        <p:nvSpPr>
          <p:cNvPr id="5" name="">
            <a:extLst xmlns:a="http://schemas.openxmlformats.org/drawingml/2006/main">
              <a:ext uri="{FF2B5EF4-FFF2-40B4-BE49-F238E27FC236}">
                <a16:creationId xmlns:a16="http://schemas.microsoft.com/office/drawing/2014/main" id="{67D2F613-C710-49BF-AC8B-67E165B10D54}"/>
              </a:ext>
            </a:extLst>
          </p:cNvPr>
          <p:cNvSpPr>
            <a:spLocks xmlns:a="http://schemas.openxmlformats.org/drawingml/2006/main" noGrp="1"/>
          </p:cNvSpPr>
          <p:nvPr/>
        </p:nvSpPr>
        <p:spPr>
          <a:xfrm xmlns:a="http://schemas.openxmlformats.org/drawingml/2006/main">
            <a:off x="11287125" y="63912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23</a:t>
            </a:r>
          </a:p>
        </p:txBody>
      </p:sp>
      <p:sp>
        <p:nvSpPr>
          <p:cNvPr id="6" name="">
            <a:extLst xmlns:a="http://schemas.openxmlformats.org/drawingml/2006/main">
              <a:ext uri="{FF2B5EF4-FFF2-40B4-BE49-F238E27FC236}">
                <a16:creationId xmlns:a16="http://schemas.microsoft.com/office/drawing/2014/main" id="{ED0D9FDE-313F-4881-9A36-FE8A7928E2C8}"/>
              </a:ext>
            </a:extLst>
          </p:cNvPr>
          <p:cNvSpPr>
            <a:spLocks xmlns:a="http://schemas.openxmlformats.org/drawingml/2006/main" noGrp="1"/>
          </p:cNvSpPr>
          <p:nvPr/>
        </p:nvSpPr>
        <p:spPr>
          <a:xfrm xmlns:a="http://schemas.openxmlformats.org/drawingml/2006/main">
            <a:off x="400050" y="2000250"/>
            <a:ext cx="2571750" cy="2381250"/>
          </a:xfrm>
          <a:prstGeom xmlns:a="http://schemas.openxmlformats.org/drawingml/2006/main" prst="roundRect">
            <a:avLst>
              <a:gd name="adj" fmla="val 4800"/>
            </a:avLst>
          </a:prstGeom>
          <a:solidFill xmlns:a="http://schemas.openxmlformats.org/drawingml/2006/main">
            <a:srgbClr val="F2F3F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A13744A-2A25-429D-9C22-46D00508C709}"/>
              </a:ext>
            </a:extLst>
          </p:cNvPr>
          <p:cNvSpPr>
            <a:spLocks xmlns:a="http://schemas.openxmlformats.org/drawingml/2006/main" noGrp="1"/>
          </p:cNvSpPr>
          <p:nvPr/>
        </p:nvSpPr>
        <p:spPr>
          <a:xfrm xmlns:a="http://schemas.openxmlformats.org/drawingml/2006/main">
            <a:off x="609600" y="2209800"/>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00" b="1">
                <a:solidFill>
                  <a:srgbClr val="3D8DFF"/>
                </a:solidFill>
                <a:latin typeface="Helvetica Neue"/>
                <a:ea typeface="Helvetica Neue"/>
                <a:cs typeface="Helvetica Neue"/>
              </a:defRPr>
            </a:pPr>
            <a:r>
              <a:rPr sz="2400" b="1">
                <a:solidFill>
                  <a:srgbClr val="3D8DFF"/>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9431F577-2E57-46EE-8D6B-5BF8A35F0F8F}"/>
              </a:ext>
            </a:extLst>
          </p:cNvPr>
          <p:cNvSpPr>
            <a:spLocks xmlns:a="http://schemas.openxmlformats.org/drawingml/2006/main" noGrp="1"/>
          </p:cNvSpPr>
          <p:nvPr/>
        </p:nvSpPr>
        <p:spPr>
          <a:xfrm xmlns:a="http://schemas.openxmlformats.org/drawingml/2006/main">
            <a:off x="609600" y="2857500"/>
            <a:ext cx="2152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DEVELOP</a:t>
            </a:r>
          </a:p>
        </p:txBody>
      </p:sp>
      <p:sp>
        <p:nvSpPr>
          <p:cNvPr id="9" name="">
            <a:extLst xmlns:a="http://schemas.openxmlformats.org/drawingml/2006/main">
              <a:ext uri="{FF2B5EF4-FFF2-40B4-BE49-F238E27FC236}">
                <a16:creationId xmlns:a16="http://schemas.microsoft.com/office/drawing/2014/main" id="{C030FF3E-A032-47C3-94BE-F4EA96FF90F6}"/>
              </a:ext>
            </a:extLst>
          </p:cNvPr>
          <p:cNvSpPr>
            <a:spLocks xmlns:a="http://schemas.openxmlformats.org/drawingml/2006/main" noGrp="1"/>
          </p:cNvSpPr>
          <p:nvPr/>
        </p:nvSpPr>
        <p:spPr>
          <a:xfrm xmlns:a="http://schemas.openxmlformats.org/drawingml/2006/main">
            <a:off x="609600" y="335280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318"/>
                </a:solidFill>
                <a:latin typeface="Helvetica Neue"/>
                <a:ea typeface="Helvetica Neue"/>
                <a:cs typeface="Helvetica Neue"/>
              </a:defRPr>
            </a:pPr>
            <a:r>
              <a:rPr sz="1500" b="0">
                <a:solidFill>
                  <a:srgbClr val="111318"/>
                </a:solidFill>
                <a:latin typeface="Helvetica Neue"/>
                <a:ea typeface="Helvetica Neue"/>
                <a:cs typeface="Helvetica Neue"/>
              </a:rPr>
              <a:t>Tune on declared development cases</a:t>
            </a:r>
          </a:p>
        </p:txBody>
      </p:sp>
      <p:sp>
        <p:nvSpPr>
          <p:cNvPr id="10" name="">
            <a:extLst xmlns:a="http://schemas.openxmlformats.org/drawingml/2006/main">
              <a:ext uri="{FF2B5EF4-FFF2-40B4-BE49-F238E27FC236}">
                <a16:creationId xmlns:a16="http://schemas.microsoft.com/office/drawing/2014/main" id="{EC327CC6-48B1-4E5C-B355-981EC394DEFE}"/>
              </a:ext>
            </a:extLst>
          </p:cNvPr>
          <p:cNvSpPr>
            <a:spLocks xmlns:a="http://schemas.openxmlformats.org/drawingml/2006/main" noGrp="1"/>
          </p:cNvSpPr>
          <p:nvPr/>
        </p:nvSpPr>
        <p:spPr>
          <a:xfrm xmlns:a="http://schemas.openxmlformats.org/drawingml/2006/main">
            <a:off x="2971800" y="2952750"/>
            <a:ext cx="3048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222"/>
          </a:bodyPr>
          <a:lstStyle xmlns:a="http://schemas.openxmlformats.org/drawingml/2006/main"/>
          <a:p xmlns:a="http://schemas.openxmlformats.org/drawingml/2006/main">
            <a:pPr algn="ctr">
              <a:defRPr sz="2250" b="1">
                <a:solidFill>
                  <a:srgbClr val="3D8DFF"/>
                </a:solidFill>
                <a:latin typeface="Helvetica Neue"/>
                <a:ea typeface="Helvetica Neue"/>
                <a:cs typeface="Helvetica Neue"/>
              </a:defRPr>
            </a:pPr>
            <a:r>
              <a:rPr sz="2250" b="1">
                <a:solidFill>
                  <a:srgbClr val="3D8DFF"/>
                </a:solidFill>
                <a:latin typeface="Helvetica Neue"/>
                <a:ea typeface="Helvetica Neue"/>
                <a:cs typeface="Helvetica Neue"/>
              </a:rPr>
              <a:t>→</a:t>
            </a:r>
          </a:p>
        </p:txBody>
      </p:sp>
      <p:sp>
        <p:nvSpPr>
          <p:cNvPr id="11" name="">
            <a:extLst xmlns:a="http://schemas.openxmlformats.org/drawingml/2006/main">
              <a:ext uri="{FF2B5EF4-FFF2-40B4-BE49-F238E27FC236}">
                <a16:creationId xmlns:a16="http://schemas.microsoft.com/office/drawing/2014/main" id="{5599748C-03E9-4C1A-97A1-95F798F75F05}"/>
              </a:ext>
            </a:extLst>
          </p:cNvPr>
          <p:cNvSpPr>
            <a:spLocks xmlns:a="http://schemas.openxmlformats.org/drawingml/2006/main" noGrp="1"/>
          </p:cNvSpPr>
          <p:nvPr/>
        </p:nvSpPr>
        <p:spPr>
          <a:xfrm xmlns:a="http://schemas.openxmlformats.org/drawingml/2006/main">
            <a:off x="3276600" y="2000250"/>
            <a:ext cx="2571750" cy="2381250"/>
          </a:xfrm>
          <a:prstGeom xmlns:a="http://schemas.openxmlformats.org/drawingml/2006/main" prst="roundRect">
            <a:avLst>
              <a:gd name="adj" fmla="val 4800"/>
            </a:avLst>
          </a:prstGeom>
          <a:solidFill xmlns:a="http://schemas.openxmlformats.org/drawingml/2006/main">
            <a:srgbClr val="F2F3F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0D1B0F6-7572-47DF-BB80-DCE30E0A8DDF}"/>
              </a:ext>
            </a:extLst>
          </p:cNvPr>
          <p:cNvSpPr>
            <a:spLocks xmlns:a="http://schemas.openxmlformats.org/drawingml/2006/main" noGrp="1"/>
          </p:cNvSpPr>
          <p:nvPr/>
        </p:nvSpPr>
        <p:spPr>
          <a:xfrm xmlns:a="http://schemas.openxmlformats.org/drawingml/2006/main">
            <a:off x="3486150" y="2209800"/>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00" b="1">
                <a:solidFill>
                  <a:srgbClr val="3D8DFF"/>
                </a:solidFill>
                <a:latin typeface="Helvetica Neue"/>
                <a:ea typeface="Helvetica Neue"/>
                <a:cs typeface="Helvetica Neue"/>
              </a:defRPr>
            </a:pPr>
            <a:r>
              <a:rPr sz="2400" b="1">
                <a:solidFill>
                  <a:srgbClr val="3D8DFF"/>
                </a:solidFill>
                <a:latin typeface="Helvetica Neue"/>
                <a:ea typeface="Helvetica Neue"/>
                <a:cs typeface="Helvetica Neue"/>
              </a:rPr>
              <a:t>2</a:t>
            </a:r>
          </a:p>
        </p:txBody>
      </p:sp>
      <p:sp>
        <p:nvSpPr>
          <p:cNvPr id="13" name="">
            <a:extLst xmlns:a="http://schemas.openxmlformats.org/drawingml/2006/main">
              <a:ext uri="{FF2B5EF4-FFF2-40B4-BE49-F238E27FC236}">
                <a16:creationId xmlns:a16="http://schemas.microsoft.com/office/drawing/2014/main" id="{BFFE4FA2-5608-4CB2-85FB-293F795617BB}"/>
              </a:ext>
            </a:extLst>
          </p:cNvPr>
          <p:cNvSpPr>
            <a:spLocks xmlns:a="http://schemas.openxmlformats.org/drawingml/2006/main" noGrp="1"/>
          </p:cNvSpPr>
          <p:nvPr/>
        </p:nvSpPr>
        <p:spPr>
          <a:xfrm xmlns:a="http://schemas.openxmlformats.org/drawingml/2006/main">
            <a:off x="3486150" y="2857500"/>
            <a:ext cx="2152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FREEZE</a:t>
            </a:r>
          </a:p>
        </p:txBody>
      </p:sp>
      <p:sp>
        <p:nvSpPr>
          <p:cNvPr id="14" name="">
            <a:extLst xmlns:a="http://schemas.openxmlformats.org/drawingml/2006/main">
              <a:ext uri="{FF2B5EF4-FFF2-40B4-BE49-F238E27FC236}">
                <a16:creationId xmlns:a16="http://schemas.microsoft.com/office/drawing/2014/main" id="{3B4C4CD9-2C71-4CFF-B50B-2C25711784DC}"/>
              </a:ext>
            </a:extLst>
          </p:cNvPr>
          <p:cNvSpPr>
            <a:spLocks xmlns:a="http://schemas.openxmlformats.org/drawingml/2006/main" noGrp="1"/>
          </p:cNvSpPr>
          <p:nvPr/>
        </p:nvSpPr>
        <p:spPr>
          <a:xfrm xmlns:a="http://schemas.openxmlformats.org/drawingml/2006/main">
            <a:off x="3486150" y="335280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222"/>
          </a:bodyPr>
          <a:lstStyle xmlns:a="http://schemas.openxmlformats.org/drawingml/2006/main"/>
          <a:p xmlns:a="http://schemas.openxmlformats.org/drawingml/2006/main">
            <a:pPr algn="l">
              <a:defRPr sz="1500" b="0">
                <a:solidFill>
                  <a:srgbClr val="111318"/>
                </a:solidFill>
                <a:latin typeface="Helvetica Neue"/>
                <a:ea typeface="Helvetica Neue"/>
                <a:cs typeface="Helvetica Neue"/>
              </a:defRPr>
            </a:pPr>
            <a:r>
              <a:rPr sz="1500" b="0">
                <a:solidFill>
                  <a:srgbClr val="111318"/>
                </a:solidFill>
                <a:latin typeface="Helvetica Neue"/>
                <a:ea typeface="Helvetica Neue"/>
                <a:cs typeface="Helvetica Neue"/>
              </a:rPr>
              <a:t>Generator, code, seeds, primary metrics and decision rules</a:t>
            </a:r>
          </a:p>
        </p:txBody>
      </p:sp>
      <p:sp>
        <p:nvSpPr>
          <p:cNvPr id="15" name="">
            <a:extLst xmlns:a="http://schemas.openxmlformats.org/drawingml/2006/main">
              <a:ext uri="{FF2B5EF4-FFF2-40B4-BE49-F238E27FC236}">
                <a16:creationId xmlns:a16="http://schemas.microsoft.com/office/drawing/2014/main" id="{59ED4C7B-43DB-4E17-B81C-A9D0E8901233}"/>
              </a:ext>
            </a:extLst>
          </p:cNvPr>
          <p:cNvSpPr>
            <a:spLocks xmlns:a="http://schemas.openxmlformats.org/drawingml/2006/main" noGrp="1"/>
          </p:cNvSpPr>
          <p:nvPr/>
        </p:nvSpPr>
        <p:spPr>
          <a:xfrm xmlns:a="http://schemas.openxmlformats.org/drawingml/2006/main">
            <a:off x="5848350" y="2952750"/>
            <a:ext cx="3048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222"/>
          </a:bodyPr>
          <a:lstStyle xmlns:a="http://schemas.openxmlformats.org/drawingml/2006/main"/>
          <a:p xmlns:a="http://schemas.openxmlformats.org/drawingml/2006/main">
            <a:pPr algn="ctr">
              <a:defRPr sz="2250" b="1">
                <a:solidFill>
                  <a:srgbClr val="3D8DFF"/>
                </a:solidFill>
                <a:latin typeface="Helvetica Neue"/>
                <a:ea typeface="Helvetica Neue"/>
                <a:cs typeface="Helvetica Neue"/>
              </a:defRPr>
            </a:pPr>
            <a:r>
              <a:rPr sz="2250" b="1">
                <a:solidFill>
                  <a:srgbClr val="3D8DFF"/>
                </a:solidFill>
                <a:latin typeface="Helvetica Neue"/>
                <a:ea typeface="Helvetica Neue"/>
                <a:cs typeface="Helvetica Neue"/>
              </a:rPr>
              <a:t>→</a:t>
            </a:r>
          </a:p>
        </p:txBody>
      </p:sp>
      <p:sp>
        <p:nvSpPr>
          <p:cNvPr id="16" name="">
            <a:extLst xmlns:a="http://schemas.openxmlformats.org/drawingml/2006/main">
              <a:ext uri="{FF2B5EF4-FFF2-40B4-BE49-F238E27FC236}">
                <a16:creationId xmlns:a16="http://schemas.microsoft.com/office/drawing/2014/main" id="{806087F7-D192-4C39-B347-8A02E753FC23}"/>
              </a:ext>
            </a:extLst>
          </p:cNvPr>
          <p:cNvSpPr>
            <a:spLocks xmlns:a="http://schemas.openxmlformats.org/drawingml/2006/main" noGrp="1"/>
          </p:cNvSpPr>
          <p:nvPr/>
        </p:nvSpPr>
        <p:spPr>
          <a:xfrm xmlns:a="http://schemas.openxmlformats.org/drawingml/2006/main">
            <a:off x="6153150" y="2000250"/>
            <a:ext cx="2571750" cy="2381250"/>
          </a:xfrm>
          <a:prstGeom xmlns:a="http://schemas.openxmlformats.org/drawingml/2006/main" prst="roundRect">
            <a:avLst>
              <a:gd name="adj" fmla="val 4800"/>
            </a:avLst>
          </a:prstGeom>
          <a:solidFill xmlns:a="http://schemas.openxmlformats.org/drawingml/2006/main">
            <a:srgbClr val="E9F4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FC0E907-3C4F-4057-9054-5D9321D79361}"/>
              </a:ext>
            </a:extLst>
          </p:cNvPr>
          <p:cNvSpPr>
            <a:spLocks xmlns:a="http://schemas.openxmlformats.org/drawingml/2006/main" noGrp="1"/>
          </p:cNvSpPr>
          <p:nvPr/>
        </p:nvSpPr>
        <p:spPr>
          <a:xfrm xmlns:a="http://schemas.openxmlformats.org/drawingml/2006/main">
            <a:off x="6362700" y="2209800"/>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00" b="1">
                <a:solidFill>
                  <a:srgbClr val="3D8DFF"/>
                </a:solidFill>
                <a:latin typeface="Helvetica Neue"/>
                <a:ea typeface="Helvetica Neue"/>
                <a:cs typeface="Helvetica Neue"/>
              </a:defRPr>
            </a:pPr>
            <a:r>
              <a:rPr sz="2400" b="1">
                <a:solidFill>
                  <a:srgbClr val="3D8DFF"/>
                </a:solidFill>
                <a:latin typeface="Helvetica Neue"/>
                <a:ea typeface="Helvetica Neue"/>
                <a:cs typeface="Helvetica Neue"/>
              </a:rPr>
              <a:t>3</a:t>
            </a:r>
          </a:p>
        </p:txBody>
      </p:sp>
      <p:sp>
        <p:nvSpPr>
          <p:cNvPr id="18" name="">
            <a:extLst xmlns:a="http://schemas.openxmlformats.org/drawingml/2006/main">
              <a:ext uri="{FF2B5EF4-FFF2-40B4-BE49-F238E27FC236}">
                <a16:creationId xmlns:a16="http://schemas.microsoft.com/office/drawing/2014/main" id="{B2D56C0F-A726-48B6-B38F-A55D3D8A2192}"/>
              </a:ext>
            </a:extLst>
          </p:cNvPr>
          <p:cNvSpPr>
            <a:spLocks xmlns:a="http://schemas.openxmlformats.org/drawingml/2006/main" noGrp="1"/>
          </p:cNvSpPr>
          <p:nvPr/>
        </p:nvSpPr>
        <p:spPr>
          <a:xfrm xmlns:a="http://schemas.openxmlformats.org/drawingml/2006/main">
            <a:off x="6362700" y="2857500"/>
            <a:ext cx="2152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OPEN ONCE</a:t>
            </a:r>
          </a:p>
        </p:txBody>
      </p:sp>
      <p:sp>
        <p:nvSpPr>
          <p:cNvPr id="19" name="">
            <a:extLst xmlns:a="http://schemas.openxmlformats.org/drawingml/2006/main">
              <a:ext uri="{FF2B5EF4-FFF2-40B4-BE49-F238E27FC236}">
                <a16:creationId xmlns:a16="http://schemas.microsoft.com/office/drawing/2014/main" id="{9FC4F8F1-E7FA-4F1F-AE07-E6F5CF78ECC7}"/>
              </a:ext>
            </a:extLst>
          </p:cNvPr>
          <p:cNvSpPr>
            <a:spLocks xmlns:a="http://schemas.openxmlformats.org/drawingml/2006/main" noGrp="1"/>
          </p:cNvSpPr>
          <p:nvPr/>
        </p:nvSpPr>
        <p:spPr>
          <a:xfrm xmlns:a="http://schemas.openxmlformats.org/drawingml/2006/main">
            <a:off x="6362700" y="335280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318"/>
                </a:solidFill>
                <a:latin typeface="Helvetica Neue"/>
                <a:ea typeface="Helvetica Neue"/>
                <a:cs typeface="Helvetica Neue"/>
              </a:defRPr>
            </a:pPr>
            <a:r>
              <a:rPr sz="1500" b="0">
                <a:solidFill>
                  <a:srgbClr val="111318"/>
                </a:solidFill>
                <a:latin typeface="Helvetica Neue"/>
                <a:ea typeface="Helvetica Neue"/>
                <a:cs typeface="Helvetica Neue"/>
              </a:rPr>
              <a:t>Evaluate untouched locked cases</a:t>
            </a:r>
          </a:p>
        </p:txBody>
      </p:sp>
      <p:sp>
        <p:nvSpPr>
          <p:cNvPr id="20" name="">
            <a:extLst xmlns:a="http://schemas.openxmlformats.org/drawingml/2006/main">
              <a:ext uri="{FF2B5EF4-FFF2-40B4-BE49-F238E27FC236}">
                <a16:creationId xmlns:a16="http://schemas.microsoft.com/office/drawing/2014/main" id="{D533F247-4B8B-4489-A16E-998F8702E1E7}"/>
              </a:ext>
            </a:extLst>
          </p:cNvPr>
          <p:cNvSpPr>
            <a:spLocks xmlns:a="http://schemas.openxmlformats.org/drawingml/2006/main" noGrp="1"/>
          </p:cNvSpPr>
          <p:nvPr/>
        </p:nvSpPr>
        <p:spPr>
          <a:xfrm xmlns:a="http://schemas.openxmlformats.org/drawingml/2006/main">
            <a:off x="8724900" y="2952750"/>
            <a:ext cx="3048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222"/>
          </a:bodyPr>
          <a:lstStyle xmlns:a="http://schemas.openxmlformats.org/drawingml/2006/main"/>
          <a:p xmlns:a="http://schemas.openxmlformats.org/drawingml/2006/main">
            <a:pPr algn="ctr">
              <a:defRPr sz="2250" b="1">
                <a:solidFill>
                  <a:srgbClr val="3D8DFF"/>
                </a:solidFill>
                <a:latin typeface="Helvetica Neue"/>
                <a:ea typeface="Helvetica Neue"/>
                <a:cs typeface="Helvetica Neue"/>
              </a:defRPr>
            </a:pPr>
            <a:r>
              <a:rPr sz="2250" b="1">
                <a:solidFill>
                  <a:srgbClr val="3D8DFF"/>
                </a:solidFill>
                <a:latin typeface="Helvetica Neue"/>
                <a:ea typeface="Helvetica Neue"/>
                <a:cs typeface="Helvetica Neue"/>
              </a:rPr>
              <a:t>→</a:t>
            </a:r>
          </a:p>
        </p:txBody>
      </p:sp>
      <p:sp>
        <p:nvSpPr>
          <p:cNvPr id="21" name="">
            <a:extLst xmlns:a="http://schemas.openxmlformats.org/drawingml/2006/main">
              <a:ext uri="{FF2B5EF4-FFF2-40B4-BE49-F238E27FC236}">
                <a16:creationId xmlns:a16="http://schemas.microsoft.com/office/drawing/2014/main" id="{3657F8A9-4181-4015-B304-E1B3BCBA7A7D}"/>
              </a:ext>
            </a:extLst>
          </p:cNvPr>
          <p:cNvSpPr>
            <a:spLocks xmlns:a="http://schemas.openxmlformats.org/drawingml/2006/main" noGrp="1"/>
          </p:cNvSpPr>
          <p:nvPr/>
        </p:nvSpPr>
        <p:spPr>
          <a:xfrm xmlns:a="http://schemas.openxmlformats.org/drawingml/2006/main">
            <a:off x="9029700" y="2000250"/>
            <a:ext cx="2571750" cy="2381250"/>
          </a:xfrm>
          <a:prstGeom xmlns:a="http://schemas.openxmlformats.org/drawingml/2006/main" prst="roundRect">
            <a:avLst>
              <a:gd name="adj" fmla="val 4800"/>
            </a:avLst>
          </a:prstGeom>
          <a:solidFill xmlns:a="http://schemas.openxmlformats.org/drawingml/2006/main">
            <a:srgbClr val="F2F3F5"/>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E57D269-8F77-4537-8A32-76BA73415EC7}"/>
              </a:ext>
            </a:extLst>
          </p:cNvPr>
          <p:cNvSpPr>
            <a:spLocks xmlns:a="http://schemas.openxmlformats.org/drawingml/2006/main" noGrp="1"/>
          </p:cNvSpPr>
          <p:nvPr/>
        </p:nvSpPr>
        <p:spPr>
          <a:xfrm xmlns:a="http://schemas.openxmlformats.org/drawingml/2006/main">
            <a:off x="9239250" y="2209800"/>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00" b="1">
                <a:solidFill>
                  <a:srgbClr val="3D8DFF"/>
                </a:solidFill>
                <a:latin typeface="Helvetica Neue"/>
                <a:ea typeface="Helvetica Neue"/>
                <a:cs typeface="Helvetica Neue"/>
              </a:defRPr>
            </a:pPr>
            <a:r>
              <a:rPr sz="2400" b="1">
                <a:solidFill>
                  <a:srgbClr val="3D8DFF"/>
                </a:solidFill>
                <a:latin typeface="Helvetica Neue"/>
                <a:ea typeface="Helvetica Neue"/>
                <a:cs typeface="Helvetica Neue"/>
              </a:rPr>
              <a:t>4</a:t>
            </a:r>
          </a:p>
        </p:txBody>
      </p:sp>
      <p:sp>
        <p:nvSpPr>
          <p:cNvPr id="23" name="">
            <a:extLst xmlns:a="http://schemas.openxmlformats.org/drawingml/2006/main">
              <a:ext uri="{FF2B5EF4-FFF2-40B4-BE49-F238E27FC236}">
                <a16:creationId xmlns:a16="http://schemas.microsoft.com/office/drawing/2014/main" id="{B6DF96C7-F6FC-441D-A018-3794E580D91B}"/>
              </a:ext>
            </a:extLst>
          </p:cNvPr>
          <p:cNvSpPr>
            <a:spLocks xmlns:a="http://schemas.openxmlformats.org/drawingml/2006/main" noGrp="1"/>
          </p:cNvSpPr>
          <p:nvPr/>
        </p:nvSpPr>
        <p:spPr>
          <a:xfrm xmlns:a="http://schemas.openxmlformats.org/drawingml/2006/main">
            <a:off x="9239250" y="2857500"/>
            <a:ext cx="2152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DECIDE</a:t>
            </a:r>
          </a:p>
        </p:txBody>
      </p:sp>
      <p:sp>
        <p:nvSpPr>
          <p:cNvPr id="24" name="">
            <a:extLst xmlns:a="http://schemas.openxmlformats.org/drawingml/2006/main">
              <a:ext uri="{FF2B5EF4-FFF2-40B4-BE49-F238E27FC236}">
                <a16:creationId xmlns:a16="http://schemas.microsoft.com/office/drawing/2014/main" id="{02F63104-1F26-4EA7-B00B-B2FFC88F1C4C}"/>
              </a:ext>
            </a:extLst>
          </p:cNvPr>
          <p:cNvSpPr>
            <a:spLocks xmlns:a="http://schemas.openxmlformats.org/drawingml/2006/main" noGrp="1"/>
          </p:cNvSpPr>
          <p:nvPr/>
        </p:nvSpPr>
        <p:spPr>
          <a:xfrm xmlns:a="http://schemas.openxmlformats.org/drawingml/2006/main">
            <a:off x="9239250" y="335280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487"/>
          </a:bodyPr>
          <a:lstStyle xmlns:a="http://schemas.openxmlformats.org/drawingml/2006/main"/>
          <a:p xmlns:a="http://schemas.openxmlformats.org/drawingml/2006/main">
            <a:pPr algn="l">
              <a:defRPr sz="1500" b="0">
                <a:solidFill>
                  <a:srgbClr val="111318"/>
                </a:solidFill>
                <a:latin typeface="Helvetica Neue"/>
                <a:ea typeface="Helvetica Neue"/>
                <a:cs typeface="Helvetica Neue"/>
              </a:defRPr>
            </a:pPr>
            <a:r>
              <a:rPr sz="1500" b="0">
                <a:solidFill>
                  <a:srgbClr val="111318"/>
                </a:solidFill>
                <a:latin typeface="Helvetica Neue"/>
                <a:ea typeface="Helvetica Neue"/>
                <a:cs typeface="Helvetica Neue"/>
              </a:rPr>
              <a:t>Apply the frozen gate, including negative outcomes</a:t>
            </a:r>
          </a:p>
        </p:txBody>
      </p:sp>
      <p:sp>
        <p:nvSpPr>
          <p:cNvPr id="25" name="">
            <a:extLst xmlns:a="http://schemas.openxmlformats.org/drawingml/2006/main">
              <a:ext uri="{FF2B5EF4-FFF2-40B4-BE49-F238E27FC236}">
                <a16:creationId xmlns:a16="http://schemas.microsoft.com/office/drawing/2014/main" id="{B94C44D5-C662-4FDD-89D9-7B76466A61A1}"/>
              </a:ext>
            </a:extLst>
          </p:cNvPr>
          <p:cNvSpPr>
            <a:spLocks xmlns:a="http://schemas.openxmlformats.org/drawingml/2006/main" noGrp="1"/>
          </p:cNvSpPr>
          <p:nvPr/>
        </p:nvSpPr>
        <p:spPr>
          <a:xfrm xmlns:a="http://schemas.openxmlformats.org/drawingml/2006/main">
            <a:off x="2000250" y="4810125"/>
            <a:ext cx="8191500" cy="723900"/>
          </a:xfrm>
          <a:prstGeom xmlns:a="http://schemas.openxmlformats.org/drawingml/2006/main" prst="roundRect">
            <a:avLst>
              <a:gd name="adj" fmla="val 15789"/>
            </a:avLst>
          </a:prstGeom>
          <a:solidFill xmlns:a="http://schemas.openxmlformats.org/drawingml/2006/main">
            <a:srgbClr val="E7F7F3"/>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B8D070B8-370D-4281-A02A-04CEE50889A2}"/>
              </a:ext>
            </a:extLst>
          </p:cNvPr>
          <p:cNvSpPr>
            <a:spLocks xmlns:a="http://schemas.openxmlformats.org/drawingml/2006/main" noGrp="1"/>
          </p:cNvSpPr>
          <p:nvPr/>
        </p:nvSpPr>
        <p:spPr>
          <a:xfrm xmlns:a="http://schemas.openxmlformats.org/drawingml/2006/main">
            <a:off x="2286000" y="5029200"/>
            <a:ext cx="7620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364"/>
          </a:bodyPr>
          <a:lstStyle xmlns:a="http://schemas.openxmlformats.org/drawingml/2006/main"/>
          <a:p xmlns:a="http://schemas.openxmlformats.org/drawingml/2006/main">
            <a:pPr algn="ctr">
              <a:defRPr sz="1575" b="1">
                <a:solidFill>
                  <a:srgbClr val="153A63"/>
                </a:solidFill>
                <a:latin typeface="Helvetica Neue"/>
                <a:ea typeface="Helvetica Neue"/>
                <a:cs typeface="Helvetica Neue"/>
              </a:defRPr>
            </a:pPr>
            <a:r>
              <a:rPr sz="1575" b="1">
                <a:solidFill>
                  <a:srgbClr val="153A63"/>
                </a:solidFill>
                <a:latin typeface="Helvetica Neue"/>
                <a:ea typeface="Helvetica Neue"/>
                <a:cs typeface="Helvetica Neue"/>
              </a:rPr>
              <a:t>Locked comparisons were not rerun; practical planning margins were post-review diagnostics.</a:t>
            </a:r>
          </a:p>
        </p:txBody>
      </p:sp>
    </p:spTree>
    <p:extLst>
      <p:ext uri="{BB962C8B-B14F-4D97-AF65-F5344CB8AC3E}">
        <p14:creationId xmlns:p14="http://schemas.microsoft.com/office/powerpoint/2010/main" val="78476064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7" name="">
            <a:extLst xmlns:a="http://schemas.openxmlformats.org/drawingml/2006/main">
              <a:ext uri="{FF2B5EF4-FFF2-40B4-BE49-F238E27FC236}">
                <a16:creationId xmlns:a16="http://schemas.microsoft.com/office/drawing/2014/main" id="{DECAAACF-D0E1-47EF-B9BD-E17A6A41E8A8}"/>
              </a:ext>
            </a:extLst>
          </p:cNvPr>
          <p:cNvSpPr>
            <a:spLocks xmlns:a="http://schemas.openxmlformats.org/drawingml/2006/main" noGrp="1"/>
          </p:cNvSpPr>
          <p:nvPr/>
        </p:nvSpPr>
        <p:spPr>
          <a:xfrm xmlns:a="http://schemas.openxmlformats.org/drawingml/2006/main">
            <a:off x="400050" y="228600"/>
            <a:ext cx="695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EVIDENCE MATRIX</a:t>
            </a:r>
          </a:p>
        </p:txBody>
      </p:sp>
      <p:sp>
        <p:nvSpPr>
          <p:cNvPr id="2" name="">
            <a:extLst xmlns:a="http://schemas.openxmlformats.org/drawingml/2006/main">
              <a:ext uri="{FF2B5EF4-FFF2-40B4-BE49-F238E27FC236}">
                <a16:creationId xmlns:a16="http://schemas.microsoft.com/office/drawing/2014/main" id="{920802D3-04C3-4932-A47A-38FC6AF75844}"/>
              </a:ext>
            </a:extLst>
          </p:cNvPr>
          <p:cNvSpPr>
            <a:spLocks xmlns:a="http://schemas.openxmlformats.org/drawingml/2006/main" noGrp="1"/>
          </p:cNvSpPr>
          <p:nvPr/>
        </p:nvSpPr>
        <p:spPr>
          <a:xfrm xmlns:a="http://schemas.openxmlformats.org/drawingml/2006/main">
            <a:off x="400050" y="49530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Backup · No single field dataset contains all three truths</a:t>
            </a:r>
          </a:p>
        </p:txBody>
      </p:sp>
      <p:sp>
        <p:nvSpPr>
          <p:cNvPr id="3" name="">
            <a:extLst xmlns:a="http://schemas.openxmlformats.org/drawingml/2006/main">
              <a:ext uri="{FF2B5EF4-FFF2-40B4-BE49-F238E27FC236}">
                <a16:creationId xmlns:a16="http://schemas.microsoft.com/office/drawing/2014/main" id="{26B3F141-A42E-47FB-BB40-596E1D4790CA}"/>
              </a:ext>
            </a:extLst>
          </p:cNvPr>
          <p:cNvSpPr>
            <a:spLocks xmlns:a="http://schemas.openxmlformats.org/drawingml/2006/main" noGrp="1"/>
          </p:cNvSpPr>
          <p:nvPr/>
        </p:nvSpPr>
        <p:spPr>
          <a:xfrm xmlns:a="http://schemas.openxmlformats.org/drawingml/2006/main">
            <a:off x="400050" y="1190625"/>
            <a:ext cx="11391900" cy="19050"/>
          </a:xfrm>
          <a:prstGeom xmlns:a="http://schemas.openxmlformats.org/drawingml/2006/main" prst="rect">
            <a:avLst/>
          </a:prstGeom>
          <a:solidFill xmlns:a="http://schemas.openxmlformats.org/drawingml/2006/main">
            <a:srgbClr val="11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F3B20BC-D1C3-40B5-9785-D2C5703AA77E}"/>
              </a:ext>
            </a:extLst>
          </p:cNvPr>
          <p:cNvSpPr>
            <a:spLocks xmlns:a="http://schemas.openxmlformats.org/drawingml/2006/main" noGrp="1"/>
          </p:cNvSpPr>
          <p:nvPr/>
        </p:nvSpPr>
        <p:spPr>
          <a:xfrm xmlns:a="http://schemas.openxmlformats.org/drawingml/2006/main">
            <a:off x="400050" y="6438900"/>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Examiner backup</a:t>
            </a:r>
          </a:p>
        </p:txBody>
      </p:sp>
      <p:sp>
        <p:nvSpPr>
          <p:cNvPr id="5" name="">
            <a:extLst xmlns:a="http://schemas.openxmlformats.org/drawingml/2006/main">
              <a:ext uri="{FF2B5EF4-FFF2-40B4-BE49-F238E27FC236}">
                <a16:creationId xmlns:a16="http://schemas.microsoft.com/office/drawing/2014/main" id="{0BB7D32A-0EF1-402B-A331-0F9371887323}"/>
              </a:ext>
            </a:extLst>
          </p:cNvPr>
          <p:cNvSpPr>
            <a:spLocks xmlns:a="http://schemas.openxmlformats.org/drawingml/2006/main" noGrp="1"/>
          </p:cNvSpPr>
          <p:nvPr/>
        </p:nvSpPr>
        <p:spPr>
          <a:xfrm xmlns:a="http://schemas.openxmlformats.org/drawingml/2006/main">
            <a:off x="11287125" y="63912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24</a:t>
            </a:r>
          </a:p>
        </p:txBody>
      </p:sp>
      <p:sp>
        <p:nvSpPr>
          <p:cNvPr id="6" name="">
            <a:extLst xmlns:a="http://schemas.openxmlformats.org/drawingml/2006/main">
              <a:ext uri="{FF2B5EF4-FFF2-40B4-BE49-F238E27FC236}">
                <a16:creationId xmlns:a16="http://schemas.microsoft.com/office/drawing/2014/main" id="{7F318630-2E51-42E5-81FB-E541B4E2DCFE}"/>
              </a:ext>
            </a:extLst>
          </p:cNvPr>
          <p:cNvSpPr>
            <a:spLocks xmlns:a="http://schemas.openxmlformats.org/drawingml/2006/main" noGrp="1"/>
          </p:cNvSpPr>
          <p:nvPr/>
        </p:nvSpPr>
        <p:spPr>
          <a:xfrm xmlns:a="http://schemas.openxmlformats.org/drawingml/2006/main">
            <a:off x="400050" y="1619250"/>
            <a:ext cx="2676525" cy="552450"/>
          </a:xfrm>
          <a:prstGeom xmlns:a="http://schemas.openxmlformats.org/drawingml/2006/main" prst="roundRect">
            <a:avLst>
              <a:gd name="adj" fmla="val 20690"/>
            </a:avLst>
          </a:prstGeom>
          <a:solidFill xmlns:a="http://schemas.openxmlformats.org/drawingml/2006/main">
            <a:srgbClr val="153A63"/>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7CD7FD8-848A-4C81-B537-53CBF78B90EA}"/>
              </a:ext>
            </a:extLst>
          </p:cNvPr>
          <p:cNvSpPr>
            <a:spLocks xmlns:a="http://schemas.openxmlformats.org/drawingml/2006/main" noGrp="1"/>
          </p:cNvSpPr>
          <p:nvPr/>
        </p:nvSpPr>
        <p:spPr>
          <a:xfrm xmlns:a="http://schemas.openxmlformats.org/drawingml/2006/main">
            <a:off x="476250" y="1809750"/>
            <a:ext cx="2524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DATASET</a:t>
            </a:r>
          </a:p>
        </p:txBody>
      </p:sp>
      <p:sp>
        <p:nvSpPr>
          <p:cNvPr id="8" name="">
            <a:extLst xmlns:a="http://schemas.openxmlformats.org/drawingml/2006/main">
              <a:ext uri="{FF2B5EF4-FFF2-40B4-BE49-F238E27FC236}">
                <a16:creationId xmlns:a16="http://schemas.microsoft.com/office/drawing/2014/main" id="{234BCC17-AA25-43F9-90D0-338807B6F8D6}"/>
              </a:ext>
            </a:extLst>
          </p:cNvPr>
          <p:cNvSpPr>
            <a:spLocks xmlns:a="http://schemas.openxmlformats.org/drawingml/2006/main" noGrp="1"/>
          </p:cNvSpPr>
          <p:nvPr/>
        </p:nvSpPr>
        <p:spPr>
          <a:xfrm xmlns:a="http://schemas.openxmlformats.org/drawingml/2006/main">
            <a:off x="3114675" y="1619250"/>
            <a:ext cx="1866900" cy="552450"/>
          </a:xfrm>
          <a:prstGeom xmlns:a="http://schemas.openxmlformats.org/drawingml/2006/main" prst="roundRect">
            <a:avLst>
              <a:gd name="adj" fmla="val 20690"/>
            </a:avLst>
          </a:prstGeom>
          <a:solidFill xmlns:a="http://schemas.openxmlformats.org/drawingml/2006/main">
            <a:srgbClr val="153A6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D895AB1-708C-4D7B-86C2-A8562E38D7C4}"/>
              </a:ext>
            </a:extLst>
          </p:cNvPr>
          <p:cNvSpPr>
            <a:spLocks xmlns:a="http://schemas.openxmlformats.org/drawingml/2006/main" noGrp="1"/>
          </p:cNvSpPr>
          <p:nvPr/>
        </p:nvSpPr>
        <p:spPr>
          <a:xfrm xmlns:a="http://schemas.openxmlformats.org/drawingml/2006/main">
            <a:off x="3190875" y="18097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AGE TRACERS</a:t>
            </a:r>
          </a:p>
        </p:txBody>
      </p:sp>
      <p:sp>
        <p:nvSpPr>
          <p:cNvPr id="10" name="">
            <a:extLst xmlns:a="http://schemas.openxmlformats.org/drawingml/2006/main">
              <a:ext uri="{FF2B5EF4-FFF2-40B4-BE49-F238E27FC236}">
                <a16:creationId xmlns:a16="http://schemas.microsoft.com/office/drawing/2014/main" id="{93741CD6-ED69-45A3-9F5D-0C13A7DD8657}"/>
              </a:ext>
            </a:extLst>
          </p:cNvPr>
          <p:cNvSpPr>
            <a:spLocks xmlns:a="http://schemas.openxmlformats.org/drawingml/2006/main" noGrp="1"/>
          </p:cNvSpPr>
          <p:nvPr/>
        </p:nvSpPr>
        <p:spPr>
          <a:xfrm xmlns:a="http://schemas.openxmlformats.org/drawingml/2006/main">
            <a:off x="5019675" y="1619250"/>
            <a:ext cx="2343150" cy="552450"/>
          </a:xfrm>
          <a:prstGeom xmlns:a="http://schemas.openxmlformats.org/drawingml/2006/main" prst="roundRect">
            <a:avLst>
              <a:gd name="adj" fmla="val 20690"/>
            </a:avLst>
          </a:prstGeom>
          <a:solidFill xmlns:a="http://schemas.openxmlformats.org/drawingml/2006/main">
            <a:srgbClr val="153A63"/>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D93762F-B86D-42E3-8D27-0177DF37C84F}"/>
              </a:ext>
            </a:extLst>
          </p:cNvPr>
          <p:cNvSpPr>
            <a:spLocks xmlns:a="http://schemas.openxmlformats.org/drawingml/2006/main" noGrp="1"/>
          </p:cNvSpPr>
          <p:nvPr/>
        </p:nvSpPr>
        <p:spPr>
          <a:xfrm xmlns:a="http://schemas.openxmlformats.org/drawingml/2006/main">
            <a:off x="5095875" y="180975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REPEATED HYDRAULICS</a:t>
            </a:r>
          </a:p>
        </p:txBody>
      </p:sp>
      <p:sp>
        <p:nvSpPr>
          <p:cNvPr id="12" name="">
            <a:extLst xmlns:a="http://schemas.openxmlformats.org/drawingml/2006/main">
              <a:ext uri="{FF2B5EF4-FFF2-40B4-BE49-F238E27FC236}">
                <a16:creationId xmlns:a16="http://schemas.microsoft.com/office/drawing/2014/main" id="{4A9A61D9-74D9-4757-9003-33B84974CB68}"/>
              </a:ext>
            </a:extLst>
          </p:cNvPr>
          <p:cNvSpPr>
            <a:spLocks xmlns:a="http://schemas.openxmlformats.org/drawingml/2006/main" noGrp="1"/>
          </p:cNvSpPr>
          <p:nvPr/>
        </p:nvSpPr>
        <p:spPr>
          <a:xfrm xmlns:a="http://schemas.openxmlformats.org/drawingml/2006/main">
            <a:off x="7400925" y="1619250"/>
            <a:ext cx="1866900" cy="552450"/>
          </a:xfrm>
          <a:prstGeom xmlns:a="http://schemas.openxmlformats.org/drawingml/2006/main" prst="roundRect">
            <a:avLst>
              <a:gd name="adj" fmla="val 20690"/>
            </a:avLst>
          </a:prstGeom>
          <a:solidFill xmlns:a="http://schemas.openxmlformats.org/drawingml/2006/main">
            <a:srgbClr val="153A6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269C51C-7180-4154-87C7-0075DA7B0E2B}"/>
              </a:ext>
            </a:extLst>
          </p:cNvPr>
          <p:cNvSpPr>
            <a:spLocks xmlns:a="http://schemas.openxmlformats.org/drawingml/2006/main" noGrp="1"/>
          </p:cNvSpPr>
          <p:nvPr/>
        </p:nvSpPr>
        <p:spPr>
          <a:xfrm xmlns:a="http://schemas.openxmlformats.org/drawingml/2006/main">
            <a:off x="7477125" y="18097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CHEMISTRY</a:t>
            </a:r>
          </a:p>
        </p:txBody>
      </p:sp>
      <p:sp>
        <p:nvSpPr>
          <p:cNvPr id="14" name="">
            <a:extLst xmlns:a="http://schemas.openxmlformats.org/drawingml/2006/main">
              <a:ext uri="{FF2B5EF4-FFF2-40B4-BE49-F238E27FC236}">
                <a16:creationId xmlns:a16="http://schemas.microsoft.com/office/drawing/2014/main" id="{6BA71F74-E18A-425D-9F05-861C207664C8}"/>
              </a:ext>
            </a:extLst>
          </p:cNvPr>
          <p:cNvSpPr>
            <a:spLocks xmlns:a="http://schemas.openxmlformats.org/drawingml/2006/main" noGrp="1"/>
          </p:cNvSpPr>
          <p:nvPr/>
        </p:nvSpPr>
        <p:spPr>
          <a:xfrm xmlns:a="http://schemas.openxmlformats.org/drawingml/2006/main">
            <a:off x="9305925" y="1619250"/>
            <a:ext cx="2438400" cy="552450"/>
          </a:xfrm>
          <a:prstGeom xmlns:a="http://schemas.openxmlformats.org/drawingml/2006/main" prst="roundRect">
            <a:avLst>
              <a:gd name="adj" fmla="val 20690"/>
            </a:avLst>
          </a:prstGeom>
          <a:solidFill xmlns:a="http://schemas.openxmlformats.org/drawingml/2006/main">
            <a:srgbClr val="153A63"/>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052C94F-75D3-4E09-B1DE-256FB0313947}"/>
              </a:ext>
            </a:extLst>
          </p:cNvPr>
          <p:cNvSpPr>
            <a:spLocks xmlns:a="http://schemas.openxmlformats.org/drawingml/2006/main" noGrp="1"/>
          </p:cNvSpPr>
          <p:nvPr/>
        </p:nvSpPr>
        <p:spPr>
          <a:xfrm xmlns:a="http://schemas.openxmlformats.org/drawingml/2006/main">
            <a:off x="9382125" y="1809750"/>
            <a:ext cx="228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CONNECTIVITY TRUTH</a:t>
            </a:r>
          </a:p>
        </p:txBody>
      </p:sp>
      <p:sp>
        <p:nvSpPr>
          <p:cNvPr id="16" name="">
            <a:extLst xmlns:a="http://schemas.openxmlformats.org/drawingml/2006/main">
              <a:ext uri="{FF2B5EF4-FFF2-40B4-BE49-F238E27FC236}">
                <a16:creationId xmlns:a16="http://schemas.microsoft.com/office/drawing/2014/main" id="{A62CA277-3542-4D68-927B-34C8015B0921}"/>
              </a:ext>
            </a:extLst>
          </p:cNvPr>
          <p:cNvSpPr>
            <a:spLocks xmlns:a="http://schemas.openxmlformats.org/drawingml/2006/main" noGrp="1"/>
          </p:cNvSpPr>
          <p:nvPr/>
        </p:nvSpPr>
        <p:spPr>
          <a:xfrm xmlns:a="http://schemas.openxmlformats.org/drawingml/2006/main">
            <a:off x="400050" y="2228850"/>
            <a:ext cx="2676525" cy="552450"/>
          </a:xfrm>
          <a:prstGeom xmlns:a="http://schemas.openxmlformats.org/drawingml/2006/main" prst="roundRect">
            <a:avLst>
              <a:gd name="adj" fmla="val 20690"/>
            </a:avLst>
          </a:prstGeom>
          <a:solidFill xmlns:a="http://schemas.openxmlformats.org/drawingml/2006/main">
            <a:srgbClr val="F2F3F5"/>
          </a:solidFill>
          <a:ln xmlns:a="http://schemas.openxmlformats.org/drawingml/2006/main" w="9525">
            <a:solidFill>
              <a:srgbClr val="B8BCC4"/>
            </a:solidFill>
            <a:prstDash val="solid"/>
          </a:ln>
        </p:spPr>
      </p:sp>
      <p:sp>
        <p:nvSpPr>
          <p:cNvPr id="17" name="">
            <a:extLst xmlns:a="http://schemas.openxmlformats.org/drawingml/2006/main">
              <a:ext uri="{FF2B5EF4-FFF2-40B4-BE49-F238E27FC236}">
                <a16:creationId xmlns:a16="http://schemas.microsoft.com/office/drawing/2014/main" id="{CA15C443-E18C-480D-9F26-EE82763C6E6D}"/>
              </a:ext>
            </a:extLst>
          </p:cNvPr>
          <p:cNvSpPr>
            <a:spLocks xmlns:a="http://schemas.openxmlformats.org/drawingml/2006/main" noGrp="1"/>
          </p:cNvSpPr>
          <p:nvPr/>
        </p:nvSpPr>
        <p:spPr>
          <a:xfrm xmlns:a="http://schemas.openxmlformats.org/drawingml/2006/main">
            <a:off x="476250" y="2400300"/>
            <a:ext cx="2524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111318"/>
                </a:solidFill>
                <a:latin typeface="Helvetica Neue"/>
                <a:ea typeface="Helvetica Neue"/>
                <a:cs typeface="Helvetica Neue"/>
              </a:defRPr>
            </a:pPr>
            <a:r>
              <a:rPr sz="1200" b="1">
                <a:solidFill>
                  <a:srgbClr val="111318"/>
                </a:solidFill>
                <a:latin typeface="Helvetica Neue"/>
                <a:ea typeface="Helvetica Neue"/>
                <a:cs typeface="Helvetica Neue"/>
              </a:rPr>
              <a:t>Public age archive</a:t>
            </a:r>
          </a:p>
        </p:txBody>
      </p:sp>
      <p:sp>
        <p:nvSpPr>
          <p:cNvPr id="18" name="">
            <a:extLst xmlns:a="http://schemas.openxmlformats.org/drawingml/2006/main">
              <a:ext uri="{FF2B5EF4-FFF2-40B4-BE49-F238E27FC236}">
                <a16:creationId xmlns:a16="http://schemas.microsoft.com/office/drawing/2014/main" id="{5C4CCF4C-A3B8-495E-ADF8-2E8188A062BA}"/>
              </a:ext>
            </a:extLst>
          </p:cNvPr>
          <p:cNvSpPr>
            <a:spLocks xmlns:a="http://schemas.openxmlformats.org/drawingml/2006/main" noGrp="1"/>
          </p:cNvSpPr>
          <p:nvPr/>
        </p:nvSpPr>
        <p:spPr>
          <a:xfrm xmlns:a="http://schemas.openxmlformats.org/drawingml/2006/main">
            <a:off x="3114675" y="2228850"/>
            <a:ext cx="1866900" cy="552450"/>
          </a:xfrm>
          <a:prstGeom xmlns:a="http://schemas.openxmlformats.org/drawingml/2006/main" prst="roundRect">
            <a:avLst>
              <a:gd name="adj" fmla="val 20690"/>
            </a:avLst>
          </a:prstGeom>
          <a:solidFill xmlns:a="http://schemas.openxmlformats.org/drawingml/2006/main">
            <a:srgbClr val="F2F3F5"/>
          </a:solidFill>
          <a:ln xmlns:a="http://schemas.openxmlformats.org/drawingml/2006/main" w="9525">
            <a:solidFill>
              <a:srgbClr val="B8BCC4"/>
            </a:solidFill>
            <a:prstDash val="solid"/>
          </a:ln>
        </p:spPr>
      </p:sp>
      <p:sp>
        <p:nvSpPr>
          <p:cNvPr id="19" name="">
            <a:extLst xmlns:a="http://schemas.openxmlformats.org/drawingml/2006/main">
              <a:ext uri="{FF2B5EF4-FFF2-40B4-BE49-F238E27FC236}">
                <a16:creationId xmlns:a16="http://schemas.microsoft.com/office/drawing/2014/main" id="{B54BE157-8F97-4A79-865A-BCD09386FB0F}"/>
              </a:ext>
            </a:extLst>
          </p:cNvPr>
          <p:cNvSpPr>
            <a:spLocks xmlns:a="http://schemas.openxmlformats.org/drawingml/2006/main" noGrp="1"/>
          </p:cNvSpPr>
          <p:nvPr/>
        </p:nvSpPr>
        <p:spPr>
          <a:xfrm xmlns:a="http://schemas.openxmlformats.org/drawingml/2006/main">
            <a:off x="3190875" y="24003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111318"/>
                </a:solidFill>
                <a:latin typeface="Helvetica Neue"/>
                <a:ea typeface="Helvetica Neue"/>
                <a:cs typeface="Helvetica Neue"/>
              </a:defRPr>
            </a:pPr>
            <a:r>
              <a:rPr sz="1200" b="0">
                <a:solidFill>
                  <a:srgbClr val="111318"/>
                </a:solidFill>
                <a:latin typeface="Helvetica Neue"/>
                <a:ea typeface="Helvetica Neue"/>
                <a:cs typeface="Helvetica Neue"/>
              </a:rPr>
              <a:t>✓</a:t>
            </a:r>
          </a:p>
        </p:txBody>
      </p:sp>
      <p:sp>
        <p:nvSpPr>
          <p:cNvPr id="20" name="">
            <a:extLst xmlns:a="http://schemas.openxmlformats.org/drawingml/2006/main">
              <a:ext uri="{FF2B5EF4-FFF2-40B4-BE49-F238E27FC236}">
                <a16:creationId xmlns:a16="http://schemas.microsoft.com/office/drawing/2014/main" id="{F2FA4AFA-7CCC-466A-99C8-A4869B7A645D}"/>
              </a:ext>
            </a:extLst>
          </p:cNvPr>
          <p:cNvSpPr>
            <a:spLocks xmlns:a="http://schemas.openxmlformats.org/drawingml/2006/main" noGrp="1"/>
          </p:cNvSpPr>
          <p:nvPr/>
        </p:nvSpPr>
        <p:spPr>
          <a:xfrm xmlns:a="http://schemas.openxmlformats.org/drawingml/2006/main">
            <a:off x="5019675" y="2228850"/>
            <a:ext cx="2343150" cy="552450"/>
          </a:xfrm>
          <a:prstGeom xmlns:a="http://schemas.openxmlformats.org/drawingml/2006/main" prst="roundRect">
            <a:avLst>
              <a:gd name="adj" fmla="val 20690"/>
            </a:avLst>
          </a:prstGeom>
          <a:solidFill xmlns:a="http://schemas.openxmlformats.org/drawingml/2006/main">
            <a:srgbClr val="F2F3F5"/>
          </a:solidFill>
          <a:ln xmlns:a="http://schemas.openxmlformats.org/drawingml/2006/main" w="9525">
            <a:solidFill>
              <a:srgbClr val="B8BCC4"/>
            </a:solidFill>
            <a:prstDash val="solid"/>
          </a:ln>
        </p:spPr>
      </p:sp>
      <p:sp>
        <p:nvSpPr>
          <p:cNvPr id="21" name="">
            <a:extLst xmlns:a="http://schemas.openxmlformats.org/drawingml/2006/main">
              <a:ext uri="{FF2B5EF4-FFF2-40B4-BE49-F238E27FC236}">
                <a16:creationId xmlns:a16="http://schemas.microsoft.com/office/drawing/2014/main" id="{8C921422-4088-43AF-B7B7-89D1B55FF2EF}"/>
              </a:ext>
            </a:extLst>
          </p:cNvPr>
          <p:cNvSpPr>
            <a:spLocks xmlns:a="http://schemas.openxmlformats.org/drawingml/2006/main" noGrp="1"/>
          </p:cNvSpPr>
          <p:nvPr/>
        </p:nvSpPr>
        <p:spPr>
          <a:xfrm xmlns:a="http://schemas.openxmlformats.org/drawingml/2006/main">
            <a:off x="5095875" y="240030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111318"/>
                </a:solidFill>
                <a:latin typeface="Helvetica Neue"/>
                <a:ea typeface="Helvetica Neue"/>
                <a:cs typeface="Helvetica Neue"/>
              </a:defRPr>
            </a:pPr>
            <a:r>
              <a:rPr sz="1200" b="0">
                <a:solidFill>
                  <a:srgbClr val="111318"/>
                </a:solidFill>
                <a:latin typeface="Helvetica Neue"/>
                <a:ea typeface="Helvetica Neue"/>
                <a:cs typeface="Helvetica Neue"/>
              </a:rPr>
              <a:t>direct heads unavailable</a:t>
            </a:r>
          </a:p>
        </p:txBody>
      </p:sp>
      <p:sp>
        <p:nvSpPr>
          <p:cNvPr id="22" name="">
            <a:extLst xmlns:a="http://schemas.openxmlformats.org/drawingml/2006/main">
              <a:ext uri="{FF2B5EF4-FFF2-40B4-BE49-F238E27FC236}">
                <a16:creationId xmlns:a16="http://schemas.microsoft.com/office/drawing/2014/main" id="{2C92E9D2-6D80-460C-950A-9575087F9879}"/>
              </a:ext>
            </a:extLst>
          </p:cNvPr>
          <p:cNvSpPr>
            <a:spLocks xmlns:a="http://schemas.openxmlformats.org/drawingml/2006/main" noGrp="1"/>
          </p:cNvSpPr>
          <p:nvPr/>
        </p:nvSpPr>
        <p:spPr>
          <a:xfrm xmlns:a="http://schemas.openxmlformats.org/drawingml/2006/main">
            <a:off x="7400925" y="2228850"/>
            <a:ext cx="1866900" cy="552450"/>
          </a:xfrm>
          <a:prstGeom xmlns:a="http://schemas.openxmlformats.org/drawingml/2006/main" prst="roundRect">
            <a:avLst>
              <a:gd name="adj" fmla="val 20690"/>
            </a:avLst>
          </a:prstGeom>
          <a:solidFill xmlns:a="http://schemas.openxmlformats.org/drawingml/2006/main">
            <a:srgbClr val="F2F3F5"/>
          </a:solidFill>
          <a:ln xmlns:a="http://schemas.openxmlformats.org/drawingml/2006/main" w="9525">
            <a:solidFill>
              <a:srgbClr val="B8BCC4"/>
            </a:solidFill>
            <a:prstDash val="solid"/>
          </a:ln>
        </p:spPr>
      </p:sp>
      <p:sp>
        <p:nvSpPr>
          <p:cNvPr id="23" name="">
            <a:extLst xmlns:a="http://schemas.openxmlformats.org/drawingml/2006/main">
              <a:ext uri="{FF2B5EF4-FFF2-40B4-BE49-F238E27FC236}">
                <a16:creationId xmlns:a16="http://schemas.microsoft.com/office/drawing/2014/main" id="{8DABFAE0-D508-4276-A33A-F8F186DF5BFB}"/>
              </a:ext>
            </a:extLst>
          </p:cNvPr>
          <p:cNvSpPr>
            <a:spLocks xmlns:a="http://schemas.openxmlformats.org/drawingml/2006/main" noGrp="1"/>
          </p:cNvSpPr>
          <p:nvPr/>
        </p:nvSpPr>
        <p:spPr>
          <a:xfrm xmlns:a="http://schemas.openxmlformats.org/drawingml/2006/main">
            <a:off x="7477125" y="24003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111318"/>
                </a:solidFill>
                <a:latin typeface="Helvetica Neue"/>
                <a:ea typeface="Helvetica Neue"/>
                <a:cs typeface="Helvetica Neue"/>
              </a:defRPr>
            </a:pPr>
            <a:r>
              <a:rPr sz="1200" b="0">
                <a:solidFill>
                  <a:srgbClr val="111318"/>
                </a:solidFill>
                <a:latin typeface="Helvetica Neue"/>
                <a:ea typeface="Helvetica Neue"/>
                <a:cs typeface="Helvetica Neue"/>
              </a:rPr>
              <a:t>not used</a:t>
            </a:r>
          </a:p>
        </p:txBody>
      </p:sp>
      <p:sp>
        <p:nvSpPr>
          <p:cNvPr id="24" name="">
            <a:extLst xmlns:a="http://schemas.openxmlformats.org/drawingml/2006/main">
              <a:ext uri="{FF2B5EF4-FFF2-40B4-BE49-F238E27FC236}">
                <a16:creationId xmlns:a16="http://schemas.microsoft.com/office/drawing/2014/main" id="{23553AB4-E8CC-4E70-855A-293CBD688E9E}"/>
              </a:ext>
            </a:extLst>
          </p:cNvPr>
          <p:cNvSpPr>
            <a:spLocks xmlns:a="http://schemas.openxmlformats.org/drawingml/2006/main" noGrp="1"/>
          </p:cNvSpPr>
          <p:nvPr/>
        </p:nvSpPr>
        <p:spPr>
          <a:xfrm xmlns:a="http://schemas.openxmlformats.org/drawingml/2006/main">
            <a:off x="9305925" y="2228850"/>
            <a:ext cx="2438400" cy="552450"/>
          </a:xfrm>
          <a:prstGeom xmlns:a="http://schemas.openxmlformats.org/drawingml/2006/main" prst="roundRect">
            <a:avLst>
              <a:gd name="adj" fmla="val 20690"/>
            </a:avLst>
          </a:prstGeom>
          <a:solidFill xmlns:a="http://schemas.openxmlformats.org/drawingml/2006/main">
            <a:srgbClr val="F2F3F5"/>
          </a:solidFill>
          <a:ln xmlns:a="http://schemas.openxmlformats.org/drawingml/2006/main" w="9525">
            <a:solidFill>
              <a:srgbClr val="B8BCC4"/>
            </a:solidFill>
            <a:prstDash val="solid"/>
          </a:ln>
        </p:spPr>
      </p:sp>
      <p:sp>
        <p:nvSpPr>
          <p:cNvPr id="25" name="">
            <a:extLst xmlns:a="http://schemas.openxmlformats.org/drawingml/2006/main">
              <a:ext uri="{FF2B5EF4-FFF2-40B4-BE49-F238E27FC236}">
                <a16:creationId xmlns:a16="http://schemas.microsoft.com/office/drawing/2014/main" id="{19778EE1-21AF-4335-8B74-BE14861EB3C2}"/>
              </a:ext>
            </a:extLst>
          </p:cNvPr>
          <p:cNvSpPr>
            <a:spLocks xmlns:a="http://schemas.openxmlformats.org/drawingml/2006/main" noGrp="1"/>
          </p:cNvSpPr>
          <p:nvPr/>
        </p:nvSpPr>
        <p:spPr>
          <a:xfrm xmlns:a="http://schemas.openxmlformats.org/drawingml/2006/main">
            <a:off x="9382125" y="24003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C53030"/>
                </a:solidFill>
                <a:latin typeface="Helvetica Neue"/>
                <a:ea typeface="Helvetica Neue"/>
                <a:cs typeface="Helvetica Neue"/>
              </a:defRPr>
            </a:pPr>
            <a:r>
              <a:rPr sz="1200" b="0">
                <a:solidFill>
                  <a:srgbClr val="C53030"/>
                </a:solidFill>
                <a:latin typeface="Helvetica Neue"/>
                <a:ea typeface="Helvetica Neue"/>
                <a:cs typeface="Helvetica Neue"/>
              </a:rPr>
              <a:t>—</a:t>
            </a:r>
          </a:p>
        </p:txBody>
      </p:sp>
      <p:sp>
        <p:nvSpPr>
          <p:cNvPr id="26" name="">
            <a:extLst xmlns:a="http://schemas.openxmlformats.org/drawingml/2006/main">
              <a:ext uri="{FF2B5EF4-FFF2-40B4-BE49-F238E27FC236}">
                <a16:creationId xmlns:a16="http://schemas.microsoft.com/office/drawing/2014/main" id="{A9909D06-B933-4A2F-85B7-2655E3BA8F88}"/>
              </a:ext>
            </a:extLst>
          </p:cNvPr>
          <p:cNvSpPr>
            <a:spLocks xmlns:a="http://schemas.openxmlformats.org/drawingml/2006/main" noGrp="1"/>
          </p:cNvSpPr>
          <p:nvPr/>
        </p:nvSpPr>
        <p:spPr>
          <a:xfrm xmlns:a="http://schemas.openxmlformats.org/drawingml/2006/main">
            <a:off x="400050" y="2876550"/>
            <a:ext cx="267652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9525">
            <a:solidFill>
              <a:srgbClr val="B8BCC4"/>
            </a:solidFill>
            <a:prstDash val="solid"/>
          </a:ln>
        </p:spPr>
      </p:sp>
      <p:sp>
        <p:nvSpPr>
          <p:cNvPr id="27" name="">
            <a:extLst xmlns:a="http://schemas.openxmlformats.org/drawingml/2006/main">
              <a:ext uri="{FF2B5EF4-FFF2-40B4-BE49-F238E27FC236}">
                <a16:creationId xmlns:a16="http://schemas.microsoft.com/office/drawing/2014/main" id="{409C5881-C7BD-4AB0-899D-E7C766E79CB4}"/>
              </a:ext>
            </a:extLst>
          </p:cNvPr>
          <p:cNvSpPr>
            <a:spLocks xmlns:a="http://schemas.openxmlformats.org/drawingml/2006/main" noGrp="1"/>
          </p:cNvSpPr>
          <p:nvPr/>
        </p:nvSpPr>
        <p:spPr>
          <a:xfrm xmlns:a="http://schemas.openxmlformats.org/drawingml/2006/main">
            <a:off x="476250" y="3048000"/>
            <a:ext cx="2524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111318"/>
                </a:solidFill>
                <a:latin typeface="Helvetica Neue"/>
                <a:ea typeface="Helvetica Neue"/>
                <a:cs typeface="Helvetica Neue"/>
              </a:defRPr>
            </a:pPr>
            <a:r>
              <a:rPr sz="1200" b="1">
                <a:solidFill>
                  <a:srgbClr val="111318"/>
                </a:solidFill>
                <a:latin typeface="Helvetica Neue"/>
                <a:ea typeface="Helvetica Neue"/>
                <a:cs typeface="Helvetica Neue"/>
              </a:rPr>
              <a:t>MODFLOW / MODPATH</a:t>
            </a:r>
          </a:p>
        </p:txBody>
      </p:sp>
      <p:sp>
        <p:nvSpPr>
          <p:cNvPr id="28" name="">
            <a:extLst xmlns:a="http://schemas.openxmlformats.org/drawingml/2006/main">
              <a:ext uri="{FF2B5EF4-FFF2-40B4-BE49-F238E27FC236}">
                <a16:creationId xmlns:a16="http://schemas.microsoft.com/office/drawing/2014/main" id="{15E73ADF-549A-479C-98B6-C5E013B328E1}"/>
              </a:ext>
            </a:extLst>
          </p:cNvPr>
          <p:cNvSpPr>
            <a:spLocks xmlns:a="http://schemas.openxmlformats.org/drawingml/2006/main" noGrp="1"/>
          </p:cNvSpPr>
          <p:nvPr/>
        </p:nvSpPr>
        <p:spPr>
          <a:xfrm xmlns:a="http://schemas.openxmlformats.org/drawingml/2006/main">
            <a:off x="3114675" y="2876550"/>
            <a:ext cx="18669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9525">
            <a:solidFill>
              <a:srgbClr val="B8BCC4"/>
            </a:solidFill>
            <a:prstDash val="solid"/>
          </a:ln>
        </p:spPr>
      </p:sp>
      <p:sp>
        <p:nvSpPr>
          <p:cNvPr id="29" name="">
            <a:extLst xmlns:a="http://schemas.openxmlformats.org/drawingml/2006/main">
              <a:ext uri="{FF2B5EF4-FFF2-40B4-BE49-F238E27FC236}">
                <a16:creationId xmlns:a16="http://schemas.microsoft.com/office/drawing/2014/main" id="{75CEA30B-9DBE-4713-9D89-5B3C50E6CDA2}"/>
              </a:ext>
            </a:extLst>
          </p:cNvPr>
          <p:cNvSpPr>
            <a:spLocks xmlns:a="http://schemas.openxmlformats.org/drawingml/2006/main" noGrp="1"/>
          </p:cNvSpPr>
          <p:nvPr/>
        </p:nvSpPr>
        <p:spPr>
          <a:xfrm xmlns:a="http://schemas.openxmlformats.org/drawingml/2006/main">
            <a:off x="3190875" y="30480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111318"/>
                </a:solidFill>
                <a:latin typeface="Helvetica Neue"/>
                <a:ea typeface="Helvetica Neue"/>
                <a:cs typeface="Helvetica Neue"/>
              </a:defRPr>
            </a:pPr>
            <a:r>
              <a:rPr sz="1200" b="0">
                <a:solidFill>
                  <a:srgbClr val="111318"/>
                </a:solidFill>
                <a:latin typeface="Helvetica Neue"/>
                <a:ea typeface="Helvetica Neue"/>
                <a:cs typeface="Helvetica Neue"/>
              </a:rPr>
              <a:t>modelled</a:t>
            </a:r>
          </a:p>
        </p:txBody>
      </p:sp>
      <p:sp>
        <p:nvSpPr>
          <p:cNvPr id="30" name="">
            <a:extLst xmlns:a="http://schemas.openxmlformats.org/drawingml/2006/main">
              <a:ext uri="{FF2B5EF4-FFF2-40B4-BE49-F238E27FC236}">
                <a16:creationId xmlns:a16="http://schemas.microsoft.com/office/drawing/2014/main" id="{DFFD889C-A056-46FF-A793-A7115FFB95B8}"/>
              </a:ext>
            </a:extLst>
          </p:cNvPr>
          <p:cNvSpPr>
            <a:spLocks xmlns:a="http://schemas.openxmlformats.org/drawingml/2006/main" noGrp="1"/>
          </p:cNvSpPr>
          <p:nvPr/>
        </p:nvSpPr>
        <p:spPr>
          <a:xfrm xmlns:a="http://schemas.openxmlformats.org/drawingml/2006/main">
            <a:off x="5019675" y="2876550"/>
            <a:ext cx="23431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9525">
            <a:solidFill>
              <a:srgbClr val="B8BCC4"/>
            </a:solidFill>
            <a:prstDash val="solid"/>
          </a:ln>
        </p:spPr>
      </p:sp>
      <p:sp>
        <p:nvSpPr>
          <p:cNvPr id="31" name="">
            <a:extLst xmlns:a="http://schemas.openxmlformats.org/drawingml/2006/main">
              <a:ext uri="{FF2B5EF4-FFF2-40B4-BE49-F238E27FC236}">
                <a16:creationId xmlns:a16="http://schemas.microsoft.com/office/drawing/2014/main" id="{BA4D93AB-AD99-4357-BB90-39400F536380}"/>
              </a:ext>
            </a:extLst>
          </p:cNvPr>
          <p:cNvSpPr>
            <a:spLocks xmlns:a="http://schemas.openxmlformats.org/drawingml/2006/main" noGrp="1"/>
          </p:cNvSpPr>
          <p:nvPr/>
        </p:nvSpPr>
        <p:spPr>
          <a:xfrm xmlns:a="http://schemas.openxmlformats.org/drawingml/2006/main">
            <a:off x="5095875" y="304800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111318"/>
                </a:solidFill>
                <a:latin typeface="Helvetica Neue"/>
                <a:ea typeface="Helvetica Neue"/>
                <a:cs typeface="Helvetica Neue"/>
              </a:defRPr>
            </a:pPr>
            <a:r>
              <a:rPr sz="1200" b="0">
                <a:solidFill>
                  <a:srgbClr val="111318"/>
                </a:solidFill>
                <a:latin typeface="Helvetica Neue"/>
                <a:ea typeface="Helvetica Neue"/>
                <a:cs typeface="Helvetica Neue"/>
              </a:rPr>
              <a:t>✓</a:t>
            </a:r>
          </a:p>
        </p:txBody>
      </p:sp>
      <p:sp>
        <p:nvSpPr>
          <p:cNvPr id="32" name="">
            <a:extLst xmlns:a="http://schemas.openxmlformats.org/drawingml/2006/main">
              <a:ext uri="{FF2B5EF4-FFF2-40B4-BE49-F238E27FC236}">
                <a16:creationId xmlns:a16="http://schemas.microsoft.com/office/drawing/2014/main" id="{A152549D-C4C7-47E5-93FA-F0BD396043AF}"/>
              </a:ext>
            </a:extLst>
          </p:cNvPr>
          <p:cNvSpPr>
            <a:spLocks xmlns:a="http://schemas.openxmlformats.org/drawingml/2006/main" noGrp="1"/>
          </p:cNvSpPr>
          <p:nvPr/>
        </p:nvSpPr>
        <p:spPr>
          <a:xfrm xmlns:a="http://schemas.openxmlformats.org/drawingml/2006/main">
            <a:off x="7400925" y="2876550"/>
            <a:ext cx="18669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9525">
            <a:solidFill>
              <a:srgbClr val="B8BCC4"/>
            </a:solidFill>
            <a:prstDash val="solid"/>
          </a:ln>
        </p:spPr>
      </p:sp>
      <p:sp>
        <p:nvSpPr>
          <p:cNvPr id="33" name="">
            <a:extLst xmlns:a="http://schemas.openxmlformats.org/drawingml/2006/main">
              <a:ext uri="{FF2B5EF4-FFF2-40B4-BE49-F238E27FC236}">
                <a16:creationId xmlns:a16="http://schemas.microsoft.com/office/drawing/2014/main" id="{2A97FBB6-BE6A-465B-B7DB-446771190860}"/>
              </a:ext>
            </a:extLst>
          </p:cNvPr>
          <p:cNvSpPr>
            <a:spLocks xmlns:a="http://schemas.openxmlformats.org/drawingml/2006/main" noGrp="1"/>
          </p:cNvSpPr>
          <p:nvPr/>
        </p:nvSpPr>
        <p:spPr>
          <a:xfrm xmlns:a="http://schemas.openxmlformats.org/drawingml/2006/main">
            <a:off x="7477125" y="30480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C53030"/>
                </a:solidFill>
                <a:latin typeface="Helvetica Neue"/>
                <a:ea typeface="Helvetica Neue"/>
                <a:cs typeface="Helvetica Neue"/>
              </a:defRPr>
            </a:pPr>
            <a:r>
              <a:rPr sz="1200" b="0">
                <a:solidFill>
                  <a:srgbClr val="C53030"/>
                </a:solidFill>
                <a:latin typeface="Helvetica Neue"/>
                <a:ea typeface="Helvetica Neue"/>
                <a:cs typeface="Helvetica Neue"/>
              </a:rPr>
              <a:t>—</a:t>
            </a:r>
          </a:p>
        </p:txBody>
      </p:sp>
      <p:sp>
        <p:nvSpPr>
          <p:cNvPr id="34" name="">
            <a:extLst xmlns:a="http://schemas.openxmlformats.org/drawingml/2006/main">
              <a:ext uri="{FF2B5EF4-FFF2-40B4-BE49-F238E27FC236}">
                <a16:creationId xmlns:a16="http://schemas.microsoft.com/office/drawing/2014/main" id="{74BB819A-B2B8-496E-B4A6-641E0B9DFCC7}"/>
              </a:ext>
            </a:extLst>
          </p:cNvPr>
          <p:cNvSpPr>
            <a:spLocks xmlns:a="http://schemas.openxmlformats.org/drawingml/2006/main" noGrp="1"/>
          </p:cNvSpPr>
          <p:nvPr/>
        </p:nvSpPr>
        <p:spPr>
          <a:xfrm xmlns:a="http://schemas.openxmlformats.org/drawingml/2006/main">
            <a:off x="9305925" y="2876550"/>
            <a:ext cx="24384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9525">
            <a:solidFill>
              <a:srgbClr val="B8BCC4"/>
            </a:solidFill>
            <a:prstDash val="solid"/>
          </a:ln>
        </p:spPr>
      </p:sp>
      <p:sp>
        <p:nvSpPr>
          <p:cNvPr id="35" name="">
            <a:extLst xmlns:a="http://schemas.openxmlformats.org/drawingml/2006/main">
              <a:ext uri="{FF2B5EF4-FFF2-40B4-BE49-F238E27FC236}">
                <a16:creationId xmlns:a16="http://schemas.microsoft.com/office/drawing/2014/main" id="{B89AB27E-24B1-438B-93B7-AE74D2C76E29}"/>
              </a:ext>
            </a:extLst>
          </p:cNvPr>
          <p:cNvSpPr>
            <a:spLocks xmlns:a="http://schemas.openxmlformats.org/drawingml/2006/main" noGrp="1"/>
          </p:cNvSpPr>
          <p:nvPr/>
        </p:nvSpPr>
        <p:spPr>
          <a:xfrm xmlns:a="http://schemas.openxmlformats.org/drawingml/2006/main">
            <a:off x="9382125" y="30480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111318"/>
                </a:solidFill>
                <a:latin typeface="Helvetica Neue"/>
                <a:ea typeface="Helvetica Neue"/>
                <a:cs typeface="Helvetica Neue"/>
              </a:defRPr>
            </a:pPr>
            <a:r>
              <a:rPr sz="1200" b="0">
                <a:solidFill>
                  <a:srgbClr val="111318"/>
                </a:solidFill>
                <a:latin typeface="Helvetica Neue"/>
                <a:ea typeface="Helvetica Neue"/>
                <a:cs typeface="Helvetica Neue"/>
              </a:rPr>
              <a:t>model-conditioned</a:t>
            </a:r>
          </a:p>
        </p:txBody>
      </p:sp>
      <p:sp>
        <p:nvSpPr>
          <p:cNvPr id="36" name="">
            <a:extLst xmlns:a="http://schemas.openxmlformats.org/drawingml/2006/main">
              <a:ext uri="{FF2B5EF4-FFF2-40B4-BE49-F238E27FC236}">
                <a16:creationId xmlns:a16="http://schemas.microsoft.com/office/drawing/2014/main" id="{6FF1E49F-AF8B-4735-819F-05BC2AD59C39}"/>
              </a:ext>
            </a:extLst>
          </p:cNvPr>
          <p:cNvSpPr>
            <a:spLocks xmlns:a="http://schemas.openxmlformats.org/drawingml/2006/main" noGrp="1"/>
          </p:cNvSpPr>
          <p:nvPr/>
        </p:nvSpPr>
        <p:spPr>
          <a:xfrm xmlns:a="http://schemas.openxmlformats.org/drawingml/2006/main">
            <a:off x="400050" y="3524250"/>
            <a:ext cx="2676525" cy="552450"/>
          </a:xfrm>
          <a:prstGeom xmlns:a="http://schemas.openxmlformats.org/drawingml/2006/main" prst="roundRect">
            <a:avLst>
              <a:gd name="adj" fmla="val 20690"/>
            </a:avLst>
          </a:prstGeom>
          <a:solidFill xmlns:a="http://schemas.openxmlformats.org/drawingml/2006/main">
            <a:srgbClr val="F2F3F5"/>
          </a:solidFill>
          <a:ln xmlns:a="http://schemas.openxmlformats.org/drawingml/2006/main" w="9525">
            <a:solidFill>
              <a:srgbClr val="B8BCC4"/>
            </a:solidFill>
            <a:prstDash val="solid"/>
          </a:ln>
        </p:spPr>
      </p:sp>
      <p:sp>
        <p:nvSpPr>
          <p:cNvPr id="37" name="">
            <a:extLst xmlns:a="http://schemas.openxmlformats.org/drawingml/2006/main">
              <a:ext uri="{FF2B5EF4-FFF2-40B4-BE49-F238E27FC236}">
                <a16:creationId xmlns:a16="http://schemas.microsoft.com/office/drawing/2014/main" id="{63CEC391-5E0C-440A-96C9-873E1CFB37C7}"/>
              </a:ext>
            </a:extLst>
          </p:cNvPr>
          <p:cNvSpPr>
            <a:spLocks xmlns:a="http://schemas.openxmlformats.org/drawingml/2006/main" noGrp="1"/>
          </p:cNvSpPr>
          <p:nvPr/>
        </p:nvSpPr>
        <p:spPr>
          <a:xfrm xmlns:a="http://schemas.openxmlformats.org/drawingml/2006/main">
            <a:off x="476250" y="3695700"/>
            <a:ext cx="2524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111318"/>
                </a:solidFill>
                <a:latin typeface="Helvetica Neue"/>
                <a:ea typeface="Helvetica Neue"/>
                <a:cs typeface="Helvetica Neue"/>
              </a:defRPr>
            </a:pPr>
            <a:r>
              <a:rPr sz="1200" b="1">
                <a:solidFill>
                  <a:srgbClr val="111318"/>
                </a:solidFill>
                <a:latin typeface="Helvetica Neue"/>
                <a:ea typeface="Helvetica Neue"/>
                <a:cs typeface="Helvetica Neue"/>
              </a:rPr>
              <a:t>Northern Ghana</a:t>
            </a:r>
          </a:p>
        </p:txBody>
      </p:sp>
      <p:sp>
        <p:nvSpPr>
          <p:cNvPr id="38" name="">
            <a:extLst xmlns:a="http://schemas.openxmlformats.org/drawingml/2006/main">
              <a:ext uri="{FF2B5EF4-FFF2-40B4-BE49-F238E27FC236}">
                <a16:creationId xmlns:a16="http://schemas.microsoft.com/office/drawing/2014/main" id="{30AA96B1-66F7-48E5-8833-B86D458BE0B7}"/>
              </a:ext>
            </a:extLst>
          </p:cNvPr>
          <p:cNvSpPr>
            <a:spLocks xmlns:a="http://schemas.openxmlformats.org/drawingml/2006/main" noGrp="1"/>
          </p:cNvSpPr>
          <p:nvPr/>
        </p:nvSpPr>
        <p:spPr>
          <a:xfrm xmlns:a="http://schemas.openxmlformats.org/drawingml/2006/main">
            <a:off x="3114675" y="3524250"/>
            <a:ext cx="1866900" cy="552450"/>
          </a:xfrm>
          <a:prstGeom xmlns:a="http://schemas.openxmlformats.org/drawingml/2006/main" prst="roundRect">
            <a:avLst>
              <a:gd name="adj" fmla="val 20690"/>
            </a:avLst>
          </a:prstGeom>
          <a:solidFill xmlns:a="http://schemas.openxmlformats.org/drawingml/2006/main">
            <a:srgbClr val="F2F3F5"/>
          </a:solidFill>
          <a:ln xmlns:a="http://schemas.openxmlformats.org/drawingml/2006/main" w="9525">
            <a:solidFill>
              <a:srgbClr val="B8BCC4"/>
            </a:solidFill>
            <a:prstDash val="solid"/>
          </a:ln>
        </p:spPr>
      </p:sp>
      <p:sp>
        <p:nvSpPr>
          <p:cNvPr id="39" name="">
            <a:extLst xmlns:a="http://schemas.openxmlformats.org/drawingml/2006/main">
              <a:ext uri="{FF2B5EF4-FFF2-40B4-BE49-F238E27FC236}">
                <a16:creationId xmlns:a16="http://schemas.microsoft.com/office/drawing/2014/main" id="{5F614ED5-D9F4-45F2-8B70-ECD0984CE012}"/>
              </a:ext>
            </a:extLst>
          </p:cNvPr>
          <p:cNvSpPr>
            <a:spLocks xmlns:a="http://schemas.openxmlformats.org/drawingml/2006/main" noGrp="1"/>
          </p:cNvSpPr>
          <p:nvPr/>
        </p:nvSpPr>
        <p:spPr>
          <a:xfrm xmlns:a="http://schemas.openxmlformats.org/drawingml/2006/main">
            <a:off x="3190875" y="3695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C53030"/>
                </a:solidFill>
                <a:latin typeface="Helvetica Neue"/>
                <a:ea typeface="Helvetica Neue"/>
                <a:cs typeface="Helvetica Neue"/>
              </a:defRPr>
            </a:pPr>
            <a:r>
              <a:rPr sz="1200" b="0">
                <a:solidFill>
                  <a:srgbClr val="C53030"/>
                </a:solidFill>
                <a:latin typeface="Helvetica Neue"/>
                <a:ea typeface="Helvetica Neue"/>
                <a:cs typeface="Helvetica Neue"/>
              </a:rPr>
              <a:t>—</a:t>
            </a:r>
          </a:p>
        </p:txBody>
      </p:sp>
      <p:sp>
        <p:nvSpPr>
          <p:cNvPr id="40" name="">
            <a:extLst xmlns:a="http://schemas.openxmlformats.org/drawingml/2006/main">
              <a:ext uri="{FF2B5EF4-FFF2-40B4-BE49-F238E27FC236}">
                <a16:creationId xmlns:a16="http://schemas.microsoft.com/office/drawing/2014/main" id="{B6684917-B71D-4CBE-B2C7-2C77EACAFB45}"/>
              </a:ext>
            </a:extLst>
          </p:cNvPr>
          <p:cNvSpPr>
            <a:spLocks xmlns:a="http://schemas.openxmlformats.org/drawingml/2006/main" noGrp="1"/>
          </p:cNvSpPr>
          <p:nvPr/>
        </p:nvSpPr>
        <p:spPr>
          <a:xfrm xmlns:a="http://schemas.openxmlformats.org/drawingml/2006/main">
            <a:off x="5019675" y="3524250"/>
            <a:ext cx="2343150" cy="552450"/>
          </a:xfrm>
          <a:prstGeom xmlns:a="http://schemas.openxmlformats.org/drawingml/2006/main" prst="roundRect">
            <a:avLst>
              <a:gd name="adj" fmla="val 20690"/>
            </a:avLst>
          </a:prstGeom>
          <a:solidFill xmlns:a="http://schemas.openxmlformats.org/drawingml/2006/main">
            <a:srgbClr val="F2F3F5"/>
          </a:solidFill>
          <a:ln xmlns:a="http://schemas.openxmlformats.org/drawingml/2006/main" w="9525">
            <a:solidFill>
              <a:srgbClr val="B8BCC4"/>
            </a:solidFill>
            <a:prstDash val="solid"/>
          </a:ln>
        </p:spPr>
      </p:sp>
      <p:sp>
        <p:nvSpPr>
          <p:cNvPr id="41" name="">
            <a:extLst xmlns:a="http://schemas.openxmlformats.org/drawingml/2006/main">
              <a:ext uri="{FF2B5EF4-FFF2-40B4-BE49-F238E27FC236}">
                <a16:creationId xmlns:a16="http://schemas.microsoft.com/office/drawing/2014/main" id="{E588270F-7121-4BC6-BB1E-FFE000B40EEB}"/>
              </a:ext>
            </a:extLst>
          </p:cNvPr>
          <p:cNvSpPr>
            <a:spLocks xmlns:a="http://schemas.openxmlformats.org/drawingml/2006/main" noGrp="1"/>
          </p:cNvSpPr>
          <p:nvPr/>
        </p:nvSpPr>
        <p:spPr>
          <a:xfrm xmlns:a="http://schemas.openxmlformats.org/drawingml/2006/main">
            <a:off x="5095875" y="369570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C53030"/>
                </a:solidFill>
                <a:latin typeface="Helvetica Neue"/>
                <a:ea typeface="Helvetica Neue"/>
                <a:cs typeface="Helvetica Neue"/>
              </a:defRPr>
            </a:pPr>
            <a:r>
              <a:rPr sz="1200" b="0">
                <a:solidFill>
                  <a:srgbClr val="C53030"/>
                </a:solidFill>
                <a:latin typeface="Helvetica Neue"/>
                <a:ea typeface="Helvetica Neue"/>
                <a:cs typeface="Helvetica Neue"/>
              </a:rPr>
              <a:t>—</a:t>
            </a:r>
          </a:p>
        </p:txBody>
      </p:sp>
      <p:sp>
        <p:nvSpPr>
          <p:cNvPr id="42" name="">
            <a:extLst xmlns:a="http://schemas.openxmlformats.org/drawingml/2006/main">
              <a:ext uri="{FF2B5EF4-FFF2-40B4-BE49-F238E27FC236}">
                <a16:creationId xmlns:a16="http://schemas.microsoft.com/office/drawing/2014/main" id="{09E3D2B3-2E1B-4DD9-B1E5-5B580FB66C1A}"/>
              </a:ext>
            </a:extLst>
          </p:cNvPr>
          <p:cNvSpPr>
            <a:spLocks xmlns:a="http://schemas.openxmlformats.org/drawingml/2006/main" noGrp="1"/>
          </p:cNvSpPr>
          <p:nvPr/>
        </p:nvSpPr>
        <p:spPr>
          <a:xfrm xmlns:a="http://schemas.openxmlformats.org/drawingml/2006/main">
            <a:off x="7400925" y="3524250"/>
            <a:ext cx="1866900" cy="552450"/>
          </a:xfrm>
          <a:prstGeom xmlns:a="http://schemas.openxmlformats.org/drawingml/2006/main" prst="roundRect">
            <a:avLst>
              <a:gd name="adj" fmla="val 20690"/>
            </a:avLst>
          </a:prstGeom>
          <a:solidFill xmlns:a="http://schemas.openxmlformats.org/drawingml/2006/main">
            <a:srgbClr val="F2F3F5"/>
          </a:solidFill>
          <a:ln xmlns:a="http://schemas.openxmlformats.org/drawingml/2006/main" w="9525">
            <a:solidFill>
              <a:srgbClr val="B8BCC4"/>
            </a:solidFill>
            <a:prstDash val="solid"/>
          </a:ln>
        </p:spPr>
      </p:sp>
      <p:sp>
        <p:nvSpPr>
          <p:cNvPr id="43" name="">
            <a:extLst xmlns:a="http://schemas.openxmlformats.org/drawingml/2006/main">
              <a:ext uri="{FF2B5EF4-FFF2-40B4-BE49-F238E27FC236}">
                <a16:creationId xmlns:a16="http://schemas.microsoft.com/office/drawing/2014/main" id="{C73A6F16-52F2-4FA1-9443-0BAD1915961B}"/>
              </a:ext>
            </a:extLst>
          </p:cNvPr>
          <p:cNvSpPr>
            <a:spLocks xmlns:a="http://schemas.openxmlformats.org/drawingml/2006/main" noGrp="1"/>
          </p:cNvSpPr>
          <p:nvPr/>
        </p:nvSpPr>
        <p:spPr>
          <a:xfrm xmlns:a="http://schemas.openxmlformats.org/drawingml/2006/main">
            <a:off x="7477125" y="3695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111318"/>
                </a:solidFill>
                <a:latin typeface="Helvetica Neue"/>
                <a:ea typeface="Helvetica Neue"/>
                <a:cs typeface="Helvetica Neue"/>
              </a:defRPr>
            </a:pPr>
            <a:r>
              <a:rPr sz="1200" b="0">
                <a:solidFill>
                  <a:srgbClr val="111318"/>
                </a:solidFill>
                <a:latin typeface="Helvetica Neue"/>
                <a:ea typeface="Helvetica Neue"/>
                <a:cs typeface="Helvetica Neue"/>
              </a:rPr>
              <a:t>✓</a:t>
            </a:r>
          </a:p>
        </p:txBody>
      </p:sp>
      <p:sp>
        <p:nvSpPr>
          <p:cNvPr id="44" name="">
            <a:extLst xmlns:a="http://schemas.openxmlformats.org/drawingml/2006/main">
              <a:ext uri="{FF2B5EF4-FFF2-40B4-BE49-F238E27FC236}">
                <a16:creationId xmlns:a16="http://schemas.microsoft.com/office/drawing/2014/main" id="{59E8F63E-20C8-4B8D-B51A-B41BBF3D8C6B}"/>
              </a:ext>
            </a:extLst>
          </p:cNvPr>
          <p:cNvSpPr>
            <a:spLocks xmlns:a="http://schemas.openxmlformats.org/drawingml/2006/main" noGrp="1"/>
          </p:cNvSpPr>
          <p:nvPr/>
        </p:nvSpPr>
        <p:spPr>
          <a:xfrm xmlns:a="http://schemas.openxmlformats.org/drawingml/2006/main">
            <a:off x="9305925" y="3524250"/>
            <a:ext cx="2438400" cy="552450"/>
          </a:xfrm>
          <a:prstGeom xmlns:a="http://schemas.openxmlformats.org/drawingml/2006/main" prst="roundRect">
            <a:avLst>
              <a:gd name="adj" fmla="val 20690"/>
            </a:avLst>
          </a:prstGeom>
          <a:solidFill xmlns:a="http://schemas.openxmlformats.org/drawingml/2006/main">
            <a:srgbClr val="F2F3F5"/>
          </a:solidFill>
          <a:ln xmlns:a="http://schemas.openxmlformats.org/drawingml/2006/main" w="9525">
            <a:solidFill>
              <a:srgbClr val="B8BCC4"/>
            </a:solidFill>
            <a:prstDash val="solid"/>
          </a:ln>
        </p:spPr>
      </p:sp>
      <p:sp>
        <p:nvSpPr>
          <p:cNvPr id="45" name="">
            <a:extLst xmlns:a="http://schemas.openxmlformats.org/drawingml/2006/main">
              <a:ext uri="{FF2B5EF4-FFF2-40B4-BE49-F238E27FC236}">
                <a16:creationId xmlns:a16="http://schemas.microsoft.com/office/drawing/2014/main" id="{C8EBE4DD-E096-41FC-8190-8572E8D8A65B}"/>
              </a:ext>
            </a:extLst>
          </p:cNvPr>
          <p:cNvSpPr>
            <a:spLocks xmlns:a="http://schemas.openxmlformats.org/drawingml/2006/main" noGrp="1"/>
          </p:cNvSpPr>
          <p:nvPr/>
        </p:nvSpPr>
        <p:spPr>
          <a:xfrm xmlns:a="http://schemas.openxmlformats.org/drawingml/2006/main">
            <a:off x="9382125" y="36957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C53030"/>
                </a:solidFill>
                <a:latin typeface="Helvetica Neue"/>
                <a:ea typeface="Helvetica Neue"/>
                <a:cs typeface="Helvetica Neue"/>
              </a:defRPr>
            </a:pPr>
            <a:r>
              <a:rPr sz="1200" b="0">
                <a:solidFill>
                  <a:srgbClr val="C53030"/>
                </a:solidFill>
                <a:latin typeface="Helvetica Neue"/>
                <a:ea typeface="Helvetica Neue"/>
                <a:cs typeface="Helvetica Neue"/>
              </a:rPr>
              <a:t>—</a:t>
            </a:r>
          </a:p>
        </p:txBody>
      </p:sp>
      <p:sp>
        <p:nvSpPr>
          <p:cNvPr id="46" name="">
            <a:extLst xmlns:a="http://schemas.openxmlformats.org/drawingml/2006/main">
              <a:ext uri="{FF2B5EF4-FFF2-40B4-BE49-F238E27FC236}">
                <a16:creationId xmlns:a16="http://schemas.microsoft.com/office/drawing/2014/main" id="{4193EEB8-44DC-474A-8A7D-29F990A96A4A}"/>
              </a:ext>
            </a:extLst>
          </p:cNvPr>
          <p:cNvSpPr>
            <a:spLocks xmlns:a="http://schemas.openxmlformats.org/drawingml/2006/main" noGrp="1"/>
          </p:cNvSpPr>
          <p:nvPr/>
        </p:nvSpPr>
        <p:spPr>
          <a:xfrm xmlns:a="http://schemas.openxmlformats.org/drawingml/2006/main">
            <a:off x="400050" y="4171950"/>
            <a:ext cx="267652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9525">
            <a:solidFill>
              <a:srgbClr val="B8BCC4"/>
            </a:solidFill>
            <a:prstDash val="solid"/>
          </a:ln>
        </p:spPr>
      </p:sp>
      <p:sp>
        <p:nvSpPr>
          <p:cNvPr id="47" name="">
            <a:extLst xmlns:a="http://schemas.openxmlformats.org/drawingml/2006/main">
              <a:ext uri="{FF2B5EF4-FFF2-40B4-BE49-F238E27FC236}">
                <a16:creationId xmlns:a16="http://schemas.microsoft.com/office/drawing/2014/main" id="{A631F062-C2A9-4AA5-82A8-E9353FF630B7}"/>
              </a:ext>
            </a:extLst>
          </p:cNvPr>
          <p:cNvSpPr>
            <a:spLocks xmlns:a="http://schemas.openxmlformats.org/drawingml/2006/main" noGrp="1"/>
          </p:cNvSpPr>
          <p:nvPr/>
        </p:nvSpPr>
        <p:spPr>
          <a:xfrm xmlns:a="http://schemas.openxmlformats.org/drawingml/2006/main">
            <a:off x="476250" y="4343400"/>
            <a:ext cx="2524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111318"/>
                </a:solidFill>
                <a:latin typeface="Helvetica Neue"/>
                <a:ea typeface="Helvetica Neue"/>
                <a:cs typeface="Helvetica Neue"/>
              </a:defRPr>
            </a:pPr>
            <a:r>
              <a:rPr sz="1200" b="1">
                <a:solidFill>
                  <a:srgbClr val="111318"/>
                </a:solidFill>
                <a:latin typeface="Helvetica Neue"/>
                <a:ea typeface="Helvetica Neue"/>
                <a:cs typeface="Helvetica Neue"/>
              </a:rPr>
              <a:t>Talensi / Lower Anayari</a:t>
            </a:r>
          </a:p>
        </p:txBody>
      </p:sp>
      <p:sp>
        <p:nvSpPr>
          <p:cNvPr id="48" name="">
            <a:extLst xmlns:a="http://schemas.openxmlformats.org/drawingml/2006/main">
              <a:ext uri="{FF2B5EF4-FFF2-40B4-BE49-F238E27FC236}">
                <a16:creationId xmlns:a16="http://schemas.microsoft.com/office/drawing/2014/main" id="{FC0A5767-E729-4020-858B-415A84A52CFA}"/>
              </a:ext>
            </a:extLst>
          </p:cNvPr>
          <p:cNvSpPr>
            <a:spLocks xmlns:a="http://schemas.openxmlformats.org/drawingml/2006/main" noGrp="1"/>
          </p:cNvSpPr>
          <p:nvPr/>
        </p:nvSpPr>
        <p:spPr>
          <a:xfrm xmlns:a="http://schemas.openxmlformats.org/drawingml/2006/main">
            <a:off x="3114675" y="4171950"/>
            <a:ext cx="18669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9525">
            <a:solidFill>
              <a:srgbClr val="B8BCC4"/>
            </a:solidFill>
            <a:prstDash val="solid"/>
          </a:ln>
        </p:spPr>
      </p:sp>
      <p:sp>
        <p:nvSpPr>
          <p:cNvPr id="49" name="">
            <a:extLst xmlns:a="http://schemas.openxmlformats.org/drawingml/2006/main">
              <a:ext uri="{FF2B5EF4-FFF2-40B4-BE49-F238E27FC236}">
                <a16:creationId xmlns:a16="http://schemas.microsoft.com/office/drawing/2014/main" id="{F838B8B1-BDFB-4589-8968-D4372F3F28BE}"/>
              </a:ext>
            </a:extLst>
          </p:cNvPr>
          <p:cNvSpPr>
            <a:spLocks xmlns:a="http://schemas.openxmlformats.org/drawingml/2006/main" noGrp="1"/>
          </p:cNvSpPr>
          <p:nvPr/>
        </p:nvSpPr>
        <p:spPr>
          <a:xfrm xmlns:a="http://schemas.openxmlformats.org/drawingml/2006/main">
            <a:off x="3190875" y="43434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C53030"/>
                </a:solidFill>
                <a:latin typeface="Helvetica Neue"/>
                <a:ea typeface="Helvetica Neue"/>
                <a:cs typeface="Helvetica Neue"/>
              </a:defRPr>
            </a:pPr>
            <a:r>
              <a:rPr sz="1200" b="0">
                <a:solidFill>
                  <a:srgbClr val="C53030"/>
                </a:solidFill>
                <a:latin typeface="Helvetica Neue"/>
                <a:ea typeface="Helvetica Neue"/>
                <a:cs typeface="Helvetica Neue"/>
              </a:rPr>
              <a:t>—</a:t>
            </a:r>
          </a:p>
        </p:txBody>
      </p:sp>
      <p:sp>
        <p:nvSpPr>
          <p:cNvPr id="50" name="">
            <a:extLst xmlns:a="http://schemas.openxmlformats.org/drawingml/2006/main">
              <a:ext uri="{FF2B5EF4-FFF2-40B4-BE49-F238E27FC236}">
                <a16:creationId xmlns:a16="http://schemas.microsoft.com/office/drawing/2014/main" id="{AED2AD6C-B604-41AC-9B16-33F2A68FBA30}"/>
              </a:ext>
            </a:extLst>
          </p:cNvPr>
          <p:cNvSpPr>
            <a:spLocks xmlns:a="http://schemas.openxmlformats.org/drawingml/2006/main" noGrp="1"/>
          </p:cNvSpPr>
          <p:nvPr/>
        </p:nvSpPr>
        <p:spPr>
          <a:xfrm xmlns:a="http://schemas.openxmlformats.org/drawingml/2006/main">
            <a:off x="5019675" y="4171950"/>
            <a:ext cx="23431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9525">
            <a:solidFill>
              <a:srgbClr val="B8BCC4"/>
            </a:solidFill>
            <a:prstDash val="solid"/>
          </a:ln>
        </p:spPr>
      </p:sp>
      <p:sp>
        <p:nvSpPr>
          <p:cNvPr id="51" name="">
            <a:extLst xmlns:a="http://schemas.openxmlformats.org/drawingml/2006/main">
              <a:ext uri="{FF2B5EF4-FFF2-40B4-BE49-F238E27FC236}">
                <a16:creationId xmlns:a16="http://schemas.microsoft.com/office/drawing/2014/main" id="{4826BF47-A81D-4FF2-B895-DEC72384F835}"/>
              </a:ext>
            </a:extLst>
          </p:cNvPr>
          <p:cNvSpPr>
            <a:spLocks xmlns:a="http://schemas.openxmlformats.org/drawingml/2006/main" noGrp="1"/>
          </p:cNvSpPr>
          <p:nvPr/>
        </p:nvSpPr>
        <p:spPr>
          <a:xfrm xmlns:a="http://schemas.openxmlformats.org/drawingml/2006/main">
            <a:off x="5095875" y="434340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C53030"/>
                </a:solidFill>
                <a:latin typeface="Helvetica Neue"/>
                <a:ea typeface="Helvetica Neue"/>
                <a:cs typeface="Helvetica Neue"/>
              </a:defRPr>
            </a:pPr>
            <a:r>
              <a:rPr sz="1200" b="0">
                <a:solidFill>
                  <a:srgbClr val="C53030"/>
                </a:solidFill>
                <a:latin typeface="Helvetica Neue"/>
                <a:ea typeface="Helvetica Neue"/>
                <a:cs typeface="Helvetica Neue"/>
              </a:rPr>
              <a:t>—</a:t>
            </a:r>
          </a:p>
        </p:txBody>
      </p:sp>
      <p:sp>
        <p:nvSpPr>
          <p:cNvPr id="52" name="">
            <a:extLst xmlns:a="http://schemas.openxmlformats.org/drawingml/2006/main">
              <a:ext uri="{FF2B5EF4-FFF2-40B4-BE49-F238E27FC236}">
                <a16:creationId xmlns:a16="http://schemas.microsoft.com/office/drawing/2014/main" id="{3AFE97FB-8CA3-47D1-A8B4-6E606C8EEB3A}"/>
              </a:ext>
            </a:extLst>
          </p:cNvPr>
          <p:cNvSpPr>
            <a:spLocks xmlns:a="http://schemas.openxmlformats.org/drawingml/2006/main" noGrp="1"/>
          </p:cNvSpPr>
          <p:nvPr/>
        </p:nvSpPr>
        <p:spPr>
          <a:xfrm xmlns:a="http://schemas.openxmlformats.org/drawingml/2006/main">
            <a:off x="7400925" y="4171950"/>
            <a:ext cx="18669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9525">
            <a:solidFill>
              <a:srgbClr val="B8BCC4"/>
            </a:solidFill>
            <a:prstDash val="solid"/>
          </a:ln>
        </p:spPr>
      </p:sp>
      <p:sp>
        <p:nvSpPr>
          <p:cNvPr id="53" name="">
            <a:extLst xmlns:a="http://schemas.openxmlformats.org/drawingml/2006/main">
              <a:ext uri="{FF2B5EF4-FFF2-40B4-BE49-F238E27FC236}">
                <a16:creationId xmlns:a16="http://schemas.microsoft.com/office/drawing/2014/main" id="{61B88B64-9E76-4481-B605-8657A3F65658}"/>
              </a:ext>
            </a:extLst>
          </p:cNvPr>
          <p:cNvSpPr>
            <a:spLocks xmlns:a="http://schemas.openxmlformats.org/drawingml/2006/main" noGrp="1"/>
          </p:cNvSpPr>
          <p:nvPr/>
        </p:nvSpPr>
        <p:spPr>
          <a:xfrm xmlns:a="http://schemas.openxmlformats.org/drawingml/2006/main">
            <a:off x="7477125" y="43434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111318"/>
                </a:solidFill>
                <a:latin typeface="Helvetica Neue"/>
                <a:ea typeface="Helvetica Neue"/>
                <a:cs typeface="Helvetica Neue"/>
              </a:defRPr>
            </a:pPr>
            <a:r>
              <a:rPr sz="1200" b="0">
                <a:solidFill>
                  <a:srgbClr val="111318"/>
                </a:solidFill>
                <a:latin typeface="Helvetica Neue"/>
                <a:ea typeface="Helvetica Neue"/>
                <a:cs typeface="Helvetica Neue"/>
              </a:rPr>
              <a:t>✓</a:t>
            </a:r>
          </a:p>
        </p:txBody>
      </p:sp>
      <p:sp>
        <p:nvSpPr>
          <p:cNvPr id="54" name="">
            <a:extLst xmlns:a="http://schemas.openxmlformats.org/drawingml/2006/main">
              <a:ext uri="{FF2B5EF4-FFF2-40B4-BE49-F238E27FC236}">
                <a16:creationId xmlns:a16="http://schemas.microsoft.com/office/drawing/2014/main" id="{0B40DF5B-E112-4959-B37C-680CFE9BB947}"/>
              </a:ext>
            </a:extLst>
          </p:cNvPr>
          <p:cNvSpPr>
            <a:spLocks xmlns:a="http://schemas.openxmlformats.org/drawingml/2006/main" noGrp="1"/>
          </p:cNvSpPr>
          <p:nvPr/>
        </p:nvSpPr>
        <p:spPr>
          <a:xfrm xmlns:a="http://schemas.openxmlformats.org/drawingml/2006/main">
            <a:off x="9305925" y="4171950"/>
            <a:ext cx="24384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9525">
            <a:solidFill>
              <a:srgbClr val="B8BCC4"/>
            </a:solidFill>
            <a:prstDash val="solid"/>
          </a:ln>
        </p:spPr>
      </p:sp>
      <p:sp>
        <p:nvSpPr>
          <p:cNvPr id="55" name="">
            <a:extLst xmlns:a="http://schemas.openxmlformats.org/drawingml/2006/main">
              <a:ext uri="{FF2B5EF4-FFF2-40B4-BE49-F238E27FC236}">
                <a16:creationId xmlns:a16="http://schemas.microsoft.com/office/drawing/2014/main" id="{A81DC820-585B-4A28-9F31-A656E96C6F92}"/>
              </a:ext>
            </a:extLst>
          </p:cNvPr>
          <p:cNvSpPr>
            <a:spLocks xmlns:a="http://schemas.openxmlformats.org/drawingml/2006/main" noGrp="1"/>
          </p:cNvSpPr>
          <p:nvPr/>
        </p:nvSpPr>
        <p:spPr>
          <a:xfrm xmlns:a="http://schemas.openxmlformats.org/drawingml/2006/main">
            <a:off x="9382125" y="43434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C53030"/>
                </a:solidFill>
                <a:latin typeface="Helvetica Neue"/>
                <a:ea typeface="Helvetica Neue"/>
                <a:cs typeface="Helvetica Neue"/>
              </a:defRPr>
            </a:pPr>
            <a:r>
              <a:rPr sz="1200" b="0">
                <a:solidFill>
                  <a:srgbClr val="C53030"/>
                </a:solidFill>
                <a:latin typeface="Helvetica Neue"/>
                <a:ea typeface="Helvetica Neue"/>
                <a:cs typeface="Helvetica Neue"/>
              </a:rPr>
              <a:t>—</a:t>
            </a:r>
          </a:p>
        </p:txBody>
      </p:sp>
      <p:sp>
        <p:nvSpPr>
          <p:cNvPr id="56" name="">
            <a:extLst xmlns:a="http://schemas.openxmlformats.org/drawingml/2006/main">
              <a:ext uri="{FF2B5EF4-FFF2-40B4-BE49-F238E27FC236}">
                <a16:creationId xmlns:a16="http://schemas.microsoft.com/office/drawing/2014/main" id="{A48851E7-1854-4E7A-BE07-DC2A6D57459F}"/>
              </a:ext>
            </a:extLst>
          </p:cNvPr>
          <p:cNvSpPr>
            <a:spLocks xmlns:a="http://schemas.openxmlformats.org/drawingml/2006/main" noGrp="1"/>
          </p:cNvSpPr>
          <p:nvPr/>
        </p:nvSpPr>
        <p:spPr>
          <a:xfrm xmlns:a="http://schemas.openxmlformats.org/drawingml/2006/main">
            <a:off x="400050" y="4819650"/>
            <a:ext cx="2676525" cy="552450"/>
          </a:xfrm>
          <a:prstGeom xmlns:a="http://schemas.openxmlformats.org/drawingml/2006/main" prst="roundRect">
            <a:avLst>
              <a:gd name="adj" fmla="val 20690"/>
            </a:avLst>
          </a:prstGeom>
          <a:solidFill xmlns:a="http://schemas.openxmlformats.org/drawingml/2006/main">
            <a:srgbClr val="F2F3F5"/>
          </a:solidFill>
          <a:ln xmlns:a="http://schemas.openxmlformats.org/drawingml/2006/main" w="9525">
            <a:solidFill>
              <a:srgbClr val="B8BCC4"/>
            </a:solidFill>
            <a:prstDash val="solid"/>
          </a:ln>
        </p:spPr>
      </p:sp>
      <p:sp>
        <p:nvSpPr>
          <p:cNvPr id="57" name="">
            <a:extLst xmlns:a="http://schemas.openxmlformats.org/drawingml/2006/main">
              <a:ext uri="{FF2B5EF4-FFF2-40B4-BE49-F238E27FC236}">
                <a16:creationId xmlns:a16="http://schemas.microsoft.com/office/drawing/2014/main" id="{307B888C-ED8A-4636-908E-7748D58463A0}"/>
              </a:ext>
            </a:extLst>
          </p:cNvPr>
          <p:cNvSpPr>
            <a:spLocks xmlns:a="http://schemas.openxmlformats.org/drawingml/2006/main" noGrp="1"/>
          </p:cNvSpPr>
          <p:nvPr/>
        </p:nvSpPr>
        <p:spPr>
          <a:xfrm xmlns:a="http://schemas.openxmlformats.org/drawingml/2006/main">
            <a:off x="476250" y="4991100"/>
            <a:ext cx="2524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111318"/>
                </a:solidFill>
                <a:latin typeface="Helvetica Neue"/>
                <a:ea typeface="Helvetica Neue"/>
                <a:cs typeface="Helvetica Neue"/>
              </a:defRPr>
            </a:pPr>
            <a:r>
              <a:rPr sz="1200" b="1">
                <a:solidFill>
                  <a:srgbClr val="111318"/>
                </a:solidFill>
                <a:latin typeface="Helvetica Neue"/>
                <a:ea typeface="Helvetica Neue"/>
                <a:cs typeface="Helvetica Neue"/>
              </a:rPr>
              <a:t>Controlled integration generator</a:t>
            </a:r>
          </a:p>
        </p:txBody>
      </p:sp>
      <p:sp>
        <p:nvSpPr>
          <p:cNvPr id="58" name="">
            <a:extLst xmlns:a="http://schemas.openxmlformats.org/drawingml/2006/main">
              <a:ext uri="{FF2B5EF4-FFF2-40B4-BE49-F238E27FC236}">
                <a16:creationId xmlns:a16="http://schemas.microsoft.com/office/drawing/2014/main" id="{211F44D9-855B-480A-A0A7-9FD1D291EAA1}"/>
              </a:ext>
            </a:extLst>
          </p:cNvPr>
          <p:cNvSpPr>
            <a:spLocks xmlns:a="http://schemas.openxmlformats.org/drawingml/2006/main" noGrp="1"/>
          </p:cNvSpPr>
          <p:nvPr/>
        </p:nvSpPr>
        <p:spPr>
          <a:xfrm xmlns:a="http://schemas.openxmlformats.org/drawingml/2006/main">
            <a:off x="3114675" y="4819650"/>
            <a:ext cx="1866900" cy="552450"/>
          </a:xfrm>
          <a:prstGeom xmlns:a="http://schemas.openxmlformats.org/drawingml/2006/main" prst="roundRect">
            <a:avLst>
              <a:gd name="adj" fmla="val 20690"/>
            </a:avLst>
          </a:prstGeom>
          <a:solidFill xmlns:a="http://schemas.openxmlformats.org/drawingml/2006/main">
            <a:srgbClr val="F2F3F5"/>
          </a:solidFill>
          <a:ln xmlns:a="http://schemas.openxmlformats.org/drawingml/2006/main" w="9525">
            <a:solidFill>
              <a:srgbClr val="B8BCC4"/>
            </a:solidFill>
            <a:prstDash val="solid"/>
          </a:ln>
        </p:spPr>
      </p:sp>
      <p:sp>
        <p:nvSpPr>
          <p:cNvPr id="59" name="">
            <a:extLst xmlns:a="http://schemas.openxmlformats.org/drawingml/2006/main">
              <a:ext uri="{FF2B5EF4-FFF2-40B4-BE49-F238E27FC236}">
                <a16:creationId xmlns:a16="http://schemas.microsoft.com/office/drawing/2014/main" id="{C589341F-1824-4CCF-BFAF-2E07074BCDF6}"/>
              </a:ext>
            </a:extLst>
          </p:cNvPr>
          <p:cNvSpPr>
            <a:spLocks xmlns:a="http://schemas.openxmlformats.org/drawingml/2006/main" noGrp="1"/>
          </p:cNvSpPr>
          <p:nvPr/>
        </p:nvSpPr>
        <p:spPr>
          <a:xfrm xmlns:a="http://schemas.openxmlformats.org/drawingml/2006/main">
            <a:off x="3190875" y="49911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111318"/>
                </a:solidFill>
                <a:latin typeface="Helvetica Neue"/>
                <a:ea typeface="Helvetica Neue"/>
                <a:cs typeface="Helvetica Neue"/>
              </a:defRPr>
            </a:pPr>
            <a:r>
              <a:rPr sz="1200" b="0">
                <a:solidFill>
                  <a:srgbClr val="111318"/>
                </a:solidFill>
                <a:latin typeface="Helvetica Neue"/>
                <a:ea typeface="Helvetica Neue"/>
                <a:cs typeface="Helvetica Neue"/>
              </a:rPr>
              <a:t>✓</a:t>
            </a:r>
          </a:p>
        </p:txBody>
      </p:sp>
      <p:sp>
        <p:nvSpPr>
          <p:cNvPr id="60" name="">
            <a:extLst xmlns:a="http://schemas.openxmlformats.org/drawingml/2006/main">
              <a:ext uri="{FF2B5EF4-FFF2-40B4-BE49-F238E27FC236}">
                <a16:creationId xmlns:a16="http://schemas.microsoft.com/office/drawing/2014/main" id="{B7264D83-7C25-4FD6-ACE3-BF92E8BD0314}"/>
              </a:ext>
            </a:extLst>
          </p:cNvPr>
          <p:cNvSpPr>
            <a:spLocks xmlns:a="http://schemas.openxmlformats.org/drawingml/2006/main" noGrp="1"/>
          </p:cNvSpPr>
          <p:nvPr/>
        </p:nvSpPr>
        <p:spPr>
          <a:xfrm xmlns:a="http://schemas.openxmlformats.org/drawingml/2006/main">
            <a:off x="5019675" y="4819650"/>
            <a:ext cx="2343150" cy="552450"/>
          </a:xfrm>
          <a:prstGeom xmlns:a="http://schemas.openxmlformats.org/drawingml/2006/main" prst="roundRect">
            <a:avLst>
              <a:gd name="adj" fmla="val 20690"/>
            </a:avLst>
          </a:prstGeom>
          <a:solidFill xmlns:a="http://schemas.openxmlformats.org/drawingml/2006/main">
            <a:srgbClr val="F2F3F5"/>
          </a:solidFill>
          <a:ln xmlns:a="http://schemas.openxmlformats.org/drawingml/2006/main" w="9525">
            <a:solidFill>
              <a:srgbClr val="B8BCC4"/>
            </a:solidFill>
            <a:prstDash val="solid"/>
          </a:ln>
        </p:spPr>
      </p:sp>
      <p:sp>
        <p:nvSpPr>
          <p:cNvPr id="61" name="">
            <a:extLst xmlns:a="http://schemas.openxmlformats.org/drawingml/2006/main">
              <a:ext uri="{FF2B5EF4-FFF2-40B4-BE49-F238E27FC236}">
                <a16:creationId xmlns:a16="http://schemas.microsoft.com/office/drawing/2014/main" id="{3B82583F-0479-41E4-A8FB-0781583C3F69}"/>
              </a:ext>
            </a:extLst>
          </p:cNvPr>
          <p:cNvSpPr>
            <a:spLocks xmlns:a="http://schemas.openxmlformats.org/drawingml/2006/main" noGrp="1"/>
          </p:cNvSpPr>
          <p:nvPr/>
        </p:nvSpPr>
        <p:spPr>
          <a:xfrm xmlns:a="http://schemas.openxmlformats.org/drawingml/2006/main">
            <a:off x="5095875" y="499110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111318"/>
                </a:solidFill>
                <a:latin typeface="Helvetica Neue"/>
                <a:ea typeface="Helvetica Neue"/>
                <a:cs typeface="Helvetica Neue"/>
              </a:defRPr>
            </a:pPr>
            <a:r>
              <a:rPr sz="1200" b="0">
                <a:solidFill>
                  <a:srgbClr val="111318"/>
                </a:solidFill>
                <a:latin typeface="Helvetica Neue"/>
                <a:ea typeface="Helvetica Neue"/>
                <a:cs typeface="Helvetica Neue"/>
              </a:rPr>
              <a:t>✓</a:t>
            </a:r>
          </a:p>
        </p:txBody>
      </p:sp>
      <p:sp>
        <p:nvSpPr>
          <p:cNvPr id="62" name="">
            <a:extLst xmlns:a="http://schemas.openxmlformats.org/drawingml/2006/main">
              <a:ext uri="{FF2B5EF4-FFF2-40B4-BE49-F238E27FC236}">
                <a16:creationId xmlns:a16="http://schemas.microsoft.com/office/drawing/2014/main" id="{6632BE43-ED99-4540-ADDC-CE9C10CE88C6}"/>
              </a:ext>
            </a:extLst>
          </p:cNvPr>
          <p:cNvSpPr>
            <a:spLocks xmlns:a="http://schemas.openxmlformats.org/drawingml/2006/main" noGrp="1"/>
          </p:cNvSpPr>
          <p:nvPr/>
        </p:nvSpPr>
        <p:spPr>
          <a:xfrm xmlns:a="http://schemas.openxmlformats.org/drawingml/2006/main">
            <a:off x="7400925" y="4819650"/>
            <a:ext cx="1866900" cy="552450"/>
          </a:xfrm>
          <a:prstGeom xmlns:a="http://schemas.openxmlformats.org/drawingml/2006/main" prst="roundRect">
            <a:avLst>
              <a:gd name="adj" fmla="val 20690"/>
            </a:avLst>
          </a:prstGeom>
          <a:solidFill xmlns:a="http://schemas.openxmlformats.org/drawingml/2006/main">
            <a:srgbClr val="F2F3F5"/>
          </a:solidFill>
          <a:ln xmlns:a="http://schemas.openxmlformats.org/drawingml/2006/main" w="9525">
            <a:solidFill>
              <a:srgbClr val="B8BCC4"/>
            </a:solidFill>
            <a:prstDash val="solid"/>
          </a:ln>
        </p:spPr>
      </p:sp>
      <p:sp>
        <p:nvSpPr>
          <p:cNvPr id="63" name="">
            <a:extLst xmlns:a="http://schemas.openxmlformats.org/drawingml/2006/main">
              <a:ext uri="{FF2B5EF4-FFF2-40B4-BE49-F238E27FC236}">
                <a16:creationId xmlns:a16="http://schemas.microsoft.com/office/drawing/2014/main" id="{D8E9228B-1BC6-4CC3-9CED-0C276F6C0373}"/>
              </a:ext>
            </a:extLst>
          </p:cNvPr>
          <p:cNvSpPr>
            <a:spLocks xmlns:a="http://schemas.openxmlformats.org/drawingml/2006/main" noGrp="1"/>
          </p:cNvSpPr>
          <p:nvPr/>
        </p:nvSpPr>
        <p:spPr>
          <a:xfrm xmlns:a="http://schemas.openxmlformats.org/drawingml/2006/main">
            <a:off x="7477125" y="49911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111318"/>
                </a:solidFill>
                <a:latin typeface="Helvetica Neue"/>
                <a:ea typeface="Helvetica Neue"/>
                <a:cs typeface="Helvetica Neue"/>
              </a:defRPr>
            </a:pPr>
            <a:r>
              <a:rPr sz="1200" b="0">
                <a:solidFill>
                  <a:srgbClr val="111318"/>
                </a:solidFill>
                <a:latin typeface="Helvetica Neue"/>
                <a:ea typeface="Helvetica Neue"/>
                <a:cs typeface="Helvetica Neue"/>
              </a:rPr>
              <a:t>✓</a:t>
            </a:r>
          </a:p>
        </p:txBody>
      </p:sp>
      <p:sp>
        <p:nvSpPr>
          <p:cNvPr id="64" name="">
            <a:extLst xmlns:a="http://schemas.openxmlformats.org/drawingml/2006/main">
              <a:ext uri="{FF2B5EF4-FFF2-40B4-BE49-F238E27FC236}">
                <a16:creationId xmlns:a16="http://schemas.microsoft.com/office/drawing/2014/main" id="{CBEEC1C3-9931-4C57-A6EE-1B90AAC1E2CA}"/>
              </a:ext>
            </a:extLst>
          </p:cNvPr>
          <p:cNvSpPr>
            <a:spLocks xmlns:a="http://schemas.openxmlformats.org/drawingml/2006/main" noGrp="1"/>
          </p:cNvSpPr>
          <p:nvPr/>
        </p:nvSpPr>
        <p:spPr>
          <a:xfrm xmlns:a="http://schemas.openxmlformats.org/drawingml/2006/main">
            <a:off x="9305925" y="4819650"/>
            <a:ext cx="2438400" cy="552450"/>
          </a:xfrm>
          <a:prstGeom xmlns:a="http://schemas.openxmlformats.org/drawingml/2006/main" prst="roundRect">
            <a:avLst>
              <a:gd name="adj" fmla="val 20690"/>
            </a:avLst>
          </a:prstGeom>
          <a:solidFill xmlns:a="http://schemas.openxmlformats.org/drawingml/2006/main">
            <a:srgbClr val="F2F3F5"/>
          </a:solidFill>
          <a:ln xmlns:a="http://schemas.openxmlformats.org/drawingml/2006/main" w="9525">
            <a:solidFill>
              <a:srgbClr val="B8BCC4"/>
            </a:solidFill>
            <a:prstDash val="solid"/>
          </a:ln>
        </p:spPr>
      </p:sp>
      <p:sp>
        <p:nvSpPr>
          <p:cNvPr id="65" name="">
            <a:extLst xmlns:a="http://schemas.openxmlformats.org/drawingml/2006/main">
              <a:ext uri="{FF2B5EF4-FFF2-40B4-BE49-F238E27FC236}">
                <a16:creationId xmlns:a16="http://schemas.microsoft.com/office/drawing/2014/main" id="{25B7CE9A-AEA9-46D9-8D2A-A60631831C54}"/>
              </a:ext>
            </a:extLst>
          </p:cNvPr>
          <p:cNvSpPr>
            <a:spLocks xmlns:a="http://schemas.openxmlformats.org/drawingml/2006/main" noGrp="1"/>
          </p:cNvSpPr>
          <p:nvPr/>
        </p:nvSpPr>
        <p:spPr>
          <a:xfrm xmlns:a="http://schemas.openxmlformats.org/drawingml/2006/main">
            <a:off x="9382125" y="49911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111318"/>
                </a:solidFill>
                <a:latin typeface="Helvetica Neue"/>
                <a:ea typeface="Helvetica Neue"/>
                <a:cs typeface="Helvetica Neue"/>
              </a:defRPr>
            </a:pPr>
            <a:r>
              <a:rPr sz="1200" b="0">
                <a:solidFill>
                  <a:srgbClr val="111318"/>
                </a:solidFill>
                <a:latin typeface="Helvetica Neue"/>
                <a:ea typeface="Helvetica Neue"/>
                <a:cs typeface="Helvetica Neue"/>
              </a:rPr>
              <a:t>✓ planted</a:t>
            </a:r>
          </a:p>
        </p:txBody>
      </p:sp>
      <p:sp>
        <p:nvSpPr>
          <p:cNvPr id="66" name="">
            <a:extLst xmlns:a="http://schemas.openxmlformats.org/drawingml/2006/main">
              <a:ext uri="{FF2B5EF4-FFF2-40B4-BE49-F238E27FC236}">
                <a16:creationId xmlns:a16="http://schemas.microsoft.com/office/drawing/2014/main" id="{01CCB089-4814-4B9A-B5C1-5C91BB530E8B}"/>
              </a:ext>
            </a:extLst>
          </p:cNvPr>
          <p:cNvSpPr>
            <a:spLocks xmlns:a="http://schemas.openxmlformats.org/drawingml/2006/main" noGrp="1"/>
          </p:cNvSpPr>
          <p:nvPr/>
        </p:nvSpPr>
        <p:spPr>
          <a:xfrm xmlns:a="http://schemas.openxmlformats.org/drawingml/2006/main">
            <a:off x="400050" y="5715000"/>
            <a:ext cx="11391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C53030"/>
                </a:solidFill>
                <a:latin typeface="Helvetica Neue"/>
                <a:ea typeface="Helvetica Neue"/>
                <a:cs typeface="Helvetica Neue"/>
              </a:defRPr>
            </a:pPr>
            <a:r>
              <a:rPr sz="1650" b="1">
                <a:solidFill>
                  <a:srgbClr val="C53030"/>
                </a:solidFill>
                <a:latin typeface="Helvetica Neue"/>
                <a:ea typeface="Helvetica Neue"/>
                <a:cs typeface="Helvetica Neue"/>
              </a:rPr>
              <a:t>Therefore: controlled known-truth integration + field supportability, not end-to-end field validation.</a:t>
            </a:r>
          </a:p>
        </p:txBody>
      </p:sp>
    </p:spTree>
    <p:extLst>
      <p:ext uri="{BB962C8B-B14F-4D97-AF65-F5344CB8AC3E}">
        <p14:creationId xmlns:p14="http://schemas.microsoft.com/office/powerpoint/2010/main" val="136557268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F77B4312-5791-40A8-B36C-15DAB49C16BC}"/>
              </a:ext>
            </a:extLst>
          </p:cNvPr>
          <p:cNvSpPr>
            <a:spLocks xmlns:a="http://schemas.openxmlformats.org/drawingml/2006/main" noGrp="1"/>
          </p:cNvSpPr>
          <p:nvPr/>
        </p:nvSpPr>
        <p:spPr>
          <a:xfrm xmlns:a="http://schemas.openxmlformats.org/drawingml/2006/main">
            <a:off x="400050" y="228600"/>
            <a:ext cx="695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ADVERSE CONTROLS</a:t>
            </a:r>
          </a:p>
        </p:txBody>
      </p:sp>
      <p:sp>
        <p:nvSpPr>
          <p:cNvPr id="2" name="">
            <a:extLst xmlns:a="http://schemas.openxmlformats.org/drawingml/2006/main">
              <a:ext uri="{FF2B5EF4-FFF2-40B4-BE49-F238E27FC236}">
                <a16:creationId xmlns:a16="http://schemas.microsoft.com/office/drawing/2014/main" id="{062EE95F-F560-4EA3-9DF8-A09AA8DFFBC2}"/>
              </a:ext>
            </a:extLst>
          </p:cNvPr>
          <p:cNvSpPr>
            <a:spLocks xmlns:a="http://schemas.openxmlformats.org/drawingml/2006/main" noGrp="1"/>
          </p:cNvSpPr>
          <p:nvPr/>
        </p:nvSpPr>
        <p:spPr>
          <a:xfrm xmlns:a="http://schemas.openxmlformats.org/drawingml/2006/main">
            <a:off x="400050" y="49530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Backup · Reduced uncertainty can mean confident error</a:t>
            </a:r>
          </a:p>
        </p:txBody>
      </p:sp>
      <p:sp>
        <p:nvSpPr>
          <p:cNvPr id="3" name="">
            <a:extLst xmlns:a="http://schemas.openxmlformats.org/drawingml/2006/main">
              <a:ext uri="{FF2B5EF4-FFF2-40B4-BE49-F238E27FC236}">
                <a16:creationId xmlns:a16="http://schemas.microsoft.com/office/drawing/2014/main" id="{71CA8216-6932-47B5-9CDC-7386932A90C2}"/>
              </a:ext>
            </a:extLst>
          </p:cNvPr>
          <p:cNvSpPr>
            <a:spLocks xmlns:a="http://schemas.openxmlformats.org/drawingml/2006/main" noGrp="1"/>
          </p:cNvSpPr>
          <p:nvPr/>
        </p:nvSpPr>
        <p:spPr>
          <a:xfrm xmlns:a="http://schemas.openxmlformats.org/drawingml/2006/main">
            <a:off x="400050" y="1190625"/>
            <a:ext cx="11391900" cy="19050"/>
          </a:xfrm>
          <a:prstGeom xmlns:a="http://schemas.openxmlformats.org/drawingml/2006/main" prst="rect">
            <a:avLst/>
          </a:prstGeom>
          <a:solidFill xmlns:a="http://schemas.openxmlformats.org/drawingml/2006/main">
            <a:srgbClr val="11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41A2F71-3559-4238-BDAE-19ECA0B8803B}"/>
              </a:ext>
            </a:extLst>
          </p:cNvPr>
          <p:cNvSpPr>
            <a:spLocks xmlns:a="http://schemas.openxmlformats.org/drawingml/2006/main" noGrp="1"/>
          </p:cNvSpPr>
          <p:nvPr/>
        </p:nvSpPr>
        <p:spPr>
          <a:xfrm xmlns:a="http://schemas.openxmlformats.org/drawingml/2006/main">
            <a:off x="400050" y="6438900"/>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Examiner backup</a:t>
            </a:r>
          </a:p>
        </p:txBody>
      </p:sp>
      <p:sp>
        <p:nvSpPr>
          <p:cNvPr id="5" name="">
            <a:extLst xmlns:a="http://schemas.openxmlformats.org/drawingml/2006/main">
              <a:ext uri="{FF2B5EF4-FFF2-40B4-BE49-F238E27FC236}">
                <a16:creationId xmlns:a16="http://schemas.microsoft.com/office/drawing/2014/main" id="{11AE3E70-B217-4751-9ACF-1035468E278B}"/>
              </a:ext>
            </a:extLst>
          </p:cNvPr>
          <p:cNvSpPr>
            <a:spLocks xmlns:a="http://schemas.openxmlformats.org/drawingml/2006/main" noGrp="1"/>
          </p:cNvSpPr>
          <p:nvPr/>
        </p:nvSpPr>
        <p:spPr>
          <a:xfrm xmlns:a="http://schemas.openxmlformats.org/drawingml/2006/main">
            <a:off x="11287125" y="63912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25</a:t>
            </a:r>
          </a:p>
        </p:txBody>
      </p:sp>
      <p:sp>
        <p:nvSpPr>
          <p:cNvPr id="6" name="">
            <a:extLst xmlns:a="http://schemas.openxmlformats.org/drawingml/2006/main">
              <a:ext uri="{FF2B5EF4-FFF2-40B4-BE49-F238E27FC236}">
                <a16:creationId xmlns:a16="http://schemas.microsoft.com/office/drawing/2014/main" id="{169575EB-1961-4252-B55A-8839C873D0ED}"/>
              </a:ext>
            </a:extLst>
          </p:cNvPr>
          <p:cNvSpPr>
            <a:spLocks xmlns:a="http://schemas.openxmlformats.org/drawingml/2006/main" noGrp="1"/>
          </p:cNvSpPr>
          <p:nvPr/>
        </p:nvSpPr>
        <p:spPr>
          <a:xfrm xmlns:a="http://schemas.openxmlformats.org/drawingml/2006/main">
            <a:off x="400050" y="1809750"/>
            <a:ext cx="3543300" cy="2952750"/>
          </a:xfrm>
          <a:prstGeom xmlns:a="http://schemas.openxmlformats.org/drawingml/2006/main" prst="roundRect">
            <a:avLst>
              <a:gd name="adj" fmla="val 3871"/>
            </a:avLst>
          </a:prstGeom>
          <a:solidFill xmlns:a="http://schemas.openxmlformats.org/drawingml/2006/main">
            <a:srgbClr val="FFF3D9"/>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998DC41-ED04-4A4F-A032-4C6526030BE7}"/>
              </a:ext>
            </a:extLst>
          </p:cNvPr>
          <p:cNvSpPr>
            <a:spLocks xmlns:a="http://schemas.openxmlformats.org/drawingml/2006/main" noGrp="1"/>
          </p:cNvSpPr>
          <p:nvPr/>
        </p:nvSpPr>
        <p:spPr>
          <a:xfrm xmlns:a="http://schemas.openxmlformats.org/drawingml/2006/main">
            <a:off x="628650" y="2095500"/>
            <a:ext cx="3086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1">
                <a:solidFill>
                  <a:srgbClr val="D97706"/>
                </a:solidFill>
                <a:latin typeface="Helvetica Neue"/>
                <a:ea typeface="Helvetica Neue"/>
                <a:cs typeface="Helvetica Neue"/>
              </a:defRPr>
            </a:pPr>
            <a:r>
              <a:rPr sz="1350" b="1">
                <a:solidFill>
                  <a:srgbClr val="D97706"/>
                </a:solidFill>
                <a:latin typeface="Helvetica Neue"/>
                <a:ea typeface="Helvetica Neue"/>
                <a:cs typeface="Helvetica Neue"/>
              </a:rPr>
              <a:t>PERMUTED AGE</a:t>
            </a:r>
          </a:p>
        </p:txBody>
      </p:sp>
      <p:sp>
        <p:nvSpPr>
          <p:cNvPr id="8" name="">
            <a:extLst xmlns:a="http://schemas.openxmlformats.org/drawingml/2006/main">
              <a:ext uri="{FF2B5EF4-FFF2-40B4-BE49-F238E27FC236}">
                <a16:creationId xmlns:a16="http://schemas.microsoft.com/office/drawing/2014/main" id="{AEA2530B-2322-42DE-BD3A-14668E95FB86}"/>
              </a:ext>
            </a:extLst>
          </p:cNvPr>
          <p:cNvSpPr>
            <a:spLocks xmlns:a="http://schemas.openxmlformats.org/drawingml/2006/main" noGrp="1"/>
          </p:cNvSpPr>
          <p:nvPr/>
        </p:nvSpPr>
        <p:spPr>
          <a:xfrm xmlns:a="http://schemas.openxmlformats.org/drawingml/2006/main">
            <a:off x="628650" y="2838450"/>
            <a:ext cx="3086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11318"/>
                </a:solidFill>
                <a:latin typeface="Helvetica Neue"/>
                <a:ea typeface="Helvetica Neue"/>
                <a:cs typeface="Helvetica Neue"/>
              </a:defRPr>
            </a:pPr>
            <a:r>
              <a:rPr sz="1275" b="1">
                <a:solidFill>
                  <a:srgbClr val="111318"/>
                </a:solidFill>
                <a:latin typeface="Helvetica Neue"/>
                <a:ea typeface="Helvetica Neue"/>
                <a:cs typeface="Helvetica Neue"/>
              </a:rPr>
              <a:t>MORE CERTAIN</a:t>
            </a:r>
          </a:p>
        </p:txBody>
      </p:sp>
      <p:sp>
        <p:nvSpPr>
          <p:cNvPr id="9" name="">
            <a:extLst xmlns:a="http://schemas.openxmlformats.org/drawingml/2006/main">
              <a:ext uri="{FF2B5EF4-FFF2-40B4-BE49-F238E27FC236}">
                <a16:creationId xmlns:a16="http://schemas.microsoft.com/office/drawing/2014/main" id="{761ECA7E-0E4A-4AE8-AC15-1B57601592AB}"/>
              </a:ext>
            </a:extLst>
          </p:cNvPr>
          <p:cNvSpPr>
            <a:spLocks xmlns:a="http://schemas.openxmlformats.org/drawingml/2006/main" noGrp="1"/>
          </p:cNvSpPr>
          <p:nvPr/>
        </p:nvSpPr>
        <p:spPr>
          <a:xfrm xmlns:a="http://schemas.openxmlformats.org/drawingml/2006/main">
            <a:off x="628650" y="3219450"/>
            <a:ext cx="3086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100" b="1">
                <a:solidFill>
                  <a:srgbClr val="111318"/>
                </a:solidFill>
                <a:latin typeface="Helvetica Neue"/>
                <a:ea typeface="Helvetica Neue"/>
                <a:cs typeface="Helvetica Neue"/>
              </a:defRPr>
            </a:pPr>
            <a:r>
              <a:rPr sz="2100" b="1">
                <a:solidFill>
                  <a:srgbClr val="111318"/>
                </a:solidFill>
                <a:latin typeface="Helvetica Neue"/>
                <a:ea typeface="Helvetica Neue"/>
                <a:cs typeface="Helvetica Neue"/>
              </a:rPr>
              <a:t>Entropy −0.0207</a:t>
            </a:r>
          </a:p>
        </p:txBody>
      </p:sp>
      <p:sp>
        <p:nvSpPr>
          <p:cNvPr id="10" name="">
            <a:extLst xmlns:a="http://schemas.openxmlformats.org/drawingml/2006/main">
              <a:ext uri="{FF2B5EF4-FFF2-40B4-BE49-F238E27FC236}">
                <a16:creationId xmlns:a16="http://schemas.microsoft.com/office/drawing/2014/main" id="{28E8E081-9A0C-4AB0-B048-F3E947EC38C3}"/>
              </a:ext>
            </a:extLst>
          </p:cNvPr>
          <p:cNvSpPr>
            <a:spLocks xmlns:a="http://schemas.openxmlformats.org/drawingml/2006/main" noGrp="1"/>
          </p:cNvSpPr>
          <p:nvPr/>
        </p:nvSpPr>
        <p:spPr>
          <a:xfrm xmlns:a="http://schemas.openxmlformats.org/drawingml/2006/main">
            <a:off x="628650" y="3876675"/>
            <a:ext cx="3086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C53030"/>
                </a:solidFill>
                <a:latin typeface="Helvetica Neue"/>
                <a:ea typeface="Helvetica Neue"/>
                <a:cs typeface="Helvetica Neue"/>
              </a:defRPr>
            </a:pPr>
            <a:r>
              <a:rPr sz="1275" b="1">
                <a:solidFill>
                  <a:srgbClr val="C53030"/>
                </a:solidFill>
                <a:latin typeface="Helvetica Neue"/>
                <a:ea typeface="Helvetica Neue"/>
                <a:cs typeface="Helvetica Neue"/>
              </a:rPr>
              <a:t>BUT WORSE</a:t>
            </a:r>
          </a:p>
        </p:txBody>
      </p:sp>
      <p:sp>
        <p:nvSpPr>
          <p:cNvPr id="11" name="">
            <a:extLst xmlns:a="http://schemas.openxmlformats.org/drawingml/2006/main">
              <a:ext uri="{FF2B5EF4-FFF2-40B4-BE49-F238E27FC236}">
                <a16:creationId xmlns:a16="http://schemas.microsoft.com/office/drawing/2014/main" id="{13C66757-CFCC-45EF-B927-BB0B4494B51E}"/>
              </a:ext>
            </a:extLst>
          </p:cNvPr>
          <p:cNvSpPr>
            <a:spLocks xmlns:a="http://schemas.openxmlformats.org/drawingml/2006/main" noGrp="1"/>
          </p:cNvSpPr>
          <p:nvPr/>
        </p:nvSpPr>
        <p:spPr>
          <a:xfrm xmlns:a="http://schemas.openxmlformats.org/drawingml/2006/main">
            <a:off x="628650" y="4257675"/>
            <a:ext cx="3086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a:solidFill>
                  <a:srgbClr val="C53030"/>
                </a:solidFill>
                <a:latin typeface="Helvetica Neue"/>
                <a:ea typeface="Helvetica Neue"/>
                <a:cs typeface="Helvetica Neue"/>
              </a:defRPr>
            </a:pPr>
            <a:r>
              <a:rPr sz="1800" b="1">
                <a:solidFill>
                  <a:srgbClr val="C53030"/>
                </a:solidFill>
                <a:latin typeface="Helvetica Neue"/>
                <a:ea typeface="Helvetica Neue"/>
                <a:cs typeface="Helvetica Neue"/>
              </a:rPr>
              <a:t>PR-AUC −0.0754</a:t>
            </a:r>
          </a:p>
        </p:txBody>
      </p:sp>
      <p:sp>
        <p:nvSpPr>
          <p:cNvPr id="12" name="">
            <a:extLst xmlns:a="http://schemas.openxmlformats.org/drawingml/2006/main">
              <a:ext uri="{FF2B5EF4-FFF2-40B4-BE49-F238E27FC236}">
                <a16:creationId xmlns:a16="http://schemas.microsoft.com/office/drawing/2014/main" id="{30B05F1D-C943-43B1-B65E-3CB5580F15EA}"/>
              </a:ext>
            </a:extLst>
          </p:cNvPr>
          <p:cNvSpPr>
            <a:spLocks xmlns:a="http://schemas.openxmlformats.org/drawingml/2006/main" noGrp="1"/>
          </p:cNvSpPr>
          <p:nvPr/>
        </p:nvSpPr>
        <p:spPr>
          <a:xfrm xmlns:a="http://schemas.openxmlformats.org/drawingml/2006/main">
            <a:off x="4257675" y="1809750"/>
            <a:ext cx="3543300" cy="2952750"/>
          </a:xfrm>
          <a:prstGeom xmlns:a="http://schemas.openxmlformats.org/drawingml/2006/main" prst="roundRect">
            <a:avLst>
              <a:gd name="adj" fmla="val 3871"/>
            </a:avLst>
          </a:prstGeom>
          <a:solidFill xmlns:a="http://schemas.openxmlformats.org/drawingml/2006/main">
            <a:srgbClr val="FDE8E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54DB534-A564-4FF0-ABF7-853B98374C90}"/>
              </a:ext>
            </a:extLst>
          </p:cNvPr>
          <p:cNvSpPr>
            <a:spLocks xmlns:a="http://schemas.openxmlformats.org/drawingml/2006/main" noGrp="1"/>
          </p:cNvSpPr>
          <p:nvPr/>
        </p:nvSpPr>
        <p:spPr>
          <a:xfrm xmlns:a="http://schemas.openxmlformats.org/drawingml/2006/main">
            <a:off x="4486275" y="2095500"/>
            <a:ext cx="3086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1">
                <a:solidFill>
                  <a:srgbClr val="C53030"/>
                </a:solidFill>
                <a:latin typeface="Helvetica Neue"/>
                <a:ea typeface="Helvetica Neue"/>
                <a:cs typeface="Helvetica Neue"/>
              </a:defRPr>
            </a:pPr>
            <a:r>
              <a:rPr sz="1350" b="1">
                <a:solidFill>
                  <a:srgbClr val="C53030"/>
                </a:solidFill>
                <a:latin typeface="Helvetica Neue"/>
                <a:ea typeface="Helvetica Neue"/>
                <a:cs typeface="Helvetica Neue"/>
              </a:rPr>
              <a:t>PERMUTED HYDRAULICS</a:t>
            </a:r>
          </a:p>
        </p:txBody>
      </p:sp>
      <p:sp>
        <p:nvSpPr>
          <p:cNvPr id="14" name="">
            <a:extLst xmlns:a="http://schemas.openxmlformats.org/drawingml/2006/main">
              <a:ext uri="{FF2B5EF4-FFF2-40B4-BE49-F238E27FC236}">
                <a16:creationId xmlns:a16="http://schemas.microsoft.com/office/drawing/2014/main" id="{A4DD60CD-D8C7-4F28-94BB-83A2A22EACD1}"/>
              </a:ext>
            </a:extLst>
          </p:cNvPr>
          <p:cNvSpPr>
            <a:spLocks xmlns:a="http://schemas.openxmlformats.org/drawingml/2006/main" noGrp="1"/>
          </p:cNvSpPr>
          <p:nvPr/>
        </p:nvSpPr>
        <p:spPr>
          <a:xfrm xmlns:a="http://schemas.openxmlformats.org/drawingml/2006/main">
            <a:off x="4486275" y="2838450"/>
            <a:ext cx="3086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11318"/>
                </a:solidFill>
                <a:latin typeface="Helvetica Neue"/>
                <a:ea typeface="Helvetica Neue"/>
                <a:cs typeface="Helvetica Neue"/>
              </a:defRPr>
            </a:pPr>
            <a:r>
              <a:rPr sz="1275" b="1">
                <a:solidFill>
                  <a:srgbClr val="111318"/>
                </a:solidFill>
                <a:latin typeface="Helvetica Neue"/>
                <a:ea typeface="Helvetica Neue"/>
                <a:cs typeface="Helvetica Neue"/>
              </a:rPr>
              <a:t>MORE CERTAIN</a:t>
            </a:r>
          </a:p>
        </p:txBody>
      </p:sp>
      <p:sp>
        <p:nvSpPr>
          <p:cNvPr id="15" name="">
            <a:extLst xmlns:a="http://schemas.openxmlformats.org/drawingml/2006/main">
              <a:ext uri="{FF2B5EF4-FFF2-40B4-BE49-F238E27FC236}">
                <a16:creationId xmlns:a16="http://schemas.microsoft.com/office/drawing/2014/main" id="{12086F57-7D5C-4A4F-8463-6A50AC3AFE9D}"/>
              </a:ext>
            </a:extLst>
          </p:cNvPr>
          <p:cNvSpPr>
            <a:spLocks xmlns:a="http://schemas.openxmlformats.org/drawingml/2006/main" noGrp="1"/>
          </p:cNvSpPr>
          <p:nvPr/>
        </p:nvSpPr>
        <p:spPr>
          <a:xfrm xmlns:a="http://schemas.openxmlformats.org/drawingml/2006/main">
            <a:off x="4486275" y="3219450"/>
            <a:ext cx="3086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100" b="1">
                <a:solidFill>
                  <a:srgbClr val="111318"/>
                </a:solidFill>
                <a:latin typeface="Helvetica Neue"/>
                <a:ea typeface="Helvetica Neue"/>
                <a:cs typeface="Helvetica Neue"/>
              </a:defRPr>
            </a:pPr>
            <a:r>
              <a:rPr sz="2100" b="1">
                <a:solidFill>
                  <a:srgbClr val="111318"/>
                </a:solidFill>
                <a:latin typeface="Helvetica Neue"/>
                <a:ea typeface="Helvetica Neue"/>
                <a:cs typeface="Helvetica Neue"/>
              </a:rPr>
              <a:t>Entropy −0.0482</a:t>
            </a:r>
          </a:p>
        </p:txBody>
      </p:sp>
      <p:sp>
        <p:nvSpPr>
          <p:cNvPr id="16" name="">
            <a:extLst xmlns:a="http://schemas.openxmlformats.org/drawingml/2006/main">
              <a:ext uri="{FF2B5EF4-FFF2-40B4-BE49-F238E27FC236}">
                <a16:creationId xmlns:a16="http://schemas.microsoft.com/office/drawing/2014/main" id="{E332EEA7-9BDD-4D0E-8377-DD33BDCB9650}"/>
              </a:ext>
            </a:extLst>
          </p:cNvPr>
          <p:cNvSpPr>
            <a:spLocks xmlns:a="http://schemas.openxmlformats.org/drawingml/2006/main" noGrp="1"/>
          </p:cNvSpPr>
          <p:nvPr/>
        </p:nvSpPr>
        <p:spPr>
          <a:xfrm xmlns:a="http://schemas.openxmlformats.org/drawingml/2006/main">
            <a:off x="4486275" y="3876675"/>
            <a:ext cx="3086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C53030"/>
                </a:solidFill>
                <a:latin typeface="Helvetica Neue"/>
                <a:ea typeface="Helvetica Neue"/>
                <a:cs typeface="Helvetica Neue"/>
              </a:defRPr>
            </a:pPr>
            <a:r>
              <a:rPr sz="1275" b="1">
                <a:solidFill>
                  <a:srgbClr val="C53030"/>
                </a:solidFill>
                <a:latin typeface="Helvetica Neue"/>
                <a:ea typeface="Helvetica Neue"/>
                <a:cs typeface="Helvetica Neue"/>
              </a:rPr>
              <a:t>BUT WORSE</a:t>
            </a:r>
          </a:p>
        </p:txBody>
      </p:sp>
      <p:sp>
        <p:nvSpPr>
          <p:cNvPr id="17" name="">
            <a:extLst xmlns:a="http://schemas.openxmlformats.org/drawingml/2006/main">
              <a:ext uri="{FF2B5EF4-FFF2-40B4-BE49-F238E27FC236}">
                <a16:creationId xmlns:a16="http://schemas.microsoft.com/office/drawing/2014/main" id="{03944158-E275-4209-B753-AFC4F229A5F5}"/>
              </a:ext>
            </a:extLst>
          </p:cNvPr>
          <p:cNvSpPr>
            <a:spLocks xmlns:a="http://schemas.openxmlformats.org/drawingml/2006/main" noGrp="1"/>
          </p:cNvSpPr>
          <p:nvPr/>
        </p:nvSpPr>
        <p:spPr>
          <a:xfrm xmlns:a="http://schemas.openxmlformats.org/drawingml/2006/main">
            <a:off x="4486275" y="4257675"/>
            <a:ext cx="3086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a:solidFill>
                  <a:srgbClr val="C53030"/>
                </a:solidFill>
                <a:latin typeface="Helvetica Neue"/>
                <a:ea typeface="Helvetica Neue"/>
                <a:cs typeface="Helvetica Neue"/>
              </a:defRPr>
            </a:pPr>
            <a:r>
              <a:rPr sz="1800" b="1">
                <a:solidFill>
                  <a:srgbClr val="C53030"/>
                </a:solidFill>
                <a:latin typeface="Helvetica Neue"/>
                <a:ea typeface="Helvetica Neue"/>
                <a:cs typeface="Helvetica Neue"/>
              </a:rPr>
              <a:t>Log loss +0.0745</a:t>
            </a:r>
          </a:p>
        </p:txBody>
      </p:sp>
      <p:sp>
        <p:nvSpPr>
          <p:cNvPr id="18" name="">
            <a:extLst xmlns:a="http://schemas.openxmlformats.org/drawingml/2006/main">
              <a:ext uri="{FF2B5EF4-FFF2-40B4-BE49-F238E27FC236}">
                <a16:creationId xmlns:a16="http://schemas.microsoft.com/office/drawing/2014/main" id="{EC7A1162-77FB-4074-BFE4-B1DEADDB7435}"/>
              </a:ext>
            </a:extLst>
          </p:cNvPr>
          <p:cNvSpPr>
            <a:spLocks xmlns:a="http://schemas.openxmlformats.org/drawingml/2006/main" noGrp="1"/>
          </p:cNvSpPr>
          <p:nvPr/>
        </p:nvSpPr>
        <p:spPr>
          <a:xfrm xmlns:a="http://schemas.openxmlformats.org/drawingml/2006/main">
            <a:off x="8115300" y="1809750"/>
            <a:ext cx="3543300" cy="2952750"/>
          </a:xfrm>
          <a:prstGeom xmlns:a="http://schemas.openxmlformats.org/drawingml/2006/main" prst="roundRect">
            <a:avLst>
              <a:gd name="adj" fmla="val 3871"/>
            </a:avLst>
          </a:prstGeom>
          <a:solidFill xmlns:a="http://schemas.openxmlformats.org/drawingml/2006/main">
            <a:srgbClr val="FDE8E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486BF75-8A4A-4B0A-B37C-F8015DFDEB82}"/>
              </a:ext>
            </a:extLst>
          </p:cNvPr>
          <p:cNvSpPr>
            <a:spLocks xmlns:a="http://schemas.openxmlformats.org/drawingml/2006/main" noGrp="1"/>
          </p:cNvSpPr>
          <p:nvPr/>
        </p:nvSpPr>
        <p:spPr>
          <a:xfrm xmlns:a="http://schemas.openxmlformats.org/drawingml/2006/main">
            <a:off x="8343900" y="2095500"/>
            <a:ext cx="3086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1">
                <a:solidFill>
                  <a:srgbClr val="C53030"/>
                </a:solidFill>
                <a:latin typeface="Helvetica Neue"/>
                <a:ea typeface="Helvetica Neue"/>
                <a:cs typeface="Helvetica Neue"/>
              </a:defRPr>
            </a:pPr>
            <a:r>
              <a:rPr sz="1350" b="1">
                <a:solidFill>
                  <a:srgbClr val="C53030"/>
                </a:solidFill>
                <a:latin typeface="Helvetica Neue"/>
                <a:ea typeface="Helvetica Neue"/>
                <a:cs typeface="Helvetica Neue"/>
              </a:rPr>
              <a:t>JOINT MISSPECIFICATION</a:t>
            </a:r>
          </a:p>
        </p:txBody>
      </p:sp>
      <p:sp>
        <p:nvSpPr>
          <p:cNvPr id="20" name="">
            <a:extLst xmlns:a="http://schemas.openxmlformats.org/drawingml/2006/main">
              <a:ext uri="{FF2B5EF4-FFF2-40B4-BE49-F238E27FC236}">
                <a16:creationId xmlns:a16="http://schemas.microsoft.com/office/drawing/2014/main" id="{72137DB9-F316-401B-9D21-E533BD4FFE75}"/>
              </a:ext>
            </a:extLst>
          </p:cNvPr>
          <p:cNvSpPr>
            <a:spLocks xmlns:a="http://schemas.openxmlformats.org/drawingml/2006/main" noGrp="1"/>
          </p:cNvSpPr>
          <p:nvPr/>
        </p:nvSpPr>
        <p:spPr>
          <a:xfrm xmlns:a="http://schemas.openxmlformats.org/drawingml/2006/main">
            <a:off x="8343900" y="2838450"/>
            <a:ext cx="3086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11318"/>
                </a:solidFill>
                <a:latin typeface="Helvetica Neue"/>
                <a:ea typeface="Helvetica Neue"/>
                <a:cs typeface="Helvetica Neue"/>
              </a:defRPr>
            </a:pPr>
            <a:r>
              <a:rPr sz="1275" b="1">
                <a:solidFill>
                  <a:srgbClr val="111318"/>
                </a:solidFill>
                <a:latin typeface="Helvetica Neue"/>
                <a:ea typeface="Helvetica Neue"/>
                <a:cs typeface="Helvetica Neue"/>
              </a:rPr>
              <a:t>MORE CERTAIN</a:t>
            </a:r>
          </a:p>
        </p:txBody>
      </p:sp>
      <p:sp>
        <p:nvSpPr>
          <p:cNvPr id="21" name="">
            <a:extLst xmlns:a="http://schemas.openxmlformats.org/drawingml/2006/main">
              <a:ext uri="{FF2B5EF4-FFF2-40B4-BE49-F238E27FC236}">
                <a16:creationId xmlns:a16="http://schemas.microsoft.com/office/drawing/2014/main" id="{6AD769ED-9063-4BB3-9994-0EDE4578A507}"/>
              </a:ext>
            </a:extLst>
          </p:cNvPr>
          <p:cNvSpPr>
            <a:spLocks xmlns:a="http://schemas.openxmlformats.org/drawingml/2006/main" noGrp="1"/>
          </p:cNvSpPr>
          <p:nvPr/>
        </p:nvSpPr>
        <p:spPr>
          <a:xfrm xmlns:a="http://schemas.openxmlformats.org/drawingml/2006/main">
            <a:off x="8343900" y="3219450"/>
            <a:ext cx="3086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100" b="1">
                <a:solidFill>
                  <a:srgbClr val="111318"/>
                </a:solidFill>
                <a:latin typeface="Helvetica Neue"/>
                <a:ea typeface="Helvetica Neue"/>
                <a:cs typeface="Helvetica Neue"/>
              </a:defRPr>
            </a:pPr>
            <a:r>
              <a:rPr sz="2100" b="1">
                <a:solidFill>
                  <a:srgbClr val="111318"/>
                </a:solidFill>
                <a:latin typeface="Helvetica Neue"/>
                <a:ea typeface="Helvetica Neue"/>
                <a:cs typeface="Helvetica Neue"/>
              </a:rPr>
              <a:t>Entropy −0.0706</a:t>
            </a:r>
          </a:p>
        </p:txBody>
      </p:sp>
      <p:sp>
        <p:nvSpPr>
          <p:cNvPr id="22" name="">
            <a:extLst xmlns:a="http://schemas.openxmlformats.org/drawingml/2006/main">
              <a:ext uri="{FF2B5EF4-FFF2-40B4-BE49-F238E27FC236}">
                <a16:creationId xmlns:a16="http://schemas.microsoft.com/office/drawing/2014/main" id="{3499EB71-7BB3-412D-A1F1-1CD1D5822C54}"/>
              </a:ext>
            </a:extLst>
          </p:cNvPr>
          <p:cNvSpPr>
            <a:spLocks xmlns:a="http://schemas.openxmlformats.org/drawingml/2006/main" noGrp="1"/>
          </p:cNvSpPr>
          <p:nvPr/>
        </p:nvSpPr>
        <p:spPr>
          <a:xfrm xmlns:a="http://schemas.openxmlformats.org/drawingml/2006/main">
            <a:off x="8343900" y="3876675"/>
            <a:ext cx="3086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C53030"/>
                </a:solidFill>
                <a:latin typeface="Helvetica Neue"/>
                <a:ea typeface="Helvetica Neue"/>
                <a:cs typeface="Helvetica Neue"/>
              </a:defRPr>
            </a:pPr>
            <a:r>
              <a:rPr sz="1275" b="1">
                <a:solidFill>
                  <a:srgbClr val="C53030"/>
                </a:solidFill>
                <a:latin typeface="Helvetica Neue"/>
                <a:ea typeface="Helvetica Neue"/>
                <a:cs typeface="Helvetica Neue"/>
              </a:rPr>
              <a:t>BUT WORSE</a:t>
            </a:r>
          </a:p>
        </p:txBody>
      </p:sp>
      <p:sp>
        <p:nvSpPr>
          <p:cNvPr id="23" name="">
            <a:extLst xmlns:a="http://schemas.openxmlformats.org/drawingml/2006/main">
              <a:ext uri="{FF2B5EF4-FFF2-40B4-BE49-F238E27FC236}">
                <a16:creationId xmlns:a16="http://schemas.microsoft.com/office/drawing/2014/main" id="{B661D086-B6E4-4DAA-8D82-8DBF310D2BD2}"/>
              </a:ext>
            </a:extLst>
          </p:cNvPr>
          <p:cNvSpPr>
            <a:spLocks xmlns:a="http://schemas.openxmlformats.org/drawingml/2006/main" noGrp="1"/>
          </p:cNvSpPr>
          <p:nvPr/>
        </p:nvSpPr>
        <p:spPr>
          <a:xfrm xmlns:a="http://schemas.openxmlformats.org/drawingml/2006/main">
            <a:off x="8343900" y="4257675"/>
            <a:ext cx="3086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a:solidFill>
                  <a:srgbClr val="C53030"/>
                </a:solidFill>
                <a:latin typeface="Helvetica Neue"/>
                <a:ea typeface="Helvetica Neue"/>
                <a:cs typeface="Helvetica Neue"/>
              </a:defRPr>
            </a:pPr>
            <a:r>
              <a:rPr sz="1800" b="1">
                <a:solidFill>
                  <a:srgbClr val="C53030"/>
                </a:solidFill>
                <a:latin typeface="Helvetica Neue"/>
                <a:ea typeface="Helvetica Neue"/>
                <a:cs typeface="Helvetica Neue"/>
              </a:rPr>
              <a:t>PR-AUC −0.139</a:t>
            </a:r>
          </a:p>
        </p:txBody>
      </p:sp>
      <p:sp>
        <p:nvSpPr>
          <p:cNvPr id="24" name="">
            <a:extLst xmlns:a="http://schemas.openxmlformats.org/drawingml/2006/main">
              <a:ext uri="{FF2B5EF4-FFF2-40B4-BE49-F238E27FC236}">
                <a16:creationId xmlns:a16="http://schemas.microsoft.com/office/drawing/2014/main" id="{D51E93CA-373A-47CF-AED9-FBE62CD7664C}"/>
              </a:ext>
            </a:extLst>
          </p:cNvPr>
          <p:cNvSpPr>
            <a:spLocks xmlns:a="http://schemas.openxmlformats.org/drawingml/2006/main" noGrp="1"/>
          </p:cNvSpPr>
          <p:nvPr/>
        </p:nvSpPr>
        <p:spPr>
          <a:xfrm xmlns:a="http://schemas.openxmlformats.org/drawingml/2006/main">
            <a:off x="1905000" y="5191125"/>
            <a:ext cx="8382000" cy="685800"/>
          </a:xfrm>
          <a:prstGeom xmlns:a="http://schemas.openxmlformats.org/drawingml/2006/main" prst="roundRect">
            <a:avLst>
              <a:gd name="adj" fmla="val 16667"/>
            </a:avLst>
          </a:prstGeom>
          <a:solidFill xmlns:a="http://schemas.openxmlformats.org/drawingml/2006/main">
            <a:srgbClr val="11131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783F7E78-9E3C-478C-ADB7-0A58053AA568}"/>
              </a:ext>
            </a:extLst>
          </p:cNvPr>
          <p:cNvSpPr>
            <a:spLocks xmlns:a="http://schemas.openxmlformats.org/drawingml/2006/main" noGrp="1"/>
          </p:cNvSpPr>
          <p:nvPr/>
        </p:nvSpPr>
        <p:spPr>
          <a:xfrm xmlns:a="http://schemas.openxmlformats.org/drawingml/2006/main">
            <a:off x="2190750" y="5400675"/>
            <a:ext cx="781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Calibration and discrimination must accompany entropy or interval width.</a:t>
            </a:r>
          </a:p>
        </p:txBody>
      </p:sp>
    </p:spTree>
    <p:extLst>
      <p:ext uri="{BB962C8B-B14F-4D97-AF65-F5344CB8AC3E}">
        <p14:creationId xmlns:p14="http://schemas.microsoft.com/office/powerpoint/2010/main" val="626725557"/>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AA10CD9-9B73-4940-81F2-C9017FEFB4CF}"/>
              </a:ext>
            </a:extLst>
          </p:cNvPr>
          <p:cNvSpPr>
            <a:spLocks xmlns:a="http://schemas.openxmlformats.org/drawingml/2006/main" noGrp="1"/>
          </p:cNvSpPr>
          <p:nvPr/>
        </p:nvSpPr>
        <p:spPr>
          <a:xfrm xmlns:a="http://schemas.openxmlformats.org/drawingml/2006/main">
            <a:off x="400050" y="228600"/>
            <a:ext cx="695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CAPABILITY STATUS</a:t>
            </a:r>
          </a:p>
        </p:txBody>
      </p:sp>
      <p:sp>
        <p:nvSpPr>
          <p:cNvPr id="2" name="">
            <a:extLst xmlns:a="http://schemas.openxmlformats.org/drawingml/2006/main">
              <a:ext uri="{FF2B5EF4-FFF2-40B4-BE49-F238E27FC236}">
                <a16:creationId xmlns:a16="http://schemas.microsoft.com/office/drawing/2014/main" id="{D3135CE7-F450-43B6-9A0A-202B20F6DF23}"/>
              </a:ext>
            </a:extLst>
          </p:cNvPr>
          <p:cNvSpPr>
            <a:spLocks xmlns:a="http://schemas.openxmlformats.org/drawingml/2006/main" noGrp="1"/>
          </p:cNvSpPr>
          <p:nvPr/>
        </p:nvSpPr>
        <p:spPr>
          <a:xfrm xmlns:a="http://schemas.openxmlformats.org/drawingml/2006/main">
            <a:off x="400050" y="49530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Backup · Active learning is implemented, not yet validated</a:t>
            </a:r>
          </a:p>
        </p:txBody>
      </p:sp>
      <p:sp>
        <p:nvSpPr>
          <p:cNvPr id="3" name="">
            <a:extLst xmlns:a="http://schemas.openxmlformats.org/drawingml/2006/main">
              <a:ext uri="{FF2B5EF4-FFF2-40B4-BE49-F238E27FC236}">
                <a16:creationId xmlns:a16="http://schemas.microsoft.com/office/drawing/2014/main" id="{67ECEB1B-E04E-4CA5-9301-EE91F9D27042}"/>
              </a:ext>
            </a:extLst>
          </p:cNvPr>
          <p:cNvSpPr>
            <a:spLocks xmlns:a="http://schemas.openxmlformats.org/drawingml/2006/main" noGrp="1"/>
          </p:cNvSpPr>
          <p:nvPr/>
        </p:nvSpPr>
        <p:spPr>
          <a:xfrm xmlns:a="http://schemas.openxmlformats.org/drawingml/2006/main">
            <a:off x="400050" y="1190625"/>
            <a:ext cx="11391900" cy="19050"/>
          </a:xfrm>
          <a:prstGeom xmlns:a="http://schemas.openxmlformats.org/drawingml/2006/main" prst="rect">
            <a:avLst/>
          </a:prstGeom>
          <a:solidFill xmlns:a="http://schemas.openxmlformats.org/drawingml/2006/main">
            <a:srgbClr val="11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876B2E7-B556-4F1A-922A-489D46A3553A}"/>
              </a:ext>
            </a:extLst>
          </p:cNvPr>
          <p:cNvSpPr>
            <a:spLocks xmlns:a="http://schemas.openxmlformats.org/drawingml/2006/main" noGrp="1"/>
          </p:cNvSpPr>
          <p:nvPr/>
        </p:nvSpPr>
        <p:spPr>
          <a:xfrm xmlns:a="http://schemas.openxmlformats.org/drawingml/2006/main">
            <a:off x="400050" y="6438900"/>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Examiner backup</a:t>
            </a:r>
          </a:p>
        </p:txBody>
      </p:sp>
      <p:sp>
        <p:nvSpPr>
          <p:cNvPr id="5" name="">
            <a:extLst xmlns:a="http://schemas.openxmlformats.org/drawingml/2006/main">
              <a:ext uri="{FF2B5EF4-FFF2-40B4-BE49-F238E27FC236}">
                <a16:creationId xmlns:a16="http://schemas.microsoft.com/office/drawing/2014/main" id="{CE22D576-99FE-4AB7-8DDF-43287ECF6581}"/>
              </a:ext>
            </a:extLst>
          </p:cNvPr>
          <p:cNvSpPr>
            <a:spLocks xmlns:a="http://schemas.openxmlformats.org/drawingml/2006/main" noGrp="1"/>
          </p:cNvSpPr>
          <p:nvPr/>
        </p:nvSpPr>
        <p:spPr>
          <a:xfrm xmlns:a="http://schemas.openxmlformats.org/drawingml/2006/main">
            <a:off x="11287125" y="63912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26</a:t>
            </a:r>
          </a:p>
        </p:txBody>
      </p:sp>
      <p:sp>
        <p:nvSpPr>
          <p:cNvPr id="6" name="">
            <a:extLst xmlns:a="http://schemas.openxmlformats.org/drawingml/2006/main">
              <a:ext uri="{FF2B5EF4-FFF2-40B4-BE49-F238E27FC236}">
                <a16:creationId xmlns:a16="http://schemas.microsoft.com/office/drawing/2014/main" id="{A323850B-4D03-4BE8-8581-1910D9115580}"/>
              </a:ext>
            </a:extLst>
          </p:cNvPr>
          <p:cNvSpPr>
            <a:spLocks xmlns:a="http://schemas.openxmlformats.org/drawingml/2006/main" noGrp="1"/>
          </p:cNvSpPr>
          <p:nvPr/>
        </p:nvSpPr>
        <p:spPr>
          <a:xfrm xmlns:a="http://schemas.openxmlformats.org/drawingml/2006/main">
            <a:off x="400050" y="1619250"/>
            <a:ext cx="5334000" cy="3619500"/>
          </a:xfrm>
          <a:prstGeom xmlns:a="http://schemas.openxmlformats.org/drawingml/2006/main" prst="roundRect">
            <a:avLst>
              <a:gd name="adj" fmla="val 3158"/>
            </a:avLst>
          </a:prstGeom>
          <a:solidFill xmlns:a="http://schemas.openxmlformats.org/drawingml/2006/main">
            <a:srgbClr val="F2F3F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16D4975-1521-4787-9C8E-4E7EE56A00E8}"/>
              </a:ext>
            </a:extLst>
          </p:cNvPr>
          <p:cNvSpPr>
            <a:spLocks xmlns:a="http://schemas.openxmlformats.org/drawingml/2006/main" noGrp="1"/>
          </p:cNvSpPr>
          <p:nvPr/>
        </p:nvSpPr>
        <p:spPr>
          <a:xfrm xmlns:a="http://schemas.openxmlformats.org/drawingml/2006/main">
            <a:off x="666750" y="18669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CURRENT STATUS</a:t>
            </a:r>
          </a:p>
        </p:txBody>
      </p:sp>
      <p:sp>
        <p:nvSpPr>
          <p:cNvPr id="8" name="">
            <a:extLst xmlns:a="http://schemas.openxmlformats.org/drawingml/2006/main">
              <a:ext uri="{FF2B5EF4-FFF2-40B4-BE49-F238E27FC236}">
                <a16:creationId xmlns:a16="http://schemas.microsoft.com/office/drawing/2014/main" id="{62E59762-34AD-469B-9563-2D3752C751FB}"/>
              </a:ext>
            </a:extLst>
          </p:cNvPr>
          <p:cNvSpPr>
            <a:spLocks xmlns:a="http://schemas.openxmlformats.org/drawingml/2006/main" noGrp="1"/>
          </p:cNvSpPr>
          <p:nvPr/>
        </p:nvSpPr>
        <p:spPr>
          <a:xfrm xmlns:a="http://schemas.openxmlformats.org/drawingml/2006/main">
            <a:off x="666750" y="2524125"/>
            <a:ext cx="4762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550" b="1">
                <a:solidFill>
                  <a:srgbClr val="111318"/>
                </a:solidFill>
                <a:latin typeface="Helvetica Neue"/>
                <a:ea typeface="Helvetica Neue"/>
                <a:cs typeface="Helvetica Neue"/>
              </a:defRPr>
            </a:pPr>
            <a:r>
              <a:rPr sz="2550" b="1">
                <a:solidFill>
                  <a:srgbClr val="111318"/>
                </a:solidFill>
                <a:latin typeface="Helvetica Neue"/>
                <a:ea typeface="Helvetica Neue"/>
                <a:cs typeface="Helvetica Neue"/>
              </a:rPr>
              <a:t>0 recommendations</a:t>
            </a:r>
          </a:p>
          <a:p xmlns:a="http://schemas.openxmlformats.org/drawingml/2006/main">
            <a:pPr algn="ctr">
              <a:defRPr sz="2550" b="1">
                <a:solidFill>
                  <a:srgbClr val="111318"/>
                </a:solidFill>
                <a:latin typeface="Helvetica Neue"/>
                <a:ea typeface="Helvetica Neue"/>
                <a:cs typeface="Helvetica Neue"/>
              </a:defRPr>
            </a:pPr>
            <a:r>
              <a:rPr sz="2550" b="1">
                <a:solidFill>
                  <a:srgbClr val="111318"/>
                </a:solidFill>
                <a:latin typeface="Helvetica Neue"/>
                <a:ea typeface="Helvetica Neue"/>
                <a:cs typeface="Helvetica Neue"/>
              </a:rPr>
              <a:t>from 0 scored edges</a:t>
            </a:r>
          </a:p>
        </p:txBody>
      </p:sp>
      <p:sp>
        <p:nvSpPr>
          <p:cNvPr id="9" name="">
            <a:extLst xmlns:a="http://schemas.openxmlformats.org/drawingml/2006/main">
              <a:ext uri="{FF2B5EF4-FFF2-40B4-BE49-F238E27FC236}">
                <a16:creationId xmlns:a16="http://schemas.microsoft.com/office/drawing/2014/main" id="{EA5853B1-201E-4E5D-BA1F-64B4346818E5}"/>
              </a:ext>
            </a:extLst>
          </p:cNvPr>
          <p:cNvSpPr>
            <a:spLocks xmlns:a="http://schemas.openxmlformats.org/drawingml/2006/main" noGrp="1"/>
          </p:cNvSpPr>
          <p:nvPr/>
        </p:nvSpPr>
        <p:spPr>
          <a:xfrm xmlns:a="http://schemas.openxmlformats.org/drawingml/2006/main">
            <a:off x="1381125" y="3905250"/>
            <a:ext cx="3333750" cy="323850"/>
          </a:xfrm>
          <a:prstGeom xmlns:a="http://schemas.openxmlformats.org/drawingml/2006/main" prst="roundRect">
            <a:avLst>
              <a:gd name="adj" fmla="val 50000"/>
            </a:avLst>
          </a:prstGeom>
          <a:solidFill xmlns:a="http://schemas.openxmlformats.org/drawingml/2006/main">
            <a:srgbClr val="FDE8E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3418FE6-3FFB-4AB2-97A3-E027D759DF60}"/>
              </a:ext>
            </a:extLst>
          </p:cNvPr>
          <p:cNvSpPr>
            <a:spLocks xmlns:a="http://schemas.openxmlformats.org/drawingml/2006/main" noGrp="1"/>
          </p:cNvSpPr>
          <p:nvPr/>
        </p:nvSpPr>
        <p:spPr>
          <a:xfrm xmlns:a="http://schemas.openxmlformats.org/drawingml/2006/main">
            <a:off x="1476375" y="3971925"/>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C53030"/>
                </a:solidFill>
                <a:latin typeface="Helvetica Neue"/>
                <a:ea typeface="Helvetica Neue"/>
                <a:cs typeface="Helvetica Neue"/>
              </a:defRPr>
            </a:pPr>
            <a:r>
              <a:rPr sz="1050" b="1">
                <a:solidFill>
                  <a:srgbClr val="C53030"/>
                </a:solidFill>
                <a:latin typeface="Helvetica Neue"/>
                <a:ea typeface="Helvetica Neue"/>
                <a:cs typeface="Helvetica Neue"/>
              </a:rPr>
              <a:t>NOT A CLAIM-BEARING RESULT</a:t>
            </a:r>
          </a:p>
        </p:txBody>
      </p:sp>
      <p:sp>
        <p:nvSpPr>
          <p:cNvPr id="11" name="">
            <a:extLst xmlns:a="http://schemas.openxmlformats.org/drawingml/2006/main">
              <a:ext uri="{FF2B5EF4-FFF2-40B4-BE49-F238E27FC236}">
                <a16:creationId xmlns:a16="http://schemas.microsoft.com/office/drawing/2014/main" id="{C680677B-DAB0-40D2-BD29-3C27A97E93A9}"/>
              </a:ext>
            </a:extLst>
          </p:cNvPr>
          <p:cNvSpPr>
            <a:spLocks xmlns:a="http://schemas.openxmlformats.org/drawingml/2006/main" noGrp="1"/>
          </p:cNvSpPr>
          <p:nvPr/>
        </p:nvSpPr>
        <p:spPr>
          <a:xfrm xmlns:a="http://schemas.openxmlformats.org/drawingml/2006/main">
            <a:off x="6076950" y="1619250"/>
            <a:ext cx="5334000" cy="3619500"/>
          </a:xfrm>
          <a:prstGeom xmlns:a="http://schemas.openxmlformats.org/drawingml/2006/main" prst="roundRect">
            <a:avLst>
              <a:gd name="adj" fmla="val 3158"/>
            </a:avLst>
          </a:prstGeom>
          <a:solidFill xmlns:a="http://schemas.openxmlformats.org/drawingml/2006/main">
            <a:srgbClr val="E7F7F3"/>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C9FC5E0-4625-4C19-BD9E-EEB189597B23}"/>
              </a:ext>
            </a:extLst>
          </p:cNvPr>
          <p:cNvSpPr>
            <a:spLocks xmlns:a="http://schemas.openxmlformats.org/drawingml/2006/main" noGrp="1"/>
          </p:cNvSpPr>
          <p:nvPr/>
        </p:nvSpPr>
        <p:spPr>
          <a:xfrm xmlns:a="http://schemas.openxmlformats.org/drawingml/2006/main">
            <a:off x="6343650" y="18669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149A84"/>
                </a:solidFill>
                <a:latin typeface="Helvetica Neue"/>
                <a:ea typeface="Helvetica Neue"/>
                <a:cs typeface="Helvetica Neue"/>
              </a:defRPr>
            </a:pPr>
            <a:r>
              <a:rPr sz="1200" b="1">
                <a:solidFill>
                  <a:srgbClr val="149A84"/>
                </a:solidFill>
                <a:latin typeface="Helvetica Neue"/>
                <a:ea typeface="Helvetica Neue"/>
                <a:cs typeface="Helvetica Neue"/>
              </a:rPr>
              <a:t>WHAT WOULD EARN STATUS</a:t>
            </a:r>
          </a:p>
        </p:txBody>
      </p:sp>
      <p:sp>
        <p:nvSpPr>
          <p:cNvPr id="13" name="">
            <a:extLst xmlns:a="http://schemas.openxmlformats.org/drawingml/2006/main">
              <a:ext uri="{FF2B5EF4-FFF2-40B4-BE49-F238E27FC236}">
                <a16:creationId xmlns:a16="http://schemas.microsoft.com/office/drawing/2014/main" id="{5F4DC118-1F7F-4A1C-841D-B61883F77671}"/>
              </a:ext>
            </a:extLst>
          </p:cNvPr>
          <p:cNvSpPr>
            <a:spLocks xmlns:a="http://schemas.openxmlformats.org/drawingml/2006/main" noGrp="1"/>
          </p:cNvSpPr>
          <p:nvPr/>
        </p:nvSpPr>
        <p:spPr>
          <a:xfrm xmlns:a="http://schemas.openxmlformats.org/drawingml/2006/main">
            <a:off x="6515100" y="2476500"/>
            <a:ext cx="44291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318"/>
                </a:solidFill>
                <a:latin typeface="Helvetica Neue"/>
                <a:ea typeface="Helvetica Neue"/>
                <a:cs typeface="Helvetica Neue"/>
              </a:defRPr>
            </a:pPr>
            <a:r>
              <a:rPr sz="1725" b="1">
                <a:solidFill>
                  <a:srgbClr val="111318"/>
                </a:solidFill>
                <a:latin typeface="Helvetica Neue"/>
                <a:ea typeface="Helvetica Neue"/>
                <a:cs typeface="Helvetica Neue"/>
              </a:rPr>
              <a:t>1  Jacobian-aware value of information</a:t>
            </a:r>
          </a:p>
          <a:p xmlns:a="http://schemas.openxmlformats.org/drawingml/2006/main">
            <a:pPr algn="l">
              <a:defRPr sz="1725" b="1">
                <a:solidFill>
                  <a:srgbClr val="111318"/>
                </a:solidFill>
                <a:latin typeface="Helvetica Neue"/>
                <a:ea typeface="Helvetica Neue"/>
                <a:cs typeface="Helvetica Neue"/>
              </a:defRPr>
            </a:pPr>
            <a:r>
              <a:rPr sz="1725" b="1">
                <a:solidFill>
                  <a:srgbClr val="111318"/>
                </a:solidFill>
                <a:latin typeface="Helvetica Neue"/>
                <a:ea typeface="Helvetica Neue"/>
                <a:cs typeface="Helvetica Neue"/>
              </a:rPr>
              <a:t>2  explicit costs and decision loss</a:t>
            </a:r>
          </a:p>
          <a:p xmlns:a="http://schemas.openxmlformats.org/drawingml/2006/main">
            <a:pPr algn="l">
              <a:defRPr sz="1725" b="1">
                <a:solidFill>
                  <a:srgbClr val="111318"/>
                </a:solidFill>
                <a:latin typeface="Helvetica Neue"/>
                <a:ea typeface="Helvetica Neue"/>
                <a:cs typeface="Helvetica Neue"/>
              </a:defRPr>
            </a:pPr>
            <a:r>
              <a:rPr sz="1725" b="1">
                <a:solidFill>
                  <a:srgbClr val="111318"/>
                </a:solidFill>
                <a:latin typeface="Helvetica Neue"/>
                <a:ea typeface="Helvetica Neue"/>
                <a:cs typeface="Helvetica Neue"/>
              </a:rPr>
              <a:t>3  prospective locked comparison</a:t>
            </a:r>
          </a:p>
          <a:p xmlns:a="http://schemas.openxmlformats.org/drawingml/2006/main">
            <a:pPr algn="l">
              <a:defRPr sz="1725" b="1">
                <a:solidFill>
                  <a:srgbClr val="111318"/>
                </a:solidFill>
                <a:latin typeface="Helvetica Neue"/>
                <a:ea typeface="Helvetica Neue"/>
                <a:cs typeface="Helvetica Neue"/>
              </a:defRPr>
            </a:pPr>
            <a:r>
              <a:rPr sz="1725" b="1">
                <a:solidFill>
                  <a:srgbClr val="111318"/>
                </a:solidFill>
                <a:latin typeface="Helvetica Neue"/>
                <a:ea typeface="Helvetica Neue"/>
                <a:cs typeface="Helvetica Neue"/>
              </a:rPr>
              <a:t>4  independent replication</a:t>
            </a:r>
          </a:p>
        </p:txBody>
      </p:sp>
      <p:sp>
        <p:nvSpPr>
          <p:cNvPr id="14" name="">
            <a:extLst xmlns:a="http://schemas.openxmlformats.org/drawingml/2006/main">
              <a:ext uri="{FF2B5EF4-FFF2-40B4-BE49-F238E27FC236}">
                <a16:creationId xmlns:a16="http://schemas.microsoft.com/office/drawing/2014/main" id="{26882DD5-4ADC-4532-848A-C107D0542843}"/>
              </a:ext>
            </a:extLst>
          </p:cNvPr>
          <p:cNvSpPr>
            <a:spLocks xmlns:a="http://schemas.openxmlformats.org/drawingml/2006/main" noGrp="1"/>
          </p:cNvSpPr>
          <p:nvPr/>
        </p:nvSpPr>
        <p:spPr>
          <a:xfrm xmlns:a="http://schemas.openxmlformats.org/drawingml/2006/main">
            <a:off x="400050" y="5676900"/>
            <a:ext cx="11391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C53030"/>
                </a:solidFill>
                <a:latin typeface="Helvetica Neue"/>
                <a:ea typeface="Helvetica Neue"/>
                <a:cs typeface="Helvetica Neue"/>
              </a:defRPr>
            </a:pPr>
            <a:r>
              <a:rPr sz="1650" b="1">
                <a:solidFill>
                  <a:srgbClr val="C53030"/>
                </a:solidFill>
                <a:latin typeface="Helvetica Neue"/>
                <a:ea typeface="Helvetica Neue"/>
                <a:cs typeface="Helvetica Neue"/>
              </a:rPr>
              <a:t>Do not call the current method ‘excellent active learning’ in the viva.</a:t>
            </a:r>
          </a:p>
        </p:txBody>
      </p:sp>
    </p:spTree>
    <p:extLst>
      <p:ext uri="{BB962C8B-B14F-4D97-AF65-F5344CB8AC3E}">
        <p14:creationId xmlns:p14="http://schemas.microsoft.com/office/powerpoint/2010/main" val="208413159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5AB41FB8-DE6B-4B4D-8BB0-2A73A08FC7DD}"/>
              </a:ext>
            </a:extLst>
          </p:cNvPr>
          <p:cNvSpPr>
            <a:spLocks xmlns:a="http://schemas.openxmlformats.org/drawingml/2006/main" noGrp="1"/>
          </p:cNvSpPr>
          <p:nvPr/>
        </p:nvSpPr>
        <p:spPr>
          <a:xfrm xmlns:a="http://schemas.openxmlformats.org/drawingml/2006/main">
            <a:off x="400050" y="228600"/>
            <a:ext cx="695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AUDITABILITY</a:t>
            </a:r>
          </a:p>
        </p:txBody>
      </p:sp>
      <p:sp>
        <p:nvSpPr>
          <p:cNvPr id="2" name="">
            <a:extLst xmlns:a="http://schemas.openxmlformats.org/drawingml/2006/main">
              <a:ext uri="{FF2B5EF4-FFF2-40B4-BE49-F238E27FC236}">
                <a16:creationId xmlns:a16="http://schemas.microsoft.com/office/drawing/2014/main" id="{16BD26CA-AEA5-4FAE-906C-CE3B1F80A9B1}"/>
              </a:ext>
            </a:extLst>
          </p:cNvPr>
          <p:cNvSpPr>
            <a:spLocks xmlns:a="http://schemas.openxmlformats.org/drawingml/2006/main" noGrp="1"/>
          </p:cNvSpPr>
          <p:nvPr/>
        </p:nvSpPr>
        <p:spPr>
          <a:xfrm xmlns:a="http://schemas.openxmlformats.org/drawingml/2006/main">
            <a:off x="400050" y="49530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Backup · Reproducibility status</a:t>
            </a:r>
          </a:p>
        </p:txBody>
      </p:sp>
      <p:sp>
        <p:nvSpPr>
          <p:cNvPr id="3" name="">
            <a:extLst xmlns:a="http://schemas.openxmlformats.org/drawingml/2006/main">
              <a:ext uri="{FF2B5EF4-FFF2-40B4-BE49-F238E27FC236}">
                <a16:creationId xmlns:a16="http://schemas.microsoft.com/office/drawing/2014/main" id="{6B56954F-6FD7-45F6-8725-0507FCE29199}"/>
              </a:ext>
            </a:extLst>
          </p:cNvPr>
          <p:cNvSpPr>
            <a:spLocks xmlns:a="http://schemas.openxmlformats.org/drawingml/2006/main" noGrp="1"/>
          </p:cNvSpPr>
          <p:nvPr/>
        </p:nvSpPr>
        <p:spPr>
          <a:xfrm xmlns:a="http://schemas.openxmlformats.org/drawingml/2006/main">
            <a:off x="400050" y="1190625"/>
            <a:ext cx="11391900" cy="19050"/>
          </a:xfrm>
          <a:prstGeom xmlns:a="http://schemas.openxmlformats.org/drawingml/2006/main" prst="rect">
            <a:avLst/>
          </a:prstGeom>
          <a:solidFill xmlns:a="http://schemas.openxmlformats.org/drawingml/2006/main">
            <a:srgbClr val="11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5EC1794-42CB-4F52-B283-F730B5691DC4}"/>
              </a:ext>
            </a:extLst>
          </p:cNvPr>
          <p:cNvSpPr>
            <a:spLocks xmlns:a="http://schemas.openxmlformats.org/drawingml/2006/main" noGrp="1"/>
          </p:cNvSpPr>
          <p:nvPr/>
        </p:nvSpPr>
        <p:spPr>
          <a:xfrm xmlns:a="http://schemas.openxmlformats.org/drawingml/2006/main">
            <a:off x="400050" y="6438900"/>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Examiner backup</a:t>
            </a:r>
          </a:p>
        </p:txBody>
      </p:sp>
      <p:sp>
        <p:nvSpPr>
          <p:cNvPr id="5" name="">
            <a:extLst xmlns:a="http://schemas.openxmlformats.org/drawingml/2006/main">
              <a:ext uri="{FF2B5EF4-FFF2-40B4-BE49-F238E27FC236}">
                <a16:creationId xmlns:a16="http://schemas.microsoft.com/office/drawing/2014/main" id="{8F7D3394-2E56-46A0-BB3A-5E1BB25AA017}"/>
              </a:ext>
            </a:extLst>
          </p:cNvPr>
          <p:cNvSpPr>
            <a:spLocks xmlns:a="http://schemas.openxmlformats.org/drawingml/2006/main" noGrp="1"/>
          </p:cNvSpPr>
          <p:nvPr/>
        </p:nvSpPr>
        <p:spPr>
          <a:xfrm xmlns:a="http://schemas.openxmlformats.org/drawingml/2006/main">
            <a:off x="11287125" y="63912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27</a:t>
            </a:r>
          </a:p>
        </p:txBody>
      </p:sp>
      <p:sp>
        <p:nvSpPr>
          <p:cNvPr id="6" name="">
            <a:extLst xmlns:a="http://schemas.openxmlformats.org/drawingml/2006/main">
              <a:ext uri="{FF2B5EF4-FFF2-40B4-BE49-F238E27FC236}">
                <a16:creationId xmlns:a16="http://schemas.microsoft.com/office/drawing/2014/main" id="{07FB49BC-7F91-4A22-9104-B42AF5285728}"/>
              </a:ext>
            </a:extLst>
          </p:cNvPr>
          <p:cNvSpPr>
            <a:spLocks xmlns:a="http://schemas.openxmlformats.org/drawingml/2006/main" noGrp="1"/>
          </p:cNvSpPr>
          <p:nvPr/>
        </p:nvSpPr>
        <p:spPr>
          <a:xfrm xmlns:a="http://schemas.openxmlformats.org/drawingml/2006/main">
            <a:off x="400050" y="1581150"/>
            <a:ext cx="5429250" cy="1028700"/>
          </a:xfrm>
          <a:prstGeom xmlns:a="http://schemas.openxmlformats.org/drawingml/2006/main" prst="roundRect">
            <a:avLst>
              <a:gd name="adj" fmla="val 11111"/>
            </a:avLst>
          </a:prstGeom>
          <a:solidFill xmlns:a="http://schemas.openxmlformats.org/drawingml/2006/main">
            <a:srgbClr val="F2F3F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5FEE7E0-75B5-4677-82D0-8CA781F3ABE0}"/>
              </a:ext>
            </a:extLst>
          </p:cNvPr>
          <p:cNvSpPr>
            <a:spLocks xmlns:a="http://schemas.openxmlformats.org/drawingml/2006/main" noGrp="1"/>
          </p:cNvSpPr>
          <p:nvPr/>
        </p:nvSpPr>
        <p:spPr>
          <a:xfrm xmlns:a="http://schemas.openxmlformats.org/drawingml/2006/main">
            <a:off x="609600" y="1800225"/>
            <a:ext cx="1238250" cy="323850"/>
          </a:xfrm>
          <a:prstGeom xmlns:a="http://schemas.openxmlformats.org/drawingml/2006/main" prst="roundRect">
            <a:avLst>
              <a:gd name="adj" fmla="val 50000"/>
            </a:avLst>
          </a:prstGeom>
          <a:solidFill xmlns:a="http://schemas.openxmlformats.org/drawingml/2006/main">
            <a:srgbClr val="E7F7F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B8BC6A5-1C9C-4C20-B623-161DAE87BAC0}"/>
              </a:ext>
            </a:extLst>
          </p:cNvPr>
          <p:cNvSpPr>
            <a:spLocks xmlns:a="http://schemas.openxmlformats.org/drawingml/2006/main" noGrp="1"/>
          </p:cNvSpPr>
          <p:nvPr/>
        </p:nvSpPr>
        <p:spPr>
          <a:xfrm xmlns:a="http://schemas.openxmlformats.org/drawingml/2006/main">
            <a:off x="704850" y="1866900"/>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2F855A"/>
                </a:solidFill>
                <a:latin typeface="Helvetica Neue"/>
                <a:ea typeface="Helvetica Neue"/>
                <a:cs typeface="Helvetica Neue"/>
              </a:defRPr>
            </a:pPr>
            <a:r>
              <a:rPr sz="1050" b="1">
                <a:solidFill>
                  <a:srgbClr val="2F855A"/>
                </a:solidFill>
                <a:latin typeface="Helvetica Neue"/>
                <a:ea typeface="Helvetica Neue"/>
                <a:cs typeface="Helvetica Neue"/>
              </a:rPr>
              <a:t>PASS</a:t>
            </a:r>
          </a:p>
        </p:txBody>
      </p:sp>
      <p:sp>
        <p:nvSpPr>
          <p:cNvPr id="9" name="">
            <a:extLst xmlns:a="http://schemas.openxmlformats.org/drawingml/2006/main">
              <a:ext uri="{FF2B5EF4-FFF2-40B4-BE49-F238E27FC236}">
                <a16:creationId xmlns:a16="http://schemas.microsoft.com/office/drawing/2014/main" id="{B5FF87CE-BF23-4097-B347-4089792AA486}"/>
              </a:ext>
            </a:extLst>
          </p:cNvPr>
          <p:cNvSpPr>
            <a:spLocks xmlns:a="http://schemas.openxmlformats.org/drawingml/2006/main" noGrp="1"/>
          </p:cNvSpPr>
          <p:nvPr/>
        </p:nvSpPr>
        <p:spPr>
          <a:xfrm xmlns:a="http://schemas.openxmlformats.org/drawingml/2006/main">
            <a:off x="2019300" y="1809750"/>
            <a:ext cx="352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Locked-case separation</a:t>
            </a:r>
          </a:p>
        </p:txBody>
      </p:sp>
      <p:sp>
        <p:nvSpPr>
          <p:cNvPr id="10" name="">
            <a:extLst xmlns:a="http://schemas.openxmlformats.org/drawingml/2006/main">
              <a:ext uri="{FF2B5EF4-FFF2-40B4-BE49-F238E27FC236}">
                <a16:creationId xmlns:a16="http://schemas.microsoft.com/office/drawing/2014/main" id="{1051FF74-D495-4E84-BCDB-ACDC7C86502C}"/>
              </a:ext>
            </a:extLst>
          </p:cNvPr>
          <p:cNvSpPr>
            <a:spLocks xmlns:a="http://schemas.openxmlformats.org/drawingml/2006/main" noGrp="1"/>
          </p:cNvSpPr>
          <p:nvPr/>
        </p:nvSpPr>
        <p:spPr>
          <a:xfrm xmlns:a="http://schemas.openxmlformats.org/drawingml/2006/main">
            <a:off x="6191250" y="1581150"/>
            <a:ext cx="5429250" cy="1028700"/>
          </a:xfrm>
          <a:prstGeom xmlns:a="http://schemas.openxmlformats.org/drawingml/2006/main" prst="roundRect">
            <a:avLst>
              <a:gd name="adj" fmla="val 11111"/>
            </a:avLst>
          </a:prstGeom>
          <a:solidFill xmlns:a="http://schemas.openxmlformats.org/drawingml/2006/main">
            <a:srgbClr val="F2F3F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93A2A47-B0FF-45E5-A91E-93864A7298BB}"/>
              </a:ext>
            </a:extLst>
          </p:cNvPr>
          <p:cNvSpPr>
            <a:spLocks xmlns:a="http://schemas.openxmlformats.org/drawingml/2006/main" noGrp="1"/>
          </p:cNvSpPr>
          <p:nvPr/>
        </p:nvSpPr>
        <p:spPr>
          <a:xfrm xmlns:a="http://schemas.openxmlformats.org/drawingml/2006/main">
            <a:off x="6400800" y="1800225"/>
            <a:ext cx="1238250" cy="323850"/>
          </a:xfrm>
          <a:prstGeom xmlns:a="http://schemas.openxmlformats.org/drawingml/2006/main" prst="roundRect">
            <a:avLst>
              <a:gd name="adj" fmla="val 50000"/>
            </a:avLst>
          </a:prstGeom>
          <a:solidFill xmlns:a="http://schemas.openxmlformats.org/drawingml/2006/main">
            <a:srgbClr val="E7F7F3"/>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4AD7027-2235-47C6-B8D4-24C38663585F}"/>
              </a:ext>
            </a:extLst>
          </p:cNvPr>
          <p:cNvSpPr>
            <a:spLocks xmlns:a="http://schemas.openxmlformats.org/drawingml/2006/main" noGrp="1"/>
          </p:cNvSpPr>
          <p:nvPr/>
        </p:nvSpPr>
        <p:spPr>
          <a:xfrm xmlns:a="http://schemas.openxmlformats.org/drawingml/2006/main">
            <a:off x="6496050" y="1866900"/>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2F855A"/>
                </a:solidFill>
                <a:latin typeface="Helvetica Neue"/>
                <a:ea typeface="Helvetica Neue"/>
                <a:cs typeface="Helvetica Neue"/>
              </a:defRPr>
            </a:pPr>
            <a:r>
              <a:rPr sz="1050" b="1">
                <a:solidFill>
                  <a:srgbClr val="2F855A"/>
                </a:solidFill>
                <a:latin typeface="Helvetica Neue"/>
                <a:ea typeface="Helvetica Neue"/>
                <a:cs typeface="Helvetica Neue"/>
              </a:rPr>
              <a:t>PASS</a:t>
            </a:r>
          </a:p>
        </p:txBody>
      </p:sp>
      <p:sp>
        <p:nvSpPr>
          <p:cNvPr id="13" name="">
            <a:extLst xmlns:a="http://schemas.openxmlformats.org/drawingml/2006/main">
              <a:ext uri="{FF2B5EF4-FFF2-40B4-BE49-F238E27FC236}">
                <a16:creationId xmlns:a16="http://schemas.microsoft.com/office/drawing/2014/main" id="{E4028849-D10C-4168-B821-B437E4BF2172}"/>
              </a:ext>
            </a:extLst>
          </p:cNvPr>
          <p:cNvSpPr>
            <a:spLocks xmlns:a="http://schemas.openxmlformats.org/drawingml/2006/main" noGrp="1"/>
          </p:cNvSpPr>
          <p:nvPr/>
        </p:nvSpPr>
        <p:spPr>
          <a:xfrm xmlns:a="http://schemas.openxmlformats.org/drawingml/2006/main">
            <a:off x="7810500" y="1809750"/>
            <a:ext cx="352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Frozen hashes and artifact regeneration gates</a:t>
            </a:r>
          </a:p>
        </p:txBody>
      </p:sp>
      <p:sp>
        <p:nvSpPr>
          <p:cNvPr id="14" name="">
            <a:extLst xmlns:a="http://schemas.openxmlformats.org/drawingml/2006/main">
              <a:ext uri="{FF2B5EF4-FFF2-40B4-BE49-F238E27FC236}">
                <a16:creationId xmlns:a16="http://schemas.microsoft.com/office/drawing/2014/main" id="{2FFC1761-4E6D-4416-B101-E6C679134543}"/>
              </a:ext>
            </a:extLst>
          </p:cNvPr>
          <p:cNvSpPr>
            <a:spLocks xmlns:a="http://schemas.openxmlformats.org/drawingml/2006/main" noGrp="1"/>
          </p:cNvSpPr>
          <p:nvPr/>
        </p:nvSpPr>
        <p:spPr>
          <a:xfrm xmlns:a="http://schemas.openxmlformats.org/drawingml/2006/main">
            <a:off x="400050" y="2867025"/>
            <a:ext cx="5429250" cy="1028700"/>
          </a:xfrm>
          <a:prstGeom xmlns:a="http://schemas.openxmlformats.org/drawingml/2006/main" prst="roundRect">
            <a:avLst>
              <a:gd name="adj" fmla="val 11111"/>
            </a:avLst>
          </a:prstGeom>
          <a:solidFill xmlns:a="http://schemas.openxmlformats.org/drawingml/2006/main">
            <a:srgbClr val="F2F3F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2485B1C-E33E-4807-985C-B6AD8DE8B3EC}"/>
              </a:ext>
            </a:extLst>
          </p:cNvPr>
          <p:cNvSpPr>
            <a:spLocks xmlns:a="http://schemas.openxmlformats.org/drawingml/2006/main" noGrp="1"/>
          </p:cNvSpPr>
          <p:nvPr/>
        </p:nvSpPr>
        <p:spPr>
          <a:xfrm xmlns:a="http://schemas.openxmlformats.org/drawingml/2006/main">
            <a:off x="609600" y="3086100"/>
            <a:ext cx="1238250" cy="323850"/>
          </a:xfrm>
          <a:prstGeom xmlns:a="http://schemas.openxmlformats.org/drawingml/2006/main" prst="roundRect">
            <a:avLst>
              <a:gd name="adj" fmla="val 50000"/>
            </a:avLst>
          </a:prstGeom>
          <a:solidFill xmlns:a="http://schemas.openxmlformats.org/drawingml/2006/main">
            <a:srgbClr val="E7F7F3"/>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514106B-FC6F-481A-9579-81698FB7FE6A}"/>
              </a:ext>
            </a:extLst>
          </p:cNvPr>
          <p:cNvSpPr>
            <a:spLocks xmlns:a="http://schemas.openxmlformats.org/drawingml/2006/main" noGrp="1"/>
          </p:cNvSpPr>
          <p:nvPr/>
        </p:nvSpPr>
        <p:spPr>
          <a:xfrm xmlns:a="http://schemas.openxmlformats.org/drawingml/2006/main">
            <a:off x="704850" y="3152775"/>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2F855A"/>
                </a:solidFill>
                <a:latin typeface="Helvetica Neue"/>
                <a:ea typeface="Helvetica Neue"/>
                <a:cs typeface="Helvetica Neue"/>
              </a:defRPr>
            </a:pPr>
            <a:r>
              <a:rPr sz="1050" b="1">
                <a:solidFill>
                  <a:srgbClr val="2F855A"/>
                </a:solidFill>
                <a:latin typeface="Helvetica Neue"/>
                <a:ea typeface="Helvetica Neue"/>
                <a:cs typeface="Helvetica Neue"/>
              </a:rPr>
              <a:t>PASS</a:t>
            </a:r>
          </a:p>
        </p:txBody>
      </p:sp>
      <p:sp>
        <p:nvSpPr>
          <p:cNvPr id="17" name="">
            <a:extLst xmlns:a="http://schemas.openxmlformats.org/drawingml/2006/main">
              <a:ext uri="{FF2B5EF4-FFF2-40B4-BE49-F238E27FC236}">
                <a16:creationId xmlns:a16="http://schemas.microsoft.com/office/drawing/2014/main" id="{918E99DB-CFD9-4A3A-A880-8F5352C2FC46}"/>
              </a:ext>
            </a:extLst>
          </p:cNvPr>
          <p:cNvSpPr>
            <a:spLocks xmlns:a="http://schemas.openxmlformats.org/drawingml/2006/main" noGrp="1"/>
          </p:cNvSpPr>
          <p:nvPr/>
        </p:nvSpPr>
        <p:spPr>
          <a:xfrm xmlns:a="http://schemas.openxmlformats.org/drawingml/2006/main">
            <a:off x="2019300" y="3095625"/>
            <a:ext cx="352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10,000-resample post-review audit</a:t>
            </a:r>
          </a:p>
        </p:txBody>
      </p:sp>
      <p:sp>
        <p:nvSpPr>
          <p:cNvPr id="18" name="">
            <a:extLst xmlns:a="http://schemas.openxmlformats.org/drawingml/2006/main">
              <a:ext uri="{FF2B5EF4-FFF2-40B4-BE49-F238E27FC236}">
                <a16:creationId xmlns:a16="http://schemas.microsoft.com/office/drawing/2014/main" id="{02FAD7A1-03B4-427A-88B0-97E383FC4B58}"/>
              </a:ext>
            </a:extLst>
          </p:cNvPr>
          <p:cNvSpPr>
            <a:spLocks xmlns:a="http://schemas.openxmlformats.org/drawingml/2006/main" noGrp="1"/>
          </p:cNvSpPr>
          <p:nvPr/>
        </p:nvSpPr>
        <p:spPr>
          <a:xfrm xmlns:a="http://schemas.openxmlformats.org/drawingml/2006/main">
            <a:off x="6191250" y="2867025"/>
            <a:ext cx="5429250" cy="1028700"/>
          </a:xfrm>
          <a:prstGeom xmlns:a="http://schemas.openxmlformats.org/drawingml/2006/main" prst="roundRect">
            <a:avLst>
              <a:gd name="adj" fmla="val 11111"/>
            </a:avLst>
          </a:prstGeom>
          <a:solidFill xmlns:a="http://schemas.openxmlformats.org/drawingml/2006/main">
            <a:srgbClr val="F2F3F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BE4519B-4038-4D31-AF26-ED4CCB5530D9}"/>
              </a:ext>
            </a:extLst>
          </p:cNvPr>
          <p:cNvSpPr>
            <a:spLocks xmlns:a="http://schemas.openxmlformats.org/drawingml/2006/main" noGrp="1"/>
          </p:cNvSpPr>
          <p:nvPr/>
        </p:nvSpPr>
        <p:spPr>
          <a:xfrm xmlns:a="http://schemas.openxmlformats.org/drawingml/2006/main">
            <a:off x="6400800" y="3086100"/>
            <a:ext cx="1238250" cy="323850"/>
          </a:xfrm>
          <a:prstGeom xmlns:a="http://schemas.openxmlformats.org/drawingml/2006/main" prst="roundRect">
            <a:avLst>
              <a:gd name="adj" fmla="val 50000"/>
            </a:avLst>
          </a:prstGeom>
          <a:solidFill xmlns:a="http://schemas.openxmlformats.org/drawingml/2006/main">
            <a:srgbClr val="E7F7F3"/>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C714BAA-28D0-4F2D-931F-6C9A5693386C}"/>
              </a:ext>
            </a:extLst>
          </p:cNvPr>
          <p:cNvSpPr>
            <a:spLocks xmlns:a="http://schemas.openxmlformats.org/drawingml/2006/main" noGrp="1"/>
          </p:cNvSpPr>
          <p:nvPr/>
        </p:nvSpPr>
        <p:spPr>
          <a:xfrm xmlns:a="http://schemas.openxmlformats.org/drawingml/2006/main">
            <a:off x="6496050" y="3152775"/>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2F855A"/>
                </a:solidFill>
                <a:latin typeface="Helvetica Neue"/>
                <a:ea typeface="Helvetica Neue"/>
                <a:cs typeface="Helvetica Neue"/>
              </a:defRPr>
            </a:pPr>
            <a:r>
              <a:rPr sz="1050" b="1">
                <a:solidFill>
                  <a:srgbClr val="2F855A"/>
                </a:solidFill>
                <a:latin typeface="Helvetica Neue"/>
                <a:ea typeface="Helvetica Neue"/>
                <a:cs typeface="Helvetica Neue"/>
              </a:rPr>
              <a:t>PASS</a:t>
            </a:r>
          </a:p>
        </p:txBody>
      </p:sp>
      <p:sp>
        <p:nvSpPr>
          <p:cNvPr id="21" name="">
            <a:extLst xmlns:a="http://schemas.openxmlformats.org/drawingml/2006/main">
              <a:ext uri="{FF2B5EF4-FFF2-40B4-BE49-F238E27FC236}">
                <a16:creationId xmlns:a16="http://schemas.microsoft.com/office/drawing/2014/main" id="{22C69B94-9500-456D-A623-C32980A77DDD}"/>
              </a:ext>
            </a:extLst>
          </p:cNvPr>
          <p:cNvSpPr>
            <a:spLocks xmlns:a="http://schemas.openxmlformats.org/drawingml/2006/main" noGrp="1"/>
          </p:cNvSpPr>
          <p:nvPr/>
        </p:nvSpPr>
        <p:spPr>
          <a:xfrm xmlns:a="http://schemas.openxmlformats.org/drawingml/2006/main">
            <a:off x="7810500" y="3095625"/>
            <a:ext cx="352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14 focused tests</a:t>
            </a:r>
          </a:p>
        </p:txBody>
      </p:sp>
      <p:sp>
        <p:nvSpPr>
          <p:cNvPr id="22" name="">
            <a:extLst xmlns:a="http://schemas.openxmlformats.org/drawingml/2006/main">
              <a:ext uri="{FF2B5EF4-FFF2-40B4-BE49-F238E27FC236}">
                <a16:creationId xmlns:a16="http://schemas.microsoft.com/office/drawing/2014/main" id="{36C57F35-E5B1-4C9D-B696-D2883015200D}"/>
              </a:ext>
            </a:extLst>
          </p:cNvPr>
          <p:cNvSpPr>
            <a:spLocks xmlns:a="http://schemas.openxmlformats.org/drawingml/2006/main" noGrp="1"/>
          </p:cNvSpPr>
          <p:nvPr/>
        </p:nvSpPr>
        <p:spPr>
          <a:xfrm xmlns:a="http://schemas.openxmlformats.org/drawingml/2006/main">
            <a:off x="400050" y="4152900"/>
            <a:ext cx="5429250" cy="1028700"/>
          </a:xfrm>
          <a:prstGeom xmlns:a="http://schemas.openxmlformats.org/drawingml/2006/main" prst="roundRect">
            <a:avLst>
              <a:gd name="adj" fmla="val 11111"/>
            </a:avLst>
          </a:prstGeom>
          <a:solidFill xmlns:a="http://schemas.openxmlformats.org/drawingml/2006/main">
            <a:srgbClr val="F2F3F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83087286-42BE-4497-9070-28D922155539}"/>
              </a:ext>
            </a:extLst>
          </p:cNvPr>
          <p:cNvSpPr>
            <a:spLocks xmlns:a="http://schemas.openxmlformats.org/drawingml/2006/main" noGrp="1"/>
          </p:cNvSpPr>
          <p:nvPr/>
        </p:nvSpPr>
        <p:spPr>
          <a:xfrm xmlns:a="http://schemas.openxmlformats.org/drawingml/2006/main">
            <a:off x="609600" y="4371975"/>
            <a:ext cx="1238250" cy="323850"/>
          </a:xfrm>
          <a:prstGeom xmlns:a="http://schemas.openxmlformats.org/drawingml/2006/main" prst="roundRect">
            <a:avLst>
              <a:gd name="adj" fmla="val 50000"/>
            </a:avLst>
          </a:prstGeom>
          <a:solidFill xmlns:a="http://schemas.openxmlformats.org/drawingml/2006/main">
            <a:srgbClr val="FFF3D9"/>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D476AD6-6750-4390-B6C4-62315DAE4C51}"/>
              </a:ext>
            </a:extLst>
          </p:cNvPr>
          <p:cNvSpPr>
            <a:spLocks xmlns:a="http://schemas.openxmlformats.org/drawingml/2006/main" noGrp="1"/>
          </p:cNvSpPr>
          <p:nvPr/>
        </p:nvSpPr>
        <p:spPr>
          <a:xfrm xmlns:a="http://schemas.openxmlformats.org/drawingml/2006/main">
            <a:off x="704850" y="4438650"/>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D97706"/>
                </a:solidFill>
                <a:latin typeface="Helvetica Neue"/>
                <a:ea typeface="Helvetica Neue"/>
                <a:cs typeface="Helvetica Neue"/>
              </a:defRPr>
            </a:pPr>
            <a:r>
              <a:rPr sz="1050" b="1">
                <a:solidFill>
                  <a:srgbClr val="D97706"/>
                </a:solidFill>
                <a:latin typeface="Helvetica Neue"/>
                <a:ea typeface="Helvetica Neue"/>
                <a:cs typeface="Helvetica Neue"/>
              </a:rPr>
              <a:t>PENDING</a:t>
            </a:r>
          </a:p>
        </p:txBody>
      </p:sp>
      <p:sp>
        <p:nvSpPr>
          <p:cNvPr id="25" name="">
            <a:extLst xmlns:a="http://schemas.openxmlformats.org/drawingml/2006/main">
              <a:ext uri="{FF2B5EF4-FFF2-40B4-BE49-F238E27FC236}">
                <a16:creationId xmlns:a16="http://schemas.microsoft.com/office/drawing/2014/main" id="{0F5FB2E6-4EDE-4C59-9C62-8C8F9DD9982A}"/>
              </a:ext>
            </a:extLst>
          </p:cNvPr>
          <p:cNvSpPr>
            <a:spLocks xmlns:a="http://schemas.openxmlformats.org/drawingml/2006/main" noGrp="1"/>
          </p:cNvSpPr>
          <p:nvPr/>
        </p:nvSpPr>
        <p:spPr>
          <a:xfrm xmlns:a="http://schemas.openxmlformats.org/drawingml/2006/main">
            <a:off x="2019300" y="4381500"/>
            <a:ext cx="352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Versioned public release and persistent identifiers</a:t>
            </a:r>
          </a:p>
        </p:txBody>
      </p:sp>
      <p:sp>
        <p:nvSpPr>
          <p:cNvPr id="26" name="">
            <a:extLst xmlns:a="http://schemas.openxmlformats.org/drawingml/2006/main">
              <a:ext uri="{FF2B5EF4-FFF2-40B4-BE49-F238E27FC236}">
                <a16:creationId xmlns:a16="http://schemas.microsoft.com/office/drawing/2014/main" id="{B1EE3994-7E09-47A6-BA0F-24F57A2B6D0D}"/>
              </a:ext>
            </a:extLst>
          </p:cNvPr>
          <p:cNvSpPr>
            <a:spLocks xmlns:a="http://schemas.openxmlformats.org/drawingml/2006/main" noGrp="1"/>
          </p:cNvSpPr>
          <p:nvPr/>
        </p:nvSpPr>
        <p:spPr>
          <a:xfrm xmlns:a="http://schemas.openxmlformats.org/drawingml/2006/main">
            <a:off x="6191250" y="4152900"/>
            <a:ext cx="5429250" cy="1028700"/>
          </a:xfrm>
          <a:prstGeom xmlns:a="http://schemas.openxmlformats.org/drawingml/2006/main" prst="roundRect">
            <a:avLst>
              <a:gd name="adj" fmla="val 11111"/>
            </a:avLst>
          </a:prstGeom>
          <a:solidFill xmlns:a="http://schemas.openxmlformats.org/drawingml/2006/main">
            <a:srgbClr val="F2F3F5"/>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0ABAFE06-A380-461D-AB3B-824B5D6995AE}"/>
              </a:ext>
            </a:extLst>
          </p:cNvPr>
          <p:cNvSpPr>
            <a:spLocks xmlns:a="http://schemas.openxmlformats.org/drawingml/2006/main" noGrp="1"/>
          </p:cNvSpPr>
          <p:nvPr/>
        </p:nvSpPr>
        <p:spPr>
          <a:xfrm xmlns:a="http://schemas.openxmlformats.org/drawingml/2006/main">
            <a:off x="6400800" y="4371975"/>
            <a:ext cx="1238250" cy="323850"/>
          </a:xfrm>
          <a:prstGeom xmlns:a="http://schemas.openxmlformats.org/drawingml/2006/main" prst="roundRect">
            <a:avLst>
              <a:gd name="adj" fmla="val 50000"/>
            </a:avLst>
          </a:prstGeom>
          <a:solidFill xmlns:a="http://schemas.openxmlformats.org/drawingml/2006/main">
            <a:srgbClr val="FFF3D9"/>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183A27FF-8647-4048-B5A4-B6EE08BCC33C}"/>
              </a:ext>
            </a:extLst>
          </p:cNvPr>
          <p:cNvSpPr>
            <a:spLocks xmlns:a="http://schemas.openxmlformats.org/drawingml/2006/main" noGrp="1"/>
          </p:cNvSpPr>
          <p:nvPr/>
        </p:nvSpPr>
        <p:spPr>
          <a:xfrm xmlns:a="http://schemas.openxmlformats.org/drawingml/2006/main">
            <a:off x="6496050" y="4438650"/>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D97706"/>
                </a:solidFill>
                <a:latin typeface="Helvetica Neue"/>
                <a:ea typeface="Helvetica Neue"/>
                <a:cs typeface="Helvetica Neue"/>
              </a:defRPr>
            </a:pPr>
            <a:r>
              <a:rPr sz="1050" b="1">
                <a:solidFill>
                  <a:srgbClr val="D97706"/>
                </a:solidFill>
                <a:latin typeface="Helvetica Neue"/>
                <a:ea typeface="Helvetica Neue"/>
                <a:cs typeface="Helvetica Neue"/>
              </a:rPr>
              <a:t>PENDING</a:t>
            </a:r>
          </a:p>
        </p:txBody>
      </p:sp>
      <p:sp>
        <p:nvSpPr>
          <p:cNvPr id="29" name="">
            <a:extLst xmlns:a="http://schemas.openxmlformats.org/drawingml/2006/main">
              <a:ext uri="{FF2B5EF4-FFF2-40B4-BE49-F238E27FC236}">
                <a16:creationId xmlns:a16="http://schemas.microsoft.com/office/drawing/2014/main" id="{A0796272-4A81-413D-BB00-CCF056B214E9}"/>
              </a:ext>
            </a:extLst>
          </p:cNvPr>
          <p:cNvSpPr>
            <a:spLocks xmlns:a="http://schemas.openxmlformats.org/drawingml/2006/main" noGrp="1"/>
          </p:cNvSpPr>
          <p:nvPr/>
        </p:nvSpPr>
        <p:spPr>
          <a:xfrm xmlns:a="http://schemas.openxmlformats.org/drawingml/2006/main">
            <a:off x="7810500" y="4381500"/>
            <a:ext cx="352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CRediT, funding and conflict-of-interest declarations</a:t>
            </a:r>
          </a:p>
        </p:txBody>
      </p:sp>
    </p:spTree>
    <p:extLst>
      <p:ext uri="{BB962C8B-B14F-4D97-AF65-F5344CB8AC3E}">
        <p14:creationId xmlns:p14="http://schemas.microsoft.com/office/powerpoint/2010/main" val="1441950744"/>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2DD0209-E6AB-4C4C-B180-3877FA74BC55}"/>
              </a:ext>
            </a:extLst>
          </p:cNvPr>
          <p:cNvSpPr>
            <a:spLocks xmlns:a="http://schemas.openxmlformats.org/drawingml/2006/main" noGrp="1"/>
          </p:cNvSpPr>
          <p:nvPr/>
        </p:nvSpPr>
        <p:spPr>
          <a:xfrm xmlns:a="http://schemas.openxmlformats.org/drawingml/2006/main">
            <a:off x="400050" y="228600"/>
            <a:ext cx="695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RAPID RESPONSES</a:t>
            </a:r>
          </a:p>
        </p:txBody>
      </p:sp>
      <p:sp>
        <p:nvSpPr>
          <p:cNvPr id="2" name="">
            <a:extLst xmlns:a="http://schemas.openxmlformats.org/drawingml/2006/main">
              <a:ext uri="{FF2B5EF4-FFF2-40B4-BE49-F238E27FC236}">
                <a16:creationId xmlns:a16="http://schemas.microsoft.com/office/drawing/2014/main" id="{4FE199D4-EEC0-49A8-A67B-76DD6BC361FF}"/>
              </a:ext>
            </a:extLst>
          </p:cNvPr>
          <p:cNvSpPr>
            <a:spLocks xmlns:a="http://schemas.openxmlformats.org/drawingml/2006/main" noGrp="1"/>
          </p:cNvSpPr>
          <p:nvPr/>
        </p:nvSpPr>
        <p:spPr>
          <a:xfrm xmlns:a="http://schemas.openxmlformats.org/drawingml/2006/main">
            <a:off x="400050" y="49530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Backup · Five one-sentence viva answers</a:t>
            </a:r>
          </a:p>
        </p:txBody>
      </p:sp>
      <p:sp>
        <p:nvSpPr>
          <p:cNvPr id="3" name="">
            <a:extLst xmlns:a="http://schemas.openxmlformats.org/drawingml/2006/main">
              <a:ext uri="{FF2B5EF4-FFF2-40B4-BE49-F238E27FC236}">
                <a16:creationId xmlns:a16="http://schemas.microsoft.com/office/drawing/2014/main" id="{02C1BB1C-0333-4AEA-8732-C6D42148538F}"/>
              </a:ext>
            </a:extLst>
          </p:cNvPr>
          <p:cNvSpPr>
            <a:spLocks xmlns:a="http://schemas.openxmlformats.org/drawingml/2006/main" noGrp="1"/>
          </p:cNvSpPr>
          <p:nvPr/>
        </p:nvSpPr>
        <p:spPr>
          <a:xfrm xmlns:a="http://schemas.openxmlformats.org/drawingml/2006/main">
            <a:off x="400050" y="1190625"/>
            <a:ext cx="11391900" cy="19050"/>
          </a:xfrm>
          <a:prstGeom xmlns:a="http://schemas.openxmlformats.org/drawingml/2006/main" prst="rect">
            <a:avLst/>
          </a:prstGeom>
          <a:solidFill xmlns:a="http://schemas.openxmlformats.org/drawingml/2006/main">
            <a:srgbClr val="11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4B7399A-4C13-49E3-9DB7-07F851F46540}"/>
              </a:ext>
            </a:extLst>
          </p:cNvPr>
          <p:cNvSpPr>
            <a:spLocks xmlns:a="http://schemas.openxmlformats.org/drawingml/2006/main" noGrp="1"/>
          </p:cNvSpPr>
          <p:nvPr/>
        </p:nvSpPr>
        <p:spPr>
          <a:xfrm xmlns:a="http://schemas.openxmlformats.org/drawingml/2006/main">
            <a:off x="400050" y="6438900"/>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Examiner backup</a:t>
            </a:r>
          </a:p>
        </p:txBody>
      </p:sp>
      <p:sp>
        <p:nvSpPr>
          <p:cNvPr id="5" name="">
            <a:extLst xmlns:a="http://schemas.openxmlformats.org/drawingml/2006/main">
              <a:ext uri="{FF2B5EF4-FFF2-40B4-BE49-F238E27FC236}">
                <a16:creationId xmlns:a16="http://schemas.microsoft.com/office/drawing/2014/main" id="{F6259033-A3AC-4E1C-8B0A-CD1FE757F7AD}"/>
              </a:ext>
            </a:extLst>
          </p:cNvPr>
          <p:cNvSpPr>
            <a:spLocks xmlns:a="http://schemas.openxmlformats.org/drawingml/2006/main" noGrp="1"/>
          </p:cNvSpPr>
          <p:nvPr/>
        </p:nvSpPr>
        <p:spPr>
          <a:xfrm xmlns:a="http://schemas.openxmlformats.org/drawingml/2006/main">
            <a:off x="11287125" y="63912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28</a:t>
            </a:r>
          </a:p>
        </p:txBody>
      </p:sp>
      <p:sp>
        <p:nvSpPr>
          <p:cNvPr id="6" name="">
            <a:extLst xmlns:a="http://schemas.openxmlformats.org/drawingml/2006/main">
              <a:ext uri="{FF2B5EF4-FFF2-40B4-BE49-F238E27FC236}">
                <a16:creationId xmlns:a16="http://schemas.microsoft.com/office/drawing/2014/main" id="{A3A4FA37-B96F-4656-BC5D-2B4921015723}"/>
              </a:ext>
            </a:extLst>
          </p:cNvPr>
          <p:cNvSpPr>
            <a:spLocks xmlns:a="http://schemas.openxmlformats.org/drawingml/2006/main" noGrp="1"/>
          </p:cNvSpPr>
          <p:nvPr/>
        </p:nvSpPr>
        <p:spPr>
          <a:xfrm xmlns:a="http://schemas.openxmlformats.org/drawingml/2006/main">
            <a:off x="400050" y="1428750"/>
            <a:ext cx="11391900" cy="742950"/>
          </a:xfrm>
          <a:prstGeom xmlns:a="http://schemas.openxmlformats.org/drawingml/2006/main" prst="roundRect">
            <a:avLst>
              <a:gd name="adj" fmla="val 15385"/>
            </a:avLst>
          </a:prstGeom>
          <a:solidFill xmlns:a="http://schemas.openxmlformats.org/drawingml/2006/main">
            <a:srgbClr val="F2F3F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6D12858D-7C56-40D4-B765-567AA0A0AB0D}"/>
              </a:ext>
            </a:extLst>
          </p:cNvPr>
          <p:cNvSpPr>
            <a:spLocks xmlns:a="http://schemas.openxmlformats.org/drawingml/2006/main" noGrp="1"/>
          </p:cNvSpPr>
          <p:nvPr/>
        </p:nvSpPr>
        <p:spPr>
          <a:xfrm xmlns:a="http://schemas.openxmlformats.org/drawingml/2006/main">
            <a:off x="590550" y="1590675"/>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3D8DFF"/>
                </a:solidFill>
                <a:latin typeface="Helvetica Neue"/>
                <a:ea typeface="Helvetica Neue"/>
                <a:cs typeface="Helvetica Neue"/>
              </a:defRPr>
            </a:pPr>
            <a:r>
              <a:rPr sz="1425" b="1">
                <a:solidFill>
                  <a:srgbClr val="3D8DFF"/>
                </a:solidFill>
                <a:latin typeface="Helvetica Neue"/>
                <a:ea typeface="Helvetica Neue"/>
                <a:cs typeface="Helvetica Neue"/>
              </a:rPr>
              <a:t>Why is this a PhD?</a:t>
            </a:r>
          </a:p>
        </p:txBody>
      </p:sp>
      <p:sp>
        <p:nvSpPr>
          <p:cNvPr id="8" name="">
            <a:extLst xmlns:a="http://schemas.openxmlformats.org/drawingml/2006/main">
              <a:ext uri="{FF2B5EF4-FFF2-40B4-BE49-F238E27FC236}">
                <a16:creationId xmlns:a16="http://schemas.microsoft.com/office/drawing/2014/main" id="{4117A597-8D4B-4CE4-AEE8-685DF329DD63}"/>
              </a:ext>
            </a:extLst>
          </p:cNvPr>
          <p:cNvSpPr>
            <a:spLocks xmlns:a="http://schemas.openxmlformats.org/drawingml/2006/main" noGrp="1"/>
          </p:cNvSpPr>
          <p:nvPr/>
        </p:nvSpPr>
        <p:spPr>
          <a:xfrm xmlns:a="http://schemas.openxmlformats.org/drawingml/2006/main">
            <a:off x="3429000" y="1562100"/>
            <a:ext cx="8001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It contributes a falsifiable integration formalism, evidence logic and field supportability diagnosis—not merely software.</a:t>
            </a:r>
          </a:p>
        </p:txBody>
      </p:sp>
      <p:sp>
        <p:nvSpPr>
          <p:cNvPr id="9" name="">
            <a:extLst xmlns:a="http://schemas.openxmlformats.org/drawingml/2006/main">
              <a:ext uri="{FF2B5EF4-FFF2-40B4-BE49-F238E27FC236}">
                <a16:creationId xmlns:a16="http://schemas.microsoft.com/office/drawing/2014/main" id="{4A375764-551F-497B-8CC9-2EF36C52E3B6}"/>
              </a:ext>
            </a:extLst>
          </p:cNvPr>
          <p:cNvSpPr>
            <a:spLocks xmlns:a="http://schemas.openxmlformats.org/drawingml/2006/main" noGrp="1"/>
          </p:cNvSpPr>
          <p:nvPr/>
        </p:nvSpPr>
        <p:spPr>
          <a:xfrm xmlns:a="http://schemas.openxmlformats.org/drawingml/2006/main">
            <a:off x="400050" y="2362200"/>
            <a:ext cx="11391900"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7432F849-6E87-45CE-B311-7A487BB3FB6F}"/>
              </a:ext>
            </a:extLst>
          </p:cNvPr>
          <p:cNvSpPr>
            <a:spLocks xmlns:a="http://schemas.openxmlformats.org/drawingml/2006/main" noGrp="1"/>
          </p:cNvSpPr>
          <p:nvPr/>
        </p:nvSpPr>
        <p:spPr>
          <a:xfrm xmlns:a="http://schemas.openxmlformats.org/drawingml/2006/main">
            <a:off x="590550" y="2524125"/>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3D8DFF"/>
                </a:solidFill>
                <a:latin typeface="Helvetica Neue"/>
                <a:ea typeface="Helvetica Neue"/>
                <a:cs typeface="Helvetica Neue"/>
              </a:defRPr>
            </a:pPr>
            <a:r>
              <a:rPr sz="1425" b="1">
                <a:solidFill>
                  <a:srgbClr val="3D8DFF"/>
                </a:solidFill>
                <a:latin typeface="Helvetica Neue"/>
                <a:ea typeface="Helvetica Neue"/>
                <a:cs typeface="Helvetica Neue"/>
              </a:rPr>
              <a:t>Did it beat TracerLPM?</a:t>
            </a:r>
          </a:p>
        </p:txBody>
      </p:sp>
      <p:sp>
        <p:nvSpPr>
          <p:cNvPr id="11" name="">
            <a:extLst xmlns:a="http://schemas.openxmlformats.org/drawingml/2006/main">
              <a:ext uri="{FF2B5EF4-FFF2-40B4-BE49-F238E27FC236}">
                <a16:creationId xmlns:a16="http://schemas.microsoft.com/office/drawing/2014/main" id="{40EF1A9D-AD35-460E-88BD-2406D7A18933}"/>
              </a:ext>
            </a:extLst>
          </p:cNvPr>
          <p:cNvSpPr>
            <a:spLocks xmlns:a="http://schemas.openxmlformats.org/drawingml/2006/main" noGrp="1"/>
          </p:cNvSpPr>
          <p:nvPr/>
        </p:nvSpPr>
        <p:spPr>
          <a:xfrm xmlns:a="http://schemas.openxmlformats.org/drawingml/2006/main">
            <a:off x="3429000" y="2495550"/>
            <a:ext cx="8001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It closely reproduced reported configurations; graph value was not established and harmful topology was detectable.</a:t>
            </a:r>
          </a:p>
        </p:txBody>
      </p:sp>
      <p:sp>
        <p:nvSpPr>
          <p:cNvPr id="12" name="">
            <a:extLst xmlns:a="http://schemas.openxmlformats.org/drawingml/2006/main">
              <a:ext uri="{FF2B5EF4-FFF2-40B4-BE49-F238E27FC236}">
                <a16:creationId xmlns:a16="http://schemas.microsoft.com/office/drawing/2014/main" id="{214D4C3B-4187-4B2C-ABB2-F9E1502AFC6E}"/>
              </a:ext>
            </a:extLst>
          </p:cNvPr>
          <p:cNvSpPr>
            <a:spLocks xmlns:a="http://schemas.openxmlformats.org/drawingml/2006/main" noGrp="1"/>
          </p:cNvSpPr>
          <p:nvPr/>
        </p:nvSpPr>
        <p:spPr>
          <a:xfrm xmlns:a="http://schemas.openxmlformats.org/drawingml/2006/main">
            <a:off x="400050" y="3295650"/>
            <a:ext cx="11391900" cy="742950"/>
          </a:xfrm>
          <a:prstGeom xmlns:a="http://schemas.openxmlformats.org/drawingml/2006/main" prst="roundRect">
            <a:avLst>
              <a:gd name="adj" fmla="val 15385"/>
            </a:avLst>
          </a:prstGeom>
          <a:solidFill xmlns:a="http://schemas.openxmlformats.org/drawingml/2006/main">
            <a:srgbClr val="F2F3F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A95FBC2C-4F42-4C8C-BCE4-B968BBB5F6B0}"/>
              </a:ext>
            </a:extLst>
          </p:cNvPr>
          <p:cNvSpPr>
            <a:spLocks xmlns:a="http://schemas.openxmlformats.org/drawingml/2006/main" noGrp="1"/>
          </p:cNvSpPr>
          <p:nvPr/>
        </p:nvSpPr>
        <p:spPr>
          <a:xfrm xmlns:a="http://schemas.openxmlformats.org/drawingml/2006/main">
            <a:off x="590550" y="3457575"/>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3D8DFF"/>
                </a:solidFill>
                <a:latin typeface="Helvetica Neue"/>
                <a:ea typeface="Helvetica Neue"/>
                <a:cs typeface="Helvetica Neue"/>
              </a:defRPr>
            </a:pPr>
            <a:r>
              <a:rPr sz="1425" b="1">
                <a:solidFill>
                  <a:srgbClr val="3D8DFF"/>
                </a:solidFill>
                <a:latin typeface="Helvetica Neue"/>
                <a:ea typeface="Helvetica Neue"/>
                <a:cs typeface="Helvetica Neue"/>
              </a:rPr>
              <a:t>What does the sheaf add?</a:t>
            </a:r>
          </a:p>
        </p:txBody>
      </p:sp>
      <p:sp>
        <p:nvSpPr>
          <p:cNvPr id="14" name="">
            <a:extLst xmlns:a="http://schemas.openxmlformats.org/drawingml/2006/main">
              <a:ext uri="{FF2B5EF4-FFF2-40B4-BE49-F238E27FC236}">
                <a16:creationId xmlns:a16="http://schemas.microsoft.com/office/drawing/2014/main" id="{DC95E903-F100-4B25-AD40-F429AAA8ED8F}"/>
              </a:ext>
            </a:extLst>
          </p:cNvPr>
          <p:cNvSpPr>
            <a:spLocks xmlns:a="http://schemas.openxmlformats.org/drawingml/2006/main" noGrp="1"/>
          </p:cNvSpPr>
          <p:nvPr/>
        </p:nvSpPr>
        <p:spPr>
          <a:xfrm xmlns:a="http://schemas.openxmlformats.org/drawingml/2006/main">
            <a:off x="3429000" y="3429000"/>
            <a:ext cx="8001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Edge-specific transformations and global conflict localisation, conditionally—not universal superiority.</a:t>
            </a:r>
          </a:p>
        </p:txBody>
      </p:sp>
      <p:sp>
        <p:nvSpPr>
          <p:cNvPr id="15" name="">
            <a:extLst xmlns:a="http://schemas.openxmlformats.org/drawingml/2006/main">
              <a:ext uri="{FF2B5EF4-FFF2-40B4-BE49-F238E27FC236}">
                <a16:creationId xmlns:a16="http://schemas.microsoft.com/office/drawing/2014/main" id="{7B95FA65-A029-4013-8CB7-782041F876E7}"/>
              </a:ext>
            </a:extLst>
          </p:cNvPr>
          <p:cNvSpPr>
            <a:spLocks xmlns:a="http://schemas.openxmlformats.org/drawingml/2006/main" noGrp="1"/>
          </p:cNvSpPr>
          <p:nvPr/>
        </p:nvSpPr>
        <p:spPr>
          <a:xfrm xmlns:a="http://schemas.openxmlformats.org/drawingml/2006/main">
            <a:off x="400050" y="4229100"/>
            <a:ext cx="11391900"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B1CD90A3-B97D-44E6-BBA7-FF80F4711768}"/>
              </a:ext>
            </a:extLst>
          </p:cNvPr>
          <p:cNvSpPr>
            <a:spLocks xmlns:a="http://schemas.openxmlformats.org/drawingml/2006/main" noGrp="1"/>
          </p:cNvSpPr>
          <p:nvPr/>
        </p:nvSpPr>
        <p:spPr>
          <a:xfrm xmlns:a="http://schemas.openxmlformats.org/drawingml/2006/main">
            <a:off x="590550" y="4391025"/>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3D8DFF"/>
                </a:solidFill>
                <a:latin typeface="Helvetica Neue"/>
                <a:ea typeface="Helvetica Neue"/>
                <a:cs typeface="Helvetica Neue"/>
              </a:defRPr>
            </a:pPr>
            <a:r>
              <a:rPr sz="1425" b="1">
                <a:solidFill>
                  <a:srgbClr val="3D8DFF"/>
                </a:solidFill>
                <a:latin typeface="Helvetica Neue"/>
                <a:ea typeface="Helvetica Neue"/>
                <a:cs typeface="Helvetica Neue"/>
              </a:rPr>
              <a:t>Is Ghana validated?</a:t>
            </a:r>
          </a:p>
        </p:txBody>
      </p:sp>
      <p:sp>
        <p:nvSpPr>
          <p:cNvPr id="17" name="">
            <a:extLst xmlns:a="http://schemas.openxmlformats.org/drawingml/2006/main">
              <a:ext uri="{FF2B5EF4-FFF2-40B4-BE49-F238E27FC236}">
                <a16:creationId xmlns:a16="http://schemas.microsoft.com/office/drawing/2014/main" id="{7F7607E4-2312-444F-9681-12980A29906C}"/>
              </a:ext>
            </a:extLst>
          </p:cNvPr>
          <p:cNvSpPr>
            <a:spLocks xmlns:a="http://schemas.openxmlformats.org/drawingml/2006/main" noGrp="1"/>
          </p:cNvSpPr>
          <p:nvPr/>
        </p:nvSpPr>
        <p:spPr>
          <a:xfrm xmlns:a="http://schemas.openxmlformats.org/drawingml/2006/main">
            <a:off x="3429000" y="4362450"/>
            <a:ext cx="8001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No end-to-end truth; the field result identifies evidence ceilings and priority measurements.</a:t>
            </a:r>
          </a:p>
        </p:txBody>
      </p:sp>
      <p:sp>
        <p:nvSpPr>
          <p:cNvPr id="18" name="">
            <a:extLst xmlns:a="http://schemas.openxmlformats.org/drawingml/2006/main">
              <a:ext uri="{FF2B5EF4-FFF2-40B4-BE49-F238E27FC236}">
                <a16:creationId xmlns:a16="http://schemas.microsoft.com/office/drawing/2014/main" id="{05F025FD-6AE6-46C7-91B5-BC1C27CC55AA}"/>
              </a:ext>
            </a:extLst>
          </p:cNvPr>
          <p:cNvSpPr>
            <a:spLocks xmlns:a="http://schemas.openxmlformats.org/drawingml/2006/main" noGrp="1"/>
          </p:cNvSpPr>
          <p:nvPr/>
        </p:nvSpPr>
        <p:spPr>
          <a:xfrm xmlns:a="http://schemas.openxmlformats.org/drawingml/2006/main">
            <a:off x="400050" y="5162550"/>
            <a:ext cx="11391900" cy="742950"/>
          </a:xfrm>
          <a:prstGeom xmlns:a="http://schemas.openxmlformats.org/drawingml/2006/main" prst="roundRect">
            <a:avLst>
              <a:gd name="adj" fmla="val 15385"/>
            </a:avLst>
          </a:prstGeom>
          <a:solidFill xmlns:a="http://schemas.openxmlformats.org/drawingml/2006/main">
            <a:srgbClr val="F2F3F5"/>
          </a:solidFill>
          <a:ln xmlns:a="http://schemas.openxmlformats.org/drawingml/2006/main" w="9525">
            <a:solidFill>
              <a:srgbClr val="B8BCC4"/>
            </a:solidFill>
            <a:prstDash val="solid"/>
          </a:ln>
        </p:spPr>
      </p:sp>
      <p:sp>
        <p:nvSpPr>
          <p:cNvPr id="19" name="">
            <a:extLst xmlns:a="http://schemas.openxmlformats.org/drawingml/2006/main">
              <a:ext uri="{FF2B5EF4-FFF2-40B4-BE49-F238E27FC236}">
                <a16:creationId xmlns:a16="http://schemas.microsoft.com/office/drawing/2014/main" id="{0DDCB855-7AD0-4DAB-87EF-E907A55CCC16}"/>
              </a:ext>
            </a:extLst>
          </p:cNvPr>
          <p:cNvSpPr>
            <a:spLocks xmlns:a="http://schemas.openxmlformats.org/drawingml/2006/main" noGrp="1"/>
          </p:cNvSpPr>
          <p:nvPr/>
        </p:nvSpPr>
        <p:spPr>
          <a:xfrm xmlns:a="http://schemas.openxmlformats.org/drawingml/2006/main">
            <a:off x="590550" y="5324475"/>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3D8DFF"/>
                </a:solidFill>
                <a:latin typeface="Helvetica Neue"/>
                <a:ea typeface="Helvetica Neue"/>
                <a:cs typeface="Helvetica Neue"/>
              </a:defRPr>
            </a:pPr>
            <a:r>
              <a:rPr sz="1425" b="1">
                <a:solidFill>
                  <a:srgbClr val="3D8DFF"/>
                </a:solidFill>
                <a:latin typeface="Helvetica Neue"/>
                <a:ea typeface="Helvetica Neue"/>
                <a:cs typeface="Helvetica Neue"/>
              </a:rPr>
              <a:t>What is the decisive next test?</a:t>
            </a:r>
          </a:p>
        </p:txBody>
      </p:sp>
      <p:sp>
        <p:nvSpPr>
          <p:cNvPr id="20" name="">
            <a:extLst xmlns:a="http://schemas.openxmlformats.org/drawingml/2006/main">
              <a:ext uri="{FF2B5EF4-FFF2-40B4-BE49-F238E27FC236}">
                <a16:creationId xmlns:a16="http://schemas.microsoft.com/office/drawing/2014/main" id="{9A2782E4-DD02-42D1-A0BF-337C72780DE1}"/>
              </a:ext>
            </a:extLst>
          </p:cNvPr>
          <p:cNvSpPr>
            <a:spLocks xmlns:a="http://schemas.openxmlformats.org/drawingml/2006/main" noGrp="1"/>
          </p:cNvSpPr>
          <p:nvPr/>
        </p:nvSpPr>
        <p:spPr>
          <a:xfrm xmlns:a="http://schemas.openxmlformats.org/drawingml/2006/main">
            <a:off x="3429000" y="5295900"/>
            <a:ext cx="8001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Independent replication under another generator or matched field connectivity truth.</a:t>
            </a:r>
          </a:p>
        </p:txBody>
      </p:sp>
    </p:spTree>
    <p:extLst>
      <p:ext uri="{BB962C8B-B14F-4D97-AF65-F5344CB8AC3E}">
        <p14:creationId xmlns:p14="http://schemas.microsoft.com/office/powerpoint/2010/main" val="14252930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2026-07-30T10:42:07.8780000Z</dcterms:created>
  <dcterms:modified xsi:type="dcterms:W3CDTF">2026-07-30T10:42:07.8780000Z</dcterms:modified>
</coreProperties>
</file>